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5120000" cy="21384000"/>
  <p:notesSz cx="21384000" cy="15120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Cumulative regret · T = 2,000 · α = 1</a:t>
            </a:r>
          </a:p>
        </c:rich>
      </c:tx>
      <c:layout/>
      <c:overlay val="0"/>
    </c:title>
    <c:autoTitleDeleted val="0"/>
    <c:plotArea>
      <c:layout/>
      <c:scatterChart>
        <c:scatterStyle val="lineMarker"/>
        <c:varyColors val="0"/>
        <c:ser>
          <c:idx val="0"/>
          <c:order val="0"/>
          <c:tx>
            <c:strRef>
              <c:f>Sheet1!$B$1</c:f>
              <c:strCache>
                <c:ptCount val="1"/>
                <c:pt idx="0">
                  <c:v>cosine PILOT</c:v>
                </c:pt>
              </c:strCache>
            </c:strRef>
          </c:tx>
          <c:spPr>
            <a:solidFill>
              <a:srgbClr val="C2452D"/>
            </a:solidFill>
            <a:ln w="38100" cap="flat">
              <a:solidFill>
                <a:srgbClr val="C2452D"/>
              </a:solidFill>
              <a:prstDash val="solid"/>
              <a:round/>
            </a:ln>
            <a:effectLst/>
          </c:spPr>
          <c:marker>
            <c:symbol val="circle"/>
            <c:size val="7"/>
            <c:spPr>
              <a:solidFill>
                <a:srgbClr val="C2452D"/>
              </a:solidFill>
              <a:ln w="9525" cap="flat">
                <a:solidFill>
                  <a:srgbClr val="C2452D"/>
                </a:solidFill>
                <a:prstDash val="solid"/>
                <a:round/>
              </a:ln>
              <a:effectLst/>
            </c:spPr>
          </c:marker>
          <c:xVal>
            <c:numRef>
              <c:f>Sheet1!$A$2:$A$8</c:f>
              <c:numCache>
                <c:formatCode>General</c:formatCode>
                <c:ptCount val="7"/>
                <c:pt idx="0">
                  <c:v>1</c:v>
                </c:pt>
                <c:pt idx="1">
                  <c:v>100</c:v>
                </c:pt>
                <c:pt idx="2">
                  <c:v>250</c:v>
                </c:pt>
                <c:pt idx="3">
                  <c:v>500</c:v>
                </c:pt>
                <c:pt idx="4">
                  <c:v>1000</c:v>
                </c:pt>
                <c:pt idx="5">
                  <c:v>1500</c:v>
                </c:pt>
                <c:pt idx="6">
                  <c:v>2000</c:v>
                </c:pt>
              </c:numCache>
            </c:numRef>
          </c:xVal>
          <c:yVal>
            <c:numRef>
              <c:f>Sheet1!$B$2:$B$8</c:f>
              <c:numCache>
                <c:formatCode>General</c:formatCode>
                <c:ptCount val="7"/>
                <c:pt idx="0">
                  <c:v>0.3</c:v>
                </c:pt>
                <c:pt idx="1">
                  <c:v>30</c:v>
                </c:pt>
                <c:pt idx="2">
                  <c:v>75</c:v>
                </c:pt>
                <c:pt idx="3">
                  <c:v>150</c:v>
                </c:pt>
                <c:pt idx="4">
                  <c:v>300</c:v>
                </c:pt>
                <c:pt idx="5">
                  <c:v>450</c:v>
                </c:pt>
                <c:pt idx="6">
                  <c:v>600</c:v>
                </c:pt>
              </c:numCache>
            </c:numRef>
          </c:yVal>
          <c:smooth val="0"/>
        </c:ser>
        <c:ser>
          <c:idx val="1"/>
          <c:order val="1"/>
          <c:tx>
            <c:strRef>
              <c:f>Sheet1!$C$1</c:f>
              <c:strCache>
                <c:ptCount val="1"/>
                <c:pt idx="0">
                  <c:v>linear-mean control</c:v>
                </c:pt>
              </c:strCache>
            </c:strRef>
          </c:tx>
          <c:spPr>
            <a:solidFill>
              <a:srgbClr val="0E7C7B"/>
            </a:solidFill>
            <a:ln w="38100" cap="flat">
              <a:solidFill>
                <a:srgbClr val="0E7C7B"/>
              </a:solidFill>
              <a:prstDash val="solid"/>
              <a:round/>
            </a:ln>
            <a:effectLst/>
          </c:spPr>
          <c:marker>
            <c:symbol val="circle"/>
            <c:size val="7"/>
            <c:spPr>
              <a:solidFill>
                <a:srgbClr val="0E7C7B"/>
              </a:solidFill>
              <a:ln w="9525" cap="flat">
                <a:solidFill>
                  <a:srgbClr val="0E7C7B"/>
                </a:solidFill>
                <a:prstDash val="solid"/>
                <a:round/>
              </a:ln>
              <a:effectLst/>
            </c:spPr>
          </c:marker>
          <c:xVal>
            <c:numRef>
              <c:f>Sheet1!$A$2:$A$8</c:f>
              <c:numCache>
                <c:formatCode>General</c:formatCode>
                <c:ptCount val="7"/>
                <c:pt idx="0">
                  <c:v>1</c:v>
                </c:pt>
                <c:pt idx="1">
                  <c:v>100</c:v>
                </c:pt>
                <c:pt idx="2">
                  <c:v>250</c:v>
                </c:pt>
                <c:pt idx="3">
                  <c:v>500</c:v>
                </c:pt>
                <c:pt idx="4">
                  <c:v>1000</c:v>
                </c:pt>
                <c:pt idx="5">
                  <c:v>1500</c:v>
                </c:pt>
                <c:pt idx="6">
                  <c:v>2000</c:v>
                </c:pt>
              </c:numCache>
            </c:numRef>
          </c:xVal>
          <c:yVal>
            <c:numRef>
              <c:f>Sheet1!$C$2:$C$8</c:f>
              <c:numCache>
                <c:formatCode>General</c:formatCode>
                <c:ptCount val="7"/>
                <c:pt idx="0">
                  <c:v>0</c:v>
                </c:pt>
                <c:pt idx="1">
                  <c:v>1.2000000000000002</c:v>
                </c:pt>
                <c:pt idx="2">
                  <c:v>1.2000000000000002</c:v>
                </c:pt>
                <c:pt idx="3">
                  <c:v>1.2000000000000002</c:v>
                </c:pt>
                <c:pt idx="4">
                  <c:v>1.2000000000000002</c:v>
                </c:pt>
                <c:pt idx="5">
                  <c:v>1.2000000000000002</c:v>
                </c:pt>
                <c:pt idx="6">
                  <c:v>1.2000000000000002</c:v>
                </c:pt>
              </c:numCache>
            </c:numRef>
          </c:yVal>
          <c:smooth val="0"/>
        </c:ser>
        <c:dLbls>
          <c:numFmt formatCode="General"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2000"/>
          <c:min val="0"/>
        </c:scaling>
        <c:delete val="0"/>
        <c:axPos val="b"/>
        <c:title>
          <c:tx>
            <c:rich>
              <a:bodyPr/>
              <a:lstStyle/>
              <a:p>
                <a:pPr>
                  <a:defRPr sz="1300" b="0" i="0" u="none" strike="noStrike">
                    <a:solidFill>
                      <a:srgbClr val="1F2933"/>
                    </a:solidFill>
                    <a:latin typeface="+mn-lt"/>
                  </a:defRPr>
                </a:pPr>
                <a:r>
                  <a:rPr sz="1300" b="0" i="0" u="none" strike="noStrike">
                    <a:solidFill>
                      <a:srgbClr val="1F2933"/>
                    </a:solidFill>
                    <a:latin typeface="+mn-lt"/>
                  </a:rPr>
                  <a:t>Learning round</a:t>
                </a:r>
              </a:p>
            </c:rich>
          </c:tx>
          <c:layout/>
          <c:overlay val="0"/>
        </c:title>
        <c:numFmt formatCode="0" sourceLinked="1"/>
        <c:majorTickMark val="none"/>
        <c:minorTickMark val="none"/>
        <c:tickLblPos val="nextTo"/>
        <c:spPr>
          <a:ln w="12700" cap="flat">
            <a:solidFill>
              <a:srgbClr val="888888"/>
            </a:solidFill>
            <a:prstDash val="solid"/>
            <a:round/>
          </a:ln>
        </c:spPr>
        <c:txPr>
          <a:bodyPr/>
          <a:lstStyle/>
          <a:p>
            <a:pPr>
              <a:defRPr sz="1300" b="0" i="0" u="none" strike="noStrike">
                <a:solidFill>
                  <a:srgbClr val="5B6676"/>
                </a:solidFill>
                <a:latin typeface="+mn-lt"/>
              </a:defRPr>
            </a:pPr>
            <a:endParaRPr lang="en-US"/>
          </a:p>
        </c:txPr>
        <c:crossAx val="2094734552"/>
        <c:crosses val="autoZero"/>
        <c:auto val="1"/>
        <c:lblAlgn val="ctr"/>
        <c:noMultiLvlLbl val="1"/>
      </c:valAx>
      <c:valAx>
        <c:axId val="2094734552"/>
        <c:scaling>
          <c:orientation val="minMax"/>
          <c:max val="650"/>
          <c:min val="0"/>
        </c:scaling>
        <c:delete val="0"/>
        <c:axPos val="l"/>
        <c:majorGridlines>
          <c:spPr>
            <a:ln w="9525" cap="flat">
              <a:solidFill>
                <a:srgbClr val="E3E7EC"/>
              </a:solidFill>
              <a:prstDash val="solid"/>
              <a:round/>
            </a:ln>
          </c:spPr>
        </c:majorGridlines>
        <c:title>
          <c:tx>
            <c:rich>
              <a:bodyPr/>
              <a:lstStyle/>
              <a:p>
                <a:pPr>
                  <a:defRPr sz="1300" b="0" i="0" u="none" strike="noStrike">
                    <a:solidFill>
                      <a:srgbClr val="1F2933"/>
                    </a:solidFill>
                    <a:latin typeface="+mn-lt"/>
                  </a:defRPr>
                </a:pPr>
                <a:r>
                  <a:rPr sz="1300" b="0" i="0" u="none" strike="noStrike">
                    <a:solidFill>
                      <a:srgbClr val="1F2933"/>
                    </a:solidFill>
                    <a:latin typeface="+mn-lt"/>
                  </a:rPr>
                  <a:t>Cumulative regret</a:t>
                </a:r>
              </a:p>
            </c:rich>
          </c:tx>
          <c:layout/>
          <c:overlay val="0"/>
        </c:title>
        <c:numFmt formatCode="0" sourceLinked="0"/>
        <c:majorTickMark val="none"/>
        <c:minorTickMark val="none"/>
        <c:tickLblPos val="nextTo"/>
        <c:spPr>
          <a:ln w="12700" cap="flat">
            <a:solidFill>
              <a:srgbClr val="888888"/>
            </a:solidFill>
            <a:prstDash val="solid"/>
            <a:round/>
          </a:ln>
        </c:spPr>
        <c:txPr>
          <a:bodyPr/>
          <a:lstStyle/>
          <a:p>
            <a:pPr>
              <a:defRPr sz="1300" b="0" i="0" u="none" strike="noStrike">
                <a:solidFill>
                  <a:srgbClr val="5B6676"/>
                </a:solidFill>
                <a:latin typeface="+mn-lt"/>
              </a:defRPr>
            </a:pPr>
            <a:endParaRPr lang="en-US"/>
          </a:p>
        </c:txPr>
        <c:crossAx val="2094734554"/>
        <c:crosses val="autoZero"/>
        <c:crossBetween val="midCat"/>
      </c:valAx>
      <c:spPr>
        <a:noFill/>
        <a:ln>
          <a:noFill/>
        </a:ln>
        <a:effectLst/>
      </c:spPr>
    </c:plotArea>
    <c:legend>
      <c:legendPos val="b"/>
      <c:overlay val="0"/>
      <c:txPr>
        <a:bodyPr/>
        <a:lstStyle/>
        <a:p>
          <a:pPr>
            <a:defRPr sz="1300">
              <a:solidFill>
                <a:srgbClr val="1F29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Conditions over budget when recorded costs are multiplied by f</a:t>
            </a:r>
          </a:p>
        </c:rich>
      </c:tx>
      <c:layout/>
      <c:overlay val="0"/>
    </c:title>
    <c:autoTitleDeleted val="0"/>
    <c:plotArea>
      <c:layout/>
      <c:barChart>
        <c:barDir val="col"/>
        <c:grouping val="clustered"/>
        <c:varyColors val="0"/>
        <c:ser>
          <c:idx val="0"/>
          <c:order val="0"/>
          <c:tx>
            <c:strRef>
              <c:f>Sheet1!$B$1</c:f>
              <c:strCache>
                <c:ptCount val="1"/>
                <c:pt idx="0">
                  <c:v>main PILOT (48 conditions)</c:v>
                </c:pt>
              </c:strCache>
            </c:strRef>
          </c:tx>
          <c:spPr>
            <a:solidFill>
              <a:srgbClr val="C77700"/>
            </a:solidFill>
            <a:effectLst/>
          </c:spPr>
          <c:invertIfNegative val="0"/>
          <c:dLbls>
            <c:numFmt formatCode="0&quot;%&quot;"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Sheet1!$A$2:$A$7</c:f>
              <c:multiLvlStrCache>
                <c:ptCount val="6"/>
                <c:lvl>
                  <c:pt idx="0">
                    <c:v>0.8×</c:v>
                  </c:pt>
                  <c:pt idx="1">
                    <c:v>1×</c:v>
                  </c:pt>
                  <c:pt idx="2">
                    <c:v>1.1×</c:v>
                  </c:pt>
                  <c:pt idx="3">
                    <c:v>1.25×</c:v>
                  </c:pt>
                  <c:pt idx="4">
                    <c:v>1.5×</c:v>
                  </c:pt>
                  <c:pt idx="5">
                    <c:v>2×</c:v>
                  </c:pt>
                </c:lvl>
              </c:multiLvlStrCache>
            </c:multiLvlStrRef>
          </c:cat>
          <c:val>
            <c:numRef>
              <c:f>Sheet1!$B$2:$B$7</c:f>
              <c:numCache>
                <c:formatCode>General</c:formatCode>
                <c:ptCount val="6"/>
                <c:pt idx="0">
                  <c:v>0</c:v>
                </c:pt>
                <c:pt idx="1">
                  <c:v>0</c:v>
                </c:pt>
                <c:pt idx="2">
                  <c:v>47.916666666666664</c:v>
                </c:pt>
                <c:pt idx="3">
                  <c:v>52.083333333333336</c:v>
                </c:pt>
                <c:pt idx="4">
                  <c:v>62.5</c:v>
                </c:pt>
                <c:pt idx="5">
                  <c:v>62.5</c:v>
                </c:pt>
              </c:numCache>
            </c:numRef>
          </c:val>
        </c:ser>
        <c:ser>
          <c:idx val="1"/>
          <c:order val="1"/>
          <c:tx>
            <c:strRef>
              <c:f>Sheet1!$C$1</c:f>
              <c:strCache>
                <c:ptCount val="1"/>
                <c:pt idx="0">
                  <c:v>all 858 core conditions (13 methods)</c:v>
                </c:pt>
              </c:strCache>
            </c:strRef>
          </c:tx>
          <c:spPr>
            <a:solidFill>
              <a:srgbClr val="B9C2CF"/>
            </a:solidFill>
            <a:effectLst/>
          </c:spPr>
          <c:invertIfNegative val="0"/>
          <c:dLbls>
            <c:numFmt formatCode="0&quot;%&quot;"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Sheet1!$A$2:$A$7</c:f>
              <c:multiLvlStrCache>
                <c:ptCount val="6"/>
                <c:lvl>
                  <c:pt idx="0">
                    <c:v>0.8×</c:v>
                  </c:pt>
                  <c:pt idx="1">
                    <c:v>1×</c:v>
                  </c:pt>
                  <c:pt idx="2">
                    <c:v>1.1×</c:v>
                  </c:pt>
                  <c:pt idx="3">
                    <c:v>1.25×</c:v>
                  </c:pt>
                  <c:pt idx="4">
                    <c:v>1.5×</c:v>
                  </c:pt>
                  <c:pt idx="5">
                    <c:v>2×</c:v>
                  </c:pt>
                </c:lvl>
              </c:multiLvlStrCache>
            </c:multiLvlStrRef>
          </c:cat>
          <c:val>
            <c:numRef>
              <c:f>Sheet1!$C$2:$C$7</c:f>
              <c:numCache>
                <c:formatCode>General</c:formatCode>
                <c:ptCount val="6"/>
                <c:pt idx="0">
                  <c:v>0</c:v>
                </c:pt>
                <c:pt idx="1">
                  <c:v>0</c:v>
                </c:pt>
                <c:pt idx="2">
                  <c:v>10.256410256410257</c:v>
                </c:pt>
                <c:pt idx="3">
                  <c:v>13.403263403263404</c:v>
                </c:pt>
                <c:pt idx="4">
                  <c:v>21.56177156177156</c:v>
                </c:pt>
                <c:pt idx="5">
                  <c:v>29.836829836829835</c:v>
                </c:pt>
              </c:numCache>
            </c:numRef>
          </c:val>
        </c:ser>
        <c:dLbls>
          <c:numFmt formatCode="0&quot;%&quot;"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title>
          <c:tx>
            <c:rich>
              <a:bodyPr/>
              <a:lstStyle/>
              <a:p>
                <a:pPr>
                  <a:defRPr sz="1300" b="0" i="0" u="none" strike="noStrike">
                    <a:solidFill>
                      <a:srgbClr val="1F2933"/>
                    </a:solidFill>
                    <a:latin typeface="+mn-lt"/>
                  </a:defRPr>
                </a:pPr>
                <a:r>
                  <a:rPr sz="1300" b="0" i="0" u="none" strike="noStrike">
                    <a:solidFill>
                      <a:srgbClr val="1F2933"/>
                    </a:solidFill>
                    <a:latin typeface="+mn-lt"/>
                  </a:rPr>
                  <a:t>Cost multiplier f (1× = recorded)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B6676"/>
                </a:solidFill>
                <a:latin typeface="+mn-lt"/>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9525" cap="flat">
              <a:solidFill>
                <a:srgbClr val="E3E7EC"/>
              </a:solidFill>
              <a:prstDash val="solid"/>
              <a:round/>
            </a:ln>
          </c:spPr>
        </c:majorGridlines>
        <c:title>
          <c:tx>
            <c:rich>
              <a:bodyPr/>
              <a:lstStyle/>
              <a:p>
                <a:pPr>
                  <a:defRPr sz="1300" b="0" i="0" u="none" strike="noStrike">
                    <a:solidFill>
                      <a:srgbClr val="1F2933"/>
                    </a:solidFill>
                    <a:latin typeface="+mn-lt"/>
                  </a:defRPr>
                </a:pPr>
                <a:r>
                  <a:rPr sz="1300" b="0" i="0" u="none" strike="noStrike">
                    <a:solidFill>
                      <a:srgbClr val="1F2933"/>
                    </a:solidFill>
                    <a:latin typeface="+mn-lt"/>
                  </a:rPr>
                  <a:t>Conditions over budget (%)</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1300" b="0" i="0" u="none" strike="noStrike">
                <a:solidFill>
                  <a:srgbClr val="5B667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for the poster workshop (about three minutes).
Main finding. PILOT [1] combines a preference prior, a LinUCB-style learner and a ZCL-style budget policy. Its guarantees are conditional, and we tested two conditions that the paper relies on but does not examine.
W1, cosine scoring. The regret result is proven for prior-informed OFUL with linear rewards r = θ*·x + ε [2], where the length of θ*·x is the reward. PILOT scores arms with cos(x, θ̃_a), which divides away the length of θ̃_a. So two arms that point the same way but pay 0.2 and 0.8 get equal means, and only the exploration bonus separates them. Prediction: linear regret. Experiment: constant context (1, 0), oracle priors, λ = 1, selected-only updates, and a control that keeps everything but uses the linear mean. Result: 600 versus 1.2 cumulative regret after 2,000 rounds at α = 1, and the same pattern in all nine horizon/α settings (cosine regret is exactly 0.3·T because the tied arms are served alternately). This is a synthetic, assumption-violating stress test that does not depend on the embedder, not a counterexample to the conditional theorem and not an OpenAI empirical run; the control is not the zero-prior LinUCB baseline.
W2, cost estimates (current OpenAI study). ZCL's guarantee [4] assumes each item's weight is known; PILOT knows only an estimate built from tuning-set mean output lengths. Realized spend adds Σĉ·e_t, which nothing controls. Experiment: hold every main-PILOT full-learning choice fixed and multiply recorded costs by f. At f = 1 none of the 48 conditions overspends; at f = 1.1, 23 do. Main PILOT is more exposed than the average of all 858 core conditions (88 at 1.1×) because it spends close to its allocation (median 86% of the allocation versus 16%). The historical BGE run shows the same pattern (0 and 25 of 48). These are counts of experiment conditions, not queries or probabilities; choices are not rerouted and no provider was charged.
Strengths and audit. PILOT learns from one rating per query and had the lowest regret among the adaptive learners (4,275); always-GPT-4 is lower but learns nothing. The prior comes from free public data (60.7% accuracy on 313 calibration pairs); deployment is auditable. The theory improves a constant, not the rate; S′ is unknown and the λ heuristic did not help locally; the proof has two printing slips that do not break it.
Future directions map one-to-one: a magnitude-aware score for W1, a cost-reserve policy for W2. Both are proposals.
All numbers link to public W&amp;B runs [3]: W1 to the historical lab2-critique records, W2 to the OpenAI follow-up registry (3,626 runs in the project). The code is on GitHub [5]; the QR codes at the top open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forge.coreweave.com/wandb/kiettheis-university-of-science-vnu-hcm/pilot-llm-routing-team8" TargetMode="External"/><Relationship Id="rId3" Type="http://schemas.openxmlformats.org/officeDocument/2006/relationships/hyperlink" Target="https://forge.coreweave.com/wandb/kiettheis-university-of-science-vnu-hcm/pilot-llm-routing-team8" TargetMode="External"/><Relationship Id="rId5" Type="http://schemas.openxmlformats.org/officeDocument/2006/relationships/hyperlink" Target="https://github.com/kiettheis0702/pilot-llm-routing" TargetMode="External"/><Relationship Id="rId6" Type="http://schemas.openxmlformats.org/officeDocument/2006/relationships/hyperlink" Target="https://github.com/kiettheis0702/pilot-llm-routing" TargetMode="External"/><Relationship Id="rId8" Type="http://schemas.openxmlformats.org/officeDocument/2006/relationships/hyperlink" Target="https://forge.coreweave.com/wandb/kiettheis-university-of-science-vnu-hcm/pilot-llm-routing-team8/runs/pilot-5364678cb44759cb1792fff5" TargetMode="External"/><Relationship Id="rId9" Type="http://schemas.openxmlformats.org/officeDocument/2006/relationships/hyperlink" Target="https://forge.coreweave.com/wandb/kiettheis-university-of-science-vnu-hcm/pilot-llm-routing-team8/runs/pilot-383121041149531eeabcd419" TargetMode="External"/><Relationship Id="rId11" Type="http://schemas.openxmlformats.org/officeDocument/2006/relationships/hyperlink" Target="https://forge.coreweave.com/wandb/kiettheis-university-of-science-vnu-hcm/pilot-llm-routing-team8/runs/p2-0071b43e7962ff6c2f83f97f" TargetMode="External"/><Relationship Id="rId12" Type="http://schemas.openxmlformats.org/officeDocument/2006/relationships/hyperlink" Target="https://forge.coreweave.com/wandb/kiettheis-university-of-science-vnu-hcm/pilot-llm-routing-team8/runs/p2-174179870de0760904001148" TargetMode="External"/><Relationship Id="rId13" Type="http://schemas.openxmlformats.org/officeDocument/2006/relationships/hyperlink" Target="https://forge.coreweave.com/wandb/kiettheis-university-of-science-vnu-hcm/pilot-llm-routing-team8/runs/p2-b332a34c98ea0c75b3ae5fb7" TargetMode="External"/><Relationship Id="rId14" Type="http://schemas.openxmlformats.org/officeDocument/2006/relationships/hyperlink" Target="https://aclanthology.org/2025.findings-emnlp.1301.pdf" TargetMode="External"/><Relationship Id="rId15" Type="http://schemas.openxmlformats.org/officeDocument/2006/relationships/hyperlink" Target="https://proceedings.neurips.cc/paper/2011/hash/e1d5be1c7f2f456670de3d53c7b54f4a-Abstract.html" TargetMode="External"/><Relationship Id="rId16" Type="http://schemas.openxmlformats.org/officeDocument/2006/relationships/hyperlink" Target="https://forge.coreweave.com/wandb/kiettheis-university-of-science-vnu-hcm/pilot-llm-routing-team8" TargetMode="External"/><Relationship Id="rId17" Type="http://schemas.openxmlformats.org/officeDocument/2006/relationships/hyperlink" Target="https://doi.org/10.1145/1367497.1367747" TargetMode="External"/><Relationship Id="rId18" Type="http://schemas.openxmlformats.org/officeDocument/2006/relationships/hyperlink" Target="https://github.com/kiettheis0702/pilot-llm-routing" TargetMode="External"/><Relationship Id="rId7" Type="http://schemas.openxmlformats.org/officeDocument/2006/relationships/chart" Target="/ppt/charts/chart1.xml"/><Relationship Id="rId10" Type="http://schemas.openxmlformats.org/officeDocument/2006/relationships/chart" Target="/ppt/charts/chart2.xml"/><Relationship Id="rId1" Type="http://schemas.openxmlformats.org/officeDocument/2006/relationships/image" Target="../media/image-1-1.png"/><Relationship Id="rId4" Type="http://schemas.openxmlformats.org/officeDocument/2006/relationships/image" Target="../media/image-1-2.png"/><Relationship Id="rId19" Type="http://schemas.openxmlformats.org/officeDocument/2006/relationships/slideLayout" Target="../slideLayouts/slideLayout1.xml"/><Relationship Id="rId20"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120000" cy="2697480"/>
          </a:xfrm>
          <a:prstGeom prst="rect">
            <a:avLst/>
          </a:prstGeom>
          <a:solidFill>
            <a:srgbClr val="14213D"/>
          </a:solidFill>
          <a:ln w="12700">
            <a:solidFill>
              <a:srgbClr val="14213D"/>
            </a:solidFill>
            <a:prstDash val="solid"/>
          </a:ln>
        </p:spPr>
      </p:sp>
      <p:sp>
        <p:nvSpPr>
          <p:cNvPr id="3" name="Text 1"/>
          <p:cNvSpPr txBox="1"/>
          <p:nvPr/>
        </p:nvSpPr>
        <p:spPr>
          <a:xfrm>
            <a:off x="548640" y="384048"/>
            <a:ext cx="10881360" cy="320040"/>
          </a:xfrm>
          <a:prstGeom prst="rect">
            <a:avLst/>
          </a:prstGeom>
          <a:noFill/>
          <a:ln/>
        </p:spPr>
        <p:txBody>
          <a:bodyPr wrap="square" lIns="0" tIns="0" rIns="0" bIns="0" rtlCol="0" anchor="t"/>
          <a:lstStyle/>
          <a:p>
            <a:pPr indent="0" marL="0">
              <a:buNone/>
            </a:pPr>
            <a:r>
              <a:rPr lang="en-US" sz="1400" b="1" spc="120" kern="0" dirty="0">
                <a:solidFill>
                  <a:srgbClr val="6CC3BA"/>
                </a:solidFill>
                <a:latin typeface="Calibri" pitchFamily="34" charset="0"/>
                <a:ea typeface="Calibri" pitchFamily="34" charset="-122"/>
                <a:cs typeface="Calibri" pitchFamily="34" charset="-120"/>
              </a:rPr>
              <a:t>INTRODUCTION TO MACHINE LEARNING · TEAM 8 · CRITICAL ANALYSIS + EMPIRICAL DEMONSTRATION</a:t>
            </a:r>
            <a:endParaRPr lang="en-US" sz="1400" dirty="0"/>
          </a:p>
        </p:txBody>
      </p:sp>
      <p:sp>
        <p:nvSpPr>
          <p:cNvPr id="4" name="Text 2"/>
          <p:cNvSpPr txBox="1"/>
          <p:nvPr/>
        </p:nvSpPr>
        <p:spPr>
          <a:xfrm>
            <a:off x="548640" y="786384"/>
            <a:ext cx="1088136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Where PILOT’s guarantees stop</a:t>
            </a:r>
            <a:endParaRPr lang="en-US" sz="5400" dirty="0"/>
          </a:p>
        </p:txBody>
      </p:sp>
      <p:sp>
        <p:nvSpPr>
          <p:cNvPr id="5" name="Text 3"/>
          <p:cNvSpPr txBox="1"/>
          <p:nvPr/>
        </p:nvSpPr>
        <p:spPr>
          <a:xfrm>
            <a:off x="548640" y="1755648"/>
            <a:ext cx="10881360" cy="384048"/>
          </a:xfrm>
          <a:prstGeom prst="rect">
            <a:avLst/>
          </a:prstGeom>
          <a:noFill/>
          <a:ln/>
        </p:spPr>
        <p:txBody>
          <a:bodyPr wrap="square" lIns="0" tIns="0" rIns="0" bIns="0" rtlCol="0" anchor="t"/>
          <a:lstStyle/>
          <a:p>
            <a:pPr indent="0" marL="0">
              <a:buNone/>
            </a:pPr>
            <a:r>
              <a:rPr lang="en-US" sz="1900" dirty="0">
                <a:solidFill>
                  <a:srgbClr val="C9D3E3"/>
                </a:solidFill>
                <a:latin typeface="Calibri" pitchFamily="34" charset="0"/>
                <a:ea typeface="Calibri" pitchFamily="34" charset="-122"/>
                <a:cs typeface="Calibri" pitchFamily="34" charset="-120"/>
              </a:rPr>
              <a:t>Adaptive LLM Routing under Budget Constraints </a:t>
            </a:r>
            <a:pPr indent="0" marL="0">
              <a:buNone/>
            </a:pPr>
            <a:r>
              <a:rPr lang="en-US" sz="1900" dirty="0">
                <a:solidFill>
                  <a:srgbClr val="C9D3E3"/>
                </a:solidFill>
                <a:latin typeface="Calibri" pitchFamily="34" charset="0"/>
                <a:ea typeface="Calibri" pitchFamily="34" charset="-122"/>
                <a:cs typeface="Calibri" pitchFamily="34" charset="-120"/>
              </a:rPr>
              <a:t>[1]</a:t>
            </a:r>
            <a:pPr indent="0" marL="0">
              <a:buNone/>
            </a:pPr>
            <a:r>
              <a:rPr lang="en-US" sz="1900" dirty="0">
                <a:solidFill>
                  <a:srgbClr val="C9D3E3"/>
                </a:solidFill>
                <a:latin typeface="Calibri" pitchFamily="34" charset="0"/>
                <a:ea typeface="Calibri" pitchFamily="34" charset="-122"/>
                <a:cs typeface="Calibri" pitchFamily="34" charset="-120"/>
              </a:rPr>
              <a:t>: two weaknesses, argued and measured</a:t>
            </a:r>
            <a:endParaRPr lang="en-US" sz="1900" dirty="0"/>
          </a:p>
        </p:txBody>
      </p:sp>
      <p:sp>
        <p:nvSpPr>
          <p:cNvPr id="6" name="Text 4"/>
          <p:cNvSpPr txBox="1"/>
          <p:nvPr/>
        </p:nvSpPr>
        <p:spPr>
          <a:xfrm>
            <a:off x="548640" y="2176272"/>
            <a:ext cx="10881360" cy="36576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Thái Kiệt · Trần Lê Hải  ·  24KHMT1 · University of Science, VNU-HCM</a:t>
            </a:r>
            <a:endParaRPr lang="en-US" sz="1800" dirty="0"/>
          </a:p>
        </p:txBody>
      </p:sp>
      <p:sp>
        <p:nvSpPr>
          <p:cNvPr id="7" name="Shape 5"/>
          <p:cNvSpPr/>
          <p:nvPr/>
        </p:nvSpPr>
        <p:spPr>
          <a:xfrm>
            <a:off x="11786616" y="329184"/>
            <a:ext cx="1344168" cy="1344168"/>
          </a:xfrm>
          <a:prstGeom prst="rect">
            <a:avLst/>
          </a:prstGeom>
          <a:solidFill>
            <a:srgbClr val="FFFFFF"/>
          </a:solidFill>
          <a:ln w="12700">
            <a:solidFill>
              <a:srgbClr val="FFFFFF"/>
            </a:solidFill>
            <a:prstDash val="solid"/>
          </a:ln>
        </p:spPr>
      </p:sp>
      <p:pic>
        <p:nvPicPr>
          <p:cNvPr id="8" name="Image 0" descr="QR code: https://forge.coreweave.com/wandb/kiettheis-university-of-science-vnu-hcm/pilot-llm-routing-team8">
            <a:hlinkClick r:id="rId2" tooltip=""/>
          </p:cNvPr>
          <p:cNvPicPr>
            <a:picLocks noChangeAspect="1"/>
          </p:cNvPicPr>
          <p:nvPr/>
        </p:nvPicPr>
        <p:blipFill>
          <a:blip r:embed="rId1"/>
          <a:stretch>
            <a:fillRect/>
          </a:stretch>
        </p:blipFill>
        <p:spPr>
          <a:xfrm>
            <a:off x="11841480" y="384048"/>
            <a:ext cx="1234440" cy="1234440"/>
          </a:xfrm>
          <a:prstGeom prst="rect">
            <a:avLst/>
          </a:prstGeom>
        </p:spPr>
      </p:pic>
      <p:sp>
        <p:nvSpPr>
          <p:cNvPr id="9" name="Text 6"/>
          <p:cNvSpPr txBox="1"/>
          <p:nvPr/>
        </p:nvSpPr>
        <p:spPr>
          <a:xfrm>
            <a:off x="11612880" y="1737360"/>
            <a:ext cx="1691640" cy="292608"/>
          </a:xfrm>
          <a:prstGeom prst="rect">
            <a:avLst/>
          </a:prstGeom>
          <a:noFill/>
          <a:ln/>
        </p:spPr>
        <p:txBody>
          <a:bodyPr wrap="square" lIns="0" tIns="0" rIns="0" bIns="0" rtlCol="0" anchor="t"/>
          <a:lstStyle/>
          <a:p>
            <a:pPr algn="ctr" indent="0" marL="0">
              <a:buNone/>
            </a:pPr>
            <a:r>
              <a:rPr lang="en-US" sz="1300" b="1" u="sng" dirty="0">
                <a:solidFill>
                  <a:srgbClr val="FFFFFF"/>
                </a:solidFill>
                <a:latin typeface="Calibri" pitchFamily="34" charset="0"/>
                <a:ea typeface="Calibri" pitchFamily="34" charset="-122"/>
                <a:cs typeface="Calibri" pitchFamily="34" charset="-120"/>
                <a:hlinkClick r:id="rId3" invalidUrl="" action="" tgtFrame="" tooltip="https://forge.coreweave.com/wandb/kiettheis-university-of-science-vnu-hcm/pilot-llm-routing-team8" history="1" highlightClick="0" endSnd="0">
                  <a:extLst>
                    <a:ext uri="{A12FA001-AC4F-418D-AE19-62706E023703}">
                      <ahyp:hlinkClr xmlns:ahyp="http://schemas.microsoft.com/office/drawing/2018/hyperlinkcolor" val="tx"/>
                    </a:ext>
                  </a:extLst>
                </a:hlinkClick>
              </a:rPr>
              <a:t>W&amp;B · 3,626 runs</a:t>
            </a:r>
            <a:endParaRPr lang="en-US" sz="1300" dirty="0"/>
          </a:p>
        </p:txBody>
      </p:sp>
      <p:sp>
        <p:nvSpPr>
          <p:cNvPr id="10" name="Shape 7"/>
          <p:cNvSpPr/>
          <p:nvPr/>
        </p:nvSpPr>
        <p:spPr>
          <a:xfrm>
            <a:off x="13249656" y="329184"/>
            <a:ext cx="1344168" cy="1344168"/>
          </a:xfrm>
          <a:prstGeom prst="rect">
            <a:avLst/>
          </a:prstGeom>
          <a:solidFill>
            <a:srgbClr val="FFFFFF"/>
          </a:solidFill>
          <a:ln w="12700">
            <a:solidFill>
              <a:srgbClr val="FFFFFF"/>
            </a:solidFill>
            <a:prstDash val="solid"/>
          </a:ln>
        </p:spPr>
      </p:sp>
      <p:pic>
        <p:nvPicPr>
          <p:cNvPr id="11" name="Image 1" descr="QR code: https://github.com/kiettheis0702/pilot-llm-routing">
            <a:hlinkClick r:id="rId5" tooltip=""/>
          </p:cNvPr>
          <p:cNvPicPr>
            <a:picLocks noChangeAspect="1"/>
          </p:cNvPicPr>
          <p:nvPr/>
        </p:nvPicPr>
        <p:blipFill>
          <a:blip r:embed="rId4"/>
          <a:stretch>
            <a:fillRect/>
          </a:stretch>
        </p:blipFill>
        <p:spPr>
          <a:xfrm>
            <a:off x="13304520" y="384048"/>
            <a:ext cx="1234440" cy="1234440"/>
          </a:xfrm>
          <a:prstGeom prst="rect">
            <a:avLst/>
          </a:prstGeom>
        </p:spPr>
      </p:pic>
      <p:sp>
        <p:nvSpPr>
          <p:cNvPr id="12" name="Text 8"/>
          <p:cNvSpPr txBox="1"/>
          <p:nvPr/>
        </p:nvSpPr>
        <p:spPr>
          <a:xfrm>
            <a:off x="13075920" y="1737360"/>
            <a:ext cx="1691640" cy="292608"/>
          </a:xfrm>
          <a:prstGeom prst="rect">
            <a:avLst/>
          </a:prstGeom>
          <a:noFill/>
          <a:ln/>
        </p:spPr>
        <p:txBody>
          <a:bodyPr wrap="square" lIns="0" tIns="0" rIns="0" bIns="0" rtlCol="0" anchor="t"/>
          <a:lstStyle/>
          <a:p>
            <a:pPr algn="ctr" indent="0" marL="0">
              <a:buNone/>
            </a:pPr>
            <a:r>
              <a:rPr lang="en-US" sz="1300" b="1" u="sng" dirty="0">
                <a:solidFill>
                  <a:srgbClr val="FFFFFF"/>
                </a:solidFill>
                <a:latin typeface="Calibri" pitchFamily="34" charset="0"/>
                <a:ea typeface="Calibri" pitchFamily="34" charset="-122"/>
                <a:cs typeface="Calibri" pitchFamily="34" charset="-120"/>
                <a:hlinkClick r:id="rId6" invalidUrl="" action="" tgtFrame="" tooltip="https://github.com/kiettheis0702/pilot-llm-routing" history="1" highlightClick="0" endSnd="0">
                  <a:extLst>
                    <a:ext uri="{A12FA001-AC4F-418D-AE19-62706E023703}">
                      <ahyp:hlinkClr xmlns:ahyp="http://schemas.microsoft.com/office/drawing/2018/hyperlinkcolor" val="tx"/>
                    </a:ext>
                  </a:extLst>
                </a:hlinkClick>
              </a:rPr>
              <a:t>GitHub · code</a:t>
            </a:r>
            <a:endParaRPr lang="en-US" sz="1300" dirty="0"/>
          </a:p>
        </p:txBody>
      </p:sp>
      <p:sp>
        <p:nvSpPr>
          <p:cNvPr id="13" name="Text 9"/>
          <p:cNvSpPr txBox="1"/>
          <p:nvPr/>
        </p:nvSpPr>
        <p:spPr>
          <a:xfrm>
            <a:off x="11521440" y="2121408"/>
            <a:ext cx="3063240" cy="274320"/>
          </a:xfrm>
          <a:prstGeom prst="rect">
            <a:avLst/>
          </a:prstGeom>
          <a:noFill/>
          <a:ln/>
        </p:spPr>
        <p:txBody>
          <a:bodyPr wrap="square" lIns="0" tIns="0" rIns="0" bIns="0" rtlCol="0" anchor="t"/>
          <a:lstStyle/>
          <a:p>
            <a:pPr algn="ctr" indent="0" marL="0">
              <a:buNone/>
            </a:pPr>
            <a:r>
              <a:rPr lang="en-US" sz="1200" dirty="0">
                <a:solidFill>
                  <a:srgbClr val="C9D3E3"/>
                </a:solidFill>
                <a:latin typeface="Calibri" pitchFamily="34" charset="0"/>
                <a:ea typeface="Calibri" pitchFamily="34" charset="-122"/>
                <a:cs typeface="Calibri" pitchFamily="34" charset="-120"/>
              </a:rPr>
              <a:t>Scan: every number’s run, and the code</a:t>
            </a:r>
            <a:endParaRPr lang="en-US" sz="1200" dirty="0"/>
          </a:p>
        </p:txBody>
      </p:sp>
      <p:sp>
        <p:nvSpPr>
          <p:cNvPr id="14" name="Shape 10"/>
          <p:cNvSpPr/>
          <p:nvPr/>
        </p:nvSpPr>
        <p:spPr>
          <a:xfrm>
            <a:off x="548640" y="2880360"/>
            <a:ext cx="14022720" cy="1115568"/>
          </a:xfrm>
          <a:prstGeom prst="roundRect">
            <a:avLst>
              <a:gd name="adj" fmla="val 9836"/>
            </a:avLst>
          </a:prstGeom>
          <a:solidFill>
            <a:srgbClr val="F2F4F7"/>
          </a:solidFill>
          <a:ln w="9525">
            <a:solidFill>
              <a:srgbClr val="F2F4F7"/>
            </a:solidFill>
            <a:prstDash val="solid"/>
          </a:ln>
        </p:spPr>
      </p:sp>
      <p:sp>
        <p:nvSpPr>
          <p:cNvPr id="15" name="Text 11"/>
          <p:cNvSpPr txBox="1"/>
          <p:nvPr/>
        </p:nvSpPr>
        <p:spPr>
          <a:xfrm>
            <a:off x="822960" y="2971800"/>
            <a:ext cx="3657600" cy="256032"/>
          </a:xfrm>
          <a:prstGeom prst="rect">
            <a:avLst/>
          </a:prstGeom>
          <a:noFill/>
          <a:ln/>
        </p:spPr>
        <p:txBody>
          <a:bodyPr wrap="square" lIns="0" tIns="0" rIns="0" bIns="0" rtlCol="0" anchor="t"/>
          <a:lstStyle/>
          <a:p>
            <a:pPr indent="0" marL="0">
              <a:buNone/>
            </a:pPr>
            <a:r>
              <a:rPr lang="en-US" sz="1300" b="1" spc="150" kern="0" dirty="0">
                <a:solidFill>
                  <a:srgbClr val="5B6676"/>
                </a:solidFill>
                <a:latin typeface="Calibri" pitchFamily="34" charset="0"/>
                <a:ea typeface="Calibri" pitchFamily="34" charset="-122"/>
                <a:cs typeface="Calibri" pitchFamily="34" charset="-120"/>
              </a:rPr>
              <a:t>MAIN FINDING</a:t>
            </a:r>
            <a:endParaRPr lang="en-US" sz="1300" dirty="0"/>
          </a:p>
        </p:txBody>
      </p:sp>
      <p:sp>
        <p:nvSpPr>
          <p:cNvPr id="16" name="Text 12"/>
          <p:cNvSpPr txBox="1"/>
          <p:nvPr/>
        </p:nvSpPr>
        <p:spPr>
          <a:xfrm>
            <a:off x="822960" y="3209544"/>
            <a:ext cx="13474080" cy="713232"/>
          </a:xfrm>
          <a:prstGeom prst="rect">
            <a:avLst/>
          </a:prstGeom>
          <a:noFill/>
          <a:ln/>
        </p:spPr>
        <p:txBody>
          <a:bodyPr wrap="square" lIns="0" tIns="0" rIns="0" bIns="0" rtlCol="0" anchor="ctr"/>
          <a:lstStyle/>
          <a:p>
            <a:pPr indent="0" marL="0">
              <a:buNone/>
            </a:pPr>
            <a:r>
              <a:rPr lang="en-US" sz="2600" dirty="0">
                <a:solidFill>
                  <a:srgbClr val="14213D"/>
                </a:solidFill>
                <a:latin typeface="Calibri" pitchFamily="34" charset="0"/>
                <a:ea typeface="Calibri" pitchFamily="34" charset="-122"/>
                <a:cs typeface="Calibri" pitchFamily="34" charset="-120"/>
              </a:rPr>
              <a:t>PILOT’s guarantees hold only inside their assumptions: </a:t>
            </a:r>
            <a:pPr indent="0" marL="0">
              <a:buNone/>
            </a:pPr>
            <a:r>
              <a:rPr lang="en-US" sz="2600" b="1" dirty="0">
                <a:solidFill>
                  <a:srgbClr val="C2452D"/>
                </a:solidFill>
                <a:latin typeface="Calibri" pitchFamily="34" charset="0"/>
                <a:ea typeface="Calibri" pitchFamily="34" charset="-122"/>
                <a:cs typeface="Calibri" pitchFamily="34" charset="-120"/>
              </a:rPr>
              <a:t>cosine scoring erased a 4× reward gap</a:t>
            </a:r>
            <a:pPr indent="0" marL="0">
              <a:buNone/>
            </a:pPr>
            <a:r>
              <a:rPr lang="en-US" sz="2600" dirty="0">
                <a:solidFill>
                  <a:srgbClr val="14213D"/>
                </a:solidFill>
                <a:latin typeface="Calibri" pitchFamily="34" charset="0"/>
                <a:ea typeface="Calibri" pitchFamily="34" charset="-122"/>
                <a:cs typeface="Calibri" pitchFamily="34" charset="-120"/>
              </a:rPr>
              <a:t> (regret 600 vs 1.2), and </a:t>
            </a:r>
            <a:pPr indent="0" marL="0">
              <a:buNone/>
            </a:pPr>
            <a:r>
              <a:rPr lang="en-US" sz="2600" b="1" dirty="0">
                <a:solidFill>
                  <a:srgbClr val="C77700"/>
                </a:solidFill>
                <a:latin typeface="Calibri" pitchFamily="34" charset="0"/>
                <a:ea typeface="Calibri" pitchFamily="34" charset="-122"/>
                <a:cs typeface="Calibri" pitchFamily="34" charset="-120"/>
              </a:rPr>
              <a:t>a 10% cost error pushed 23 of 48 runs over budget</a:t>
            </a:r>
            <a:pPr indent="0" marL="0">
              <a:buNone/>
            </a:pPr>
            <a:r>
              <a:rPr lang="en-US" sz="2600" dirty="0">
                <a:solidFill>
                  <a:srgbClr val="14213D"/>
                </a:solidFill>
                <a:latin typeface="Calibri" pitchFamily="34" charset="0"/>
                <a:ea typeface="Calibri" pitchFamily="34" charset="-122"/>
                <a:cs typeface="Calibri" pitchFamily="34" charset="-120"/>
              </a:rPr>
              <a:t>.</a:t>
            </a:r>
            <a:endParaRPr lang="en-US" sz="2600" dirty="0"/>
          </a:p>
        </p:txBody>
      </p:sp>
      <p:sp>
        <p:nvSpPr>
          <p:cNvPr id="17" name="Text 13"/>
          <p:cNvSpPr txBox="1"/>
          <p:nvPr/>
        </p:nvSpPr>
        <p:spPr>
          <a:xfrm>
            <a:off x="548640" y="4224528"/>
            <a:ext cx="8961120" cy="274320"/>
          </a:xfrm>
          <a:prstGeom prst="rect">
            <a:avLst/>
          </a:prstGeom>
          <a:noFill/>
          <a:ln/>
        </p:spPr>
        <p:txBody>
          <a:bodyPr wrap="square" lIns="0" tIns="0" rIns="0" bIns="0" rtlCol="0" anchor="t"/>
          <a:lstStyle/>
          <a:p>
            <a:pPr indent="0" marL="0">
              <a:buNone/>
            </a:pPr>
            <a:r>
              <a:rPr lang="en-US" sz="1300" b="1" spc="120" kern="0" dirty="0">
                <a:solidFill>
                  <a:srgbClr val="0E7C7B"/>
                </a:solidFill>
                <a:latin typeface="Calibri" pitchFamily="34" charset="0"/>
                <a:ea typeface="Calibri" pitchFamily="34" charset="-122"/>
                <a:cs typeface="Calibri" pitchFamily="34" charset="-120"/>
              </a:rPr>
              <a:t>WHAT PILOT COMPUTES, AND WHERE WE PROBE IT</a:t>
            </a:r>
            <a:endParaRPr lang="en-US" sz="1300" dirty="0"/>
          </a:p>
        </p:txBody>
      </p:sp>
      <p:sp>
        <p:nvSpPr>
          <p:cNvPr id="18" name="Shape 14"/>
          <p:cNvSpPr/>
          <p:nvPr/>
        </p:nvSpPr>
        <p:spPr>
          <a:xfrm>
            <a:off x="548640" y="4608576"/>
            <a:ext cx="1627632" cy="868680"/>
          </a:xfrm>
          <a:prstGeom prst="roundRect">
            <a:avLst>
              <a:gd name="adj" fmla="val 8421"/>
            </a:avLst>
          </a:prstGeom>
          <a:solidFill>
            <a:srgbClr val="F2F4F7"/>
          </a:solidFill>
          <a:ln w="19050">
            <a:solidFill>
              <a:srgbClr val="F2F4F7"/>
            </a:solidFill>
            <a:prstDash val="solid"/>
          </a:ln>
        </p:spPr>
      </p:sp>
      <p:sp>
        <p:nvSpPr>
          <p:cNvPr id="19" name="Text 15"/>
          <p:cNvSpPr txBox="1"/>
          <p:nvPr/>
        </p:nvSpPr>
        <p:spPr>
          <a:xfrm>
            <a:off x="603504" y="4608576"/>
            <a:ext cx="1517904" cy="86868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Query q</a:t>
            </a:r>
            <a:endParaRPr lang="en-US" sz="1500" dirty="0"/>
          </a:p>
          <a:p>
            <a:pPr algn="ctr" indent="0" marL="0">
              <a:buNone/>
            </a:pPr>
            <a:r>
              <a:rPr lang="en-US" sz="1300" dirty="0">
                <a:solidFill>
                  <a:srgbClr val="1F2933"/>
                </a:solidFill>
                <a:latin typeface="Calibri" pitchFamily="34" charset="0"/>
                <a:ea typeface="Calibri" pitchFamily="34" charset="-122"/>
                <a:cs typeface="Calibri" pitchFamily="34" charset="-120"/>
              </a:rPr>
              <a:t>one at a time</a:t>
            </a:r>
            <a:endParaRPr lang="en-US" sz="1500" dirty="0"/>
          </a:p>
        </p:txBody>
      </p:sp>
      <p:sp>
        <p:nvSpPr>
          <p:cNvPr id="20" name="Shape 16"/>
          <p:cNvSpPr/>
          <p:nvPr/>
        </p:nvSpPr>
        <p:spPr>
          <a:xfrm>
            <a:off x="2194560" y="5038344"/>
            <a:ext cx="164592" cy="914"/>
          </a:xfrm>
          <a:prstGeom prst="line">
            <a:avLst/>
          </a:prstGeom>
          <a:noFill/>
          <a:ln w="19050">
            <a:solidFill>
              <a:srgbClr val="5B6676"/>
            </a:solidFill>
            <a:prstDash val="solid"/>
            <a:tailEnd type="triangle"/>
          </a:ln>
        </p:spPr>
      </p:sp>
      <p:sp>
        <p:nvSpPr>
          <p:cNvPr id="21" name="Shape 17"/>
          <p:cNvSpPr/>
          <p:nvPr/>
        </p:nvSpPr>
        <p:spPr>
          <a:xfrm>
            <a:off x="2377440" y="4608576"/>
            <a:ext cx="1627632" cy="868680"/>
          </a:xfrm>
          <a:prstGeom prst="roundRect">
            <a:avLst>
              <a:gd name="adj" fmla="val 8421"/>
            </a:avLst>
          </a:prstGeom>
          <a:solidFill>
            <a:srgbClr val="F2F4F7"/>
          </a:solidFill>
          <a:ln w="19050">
            <a:solidFill>
              <a:srgbClr val="F2F4F7"/>
            </a:solidFill>
            <a:prstDash val="solid"/>
          </a:ln>
        </p:spPr>
      </p:sp>
      <p:sp>
        <p:nvSpPr>
          <p:cNvPr id="22" name="Text 18"/>
          <p:cNvSpPr txBox="1"/>
          <p:nvPr/>
        </p:nvSpPr>
        <p:spPr>
          <a:xfrm>
            <a:off x="2432304" y="4608576"/>
            <a:ext cx="1517904" cy="86868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Embed + project</a:t>
            </a:r>
            <a:endParaRPr lang="en-US" sz="1500" dirty="0"/>
          </a:p>
          <a:p>
            <a:pPr algn="ctr" indent="0" marL="0">
              <a:buNone/>
            </a:pPr>
            <a:r>
              <a:rPr lang="en-US" sz="1300" dirty="0">
                <a:solidFill>
                  <a:srgbClr val="1F2933"/>
                </a:solidFill>
                <a:latin typeface="Calibri" pitchFamily="34" charset="0"/>
                <a:ea typeface="Calibri" pitchFamily="34" charset="-122"/>
                <a:cs typeface="Calibri" pitchFamily="34" charset="-120"/>
              </a:rPr>
              <a:t>x = norm(Wφ(q)+b)</a:t>
            </a:r>
            <a:endParaRPr lang="en-US" sz="1500" dirty="0"/>
          </a:p>
        </p:txBody>
      </p:sp>
      <p:sp>
        <p:nvSpPr>
          <p:cNvPr id="23" name="Shape 19"/>
          <p:cNvSpPr/>
          <p:nvPr/>
        </p:nvSpPr>
        <p:spPr>
          <a:xfrm>
            <a:off x="4023360" y="5038344"/>
            <a:ext cx="164592" cy="914"/>
          </a:xfrm>
          <a:prstGeom prst="line">
            <a:avLst/>
          </a:prstGeom>
          <a:noFill/>
          <a:ln w="19050">
            <a:solidFill>
              <a:srgbClr val="5B6676"/>
            </a:solidFill>
            <a:prstDash val="solid"/>
            <a:tailEnd type="triangle"/>
          </a:ln>
        </p:spPr>
      </p:sp>
      <p:sp>
        <p:nvSpPr>
          <p:cNvPr id="24" name="Shape 20"/>
          <p:cNvSpPr/>
          <p:nvPr/>
        </p:nvSpPr>
        <p:spPr>
          <a:xfrm>
            <a:off x="4206240" y="4608576"/>
            <a:ext cx="1627632" cy="868680"/>
          </a:xfrm>
          <a:prstGeom prst="roundRect">
            <a:avLst>
              <a:gd name="adj" fmla="val 8421"/>
            </a:avLst>
          </a:prstGeom>
          <a:solidFill>
            <a:srgbClr val="F8E5E0"/>
          </a:solidFill>
          <a:ln w="19050">
            <a:solidFill>
              <a:srgbClr val="C2452D"/>
            </a:solidFill>
            <a:prstDash val="solid"/>
          </a:ln>
        </p:spPr>
      </p:sp>
      <p:sp>
        <p:nvSpPr>
          <p:cNvPr id="25" name="Text 21"/>
          <p:cNvSpPr txBox="1"/>
          <p:nvPr/>
        </p:nvSpPr>
        <p:spPr>
          <a:xfrm>
            <a:off x="4261104" y="4608576"/>
            <a:ext cx="1517904" cy="86868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Score each LLM</a:t>
            </a:r>
            <a:endParaRPr lang="en-US" sz="1500" dirty="0"/>
          </a:p>
          <a:p>
            <a:pPr algn="ctr" indent="0" marL="0">
              <a:buNone/>
            </a:pPr>
            <a:r>
              <a:rPr lang="en-US" sz="1300" dirty="0">
                <a:solidFill>
                  <a:srgbClr val="1F2933"/>
                </a:solidFill>
                <a:latin typeface="Calibri" pitchFamily="34" charset="0"/>
                <a:ea typeface="Calibri" pitchFamily="34" charset="-122"/>
                <a:cs typeface="Calibri" pitchFamily="34" charset="-120"/>
              </a:rPr>
              <a:t>cos(x, θ̃</a:t>
            </a:r>
            <a:pPr algn="ctr" indent="0" marL="0">
              <a:buNone/>
            </a:pPr>
            <a:r>
              <a:rPr lang="en-US" sz="1300" baseline="-40000" dirty="0">
                <a:solidFill>
                  <a:srgbClr val="1F2933"/>
                </a:solidFill>
                <a:latin typeface="Calibri" pitchFamily="34" charset="0"/>
                <a:ea typeface="Calibri" pitchFamily="34" charset="-122"/>
                <a:cs typeface="Calibri" pitchFamily="34" charset="-120"/>
              </a:rPr>
              <a:t>a</a:t>
            </a:r>
            <a:pPr algn="ctr" indent="0" marL="0">
              <a:buNone/>
            </a:pPr>
            <a:r>
              <a:rPr lang="en-US" sz="1300" dirty="0">
                <a:solidFill>
                  <a:srgbClr val="1F2933"/>
                </a:solidFill>
                <a:latin typeface="Calibri" pitchFamily="34" charset="0"/>
                <a:ea typeface="Calibri" pitchFamily="34" charset="-122"/>
                <a:cs typeface="Calibri" pitchFamily="34" charset="-120"/>
              </a:rPr>
              <a:t>) + bonus</a:t>
            </a:r>
            <a:endParaRPr lang="en-US" sz="1500" dirty="0"/>
          </a:p>
        </p:txBody>
      </p:sp>
      <p:sp>
        <p:nvSpPr>
          <p:cNvPr id="26" name="Shape 22"/>
          <p:cNvSpPr/>
          <p:nvPr/>
        </p:nvSpPr>
        <p:spPr>
          <a:xfrm>
            <a:off x="5522976" y="4407408"/>
            <a:ext cx="420624" cy="420624"/>
          </a:xfrm>
          <a:prstGeom prst="ellipse">
            <a:avLst/>
          </a:prstGeom>
          <a:solidFill>
            <a:srgbClr val="C2452D"/>
          </a:solidFill>
          <a:ln w="9525">
            <a:solidFill>
              <a:srgbClr val="C2452D"/>
            </a:solidFill>
            <a:prstDash val="solid"/>
          </a:ln>
        </p:spPr>
      </p:sp>
      <p:sp>
        <p:nvSpPr>
          <p:cNvPr id="27" name="Text 23"/>
          <p:cNvSpPr txBox="1"/>
          <p:nvPr/>
        </p:nvSpPr>
        <p:spPr>
          <a:xfrm>
            <a:off x="5522976" y="440740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W1</a:t>
            </a:r>
            <a:endParaRPr lang="en-US" sz="1300" dirty="0"/>
          </a:p>
        </p:txBody>
      </p:sp>
      <p:sp>
        <p:nvSpPr>
          <p:cNvPr id="28" name="Shape 24"/>
          <p:cNvSpPr/>
          <p:nvPr/>
        </p:nvSpPr>
        <p:spPr>
          <a:xfrm>
            <a:off x="5852160" y="5038344"/>
            <a:ext cx="164592" cy="914"/>
          </a:xfrm>
          <a:prstGeom prst="line">
            <a:avLst/>
          </a:prstGeom>
          <a:noFill/>
          <a:ln w="19050">
            <a:solidFill>
              <a:srgbClr val="5B6676"/>
            </a:solidFill>
            <a:prstDash val="solid"/>
            <a:tailEnd type="triangle"/>
          </a:ln>
        </p:spPr>
      </p:sp>
      <p:sp>
        <p:nvSpPr>
          <p:cNvPr id="29" name="Shape 25"/>
          <p:cNvSpPr/>
          <p:nvPr/>
        </p:nvSpPr>
        <p:spPr>
          <a:xfrm>
            <a:off x="6035040" y="4608576"/>
            <a:ext cx="1627632" cy="868680"/>
          </a:xfrm>
          <a:prstGeom prst="roundRect">
            <a:avLst>
              <a:gd name="adj" fmla="val 8421"/>
            </a:avLst>
          </a:prstGeom>
          <a:solidFill>
            <a:srgbClr val="FBF0DC"/>
          </a:solidFill>
          <a:ln w="19050">
            <a:solidFill>
              <a:srgbClr val="C77700"/>
            </a:solidFill>
            <a:prstDash val="solid"/>
          </a:ln>
        </p:spPr>
      </p:sp>
      <p:sp>
        <p:nvSpPr>
          <p:cNvPr id="30" name="Text 26"/>
          <p:cNvSpPr txBox="1"/>
          <p:nvPr/>
        </p:nvSpPr>
        <p:spPr>
          <a:xfrm>
            <a:off x="6089904" y="4608576"/>
            <a:ext cx="1517904" cy="86868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Estimate cost</a:t>
            </a:r>
            <a:endParaRPr lang="en-US" sz="1500" dirty="0"/>
          </a:p>
          <a:p>
            <a:pPr algn="ctr" indent="0" marL="0">
              <a:buNone/>
            </a:pPr>
            <a:r>
              <a:rPr lang="en-US" sz="1300" dirty="0">
                <a:solidFill>
                  <a:srgbClr val="1F2933"/>
                </a:solidFill>
                <a:latin typeface="Calibri" pitchFamily="34" charset="0"/>
                <a:ea typeface="Calibri" pitchFamily="34" charset="-122"/>
                <a:cs typeface="Calibri" pitchFamily="34" charset="-120"/>
              </a:rPr>
              <a:t>ĉ(a) from tuning</a:t>
            </a:r>
            <a:endParaRPr lang="en-US" sz="1500" dirty="0"/>
          </a:p>
        </p:txBody>
      </p:sp>
      <p:sp>
        <p:nvSpPr>
          <p:cNvPr id="31" name="Shape 27"/>
          <p:cNvSpPr/>
          <p:nvPr/>
        </p:nvSpPr>
        <p:spPr>
          <a:xfrm>
            <a:off x="7351776" y="4407408"/>
            <a:ext cx="420624" cy="420624"/>
          </a:xfrm>
          <a:prstGeom prst="ellipse">
            <a:avLst/>
          </a:prstGeom>
          <a:solidFill>
            <a:srgbClr val="C77700"/>
          </a:solidFill>
          <a:ln w="9525">
            <a:solidFill>
              <a:srgbClr val="C77700"/>
            </a:solidFill>
            <a:prstDash val="solid"/>
          </a:ln>
        </p:spPr>
      </p:sp>
      <p:sp>
        <p:nvSpPr>
          <p:cNvPr id="32" name="Text 28"/>
          <p:cNvSpPr txBox="1"/>
          <p:nvPr/>
        </p:nvSpPr>
        <p:spPr>
          <a:xfrm>
            <a:off x="7351776" y="440740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W2</a:t>
            </a:r>
            <a:endParaRPr lang="en-US" sz="1300" dirty="0"/>
          </a:p>
        </p:txBody>
      </p:sp>
      <p:sp>
        <p:nvSpPr>
          <p:cNvPr id="33" name="Shape 29"/>
          <p:cNvSpPr/>
          <p:nvPr/>
        </p:nvSpPr>
        <p:spPr>
          <a:xfrm>
            <a:off x="7680960" y="5038344"/>
            <a:ext cx="164592" cy="914"/>
          </a:xfrm>
          <a:prstGeom prst="line">
            <a:avLst/>
          </a:prstGeom>
          <a:noFill/>
          <a:ln w="19050">
            <a:solidFill>
              <a:srgbClr val="5B6676"/>
            </a:solidFill>
            <a:prstDash val="solid"/>
            <a:tailEnd type="triangle"/>
          </a:ln>
        </p:spPr>
      </p:sp>
      <p:sp>
        <p:nvSpPr>
          <p:cNvPr id="34" name="Shape 30"/>
          <p:cNvSpPr/>
          <p:nvPr/>
        </p:nvSpPr>
        <p:spPr>
          <a:xfrm>
            <a:off x="7863840" y="4608576"/>
            <a:ext cx="1627632" cy="868680"/>
          </a:xfrm>
          <a:prstGeom prst="roundRect">
            <a:avLst>
              <a:gd name="adj" fmla="val 8421"/>
            </a:avLst>
          </a:prstGeom>
          <a:solidFill>
            <a:srgbClr val="F2F4F7"/>
          </a:solidFill>
          <a:ln w="19050">
            <a:solidFill>
              <a:srgbClr val="F2F4F7"/>
            </a:solidFill>
            <a:prstDash val="solid"/>
          </a:ln>
        </p:spPr>
      </p:sp>
      <p:sp>
        <p:nvSpPr>
          <p:cNvPr id="35" name="Text 31"/>
          <p:cNvSpPr txBox="1"/>
          <p:nvPr/>
        </p:nvSpPr>
        <p:spPr>
          <a:xfrm>
            <a:off x="7918704" y="4608576"/>
            <a:ext cx="1517904" cy="86868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Serve one LLM</a:t>
            </a:r>
            <a:endParaRPr lang="en-US" sz="1500" dirty="0"/>
          </a:p>
          <a:p>
            <a:pPr algn="ctr" indent="0" marL="0">
              <a:buNone/>
            </a:pPr>
            <a:r>
              <a:rPr lang="en-US" sz="1300" dirty="0">
                <a:solidFill>
                  <a:srgbClr val="1F2933"/>
                </a:solidFill>
                <a:latin typeface="Calibri" pitchFamily="34" charset="0"/>
                <a:ea typeface="Calibri" pitchFamily="34" charset="-122"/>
                <a:cs typeface="Calibri" pitchFamily="34" charset="-120"/>
              </a:rPr>
              <a:t>within budget B</a:t>
            </a:r>
            <a:endParaRPr lang="en-US" sz="1500" dirty="0"/>
          </a:p>
        </p:txBody>
      </p:sp>
      <p:sp>
        <p:nvSpPr>
          <p:cNvPr id="36" name="Shape 32"/>
          <p:cNvSpPr/>
          <p:nvPr/>
        </p:nvSpPr>
        <p:spPr>
          <a:xfrm>
            <a:off x="9829800" y="4224528"/>
            <a:ext cx="4741560" cy="1298448"/>
          </a:xfrm>
          <a:prstGeom prst="roundRect">
            <a:avLst>
              <a:gd name="adj" fmla="val 5634"/>
            </a:avLst>
          </a:prstGeom>
          <a:solidFill>
            <a:srgbClr val="FFFFFF"/>
          </a:solidFill>
          <a:ln w="9525">
            <a:solidFill>
              <a:srgbClr val="D9DEE5"/>
            </a:solidFill>
            <a:prstDash val="solid"/>
          </a:ln>
        </p:spPr>
      </p:sp>
      <p:sp>
        <p:nvSpPr>
          <p:cNvPr id="37" name="Text 33"/>
          <p:cNvSpPr txBox="1"/>
          <p:nvPr/>
        </p:nvSpPr>
        <p:spPr>
          <a:xfrm>
            <a:off x="10012680" y="4279392"/>
            <a:ext cx="4421520" cy="1188720"/>
          </a:xfrm>
          <a:prstGeom prst="rect">
            <a:avLst/>
          </a:prstGeom>
          <a:noFill/>
          <a:ln/>
        </p:spPr>
        <p:txBody>
          <a:bodyPr wrap="square" lIns="0" tIns="0" rIns="0" bIns="0" rtlCol="0" anchor="ctr"/>
          <a:lstStyle/>
          <a:p>
            <a:pPr indent="0" marL="0">
              <a:spcAft>
                <a:spcPts val="300"/>
              </a:spcAft>
              <a:buNone/>
            </a:pPr>
            <a:r>
              <a:rPr lang="en-US" sz="1500" b="1" dirty="0">
                <a:solidFill>
                  <a:srgbClr val="14213D"/>
                </a:solidFill>
                <a:latin typeface="Calibri" pitchFamily="34" charset="0"/>
                <a:ea typeface="Calibri" pitchFamily="34" charset="-122"/>
                <a:cs typeface="Calibri" pitchFamily="34" charset="-120"/>
              </a:rPr>
              <a:t>Our reproduction, in short</a:t>
            </a:r>
            <a:endParaRPr lang="en-US" sz="1500" dirty="0"/>
          </a:p>
          <a:p>
            <a:pPr indent="0" marL="0">
              <a:spcAft>
                <a:spcPts val="300"/>
              </a:spcAft>
              <a:buNone/>
            </a:pPr>
            <a:r>
              <a:rPr lang="en-US" sz="1350" dirty="0">
                <a:solidFill>
                  <a:srgbClr val="1F2933"/>
                </a:solidFill>
                <a:latin typeface="Calibri" pitchFamily="34" charset="0"/>
                <a:ea typeface="Calibri" pitchFamily="34" charset="-122"/>
                <a:cs typeface="Calibri" pitchFamily="34" charset="-120"/>
              </a:rPr>
              <a:t>Lowest regret among learners: </a:t>
            </a:r>
            <a:pPr indent="0" marL="0">
              <a:buNone/>
            </a:pPr>
            <a:r>
              <a:rPr lang="en-US" sz="1350" b="1" dirty="0">
                <a:solidFill>
                  <a:srgbClr val="0E7C7B"/>
                </a:solidFill>
                <a:latin typeface="Calibri" pitchFamily="34" charset="0"/>
                <a:ea typeface="Calibri" pitchFamily="34" charset="-122"/>
                <a:cs typeface="Calibri" pitchFamily="34" charset="-120"/>
              </a:rPr>
              <a:t>4,275 vs 4,747</a:t>
            </a:r>
            <a:pPr indent="0" marL="0">
              <a:buNone/>
            </a:pPr>
            <a:r>
              <a:rPr lang="en-US" sz="1350" dirty="0">
                <a:solidFill>
                  <a:srgbClr val="1F2933"/>
                </a:solidFill>
                <a:latin typeface="Calibri" pitchFamily="34" charset="0"/>
                <a:ea typeface="Calibri" pitchFamily="34" charset="-122"/>
                <a:cs typeface="Calibri" pitchFamily="34" charset="-120"/>
              </a:rPr>
              <a:t> (RouterBench)</a:t>
            </a:r>
            <a:endParaRPr lang="en-US" sz="1500" dirty="0"/>
          </a:p>
          <a:p>
            <a:pPr indent="0" marL="0">
              <a:spcAft>
                <a:spcPts val="300"/>
              </a:spcAft>
              <a:buNone/>
            </a:pPr>
            <a:r>
              <a:rPr lang="en-US" sz="1350" dirty="0">
                <a:solidFill>
                  <a:srgbClr val="1F2933"/>
                </a:solidFill>
                <a:latin typeface="Calibri" pitchFamily="34" charset="0"/>
                <a:ea typeface="Calibri" pitchFamily="34" charset="-122"/>
                <a:cs typeface="Calibri" pitchFamily="34" charset="-120"/>
              </a:rPr>
              <a:t>50% allocation, quality / GPT-4: </a:t>
            </a:r>
            <a:pPr indent="0" marL="0">
              <a:buNone/>
            </a:pPr>
            <a:r>
              <a:rPr lang="en-US" sz="1350" b="1" dirty="0">
                <a:solidFill>
                  <a:srgbClr val="C2452D"/>
                </a:solidFill>
                <a:latin typeface="Calibri" pitchFamily="34" charset="0"/>
                <a:ea typeface="Calibri" pitchFamily="34" charset="-122"/>
                <a:cs typeface="Calibri" pitchFamily="34" charset="-120"/>
              </a:rPr>
              <a:t>PILOT 86.6% vs LinUCB 91.3%</a:t>
            </a:r>
            <a:endParaRPr lang="en-US" sz="1500" dirty="0"/>
          </a:p>
          <a:p>
            <a:pPr indent="0" marL="0">
              <a:spcAft>
                <a:spcPts val="300"/>
              </a:spcAft>
              <a:buNone/>
            </a:pPr>
            <a:r>
              <a:rPr lang="en-US" sz="1350" dirty="0">
                <a:solidFill>
                  <a:srgbClr val="5B6676"/>
                </a:solidFill>
                <a:latin typeface="Calibri" pitchFamily="34" charset="0"/>
                <a:ea typeface="Calibri" pitchFamily="34" charset="-122"/>
                <a:cs typeface="Calibri" pitchFamily="34" charset="-120"/>
              </a:rPr>
              <a:t>8 of 11 arms · text-embedding-3-small · 3 seeds</a:t>
            </a:r>
            <a:endParaRPr lang="en-US" sz="1500" dirty="0"/>
          </a:p>
        </p:txBody>
      </p:sp>
      <p:sp>
        <p:nvSpPr>
          <p:cNvPr id="38" name="Shape 34"/>
          <p:cNvSpPr/>
          <p:nvPr/>
        </p:nvSpPr>
        <p:spPr>
          <a:xfrm>
            <a:off x="548640" y="5760720"/>
            <a:ext cx="566928" cy="566928"/>
          </a:xfrm>
          <a:prstGeom prst="ellipse">
            <a:avLst/>
          </a:prstGeom>
          <a:solidFill>
            <a:srgbClr val="C2452D"/>
          </a:solidFill>
          <a:ln w="9525">
            <a:solidFill>
              <a:srgbClr val="C2452D"/>
            </a:solidFill>
            <a:prstDash val="solid"/>
          </a:ln>
        </p:spPr>
      </p:sp>
      <p:sp>
        <p:nvSpPr>
          <p:cNvPr id="39" name="Text 35"/>
          <p:cNvSpPr txBox="1"/>
          <p:nvPr/>
        </p:nvSpPr>
        <p:spPr>
          <a:xfrm>
            <a:off x="548640" y="576072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W1</a:t>
            </a:r>
            <a:endParaRPr lang="en-US" sz="1800" dirty="0"/>
          </a:p>
        </p:txBody>
      </p:sp>
      <p:sp>
        <p:nvSpPr>
          <p:cNvPr id="40" name="Text 36"/>
          <p:cNvSpPr txBox="1"/>
          <p:nvPr/>
        </p:nvSpPr>
        <p:spPr>
          <a:xfrm>
            <a:off x="1280160" y="5742432"/>
            <a:ext cx="13291200" cy="603504"/>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Cosine scoring discards reward magnitude</a:t>
            </a:r>
            <a:endParaRPr lang="en-US" sz="3000" dirty="0"/>
          </a:p>
        </p:txBody>
      </p:sp>
      <p:sp>
        <p:nvSpPr>
          <p:cNvPr id="41" name="Shape 37"/>
          <p:cNvSpPr/>
          <p:nvPr/>
        </p:nvSpPr>
        <p:spPr>
          <a:xfrm>
            <a:off x="548640" y="6473952"/>
            <a:ext cx="6675120" cy="3977640"/>
          </a:xfrm>
          <a:prstGeom prst="roundRect">
            <a:avLst>
              <a:gd name="adj" fmla="val 1839"/>
            </a:avLst>
          </a:prstGeom>
          <a:solidFill>
            <a:srgbClr val="F2F4F7"/>
          </a:solidFill>
          <a:ln w="9525">
            <a:solidFill>
              <a:srgbClr val="F2F4F7"/>
            </a:solidFill>
            <a:prstDash val="solid"/>
          </a:ln>
        </p:spPr>
      </p:sp>
      <p:sp>
        <p:nvSpPr>
          <p:cNvPr id="42" name="Text 38"/>
          <p:cNvSpPr txBox="1"/>
          <p:nvPr/>
        </p:nvSpPr>
        <p:spPr>
          <a:xfrm>
            <a:off x="777240" y="6638544"/>
            <a:ext cx="6217920" cy="274320"/>
          </a:xfrm>
          <a:prstGeom prst="rect">
            <a:avLst/>
          </a:prstGeom>
          <a:noFill/>
          <a:ln/>
        </p:spPr>
        <p:txBody>
          <a:bodyPr wrap="square" lIns="0" tIns="0" rIns="0" bIns="0" rtlCol="0" anchor="t"/>
          <a:lstStyle/>
          <a:p>
            <a:pPr indent="0" marL="0">
              <a:buNone/>
            </a:pPr>
            <a:r>
              <a:rPr lang="en-US" sz="1300" b="1" spc="120" kern="0" dirty="0">
                <a:solidFill>
                  <a:srgbClr val="0E7C7B"/>
                </a:solidFill>
                <a:latin typeface="Calibri" pitchFamily="34" charset="0"/>
                <a:ea typeface="Calibri" pitchFamily="34" charset="-122"/>
                <a:cs typeface="Calibri" pitchFamily="34" charset="-120"/>
              </a:rPr>
              <a:t>THEORY · WHY IT SHOULD FAIL</a:t>
            </a:r>
            <a:endParaRPr lang="en-US" sz="1300" dirty="0"/>
          </a:p>
        </p:txBody>
      </p:sp>
      <p:sp>
        <p:nvSpPr>
          <p:cNvPr id="43" name="Text 39"/>
          <p:cNvSpPr txBox="1"/>
          <p:nvPr/>
        </p:nvSpPr>
        <p:spPr>
          <a:xfrm>
            <a:off x="777240" y="7004304"/>
            <a:ext cx="6217920" cy="3319272"/>
          </a:xfrm>
          <a:prstGeom prst="rect">
            <a:avLst/>
          </a:prstGeom>
          <a:noFill/>
          <a:ln/>
        </p:spPr>
        <p:txBody>
          <a:bodyPr wrap="square" lIns="0" tIns="0" rIns="0" bIns="0" rtlCol="0" anchor="t"/>
          <a:lstStyle/>
          <a:p>
            <a:pPr indent="0" marL="0">
              <a:spcAft>
                <a:spcPts val="800"/>
              </a:spcAft>
              <a:buNone/>
            </a:pPr>
            <a:r>
              <a:rPr lang="en-US" sz="1600" b="1" dirty="0">
                <a:solidFill>
                  <a:srgbClr val="1F2933"/>
                </a:solidFill>
                <a:latin typeface="Calibri" pitchFamily="34" charset="0"/>
                <a:ea typeface="Calibri" pitchFamily="34" charset="-122"/>
                <a:cs typeface="Calibri" pitchFamily="34" charset="-120"/>
              </a:rPr>
              <a:t>Assumption. </a:t>
            </a:r>
            <a:pPr indent="0" marL="0">
              <a:buNone/>
            </a:pPr>
            <a:r>
              <a:rPr lang="en-US" sz="1600" dirty="0">
                <a:solidFill>
                  <a:srgbClr val="1F2933"/>
                </a:solidFill>
                <a:latin typeface="Calibri" pitchFamily="34" charset="0"/>
                <a:ea typeface="Calibri" pitchFamily="34" charset="-122"/>
                <a:cs typeface="Calibri" pitchFamily="34" charset="-120"/>
              </a:rPr>
              <a:t>The PI-OFUL bound is proven for linear rewards </a:t>
            </a:r>
            <a:pPr indent="0" marL="0">
              <a:buNone/>
            </a:pPr>
            <a:r>
              <a:rPr lang="en-US" sz="1600" dirty="0">
                <a:solidFill>
                  <a:srgbClr val="1F2933"/>
                </a:solidFill>
                <a:latin typeface="Cambria Math" pitchFamily="34" charset="0"/>
                <a:ea typeface="Cambria Math" pitchFamily="34" charset="-122"/>
                <a:cs typeface="Cambria Math" pitchFamily="34" charset="-120"/>
              </a:rPr>
              <a:t>r = θ*·x + ε</a:t>
            </a:r>
            <a:pPr indent="0" marL="0">
              <a:buNone/>
            </a:pPr>
            <a:r>
              <a:rPr lang="en-US" sz="1600" dirty="0">
                <a:solidFill>
                  <a:srgbClr val="1F2933"/>
                </a:solidFill>
                <a:latin typeface="Calibri" pitchFamily="34" charset="0"/>
                <a:ea typeface="Calibri" pitchFamily="34" charset="-122"/>
                <a:cs typeface="Calibri" pitchFamily="34" charset="-120"/>
              </a:rPr>
              <a:t> [2]: the size of </a:t>
            </a:r>
            <a:pPr indent="0" marL="0">
              <a:buNone/>
            </a:pPr>
            <a:r>
              <a:rPr lang="en-US" sz="1600" dirty="0">
                <a:solidFill>
                  <a:srgbClr val="1F2933"/>
                </a:solidFill>
                <a:latin typeface="Cambria Math" pitchFamily="34" charset="0"/>
                <a:ea typeface="Cambria Math" pitchFamily="34" charset="-122"/>
                <a:cs typeface="Cambria Math" pitchFamily="34" charset="-120"/>
              </a:rPr>
              <a:t>θ*·x</a:t>
            </a:r>
            <a:pPr indent="0" marL="0">
              <a:buNone/>
            </a:pPr>
            <a:r>
              <a:rPr lang="en-US" sz="1600" dirty="0">
                <a:solidFill>
                  <a:srgbClr val="1F2933"/>
                </a:solidFill>
                <a:latin typeface="Calibri" pitchFamily="34" charset="0"/>
                <a:ea typeface="Calibri" pitchFamily="34" charset="-122"/>
                <a:cs typeface="Calibri" pitchFamily="34" charset="-120"/>
              </a:rPr>
              <a:t> is the reward.</a:t>
            </a:r>
            <a:endParaRPr lang="en-US" sz="1600" dirty="0"/>
          </a:p>
          <a:p>
            <a:pPr indent="0" marL="0">
              <a:spcAft>
                <a:spcPts val="800"/>
              </a:spcAft>
              <a:buNone/>
            </a:pPr>
            <a:r>
              <a:rPr lang="en-US" sz="1600" b="1" dirty="0">
                <a:solidFill>
                  <a:srgbClr val="1F2933"/>
                </a:solidFill>
                <a:latin typeface="Calibri" pitchFamily="34" charset="0"/>
                <a:ea typeface="Calibri" pitchFamily="34" charset="-122"/>
                <a:cs typeface="Calibri" pitchFamily="34" charset="-120"/>
              </a:rPr>
              <a:t>What PILOT scores. </a:t>
            </a:r>
            <a:pPr indent="0" marL="0">
              <a:buNone/>
            </a:pPr>
            <a:r>
              <a:rPr lang="en-US" sz="1600" dirty="0">
                <a:solidFill>
                  <a:srgbClr val="1F2933"/>
                </a:solidFill>
                <a:latin typeface="Cambria Math" pitchFamily="34" charset="0"/>
                <a:ea typeface="Cambria Math" pitchFamily="34" charset="-122"/>
                <a:cs typeface="Cambria Math" pitchFamily="34" charset="-120"/>
              </a:rPr>
              <a:t>cos(x, θ̃</a:t>
            </a:r>
            <a:pPr indent="0" marL="0">
              <a:buNone/>
            </a:pPr>
            <a:r>
              <a:rPr lang="en-US" sz="1600" baseline="-40000" dirty="0">
                <a:solidFill>
                  <a:srgbClr val="1F2933"/>
                </a:solidFill>
                <a:latin typeface="Cambria Math" pitchFamily="34" charset="0"/>
                <a:ea typeface="Cambria Math" pitchFamily="34" charset="-122"/>
                <a:cs typeface="Cambria Math" pitchFamily="34" charset="-120"/>
              </a:rPr>
              <a:t>a</a:t>
            </a:r>
            <a:pPr indent="0" marL="0">
              <a:buNone/>
            </a:pPr>
            <a:r>
              <a:rPr lang="en-US" sz="1600" dirty="0">
                <a:solidFill>
                  <a:srgbClr val="1F2933"/>
                </a:solidFill>
                <a:latin typeface="Cambria Math" pitchFamily="34" charset="0"/>
                <a:ea typeface="Cambria Math" pitchFamily="34" charset="-122"/>
                <a:cs typeface="Cambria Math" pitchFamily="34" charset="-120"/>
              </a:rPr>
              <a:t>) = x·θ̃</a:t>
            </a:r>
            <a:pPr indent="0" marL="0">
              <a:buNone/>
            </a:pPr>
            <a:r>
              <a:rPr lang="en-US" sz="1600" baseline="-40000" dirty="0">
                <a:solidFill>
                  <a:srgbClr val="1F2933"/>
                </a:solidFill>
                <a:latin typeface="Cambria Math" pitchFamily="34" charset="0"/>
                <a:ea typeface="Cambria Math" pitchFamily="34" charset="-122"/>
                <a:cs typeface="Cambria Math" pitchFamily="34" charset="-120"/>
              </a:rPr>
              <a:t>a</a:t>
            </a:r>
            <a:pPr indent="0" marL="0">
              <a:buNone/>
            </a:pPr>
            <a:r>
              <a:rPr lang="en-US" sz="1600" dirty="0">
                <a:solidFill>
                  <a:srgbClr val="1F2933"/>
                </a:solidFill>
                <a:latin typeface="Cambria Math" pitchFamily="34" charset="0"/>
                <a:ea typeface="Cambria Math" pitchFamily="34" charset="-122"/>
                <a:cs typeface="Cambria Math" pitchFamily="34" charset="-120"/>
              </a:rPr>
              <a:t> / ‖θ̃</a:t>
            </a:r>
            <a:pPr indent="0" marL="0">
              <a:buNone/>
            </a:pPr>
            <a:r>
              <a:rPr lang="en-US" sz="1600" baseline="-40000" dirty="0">
                <a:solidFill>
                  <a:srgbClr val="1F2933"/>
                </a:solidFill>
                <a:latin typeface="Cambria Math" pitchFamily="34" charset="0"/>
                <a:ea typeface="Cambria Math" pitchFamily="34" charset="-122"/>
                <a:cs typeface="Cambria Math" pitchFamily="34" charset="-120"/>
              </a:rPr>
              <a:t>a</a:t>
            </a:r>
            <a:pPr indent="0" marL="0">
              <a:buNone/>
            </a:pPr>
            <a:r>
              <a:rPr lang="en-US" sz="1600" dirty="0">
                <a:solidFill>
                  <a:srgbClr val="1F2933"/>
                </a:solidFill>
                <a:latin typeface="Cambria Math" pitchFamily="34" charset="0"/>
                <a:ea typeface="Cambria Math" pitchFamily="34" charset="-122"/>
                <a:cs typeface="Cambria Math" pitchFamily="34" charset="-120"/>
              </a:rPr>
              <a:t>‖</a:t>
            </a:r>
            <a:pPr indent="0" marL="0">
              <a:buNone/>
            </a:pPr>
            <a:r>
              <a:rPr lang="en-US" sz="1600" dirty="0">
                <a:solidFill>
                  <a:srgbClr val="1F2933"/>
                </a:solidFill>
                <a:latin typeface="Calibri" pitchFamily="34" charset="0"/>
                <a:ea typeface="Calibri" pitchFamily="34" charset="-122"/>
                <a:cs typeface="Calibri" pitchFamily="34" charset="-120"/>
              </a:rPr>
              <a:t>: scaling </a:t>
            </a:r>
            <a:pPr indent="0" marL="0">
              <a:buNone/>
            </a:pPr>
            <a:r>
              <a:rPr lang="en-US" sz="1600" dirty="0">
                <a:solidFill>
                  <a:srgbClr val="1F2933"/>
                </a:solidFill>
                <a:latin typeface="Cambria Math" pitchFamily="34" charset="0"/>
                <a:ea typeface="Cambria Math" pitchFamily="34" charset="-122"/>
                <a:cs typeface="Cambria Math" pitchFamily="34" charset="-120"/>
              </a:rPr>
              <a:t>θ̃</a:t>
            </a:r>
            <a:pPr indent="0" marL="0">
              <a:buNone/>
            </a:pPr>
            <a:r>
              <a:rPr lang="en-US" sz="1600" baseline="-40000" dirty="0">
                <a:solidFill>
                  <a:srgbClr val="1F2933"/>
                </a:solidFill>
                <a:latin typeface="Cambria Math" pitchFamily="34" charset="0"/>
                <a:ea typeface="Cambria Math" pitchFamily="34" charset="-122"/>
                <a:cs typeface="Cambria Math" pitchFamily="34" charset="-120"/>
              </a:rPr>
              <a:t>a</a:t>
            </a:r>
            <a:pPr indent="0" marL="0">
              <a:buNone/>
            </a:pPr>
            <a:r>
              <a:rPr lang="en-US" sz="1600" dirty="0">
                <a:solidFill>
                  <a:srgbClr val="1F2933"/>
                </a:solidFill>
                <a:latin typeface="Calibri" pitchFamily="34" charset="0"/>
                <a:ea typeface="Calibri" pitchFamily="34" charset="-122"/>
                <a:cs typeface="Calibri" pitchFamily="34" charset="-120"/>
              </a:rPr>
              <a:t> by any c &gt; 0 changes nothing.</a:t>
            </a:r>
            <a:endParaRPr lang="en-US" sz="1600" dirty="0"/>
          </a:p>
          <a:p>
            <a:pPr indent="0" marL="0">
              <a:spcAft>
                <a:spcPts val="800"/>
              </a:spcAft>
              <a:buNone/>
            </a:pPr>
            <a:r>
              <a:rPr lang="en-US" sz="1600" b="1" dirty="0">
                <a:solidFill>
                  <a:srgbClr val="1F2933"/>
                </a:solidFill>
                <a:latin typeface="Calibri" pitchFamily="34" charset="0"/>
                <a:ea typeface="Calibri" pitchFamily="34" charset="-122"/>
                <a:cs typeface="Calibri" pitchFamily="34" charset="-120"/>
              </a:rPr>
              <a:t>Consequence. </a:t>
            </a:r>
            <a:pPr indent="0" marL="0">
              <a:buNone/>
            </a:pPr>
            <a:r>
              <a:rPr lang="en-US" sz="1600" dirty="0">
                <a:solidFill>
                  <a:srgbClr val="1F2933"/>
                </a:solidFill>
                <a:latin typeface="Calibri" pitchFamily="34" charset="0"/>
                <a:ea typeface="Calibri" pitchFamily="34" charset="-122"/>
                <a:cs typeface="Calibri" pitchFamily="34" charset="-120"/>
              </a:rPr>
              <a:t>Arms that point the same way but pay 0.2 and 0.8 get equal means. Only the exploration bonus separates them, so they are served alternately and regret grows like Θ(T).</a:t>
            </a:r>
            <a:endParaRPr lang="en-US" sz="1600" dirty="0"/>
          </a:p>
          <a:p>
            <a:pPr indent="0" marL="0">
              <a:spcAft>
                <a:spcPts val="800"/>
              </a:spcAft>
              <a:buNone/>
            </a:pPr>
            <a:r>
              <a:rPr lang="en-US" sz="1600" b="1" dirty="0">
                <a:solidFill>
                  <a:srgbClr val="1F2933"/>
                </a:solidFill>
                <a:latin typeface="Calibri" pitchFamily="34" charset="0"/>
                <a:ea typeface="Calibri" pitchFamily="34" charset="-122"/>
                <a:cs typeface="Calibri" pitchFamily="34" charset="-120"/>
              </a:rPr>
              <a:t>Why it matters. </a:t>
            </a:r>
            <a:pPr indent="0" marL="0">
              <a:buNone/>
            </a:pPr>
            <a:r>
              <a:rPr lang="en-US" sz="1600" dirty="0">
                <a:solidFill>
                  <a:srgbClr val="1F2933"/>
                </a:solidFill>
                <a:latin typeface="Calibri" pitchFamily="34" charset="0"/>
                <a:ea typeface="Calibri" pitchFamily="34" charset="-122"/>
                <a:cs typeface="Calibri" pitchFamily="34" charset="-120"/>
              </a:rPr>
              <a:t>LLMs often agree on which queries are hard (direction) but differ in how often they succeed (magnitude).</a:t>
            </a:r>
            <a:endParaRPr lang="en-US" sz="1600" dirty="0"/>
          </a:p>
          <a:p>
            <a:pPr indent="0" marL="0">
              <a:spcAft>
                <a:spcPts val="800"/>
              </a:spcAft>
              <a:buNone/>
            </a:pPr>
            <a:r>
              <a:rPr lang="en-US" sz="1600" b="1" dirty="0">
                <a:solidFill>
                  <a:srgbClr val="C2452D"/>
                </a:solidFill>
                <a:latin typeface="Calibri" pitchFamily="34" charset="0"/>
                <a:ea typeface="Calibri" pitchFamily="34" charset="-122"/>
                <a:cs typeface="Calibri" pitchFamily="34" charset="-120"/>
              </a:rPr>
              <a:t>Prediction. </a:t>
            </a:r>
            <a:pPr indent="0" marL="0">
              <a:buNone/>
            </a:pPr>
            <a:r>
              <a:rPr lang="en-US" sz="1600" dirty="0">
                <a:solidFill>
                  <a:srgbClr val="1F2933"/>
                </a:solidFill>
                <a:latin typeface="Calibri" pitchFamily="34" charset="0"/>
                <a:ea typeface="Calibri" pitchFamily="34" charset="-122"/>
                <a:cs typeface="Calibri" pitchFamily="34" charset="-120"/>
              </a:rPr>
              <a:t>Collinear arms: cosine regret grows ∝ T; a linear-mean control with the same prior stays near 0.</a:t>
            </a:r>
            <a:endParaRPr lang="en-US" sz="1600" dirty="0"/>
          </a:p>
        </p:txBody>
      </p:sp>
      <p:sp>
        <p:nvSpPr>
          <p:cNvPr id="44" name="Shape 40"/>
          <p:cNvSpPr/>
          <p:nvPr/>
        </p:nvSpPr>
        <p:spPr>
          <a:xfrm>
            <a:off x="7242048" y="8462772"/>
            <a:ext cx="635904" cy="914"/>
          </a:xfrm>
          <a:prstGeom prst="line">
            <a:avLst/>
          </a:prstGeom>
          <a:noFill/>
          <a:ln w="31750">
            <a:solidFill>
              <a:srgbClr val="C2452D"/>
            </a:solidFill>
            <a:prstDash val="solid"/>
            <a:tailEnd type="triangle"/>
          </a:ln>
        </p:spPr>
      </p:sp>
      <p:sp>
        <p:nvSpPr>
          <p:cNvPr id="45" name="Shape 41"/>
          <p:cNvSpPr/>
          <p:nvPr/>
        </p:nvSpPr>
        <p:spPr>
          <a:xfrm>
            <a:off x="7294824" y="8197596"/>
            <a:ext cx="530352" cy="530352"/>
          </a:xfrm>
          <a:prstGeom prst="ellipse">
            <a:avLst/>
          </a:prstGeom>
          <a:solidFill>
            <a:srgbClr val="C2452D"/>
          </a:solidFill>
          <a:ln w="9525">
            <a:solidFill>
              <a:srgbClr val="C2452D"/>
            </a:solidFill>
            <a:prstDash val="solid"/>
          </a:ln>
        </p:spPr>
      </p:sp>
      <p:sp>
        <p:nvSpPr>
          <p:cNvPr id="46" name="Text 42"/>
          <p:cNvSpPr txBox="1"/>
          <p:nvPr/>
        </p:nvSpPr>
        <p:spPr>
          <a:xfrm>
            <a:off x="7294824" y="8197596"/>
            <a:ext cx="530352" cy="53035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47" name="Text 43"/>
          <p:cNvSpPr txBox="1"/>
          <p:nvPr/>
        </p:nvSpPr>
        <p:spPr>
          <a:xfrm>
            <a:off x="7102800" y="8782812"/>
            <a:ext cx="914400" cy="256032"/>
          </a:xfrm>
          <a:prstGeom prst="rect">
            <a:avLst/>
          </a:prstGeom>
          <a:noFill/>
          <a:ln/>
        </p:spPr>
        <p:txBody>
          <a:bodyPr wrap="square" lIns="0" tIns="0" rIns="0" bIns="0" rtlCol="0" anchor="t"/>
          <a:lstStyle/>
          <a:p>
            <a:pPr algn="ctr" indent="0" marL="0">
              <a:buNone/>
            </a:pPr>
            <a:r>
              <a:rPr lang="en-US" sz="1200" b="1" dirty="0">
                <a:solidFill>
                  <a:srgbClr val="C2452D"/>
                </a:solidFill>
                <a:latin typeface="Calibri" pitchFamily="34" charset="0"/>
                <a:ea typeface="Calibri" pitchFamily="34" charset="-122"/>
                <a:cs typeface="Calibri" pitchFamily="34" charset="-120"/>
              </a:rPr>
              <a:t>predicts</a:t>
            </a:r>
            <a:endParaRPr lang="en-US" sz="1200" dirty="0"/>
          </a:p>
        </p:txBody>
      </p:sp>
      <p:sp>
        <p:nvSpPr>
          <p:cNvPr id="48" name="Shape 44"/>
          <p:cNvSpPr/>
          <p:nvPr/>
        </p:nvSpPr>
        <p:spPr>
          <a:xfrm>
            <a:off x="7896240" y="6473952"/>
            <a:ext cx="6675120" cy="3977640"/>
          </a:xfrm>
          <a:prstGeom prst="roundRect">
            <a:avLst>
              <a:gd name="adj" fmla="val 1839"/>
            </a:avLst>
          </a:prstGeom>
          <a:solidFill>
            <a:srgbClr val="FFFFFF"/>
          </a:solidFill>
          <a:ln w="12700">
            <a:solidFill>
              <a:srgbClr val="D9DEE5"/>
            </a:solidFill>
            <a:prstDash val="solid"/>
          </a:ln>
        </p:spPr>
      </p:sp>
      <p:sp>
        <p:nvSpPr>
          <p:cNvPr id="49" name="Text 45"/>
          <p:cNvSpPr txBox="1"/>
          <p:nvPr/>
        </p:nvSpPr>
        <p:spPr>
          <a:xfrm>
            <a:off x="8124840" y="6638544"/>
            <a:ext cx="6217920" cy="274320"/>
          </a:xfrm>
          <a:prstGeom prst="rect">
            <a:avLst/>
          </a:prstGeom>
          <a:noFill/>
          <a:ln/>
        </p:spPr>
        <p:txBody>
          <a:bodyPr wrap="square" lIns="0" tIns="0" rIns="0" bIns="0" rtlCol="0" anchor="t"/>
          <a:lstStyle/>
          <a:p>
            <a:pPr indent="0" marL="0">
              <a:buNone/>
            </a:pPr>
            <a:r>
              <a:rPr lang="en-US" sz="1300" b="1" spc="120" kern="0" dirty="0">
                <a:solidFill>
                  <a:srgbClr val="0E7C7B"/>
                </a:solidFill>
                <a:latin typeface="Calibri" pitchFamily="34" charset="0"/>
                <a:ea typeface="Calibri" pitchFamily="34" charset="-122"/>
                <a:cs typeface="Calibri" pitchFamily="34" charset="-120"/>
              </a:rPr>
              <a:t>EXPERIMENT · DESIGNED FOR THIS WEAKNESS</a:t>
            </a:r>
            <a:endParaRPr lang="en-US" sz="1300" dirty="0"/>
          </a:p>
        </p:txBody>
      </p:sp>
      <p:sp>
        <p:nvSpPr>
          <p:cNvPr id="50" name="Text 46"/>
          <p:cNvSpPr txBox="1"/>
          <p:nvPr/>
        </p:nvSpPr>
        <p:spPr>
          <a:xfrm>
            <a:off x="8124840" y="6949440"/>
            <a:ext cx="6217920" cy="731520"/>
          </a:xfrm>
          <a:prstGeom prst="rect">
            <a:avLst/>
          </a:prstGeom>
          <a:noFill/>
          <a:ln/>
        </p:spPr>
        <p:txBody>
          <a:bodyPr wrap="square" lIns="0" tIns="0" rIns="0" bIns="0" rtlCol="0" anchor="t"/>
          <a:lstStyle/>
          <a:p>
            <a:pPr indent="0" marL="0">
              <a:spcAft>
                <a:spcPts val="300"/>
              </a:spcAft>
              <a:buNone/>
            </a:pPr>
            <a:r>
              <a:rPr lang="en-US" sz="1400" dirty="0">
                <a:solidFill>
                  <a:srgbClr val="1F2933"/>
                </a:solidFill>
                <a:latin typeface="Calibri" pitchFamily="34" charset="0"/>
                <a:ea typeface="Calibri" pitchFamily="34" charset="-122"/>
                <a:cs typeface="Calibri" pitchFamily="34" charset="-120"/>
              </a:rPr>
              <a:t>x = (1, 0) every round · rewards 0.2 / 0.8 · oracle priors (0.2, 0), (0.8, 0) · λ = 1</a:t>
            </a:r>
            <a:endParaRPr lang="en-US" sz="1400" dirty="0"/>
          </a:p>
          <a:p>
            <a:pPr indent="0" marL="0">
              <a:spcAft>
                <a:spcPts val="300"/>
              </a:spcAft>
              <a:buNone/>
            </a:pPr>
            <a:r>
              <a:rPr lang="en-US" sz="1400" dirty="0">
                <a:solidFill>
                  <a:srgbClr val="1F2933"/>
                </a:solidFill>
                <a:latin typeface="Calibri" pitchFamily="34" charset="0"/>
                <a:ea typeface="Calibri" pitchFamily="34" charset="-122"/>
                <a:cs typeface="Calibri" pitchFamily="34" charset="-120"/>
              </a:rPr>
              <a:t>Same A, b and selected-only updates. </a:t>
            </a:r>
            <a:pPr indent="0" marL="0">
              <a:buNone/>
            </a:pPr>
            <a:r>
              <a:rPr lang="en-US" sz="1400" b="1" dirty="0">
                <a:solidFill>
                  <a:srgbClr val="1F2933"/>
                </a:solidFill>
                <a:latin typeface="Calibri" pitchFamily="34" charset="0"/>
                <a:ea typeface="Calibri" pitchFamily="34" charset="-122"/>
                <a:cs typeface="Calibri" pitchFamily="34" charset="-120"/>
              </a:rPr>
              <a:t>Control</a:t>
            </a:r>
            <a:pPr indent="0" marL="0">
              <a:buNone/>
            </a:pPr>
            <a:r>
              <a:rPr lang="en-US" sz="1400" dirty="0">
                <a:solidFill>
                  <a:srgbClr val="1F2933"/>
                </a:solidFill>
                <a:latin typeface="Calibri" pitchFamily="34" charset="0"/>
                <a:ea typeface="Calibri" pitchFamily="34" charset="-122"/>
                <a:cs typeface="Calibri" pitchFamily="34" charset="-120"/>
              </a:rPr>
              <a:t>: linear mean x·θ̃ instead of cosine. Grid T × α = 3 × 3.</a:t>
            </a:r>
            <a:endParaRPr lang="en-US" sz="1400" dirty="0"/>
          </a:p>
        </p:txBody>
      </p:sp>
      <p:graphicFrame>
        <p:nvGraphicFramePr>
          <p:cNvPr id="51" name="w1-regret" descr=""/>
          <p:cNvGraphicFramePr/>
          <p:nvPr/>
        </p:nvGraphicFramePr>
        <p:xfrm>
          <a:off x="8005968" y="7680960"/>
          <a:ext cx="4041648" cy="2697480"/>
        </p:xfrm>
        <a:graphic xmlns:a="http://schemas.openxmlformats.org/drawingml/2006/main">
          <a:graphicData uri="http://schemas.openxmlformats.org/drawingml/2006/chart">
            <c:chart xmlns:c="http://schemas.openxmlformats.org/drawingml/2006/chart" r:id="rId7"/>
          </a:graphicData>
        </a:graphic>
      </p:graphicFrame>
      <p:sp>
        <p:nvSpPr>
          <p:cNvPr id="52" name="Text 47"/>
          <p:cNvSpPr txBox="1"/>
          <p:nvPr/>
        </p:nvSpPr>
        <p:spPr>
          <a:xfrm>
            <a:off x="12102480" y="7754112"/>
            <a:ext cx="2331720" cy="457200"/>
          </a:xfrm>
          <a:prstGeom prst="rect">
            <a:avLst/>
          </a:prstGeom>
          <a:noFill/>
          <a:ln/>
        </p:spPr>
        <p:txBody>
          <a:bodyPr wrap="square" lIns="0" tIns="0" rIns="0" bIns="0" rtlCol="0" anchor="t"/>
          <a:lstStyle/>
          <a:p>
            <a:pPr indent="0" marL="0">
              <a:buNone/>
            </a:pPr>
            <a:r>
              <a:rPr lang="en-US" sz="1250" b="1" dirty="0">
                <a:solidFill>
                  <a:srgbClr val="14213D"/>
                </a:solidFill>
                <a:latin typeface="Calibri" pitchFamily="34" charset="0"/>
                <a:ea typeface="Calibri" pitchFamily="34" charset="-122"/>
                <a:cs typeface="Calibri" pitchFamily="34" charset="-120"/>
              </a:rPr>
              <a:t>All 9 settings: cosine / control regret</a:t>
            </a:r>
            <a:endParaRPr lang="en-US" sz="1250" dirty="0"/>
          </a:p>
        </p:txBody>
      </p:sp>
      <p:graphicFrame>
        <p:nvGraphicFramePr>
          <p:cNvPr id="2" name="w1-grid"/>
          <p:cNvGraphicFramePr>
            <a:graphicFrameLocks noGrp="1"/>
          </p:cNvGraphicFramePr>
          <p:nvPr>
            <p:extLst>
              <p:ext uri="{D42A27DB-BD31-4B8C-83A1-F6EECF244321}">
                <p14:modId xmlns:p14="http://schemas.microsoft.com/office/powerpoint/2010/main" val="1579011935"/>
              </p:ext>
            </p:extLst>
          </p:nvPr>
        </p:nvGraphicFramePr>
        <p:xfrm>
          <a:off x="12102480" y="8257032"/>
          <a:ext cx="2331720" cy="914400"/>
        </p:xfrm>
        <a:graphic>
          <a:graphicData uri="http://schemas.openxmlformats.org/drawingml/2006/table">
            <a:tbl>
              <a:tblPr/>
              <a:tblGrid>
                <a:gridCol w="484632"/>
                <a:gridCol w="630936"/>
                <a:gridCol w="603504"/>
                <a:gridCol w="612648"/>
              </a:tblGrid>
              <a:tr h="329184">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T \ α</a:t>
                      </a:r>
                      <a:endParaRPr lang="en-US" sz="1150" dirty="0">
                        <a:latin typeface="Calibri" charset="0"/>
                        <a:ea typeface="Calibri" charset="0"/>
                        <a:cs typeface="Calibri" charset="0"/>
                      </a:endParaRPr>
                    </a:p>
                  </a:txBody>
                  <a:tcPr marL="9144" marR="9144" marT="9144" marB="914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4213D"/>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0.5</a:t>
                      </a:r>
                      <a:endParaRPr lang="en-US" sz="1150" dirty="0">
                        <a:latin typeface="Calibri" charset="0"/>
                        <a:ea typeface="Calibri" charset="0"/>
                        <a:cs typeface="Calibri" charset="0"/>
                      </a:endParaRPr>
                    </a:p>
                  </a:txBody>
                  <a:tcPr marL="9144" marR="9144" marT="9144" marB="914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4213D"/>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9144" marR="9144" marT="9144" marB="914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4213D"/>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9144" marR="9144" marT="9144" marB="914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4213D"/>
                    </a:solidFill>
                  </a:tcPr>
                </a:tc>
              </a:tr>
              <a:tr h="329184">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9144" marR="9144" marT="9144" marB="914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4213D"/>
                    </a:solidFill>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30/0.0</a:t>
                      </a:r>
                      <a:endParaRPr lang="en-US" sz="1150" dirty="0">
                        <a:latin typeface="Calibri" charset="0"/>
                        <a:ea typeface="Calibri" charset="0"/>
                        <a:cs typeface="Calibri" charset="0"/>
                      </a:endParaRPr>
                    </a:p>
                  </a:txBody>
                  <a:tcPr marL="9144" marR="9144" marT="9144" marB="914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30/1.2</a:t>
                      </a:r>
                      <a:endParaRPr lang="en-US" sz="1150" dirty="0">
                        <a:latin typeface="Calibri" charset="0"/>
                        <a:ea typeface="Calibri" charset="0"/>
                        <a:cs typeface="Calibri" charset="0"/>
                      </a:endParaRPr>
                    </a:p>
                  </a:txBody>
                  <a:tcPr marL="9144" marR="9144" marT="9144" marB="914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30/3.6</a:t>
                      </a:r>
                      <a:endParaRPr lang="en-US" sz="1150" dirty="0">
                        <a:latin typeface="Calibri" charset="0"/>
                        <a:ea typeface="Calibri" charset="0"/>
                        <a:cs typeface="Calibri" charset="0"/>
                      </a:endParaRPr>
                    </a:p>
                  </a:txBody>
                  <a:tcPr marL="9144" marR="9144" marT="9144" marB="914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r h="329184">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500</a:t>
                      </a:r>
                      <a:endParaRPr lang="en-US" sz="1150" dirty="0">
                        <a:latin typeface="Calibri" charset="0"/>
                        <a:ea typeface="Calibri" charset="0"/>
                        <a:cs typeface="Calibri" charset="0"/>
                      </a:endParaRPr>
                    </a:p>
                  </a:txBody>
                  <a:tcPr marL="9144" marR="9144" marT="9144" marB="914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4213D"/>
                    </a:solidFill>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150/0.0</a:t>
                      </a:r>
                      <a:endParaRPr lang="en-US" sz="1150" dirty="0">
                        <a:latin typeface="Calibri" charset="0"/>
                        <a:ea typeface="Calibri" charset="0"/>
                        <a:cs typeface="Calibri" charset="0"/>
                      </a:endParaRPr>
                    </a:p>
                  </a:txBody>
                  <a:tcPr marL="9144" marR="9144" marT="9144" marB="914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150/1.2</a:t>
                      </a:r>
                      <a:endParaRPr lang="en-US" sz="1150" dirty="0">
                        <a:latin typeface="Calibri" charset="0"/>
                        <a:ea typeface="Calibri" charset="0"/>
                        <a:cs typeface="Calibri" charset="0"/>
                      </a:endParaRPr>
                    </a:p>
                  </a:txBody>
                  <a:tcPr marL="9144" marR="9144" marT="9144" marB="914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150/4.8</a:t>
                      </a:r>
                      <a:endParaRPr lang="en-US" sz="1150" dirty="0">
                        <a:latin typeface="Calibri" charset="0"/>
                        <a:ea typeface="Calibri" charset="0"/>
                        <a:cs typeface="Calibri" charset="0"/>
                      </a:endParaRPr>
                    </a:p>
                  </a:txBody>
                  <a:tcPr marL="9144" marR="9144" marT="9144" marB="914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r h="329184">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2,000</a:t>
                      </a:r>
                      <a:endParaRPr lang="en-US" sz="1150" dirty="0">
                        <a:latin typeface="Calibri" charset="0"/>
                        <a:ea typeface="Calibri" charset="0"/>
                        <a:cs typeface="Calibri" charset="0"/>
                      </a:endParaRPr>
                    </a:p>
                  </a:txBody>
                  <a:tcPr marL="9144" marR="9144" marT="9144" marB="914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solidFill>
                      <a:srgbClr val="14213D"/>
                    </a:solidFill>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600/0.0</a:t>
                      </a:r>
                      <a:endParaRPr lang="en-US" sz="1150" dirty="0">
                        <a:latin typeface="Calibri" charset="0"/>
                        <a:ea typeface="Calibri" charset="0"/>
                        <a:cs typeface="Calibri" charset="0"/>
                      </a:endParaRPr>
                    </a:p>
                  </a:txBody>
                  <a:tcPr marL="9144" marR="9144" marT="9144" marB="914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600/1.2</a:t>
                      </a:r>
                      <a:endParaRPr lang="en-US" sz="1150" dirty="0">
                        <a:latin typeface="Calibri" charset="0"/>
                        <a:ea typeface="Calibri" charset="0"/>
                        <a:cs typeface="Calibri" charset="0"/>
                      </a:endParaRPr>
                    </a:p>
                  </a:txBody>
                  <a:tcPr marL="9144" marR="9144" marT="9144" marB="914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c>
                  <a:txBody>
                    <a:bodyPr/>
                    <a:lstStyle/>
                    <a:p>
                      <a:pPr algn="ctr" indent="0" marL="0">
                        <a:buNone/>
                      </a:pPr>
                      <a:r>
                        <a:rPr lang="en-US" sz="1150" dirty="0">
                          <a:solidFill>
                            <a:srgbClr val="1F2933"/>
                          </a:solidFill>
                          <a:latin typeface="Calibri" pitchFamily="34" charset="0"/>
                          <a:ea typeface="Calibri" pitchFamily="34" charset="-122"/>
                          <a:cs typeface="Calibri" pitchFamily="34" charset="-120"/>
                        </a:rPr>
                        <a:t>600/5.4</a:t>
                      </a:r>
                      <a:endParaRPr lang="en-US" sz="1150" dirty="0">
                        <a:latin typeface="Calibri" charset="0"/>
                        <a:ea typeface="Calibri" charset="0"/>
                        <a:cs typeface="Calibri" charset="0"/>
                      </a:endParaRPr>
                    </a:p>
                  </a:txBody>
                  <a:tcPr marL="9144" marR="9144" marT="9144" marB="9144" anchor="ctr">
                    <a:lnL w="6350" cap="flat" cmpd="sng" algn="ctr">
                      <a:solidFill>
                        <a:srgbClr val="D9DEE5"/>
                      </a:solidFill>
                      <a:prstDash val="solid"/>
                      <a:round/>
                      <a:headEnd type="none" w="med" len="med"/>
                      <a:tailEnd type="none" w="med" len="med"/>
                    </a:lnL>
                    <a:lnR w="6350" cap="flat" cmpd="sng" algn="ctr">
                      <a:solidFill>
                        <a:srgbClr val="D9DEE5"/>
                      </a:solidFill>
                      <a:prstDash val="solid"/>
                      <a:round/>
                      <a:headEnd type="none" w="med" len="med"/>
                      <a:tailEnd type="none" w="med" len="med"/>
                    </a:lnR>
                    <a:lnT w="6350" cap="flat" cmpd="sng" algn="ctr">
                      <a:solidFill>
                        <a:srgbClr val="D9DEE5"/>
                      </a:solidFill>
                      <a:prstDash val="solid"/>
                      <a:round/>
                      <a:headEnd type="none" w="med" len="med"/>
                      <a:tailEnd type="none" w="med" len="med"/>
                    </a:lnT>
                    <a:lnB w="6350" cap="flat" cmpd="sng" algn="ctr">
                      <a:solidFill>
                        <a:srgbClr val="D9DEE5"/>
                      </a:solidFill>
                      <a:prstDash val="solid"/>
                      <a:round/>
                      <a:headEnd type="none" w="med" len="med"/>
                      <a:tailEnd type="none" w="med" len="med"/>
                    </a:lnB>
                  </a:tcPr>
                </a:tc>
              </a:tr>
            </a:tbl>
          </a:graphicData>
        </a:graphic>
      </p:graphicFrame>
      <p:sp>
        <p:nvSpPr>
          <p:cNvPr id="54" name="Text 48"/>
          <p:cNvSpPr txBox="1"/>
          <p:nvPr/>
        </p:nvSpPr>
        <p:spPr>
          <a:xfrm>
            <a:off x="12102480" y="9674352"/>
            <a:ext cx="2331720" cy="731520"/>
          </a:xfrm>
          <a:prstGeom prst="rect">
            <a:avLst/>
          </a:prstGeom>
          <a:noFill/>
          <a:ln/>
        </p:spPr>
        <p:txBody>
          <a:bodyPr wrap="square" lIns="0" tIns="0" rIns="0" bIns="0" rtlCol="0" anchor="t"/>
          <a:lstStyle/>
          <a:p>
            <a:pPr indent="0" marL="0">
              <a:buNone/>
            </a:pPr>
            <a:r>
              <a:rPr lang="en-US" sz="1150" dirty="0">
                <a:solidFill>
                  <a:srgbClr val="5B6676"/>
                </a:solidFill>
                <a:latin typeface="Calibri" pitchFamily="34" charset="0"/>
                <a:ea typeface="Calibri" pitchFamily="34" charset="-122"/>
                <a:cs typeface="Calibri" pitchFamily="34" charset="-120"/>
              </a:rPr>
              <a:t>Cosine regret is exactly 0.3 × T in every setting: the tied arms are served alternately.</a:t>
            </a:r>
            <a:endParaRPr lang="en-US" sz="1150" dirty="0"/>
          </a:p>
        </p:txBody>
      </p:sp>
      <p:sp>
        <p:nvSpPr>
          <p:cNvPr id="55" name="Shape 49"/>
          <p:cNvSpPr/>
          <p:nvPr/>
        </p:nvSpPr>
        <p:spPr>
          <a:xfrm>
            <a:off x="548640" y="10543032"/>
            <a:ext cx="14022720" cy="1078992"/>
          </a:xfrm>
          <a:prstGeom prst="roundRect">
            <a:avLst>
              <a:gd name="adj" fmla="val 6780"/>
            </a:avLst>
          </a:prstGeom>
          <a:solidFill>
            <a:srgbClr val="F8E5E0"/>
          </a:solidFill>
          <a:ln w="9525">
            <a:solidFill>
              <a:srgbClr val="F8E5E0"/>
            </a:solidFill>
            <a:prstDash val="solid"/>
          </a:ln>
        </p:spPr>
      </p:sp>
      <p:sp>
        <p:nvSpPr>
          <p:cNvPr id="56" name="Text 50"/>
          <p:cNvSpPr txBox="1"/>
          <p:nvPr/>
        </p:nvSpPr>
        <p:spPr>
          <a:xfrm>
            <a:off x="777240" y="10634472"/>
            <a:ext cx="2743200" cy="566928"/>
          </a:xfrm>
          <a:prstGeom prst="rect">
            <a:avLst/>
          </a:prstGeom>
          <a:noFill/>
          <a:ln/>
        </p:spPr>
        <p:txBody>
          <a:bodyPr wrap="square" lIns="0" tIns="0" rIns="0" bIns="0" rtlCol="0" anchor="ctr"/>
          <a:lstStyle/>
          <a:p>
            <a:pPr indent="0" marL="0">
              <a:buNone/>
            </a:pPr>
            <a:r>
              <a:rPr lang="en-US" sz="3200" b="1" dirty="0">
                <a:solidFill>
                  <a:srgbClr val="C2452D"/>
                </a:solidFill>
                <a:latin typeface="Cambria" pitchFamily="34" charset="0"/>
                <a:ea typeface="Cambria" pitchFamily="34" charset="-122"/>
                <a:cs typeface="Cambria" pitchFamily="34" charset="-120"/>
              </a:rPr>
              <a:t>600 vs 1.2</a:t>
            </a:r>
            <a:endParaRPr lang="en-US" sz="3200" dirty="0"/>
          </a:p>
        </p:txBody>
      </p:sp>
      <p:sp>
        <p:nvSpPr>
          <p:cNvPr id="57" name="Text 51"/>
          <p:cNvSpPr txBox="1"/>
          <p:nvPr/>
        </p:nvSpPr>
        <p:spPr>
          <a:xfrm>
            <a:off x="777240" y="11201400"/>
            <a:ext cx="2743200" cy="347472"/>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regret after 2,000 rounds, α = 1 · synthetic</a:t>
            </a:r>
            <a:endParaRPr lang="en-US" sz="1250" dirty="0"/>
          </a:p>
        </p:txBody>
      </p:sp>
      <p:sp>
        <p:nvSpPr>
          <p:cNvPr id="58" name="Text 52"/>
          <p:cNvSpPr txBox="1"/>
          <p:nvPr/>
        </p:nvSpPr>
        <p:spPr>
          <a:xfrm>
            <a:off x="3703320" y="10634472"/>
            <a:ext cx="10639440" cy="896112"/>
          </a:xfrm>
          <a:prstGeom prst="rect">
            <a:avLst/>
          </a:prstGeom>
          <a:noFill/>
          <a:ln/>
        </p:spPr>
        <p:txBody>
          <a:bodyPr wrap="square" lIns="0" tIns="0" rIns="0" bIns="0" rtlCol="0" anchor="ctr"/>
          <a:lstStyle/>
          <a:p>
            <a:pPr indent="0" marL="0">
              <a:spcAft>
                <a:spcPts val="400"/>
              </a:spcAft>
              <a:buNone/>
            </a:pPr>
            <a:r>
              <a:rPr lang="en-US" sz="1350" b="1" dirty="0">
                <a:solidFill>
                  <a:srgbClr val="1F2933"/>
                </a:solidFill>
                <a:latin typeface="Calibri" pitchFamily="34" charset="0"/>
                <a:ea typeface="Calibri" pitchFamily="34" charset="-122"/>
                <a:cs typeface="Calibri" pitchFamily="34" charset="-120"/>
              </a:rPr>
              <a:t>Verdict. </a:t>
            </a:r>
            <a:pPr indent="0" marL="0">
              <a:buNone/>
            </a:pPr>
            <a:r>
              <a:rPr lang="en-US" sz="1350" dirty="0">
                <a:solidFill>
                  <a:srgbClr val="1F2933"/>
                </a:solidFill>
                <a:latin typeface="Calibri" pitchFamily="34" charset="0"/>
                <a:ea typeface="Calibri" pitchFamily="34" charset="-122"/>
                <a:cs typeface="Calibri" pitchFamily="34" charset="-120"/>
              </a:rPr>
              <a:t>The predicted magnitude blindness appears in all 9 settings. </a:t>
            </a:r>
            <a:pPr indent="0" marL="0">
              <a:buNone/>
            </a:pPr>
            <a:r>
              <a:rPr lang="en-US" sz="1350" b="1" dirty="0">
                <a:solidFill>
                  <a:srgbClr val="1F2933"/>
                </a:solidFill>
                <a:latin typeface="Calibri" pitchFamily="34" charset="0"/>
                <a:ea typeface="Calibri" pitchFamily="34" charset="-122"/>
                <a:cs typeface="Calibri" pitchFamily="34" charset="-120"/>
              </a:rPr>
              <a:t>Limits: </a:t>
            </a:r>
            <a:pPr indent="0" marL="0">
              <a:buNone/>
            </a:pPr>
            <a:r>
              <a:rPr lang="en-US" sz="1350" dirty="0">
                <a:solidFill>
                  <a:srgbClr val="1F2933"/>
                </a:solidFill>
                <a:latin typeface="Calibri" pitchFamily="34" charset="0"/>
                <a:ea typeface="Calibri" pitchFamily="34" charset="-122"/>
                <a:cs typeface="Calibri" pitchFamily="34" charset="-120"/>
              </a:rPr>
              <a:t>a deliberately assumption-violating synthetic case, independent of the embedder. It shows PILOT’s score leaves the theorem’s model; it is not a counterexample to the conditional OFUL theorem. The control shares PILOT’s prior and is not the zero-prior LinUCB baseline.</a:t>
            </a:r>
            <a:endParaRPr lang="en-US" sz="1350" dirty="0"/>
          </a:p>
          <a:p>
            <a:pPr indent="0" marL="0">
              <a:spcAft>
                <a:spcPts val="400"/>
              </a:spcAft>
              <a:buNone/>
            </a:pPr>
            <a:r>
              <a:rPr lang="en-US" sz="1350" dirty="0">
                <a:solidFill>
                  <a:srgbClr val="5B6676"/>
                </a:solidFill>
                <a:latin typeface="Calibri" pitchFamily="34" charset="0"/>
                <a:ea typeface="Calibri" pitchFamily="34" charset="-122"/>
                <a:cs typeface="Calibri" pitchFamily="34" charset="-120"/>
              </a:rPr>
              <a:t>W&amp;B [3]: cosine </a:t>
            </a:r>
            <a:pPr indent="0" marL="0">
              <a:buNone/>
            </a:pPr>
            <a:r>
              <a:rPr lang="en-US" sz="1350" u="sng" dirty="0">
                <a:solidFill>
                  <a:srgbClr val="0E7C7B"/>
                </a:solidFill>
                <a:latin typeface="Calibri" pitchFamily="34" charset="0"/>
                <a:ea typeface="Calibri" pitchFamily="34" charset="-122"/>
                <a:cs typeface="Calibri" pitchFamily="34" charset="-120"/>
                <a:hlinkClick r:id="rId8" invalidUrl="" action="" tgtFrame="" tooltip="https://forge.coreweave.com/wandb/kiettheis-university-of-science-vnu-hcm/pilot-llm-routing-team8/runs/pilot-5364678cb44759cb1792fff5" history="1" highlightClick="0" endSnd="0">
                  <a:extLst>
                    <a:ext uri="{A12FA001-AC4F-418D-AE19-62706E023703}">
                      <ahyp:hlinkClr xmlns:ahyp="http://schemas.microsoft.com/office/drawing/2018/hyperlinkcolor" val="tx"/>
                    </a:ext>
                  </a:extLst>
                </a:hlinkClick>
              </a:rPr>
              <a:t>pilot-5364678c…</a:t>
            </a:r>
            <a:pPr indent="0" marL="0">
              <a:buNone/>
            </a:pPr>
            <a:r>
              <a:rPr lang="en-US" sz="1350" dirty="0">
                <a:solidFill>
                  <a:srgbClr val="5B6676"/>
                </a:solidFill>
                <a:latin typeface="Calibri" pitchFamily="34" charset="0"/>
                <a:ea typeface="Calibri" pitchFamily="34" charset="-122"/>
                <a:cs typeface="Calibri" pitchFamily="34" charset="-120"/>
              </a:rPr>
              <a:t> · control </a:t>
            </a:r>
            <a:pPr indent="0" marL="0">
              <a:buNone/>
            </a:pPr>
            <a:r>
              <a:rPr lang="en-US" sz="1350" u="sng" dirty="0">
                <a:solidFill>
                  <a:srgbClr val="0E7C7B"/>
                </a:solidFill>
                <a:latin typeface="Calibri" pitchFamily="34" charset="0"/>
                <a:ea typeface="Calibri" pitchFamily="34" charset="-122"/>
                <a:cs typeface="Calibri" pitchFamily="34" charset="-120"/>
                <a:hlinkClick r:id="rId9" invalidUrl="" action="" tgtFrame="" tooltip="https://forge.coreweave.com/wandb/kiettheis-university-of-science-vnu-hcm/pilot-llm-routing-team8/runs/pilot-383121041149531eeabcd419" history="1" highlightClick="0" endSnd="0">
                  <a:extLst>
                    <a:ext uri="{A12FA001-AC4F-418D-AE19-62706E023703}">
                      <ahyp:hlinkClr xmlns:ahyp="http://schemas.microsoft.com/office/drawing/2018/hyperlinkcolor" val="tx"/>
                    </a:ext>
                  </a:extLst>
                </a:hlinkClick>
              </a:rPr>
              <a:t>pilot-38312104…</a:t>
            </a:r>
            <a:pPr indent="0" marL="0">
              <a:buNone/>
            </a:pPr>
            <a:r>
              <a:rPr lang="en-US" sz="1350" dirty="0">
                <a:solidFill>
                  <a:srgbClr val="5B6676"/>
                </a:solidFill>
                <a:latin typeface="Calibri" pitchFamily="34" charset="0"/>
                <a:ea typeface="Calibri" pitchFamily="34" charset="-122"/>
                <a:cs typeface="Calibri" pitchFamily="34" charset="-120"/>
              </a:rPr>
              <a:t> · all 18 runs in group lab2-critique</a:t>
            </a:r>
            <a:endParaRPr lang="en-US" sz="1350" dirty="0"/>
          </a:p>
        </p:txBody>
      </p:sp>
      <p:sp>
        <p:nvSpPr>
          <p:cNvPr id="59" name="Shape 53"/>
          <p:cNvSpPr/>
          <p:nvPr/>
        </p:nvSpPr>
        <p:spPr>
          <a:xfrm>
            <a:off x="548640" y="11859768"/>
            <a:ext cx="566928" cy="566928"/>
          </a:xfrm>
          <a:prstGeom prst="ellipse">
            <a:avLst/>
          </a:prstGeom>
          <a:solidFill>
            <a:srgbClr val="C77700"/>
          </a:solidFill>
          <a:ln w="9525">
            <a:solidFill>
              <a:srgbClr val="C77700"/>
            </a:solidFill>
            <a:prstDash val="solid"/>
          </a:ln>
        </p:spPr>
      </p:sp>
      <p:sp>
        <p:nvSpPr>
          <p:cNvPr id="60" name="Text 54"/>
          <p:cNvSpPr txBox="1"/>
          <p:nvPr/>
        </p:nvSpPr>
        <p:spPr>
          <a:xfrm>
            <a:off x="548640" y="1185976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W2</a:t>
            </a:r>
            <a:endParaRPr lang="en-US" sz="1800" dirty="0"/>
          </a:p>
        </p:txBody>
      </p:sp>
      <p:sp>
        <p:nvSpPr>
          <p:cNvPr id="61" name="Text 55"/>
          <p:cNvSpPr txBox="1"/>
          <p:nvPr/>
        </p:nvSpPr>
        <p:spPr>
          <a:xfrm>
            <a:off x="1280160" y="11841480"/>
            <a:ext cx="13291200" cy="603504"/>
          </a:xfrm>
          <a:prstGeom prst="rect">
            <a:avLst/>
          </a:prstGeom>
          <a:noFill/>
          <a:ln/>
        </p:spPr>
        <p:txBody>
          <a:bodyPr wrap="square" lIns="0" tIns="0" rIns="0" bIns="0" rtlCol="0" anchor="ctr"/>
          <a:lstStyle/>
          <a:p>
            <a:pPr indent="0" marL="0">
              <a:buNone/>
            </a:pPr>
            <a:r>
              <a:rPr lang="en-US" sz="3000" b="1" dirty="0">
                <a:solidFill>
                  <a:srgbClr val="14213D"/>
                </a:solidFill>
                <a:latin typeface="Cambria" pitchFamily="34" charset="0"/>
                <a:ea typeface="Cambria" pitchFamily="34" charset="-122"/>
                <a:cs typeface="Cambria" pitchFamily="34" charset="-120"/>
              </a:rPr>
              <a:t>Budget feasibility holds for estimated, not realized, cost</a:t>
            </a:r>
            <a:endParaRPr lang="en-US" sz="3000" dirty="0"/>
          </a:p>
        </p:txBody>
      </p:sp>
      <p:sp>
        <p:nvSpPr>
          <p:cNvPr id="62" name="Shape 56"/>
          <p:cNvSpPr/>
          <p:nvPr/>
        </p:nvSpPr>
        <p:spPr>
          <a:xfrm>
            <a:off x="548640" y="12573000"/>
            <a:ext cx="6675120" cy="3977640"/>
          </a:xfrm>
          <a:prstGeom prst="roundRect">
            <a:avLst>
              <a:gd name="adj" fmla="val 1839"/>
            </a:avLst>
          </a:prstGeom>
          <a:solidFill>
            <a:srgbClr val="F2F4F7"/>
          </a:solidFill>
          <a:ln w="9525">
            <a:solidFill>
              <a:srgbClr val="F2F4F7"/>
            </a:solidFill>
            <a:prstDash val="solid"/>
          </a:ln>
        </p:spPr>
      </p:sp>
      <p:sp>
        <p:nvSpPr>
          <p:cNvPr id="63" name="Text 57"/>
          <p:cNvSpPr txBox="1"/>
          <p:nvPr/>
        </p:nvSpPr>
        <p:spPr>
          <a:xfrm>
            <a:off x="777240" y="12737592"/>
            <a:ext cx="6217920" cy="274320"/>
          </a:xfrm>
          <a:prstGeom prst="rect">
            <a:avLst/>
          </a:prstGeom>
          <a:noFill/>
          <a:ln/>
        </p:spPr>
        <p:txBody>
          <a:bodyPr wrap="square" lIns="0" tIns="0" rIns="0" bIns="0" rtlCol="0" anchor="t"/>
          <a:lstStyle/>
          <a:p>
            <a:pPr indent="0" marL="0">
              <a:buNone/>
            </a:pPr>
            <a:r>
              <a:rPr lang="en-US" sz="1300" b="1" spc="120" kern="0" dirty="0">
                <a:solidFill>
                  <a:srgbClr val="0E7C7B"/>
                </a:solidFill>
                <a:latin typeface="Calibri" pitchFamily="34" charset="0"/>
                <a:ea typeface="Calibri" pitchFamily="34" charset="-122"/>
                <a:cs typeface="Calibri" pitchFamily="34" charset="-120"/>
              </a:rPr>
              <a:t>THEORY · WHY IT SHOULD FAIL</a:t>
            </a:r>
            <a:endParaRPr lang="en-US" sz="1300" dirty="0"/>
          </a:p>
        </p:txBody>
      </p:sp>
      <p:sp>
        <p:nvSpPr>
          <p:cNvPr id="64" name="Text 58"/>
          <p:cNvSpPr txBox="1"/>
          <p:nvPr/>
        </p:nvSpPr>
        <p:spPr>
          <a:xfrm>
            <a:off x="777240" y="13103352"/>
            <a:ext cx="6217920" cy="3319272"/>
          </a:xfrm>
          <a:prstGeom prst="rect">
            <a:avLst/>
          </a:prstGeom>
          <a:noFill/>
          <a:ln/>
        </p:spPr>
        <p:txBody>
          <a:bodyPr wrap="square" lIns="0" tIns="0" rIns="0" bIns="0" rtlCol="0" anchor="t"/>
          <a:lstStyle/>
          <a:p>
            <a:pPr indent="0" marL="0">
              <a:spcAft>
                <a:spcPts val="800"/>
              </a:spcAft>
              <a:buNone/>
            </a:pPr>
            <a:r>
              <a:rPr lang="en-US" sz="1600" b="1" dirty="0">
                <a:solidFill>
                  <a:srgbClr val="1F2933"/>
                </a:solidFill>
                <a:latin typeface="Calibri" pitchFamily="34" charset="0"/>
                <a:ea typeface="Calibri" pitchFamily="34" charset="-122"/>
                <a:cs typeface="Calibri" pitchFamily="34" charset="-120"/>
              </a:rPr>
              <a:t>Guarantee. </a:t>
            </a:r>
            <a:pPr indent="0" marL="0">
              <a:buNone/>
            </a:pPr>
            <a:r>
              <a:rPr lang="en-US" sz="1600" dirty="0">
                <a:solidFill>
                  <a:srgbClr val="1F2933"/>
                </a:solidFill>
                <a:latin typeface="Calibri" pitchFamily="34" charset="0"/>
                <a:ea typeface="Calibri" pitchFamily="34" charset="-122"/>
                <a:cs typeface="Calibri" pitchFamily="34" charset="-120"/>
              </a:rPr>
              <a:t>ZCL is competitive when each item’s weight is known on arrival [4].</a:t>
            </a:r>
            <a:endParaRPr lang="en-US" sz="1600" dirty="0"/>
          </a:p>
          <a:p>
            <a:pPr indent="0" marL="0">
              <a:spcAft>
                <a:spcPts val="800"/>
              </a:spcAft>
              <a:buNone/>
            </a:pPr>
            <a:r>
              <a:rPr lang="en-US" sz="1600" b="1" dirty="0">
                <a:solidFill>
                  <a:srgbClr val="1F2933"/>
                </a:solidFill>
                <a:latin typeface="Calibri" pitchFamily="34" charset="0"/>
                <a:ea typeface="Calibri" pitchFamily="34" charset="-122"/>
                <a:cs typeface="Calibri" pitchFamily="34" charset="-120"/>
              </a:rPr>
              <a:t>What PILOT knows. </a:t>
            </a:r>
            <a:pPr indent="0" marL="0">
              <a:buNone/>
            </a:pPr>
            <a:r>
              <a:rPr lang="en-US" sz="1600" dirty="0">
                <a:solidFill>
                  <a:srgbClr val="1F2933"/>
                </a:solidFill>
                <a:latin typeface="Calibri" pitchFamily="34" charset="0"/>
                <a:ea typeface="Calibri" pitchFamily="34" charset="-122"/>
                <a:cs typeface="Calibri" pitchFamily="34" charset="-120"/>
              </a:rPr>
              <a:t>An estimate </a:t>
            </a:r>
            <a:pPr indent="0" marL="0">
              <a:buNone/>
            </a:pPr>
            <a:r>
              <a:rPr lang="en-US" sz="1600" dirty="0">
                <a:solidFill>
                  <a:srgbClr val="1F2933"/>
                </a:solidFill>
                <a:latin typeface="Cambria Math" pitchFamily="34" charset="0"/>
                <a:ea typeface="Cambria Math" pitchFamily="34" charset="-122"/>
                <a:cs typeface="Cambria Math" pitchFamily="34" charset="-120"/>
              </a:rPr>
              <a:t>ĉ</a:t>
            </a:r>
            <a:pPr indent="0" marL="0">
              <a:buNone/>
            </a:pPr>
            <a:r>
              <a:rPr lang="en-US" sz="1600" baseline="-40000" dirty="0">
                <a:solidFill>
                  <a:srgbClr val="1F2933"/>
                </a:solidFill>
                <a:latin typeface="Cambria Math" pitchFamily="34" charset="0"/>
                <a:ea typeface="Cambria Math" pitchFamily="34" charset="-122"/>
                <a:cs typeface="Cambria Math" pitchFamily="34" charset="-120"/>
              </a:rPr>
              <a:t>t</a:t>
            </a:r>
            <a:pPr indent="0" marL="0">
              <a:buNone/>
            </a:pPr>
            <a:r>
              <a:rPr lang="en-US" sz="1600" dirty="0">
                <a:solidFill>
                  <a:srgbClr val="1F2933"/>
                </a:solidFill>
                <a:latin typeface="Cambria Math" pitchFamily="34" charset="0"/>
                <a:ea typeface="Cambria Math" pitchFamily="34" charset="-122"/>
                <a:cs typeface="Cambria Math" pitchFamily="34" charset="-120"/>
              </a:rPr>
              <a:t>(a)</a:t>
            </a:r>
            <a:pPr indent="0" marL="0">
              <a:buNone/>
            </a:pPr>
            <a:r>
              <a:rPr lang="en-US" sz="1600" dirty="0">
                <a:solidFill>
                  <a:srgbClr val="1F2933"/>
                </a:solidFill>
                <a:latin typeface="Calibri" pitchFamily="34" charset="0"/>
                <a:ea typeface="Calibri" pitchFamily="34" charset="-122"/>
                <a:cs typeface="Calibri" pitchFamily="34" charset="-120"/>
              </a:rPr>
              <a:t> from input tokens and the tuning-mean output length. The bill is </a:t>
            </a:r>
            <a:pPr indent="0" marL="0">
              <a:buNone/>
            </a:pPr>
            <a:r>
              <a:rPr lang="en-US" sz="1600" dirty="0">
                <a:solidFill>
                  <a:srgbClr val="1F2933"/>
                </a:solidFill>
                <a:latin typeface="Cambria Math" pitchFamily="34" charset="0"/>
                <a:ea typeface="Cambria Math" pitchFamily="34" charset="-122"/>
                <a:cs typeface="Cambria Math" pitchFamily="34" charset="-120"/>
              </a:rPr>
              <a:t>c</a:t>
            </a:r>
            <a:pPr indent="0" marL="0">
              <a:buNone/>
            </a:pPr>
            <a:r>
              <a:rPr lang="en-US" sz="1600" baseline="-40000" dirty="0">
                <a:solidFill>
                  <a:srgbClr val="1F2933"/>
                </a:solidFill>
                <a:latin typeface="Cambria Math" pitchFamily="34" charset="0"/>
                <a:ea typeface="Cambria Math" pitchFamily="34" charset="-122"/>
                <a:cs typeface="Cambria Math" pitchFamily="34" charset="-120"/>
              </a:rPr>
              <a:t>t</a:t>
            </a:r>
            <a:pPr indent="0" marL="0">
              <a:buNone/>
            </a:pPr>
            <a:r>
              <a:rPr lang="en-US" sz="1600" dirty="0">
                <a:solidFill>
                  <a:srgbClr val="1F2933"/>
                </a:solidFill>
                <a:latin typeface="Cambria Math" pitchFamily="34" charset="0"/>
                <a:ea typeface="Cambria Math" pitchFamily="34" charset="-122"/>
                <a:cs typeface="Cambria Math" pitchFamily="34" charset="-120"/>
              </a:rPr>
              <a:t>(a) = ĉ</a:t>
            </a:r>
            <a:pPr indent="0" marL="0">
              <a:buNone/>
            </a:pPr>
            <a:r>
              <a:rPr lang="en-US" sz="1600" baseline="-40000" dirty="0">
                <a:solidFill>
                  <a:srgbClr val="1F2933"/>
                </a:solidFill>
                <a:latin typeface="Cambria Math" pitchFamily="34" charset="0"/>
                <a:ea typeface="Cambria Math" pitchFamily="34" charset="-122"/>
                <a:cs typeface="Cambria Math" pitchFamily="34" charset="-120"/>
              </a:rPr>
              <a:t>t</a:t>
            </a:r>
            <a:pPr indent="0" marL="0">
              <a:buNone/>
            </a:pPr>
            <a:r>
              <a:rPr lang="en-US" sz="1600" dirty="0">
                <a:solidFill>
                  <a:srgbClr val="1F2933"/>
                </a:solidFill>
                <a:latin typeface="Cambria Math" pitchFamily="34" charset="0"/>
                <a:ea typeface="Cambria Math" pitchFamily="34" charset="-122"/>
                <a:cs typeface="Cambria Math" pitchFamily="34" charset="-120"/>
              </a:rPr>
              <a:t>(a)(1 + e</a:t>
            </a:r>
            <a:pPr indent="0" marL="0">
              <a:buNone/>
            </a:pPr>
            <a:r>
              <a:rPr lang="en-US" sz="1600" baseline="-40000" dirty="0">
                <a:solidFill>
                  <a:srgbClr val="1F2933"/>
                </a:solidFill>
                <a:latin typeface="Cambria Math" pitchFamily="34" charset="0"/>
                <a:ea typeface="Cambria Math" pitchFamily="34" charset="-122"/>
                <a:cs typeface="Cambria Math" pitchFamily="34" charset="-120"/>
              </a:rPr>
              <a:t>t</a:t>
            </a:r>
            <a:pPr indent="0" marL="0">
              <a:buNone/>
            </a:pPr>
            <a:r>
              <a:rPr lang="en-US" sz="1600" dirty="0">
                <a:solidFill>
                  <a:srgbClr val="1F2933"/>
                </a:solidFill>
                <a:latin typeface="Cambria Math" pitchFamily="34" charset="0"/>
                <a:ea typeface="Cambria Math" pitchFamily="34" charset="-122"/>
                <a:cs typeface="Cambria Math" pitchFamily="34" charset="-120"/>
              </a:rPr>
              <a:t>)</a:t>
            </a:r>
            <a:pPr indent="0" marL="0">
              <a:buNone/>
            </a:pPr>
            <a:r>
              <a:rPr lang="en-US" sz="1600" dirty="0">
                <a:solidFill>
                  <a:srgbClr val="1F2933"/>
                </a:solidFill>
                <a:latin typeface="Calibri" pitchFamily="34" charset="0"/>
                <a:ea typeface="Calibri" pitchFamily="34" charset="-122"/>
                <a:cs typeface="Calibri" pitchFamily="34" charset="-120"/>
              </a:rPr>
              <a:t>.</a:t>
            </a:r>
            <a:endParaRPr lang="en-US" sz="1600" dirty="0"/>
          </a:p>
          <a:p>
            <a:pPr indent="0" marL="0">
              <a:spcAft>
                <a:spcPts val="800"/>
              </a:spcAft>
              <a:buNone/>
            </a:pPr>
            <a:r>
              <a:rPr lang="en-US" sz="1600" b="1" dirty="0">
                <a:solidFill>
                  <a:srgbClr val="1F2933"/>
                </a:solidFill>
                <a:latin typeface="Calibri" pitchFamily="34" charset="0"/>
                <a:ea typeface="Calibri" pitchFamily="34" charset="-122"/>
                <a:cs typeface="Calibri" pitchFamily="34" charset="-120"/>
              </a:rPr>
              <a:t>Consequence. </a:t>
            </a:r>
            <a:pPr indent="0" marL="0">
              <a:buNone/>
            </a:pPr>
            <a:r>
              <a:rPr lang="en-US" sz="1600" dirty="0">
                <a:solidFill>
                  <a:srgbClr val="1F2933"/>
                </a:solidFill>
                <a:latin typeface="Calibri" pitchFamily="34" charset="0"/>
                <a:ea typeface="Calibri" pitchFamily="34" charset="-122"/>
                <a:cs typeface="Calibri" pitchFamily="34" charset="-120"/>
              </a:rPr>
              <a:t>Spend = </a:t>
            </a:r>
            <a:pPr indent="0" marL="0">
              <a:buNone/>
            </a:pPr>
            <a:r>
              <a:rPr lang="en-US" sz="1600" dirty="0">
                <a:solidFill>
                  <a:srgbClr val="1F2933"/>
                </a:solidFill>
                <a:latin typeface="Cambria Math" pitchFamily="34" charset="0"/>
                <a:ea typeface="Cambria Math" pitchFamily="34" charset="-122"/>
                <a:cs typeface="Cambria Math" pitchFamily="34" charset="-120"/>
              </a:rPr>
              <a:t>Σĉ + Σĉ·e</a:t>
            </a:r>
            <a:pPr indent="0" marL="0">
              <a:buNone/>
            </a:pPr>
            <a:r>
              <a:rPr lang="en-US" sz="1600" baseline="-40000" dirty="0">
                <a:solidFill>
                  <a:srgbClr val="1F2933"/>
                </a:solidFill>
                <a:latin typeface="Cambria Math" pitchFamily="34" charset="0"/>
                <a:ea typeface="Cambria Math" pitchFamily="34" charset="-122"/>
                <a:cs typeface="Cambria Math" pitchFamily="34" charset="-120"/>
              </a:rPr>
              <a:t>t</a:t>
            </a:r>
            <a:pPr indent="0" marL="0">
              <a:buNone/>
            </a:pPr>
            <a:r>
              <a:rPr lang="en-US" sz="1600" dirty="0">
                <a:solidFill>
                  <a:srgbClr val="1F2933"/>
                </a:solidFill>
                <a:latin typeface="Calibri" pitchFamily="34" charset="0"/>
                <a:ea typeface="Calibri" pitchFamily="34" charset="-122"/>
                <a:cs typeface="Calibri" pitchFamily="34" charset="-120"/>
              </a:rPr>
              <a:t>; the policy controls only the first sum. A bin spent to its edge (z → 1) turns any bias e &gt; 0 into overspend.</a:t>
            </a:r>
            <a:endParaRPr lang="en-US" sz="1600" dirty="0"/>
          </a:p>
          <a:p>
            <a:pPr indent="0" marL="0">
              <a:spcAft>
                <a:spcPts val="800"/>
              </a:spcAft>
              <a:buNone/>
            </a:pPr>
            <a:r>
              <a:rPr lang="en-US" sz="1600" b="1" dirty="0">
                <a:solidFill>
                  <a:srgbClr val="1F2933"/>
                </a:solidFill>
                <a:latin typeface="Calibri" pitchFamily="34" charset="0"/>
                <a:ea typeface="Calibri" pitchFamily="34" charset="-122"/>
                <a:cs typeface="Calibri" pitchFamily="34" charset="-120"/>
              </a:rPr>
              <a:t>Hidden assumption. </a:t>
            </a:r>
            <a:pPr indent="0" marL="0">
              <a:buNone/>
            </a:pPr>
            <a:r>
              <a:rPr lang="en-US" sz="1600" dirty="0">
                <a:solidFill>
                  <a:srgbClr val="1F2933"/>
                </a:solidFill>
                <a:latin typeface="Calibri" pitchFamily="34" charset="0"/>
                <a:ea typeface="Calibri" pitchFamily="34" charset="-122"/>
                <a:cs typeface="Calibri" pitchFamily="34" charset="-120"/>
              </a:rPr>
              <a:t>Deployment answers are as long as tuning answers, and prices hold.</a:t>
            </a:r>
            <a:endParaRPr lang="en-US" sz="1600" dirty="0"/>
          </a:p>
          <a:p>
            <a:pPr indent="0" marL="0">
              <a:spcAft>
                <a:spcPts val="800"/>
              </a:spcAft>
              <a:buNone/>
            </a:pPr>
            <a:r>
              <a:rPr lang="en-US" sz="1600" b="1" dirty="0">
                <a:solidFill>
                  <a:srgbClr val="C77700"/>
                </a:solidFill>
                <a:latin typeface="Calibri" pitchFamily="34" charset="0"/>
                <a:ea typeface="Calibri" pitchFamily="34" charset="-122"/>
                <a:cs typeface="Calibri" pitchFamily="34" charset="-120"/>
              </a:rPr>
              <a:t>Prediction. </a:t>
            </a:r>
            <a:pPr indent="0" marL="0">
              <a:buNone/>
            </a:pPr>
            <a:r>
              <a:rPr lang="en-US" sz="1600" dirty="0">
                <a:solidFill>
                  <a:srgbClr val="1F2933"/>
                </a:solidFill>
                <a:latin typeface="Calibri" pitchFamily="34" charset="0"/>
                <a:ea typeface="Calibri" pitchFamily="34" charset="-122"/>
                <a:cs typeface="Calibri" pitchFamily="34" charset="-120"/>
              </a:rPr>
              <a:t>A few percent of cost error flips fully spent runs over budget, although every choice looked feasible.</a:t>
            </a:r>
            <a:endParaRPr lang="en-US" sz="1600" dirty="0"/>
          </a:p>
        </p:txBody>
      </p:sp>
      <p:sp>
        <p:nvSpPr>
          <p:cNvPr id="65" name="Shape 59"/>
          <p:cNvSpPr/>
          <p:nvPr/>
        </p:nvSpPr>
        <p:spPr>
          <a:xfrm>
            <a:off x="7242048" y="14561820"/>
            <a:ext cx="635904" cy="914"/>
          </a:xfrm>
          <a:prstGeom prst="line">
            <a:avLst/>
          </a:prstGeom>
          <a:noFill/>
          <a:ln w="31750">
            <a:solidFill>
              <a:srgbClr val="C77700"/>
            </a:solidFill>
            <a:prstDash val="solid"/>
            <a:tailEnd type="triangle"/>
          </a:ln>
        </p:spPr>
      </p:sp>
      <p:sp>
        <p:nvSpPr>
          <p:cNvPr id="66" name="Shape 60"/>
          <p:cNvSpPr/>
          <p:nvPr/>
        </p:nvSpPr>
        <p:spPr>
          <a:xfrm>
            <a:off x="7294824" y="14296644"/>
            <a:ext cx="530352" cy="530352"/>
          </a:xfrm>
          <a:prstGeom prst="ellipse">
            <a:avLst/>
          </a:prstGeom>
          <a:solidFill>
            <a:srgbClr val="C77700"/>
          </a:solidFill>
          <a:ln w="9525">
            <a:solidFill>
              <a:srgbClr val="C77700"/>
            </a:solidFill>
            <a:prstDash val="solid"/>
          </a:ln>
        </p:spPr>
      </p:sp>
      <p:sp>
        <p:nvSpPr>
          <p:cNvPr id="67" name="Text 61"/>
          <p:cNvSpPr txBox="1"/>
          <p:nvPr/>
        </p:nvSpPr>
        <p:spPr>
          <a:xfrm>
            <a:off x="7294824" y="14296644"/>
            <a:ext cx="530352" cy="53035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68" name="Text 62"/>
          <p:cNvSpPr txBox="1"/>
          <p:nvPr/>
        </p:nvSpPr>
        <p:spPr>
          <a:xfrm>
            <a:off x="7102800" y="14881860"/>
            <a:ext cx="914400" cy="256032"/>
          </a:xfrm>
          <a:prstGeom prst="rect">
            <a:avLst/>
          </a:prstGeom>
          <a:noFill/>
          <a:ln/>
        </p:spPr>
        <p:txBody>
          <a:bodyPr wrap="square" lIns="0" tIns="0" rIns="0" bIns="0" rtlCol="0" anchor="t"/>
          <a:lstStyle/>
          <a:p>
            <a:pPr algn="ctr" indent="0" marL="0">
              <a:buNone/>
            </a:pPr>
            <a:r>
              <a:rPr lang="en-US" sz="1200" b="1" dirty="0">
                <a:solidFill>
                  <a:srgbClr val="C77700"/>
                </a:solidFill>
                <a:latin typeface="Calibri" pitchFamily="34" charset="0"/>
                <a:ea typeface="Calibri" pitchFamily="34" charset="-122"/>
                <a:cs typeface="Calibri" pitchFamily="34" charset="-120"/>
              </a:rPr>
              <a:t>predicts</a:t>
            </a:r>
            <a:endParaRPr lang="en-US" sz="1200" dirty="0"/>
          </a:p>
        </p:txBody>
      </p:sp>
      <p:sp>
        <p:nvSpPr>
          <p:cNvPr id="69" name="Shape 63"/>
          <p:cNvSpPr/>
          <p:nvPr/>
        </p:nvSpPr>
        <p:spPr>
          <a:xfrm>
            <a:off x="7896240" y="12573000"/>
            <a:ext cx="6675120" cy="3977640"/>
          </a:xfrm>
          <a:prstGeom prst="roundRect">
            <a:avLst>
              <a:gd name="adj" fmla="val 1839"/>
            </a:avLst>
          </a:prstGeom>
          <a:solidFill>
            <a:srgbClr val="FFFFFF"/>
          </a:solidFill>
          <a:ln w="12700">
            <a:solidFill>
              <a:srgbClr val="D9DEE5"/>
            </a:solidFill>
            <a:prstDash val="solid"/>
          </a:ln>
        </p:spPr>
      </p:sp>
      <p:sp>
        <p:nvSpPr>
          <p:cNvPr id="70" name="Text 64"/>
          <p:cNvSpPr txBox="1"/>
          <p:nvPr/>
        </p:nvSpPr>
        <p:spPr>
          <a:xfrm>
            <a:off x="8124840" y="12737592"/>
            <a:ext cx="6217920" cy="274320"/>
          </a:xfrm>
          <a:prstGeom prst="rect">
            <a:avLst/>
          </a:prstGeom>
          <a:noFill/>
          <a:ln/>
        </p:spPr>
        <p:txBody>
          <a:bodyPr wrap="square" lIns="0" tIns="0" rIns="0" bIns="0" rtlCol="0" anchor="t"/>
          <a:lstStyle/>
          <a:p>
            <a:pPr indent="0" marL="0">
              <a:buNone/>
            </a:pPr>
            <a:r>
              <a:rPr lang="en-US" sz="1300" b="1" spc="120" kern="0" dirty="0">
                <a:solidFill>
                  <a:srgbClr val="0E7C7B"/>
                </a:solidFill>
                <a:latin typeface="Calibri" pitchFamily="34" charset="0"/>
                <a:ea typeface="Calibri" pitchFamily="34" charset="-122"/>
                <a:cs typeface="Calibri" pitchFamily="34" charset="-120"/>
              </a:rPr>
              <a:t>EXPERIMENT · DESIGNED FOR THIS WEAKNESS</a:t>
            </a:r>
            <a:endParaRPr lang="en-US" sz="1300" dirty="0"/>
          </a:p>
        </p:txBody>
      </p:sp>
      <p:sp>
        <p:nvSpPr>
          <p:cNvPr id="71" name="Text 65"/>
          <p:cNvSpPr txBox="1"/>
          <p:nvPr/>
        </p:nvSpPr>
        <p:spPr>
          <a:xfrm>
            <a:off x="8124840" y="13048488"/>
            <a:ext cx="6217920" cy="731520"/>
          </a:xfrm>
          <a:prstGeom prst="rect">
            <a:avLst/>
          </a:prstGeom>
          <a:noFill/>
          <a:ln/>
        </p:spPr>
        <p:txBody>
          <a:bodyPr wrap="square" lIns="0" tIns="0" rIns="0" bIns="0" rtlCol="0" anchor="t"/>
          <a:lstStyle/>
          <a:p>
            <a:pPr indent="0" marL="0">
              <a:spcAft>
                <a:spcPts val="300"/>
              </a:spcAft>
              <a:buNone/>
            </a:pPr>
            <a:r>
              <a:rPr lang="en-US" sz="1400" dirty="0">
                <a:solidFill>
                  <a:srgbClr val="1F2933"/>
                </a:solidFill>
                <a:latin typeface="Calibri" pitchFamily="34" charset="0"/>
                <a:ea typeface="Calibri" pitchFamily="34" charset="-122"/>
                <a:cs typeface="Calibri" pitchFamily="34" charset="-120"/>
              </a:rPr>
              <a:t>All </a:t>
            </a:r>
            <a:pPr indent="0" marL="0">
              <a:buNone/>
            </a:pPr>
            <a:r>
              <a:rPr lang="en-US" sz="1400" b="1" dirty="0">
                <a:solidFill>
                  <a:srgbClr val="1F2933"/>
                </a:solidFill>
                <a:latin typeface="Calibri" pitchFamily="34" charset="0"/>
                <a:ea typeface="Calibri" pitchFamily="34" charset="-122"/>
                <a:cs typeface="Calibri" pitchFamily="34" charset="-120"/>
              </a:rPr>
              <a:t>48</a:t>
            </a:r>
            <a:pPr indent="0" marL="0">
              <a:buNone/>
            </a:pPr>
            <a:r>
              <a:rPr lang="en-US" sz="1400" dirty="0">
                <a:solidFill>
                  <a:srgbClr val="1F2933"/>
                </a:solidFill>
                <a:latin typeface="Calibri" pitchFamily="34" charset="0"/>
                <a:ea typeface="Calibri" pitchFamily="34" charset="-122"/>
                <a:cs typeface="Calibri" pitchFamily="34" charset="-120"/>
              </a:rPr>
              <a:t> main-PILOT, full-learning conditions of the OpenAI study (2 populations × 8 allocations × 3 seeds). Multiply each chosen answer’s recorded cost by </a:t>
            </a:r>
            <a:pPr indent="0" marL="0">
              <a:buNone/>
            </a:pPr>
            <a:r>
              <a:rPr lang="en-US" sz="1400" b="1" dirty="0">
                <a:solidFill>
                  <a:srgbClr val="1F2933"/>
                </a:solidFill>
                <a:latin typeface="Calibri" pitchFamily="34" charset="0"/>
                <a:ea typeface="Calibri" pitchFamily="34" charset="-122"/>
                <a:cs typeface="Calibri" pitchFamily="34" charset="-120"/>
              </a:rPr>
              <a:t>f</a:t>
            </a:r>
            <a:pPr indent="0" marL="0">
              <a:buNone/>
            </a:pPr>
            <a:r>
              <a:rPr lang="en-US" sz="1400" dirty="0">
                <a:solidFill>
                  <a:srgbClr val="1F2933"/>
                </a:solidFill>
                <a:latin typeface="Calibri" pitchFamily="34" charset="0"/>
                <a:ea typeface="Calibri" pitchFamily="34" charset="-122"/>
                <a:cs typeface="Calibri" pitchFamily="34" charset="-120"/>
              </a:rPr>
              <a:t>; keep choices and rewards fixed; count conditions whose spend exceeds the allocation.</a:t>
            </a:r>
            <a:endParaRPr lang="en-US" sz="1400" dirty="0"/>
          </a:p>
        </p:txBody>
      </p:sp>
      <p:graphicFrame>
        <p:nvGraphicFramePr>
          <p:cNvPr id="72" name="w2-overspend" descr=""/>
          <p:cNvGraphicFramePr/>
          <p:nvPr/>
        </p:nvGraphicFramePr>
        <p:xfrm>
          <a:off x="8005968" y="13780008"/>
          <a:ext cx="6455664" cy="2697480"/>
        </p:xfrm>
        <a:graphic xmlns:a="http://schemas.openxmlformats.org/drawingml/2006/main">
          <a:graphicData uri="http://schemas.openxmlformats.org/drawingml/2006/chart">
            <c:chart xmlns:c="http://schemas.openxmlformats.org/drawingml/2006/chart" r:id="rId10"/>
          </a:graphicData>
        </a:graphic>
      </p:graphicFrame>
      <p:sp>
        <p:nvSpPr>
          <p:cNvPr id="73" name="Shape 66"/>
          <p:cNvSpPr/>
          <p:nvPr/>
        </p:nvSpPr>
        <p:spPr>
          <a:xfrm>
            <a:off x="548640" y="16642080"/>
            <a:ext cx="14022720" cy="1078992"/>
          </a:xfrm>
          <a:prstGeom prst="roundRect">
            <a:avLst>
              <a:gd name="adj" fmla="val 6780"/>
            </a:avLst>
          </a:prstGeom>
          <a:solidFill>
            <a:srgbClr val="FBF0DC"/>
          </a:solidFill>
          <a:ln w="9525">
            <a:solidFill>
              <a:srgbClr val="FBF0DC"/>
            </a:solidFill>
            <a:prstDash val="solid"/>
          </a:ln>
        </p:spPr>
      </p:sp>
      <p:sp>
        <p:nvSpPr>
          <p:cNvPr id="74" name="Text 67"/>
          <p:cNvSpPr txBox="1"/>
          <p:nvPr/>
        </p:nvSpPr>
        <p:spPr>
          <a:xfrm>
            <a:off x="777240" y="16733520"/>
            <a:ext cx="2743200" cy="566928"/>
          </a:xfrm>
          <a:prstGeom prst="rect">
            <a:avLst/>
          </a:prstGeom>
          <a:noFill/>
          <a:ln/>
        </p:spPr>
        <p:txBody>
          <a:bodyPr wrap="square" lIns="0" tIns="0" rIns="0" bIns="0" rtlCol="0" anchor="ctr"/>
          <a:lstStyle/>
          <a:p>
            <a:pPr indent="0" marL="0">
              <a:buNone/>
            </a:pPr>
            <a:r>
              <a:rPr lang="en-US" sz="3200" b="1" dirty="0">
                <a:solidFill>
                  <a:srgbClr val="C77700"/>
                </a:solidFill>
                <a:latin typeface="Cambria" pitchFamily="34" charset="0"/>
                <a:ea typeface="Cambria" pitchFamily="34" charset="-122"/>
                <a:cs typeface="Cambria" pitchFamily="34" charset="-120"/>
              </a:rPr>
              <a:t>0 → 23 / 48</a:t>
            </a:r>
            <a:endParaRPr lang="en-US" sz="3200" dirty="0"/>
          </a:p>
        </p:txBody>
      </p:sp>
      <p:sp>
        <p:nvSpPr>
          <p:cNvPr id="75" name="Text 68"/>
          <p:cNvSpPr txBox="1"/>
          <p:nvPr/>
        </p:nvSpPr>
        <p:spPr>
          <a:xfrm>
            <a:off x="777240" y="17300448"/>
            <a:ext cx="2743200" cy="347472"/>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conditions over budget at 1.0× → 1.1× recorded cost</a:t>
            </a:r>
            <a:endParaRPr lang="en-US" sz="1250" dirty="0"/>
          </a:p>
        </p:txBody>
      </p:sp>
      <p:sp>
        <p:nvSpPr>
          <p:cNvPr id="76" name="Text 69"/>
          <p:cNvSpPr txBox="1"/>
          <p:nvPr/>
        </p:nvSpPr>
        <p:spPr>
          <a:xfrm>
            <a:off x="3703320" y="16733520"/>
            <a:ext cx="10639440" cy="896112"/>
          </a:xfrm>
          <a:prstGeom prst="rect">
            <a:avLst/>
          </a:prstGeom>
          <a:noFill/>
          <a:ln/>
        </p:spPr>
        <p:txBody>
          <a:bodyPr wrap="square" lIns="0" tIns="0" rIns="0" bIns="0" rtlCol="0" anchor="ctr"/>
          <a:lstStyle/>
          <a:p>
            <a:pPr indent="0" marL="0">
              <a:spcAft>
                <a:spcPts val="400"/>
              </a:spcAft>
              <a:buNone/>
            </a:pPr>
            <a:r>
              <a:rPr lang="en-US" sz="1350" b="1" dirty="0">
                <a:solidFill>
                  <a:srgbClr val="1F2933"/>
                </a:solidFill>
                <a:latin typeface="Calibri" pitchFamily="34" charset="0"/>
                <a:ea typeface="Calibri" pitchFamily="34" charset="-122"/>
                <a:cs typeface="Calibri" pitchFamily="34" charset="-120"/>
              </a:rPr>
              <a:t>Verdict. </a:t>
            </a:r>
            <a:pPr indent="0" marL="0">
              <a:buNone/>
            </a:pPr>
            <a:r>
              <a:rPr lang="en-US" sz="1350" dirty="0">
                <a:solidFill>
                  <a:srgbClr val="1F2933"/>
                </a:solidFill>
                <a:latin typeface="Calibri" pitchFamily="34" charset="0"/>
                <a:ea typeface="Calibri" pitchFamily="34" charset="-122"/>
                <a:cs typeface="Calibri" pitchFamily="34" charset="-120"/>
              </a:rPr>
              <a:t>Feasibility is a property of the estimate, not of the bill. Main PILOT is more exposed than the average condition (48% vs 10% at 1.1×): it spends close to its allocation (median 86% vs 16%). Historical BGE run: 0 → 25 / 48. </a:t>
            </a:r>
            <a:pPr indent="0" marL="0">
              <a:buNone/>
            </a:pPr>
            <a:r>
              <a:rPr lang="en-US" sz="1350" b="1" dirty="0">
                <a:solidFill>
                  <a:srgbClr val="1F2933"/>
                </a:solidFill>
                <a:latin typeface="Calibri" pitchFamily="34" charset="0"/>
                <a:ea typeface="Calibri" pitchFamily="34" charset="-122"/>
                <a:cs typeface="Calibri" pitchFamily="34" charset="-120"/>
              </a:rPr>
              <a:t>Limits: </a:t>
            </a:r>
            <a:pPr indent="0" marL="0">
              <a:buNone/>
            </a:pPr>
            <a:r>
              <a:rPr lang="en-US" sz="1350" dirty="0">
                <a:solidFill>
                  <a:srgbClr val="1F2933"/>
                </a:solidFill>
                <a:latin typeface="Calibri" pitchFamily="34" charset="0"/>
                <a:ea typeface="Calibri" pitchFamily="34" charset="-122"/>
                <a:cs typeface="Calibri" pitchFamily="34" charset="-120"/>
              </a:rPr>
              <a:t>fixed-choice counterfactual; counts are conditions, not queries or probabilities; no provider was charged. At 1.0× none of the 858 core conditions overspends; 7 of 240 ablation conditions do.</a:t>
            </a:r>
            <a:endParaRPr lang="en-US" sz="1350" dirty="0"/>
          </a:p>
          <a:p>
            <a:pPr indent="0" marL="0">
              <a:spcAft>
                <a:spcPts val="400"/>
              </a:spcAft>
              <a:buNone/>
            </a:pPr>
            <a:r>
              <a:rPr lang="en-US" sz="1350" dirty="0">
                <a:solidFill>
                  <a:srgbClr val="5B6676"/>
                </a:solidFill>
                <a:latin typeface="Calibri" pitchFamily="34" charset="0"/>
                <a:ea typeface="Calibri" pitchFamily="34" charset="-122"/>
                <a:cs typeface="Calibri" pitchFamily="34" charset="-120"/>
              </a:rPr>
              <a:t>W&amp;B [3]: 1.0× </a:t>
            </a:r>
            <a:pPr indent="0" marL="0">
              <a:buNone/>
            </a:pPr>
            <a:r>
              <a:rPr lang="en-US" sz="1350" u="sng" dirty="0">
                <a:solidFill>
                  <a:srgbClr val="0E7C7B"/>
                </a:solidFill>
                <a:latin typeface="Calibri" pitchFamily="34" charset="0"/>
                <a:ea typeface="Calibri" pitchFamily="34" charset="-122"/>
                <a:cs typeface="Calibri" pitchFamily="34" charset="-120"/>
                <a:hlinkClick r:id="rId11" invalidUrl="" action="" tgtFrame="" tooltip="https://forge.coreweave.com/wandb/kiettheis-university-of-science-vnu-hcm/pilot-llm-routing-team8/runs/p2-0071b43e7962ff6c2f83f97f" history="1" highlightClick="0" endSnd="0">
                  <a:extLst>
                    <a:ext uri="{A12FA001-AC4F-418D-AE19-62706E023703}">
                      <ahyp:hlinkClr xmlns:ahyp="http://schemas.microsoft.com/office/drawing/2018/hyperlinkcolor" val="tx"/>
                    </a:ext>
                  </a:extLst>
                </a:hlinkClick>
              </a:rPr>
              <a:t>p2-0071b43e796…</a:t>
            </a:r>
            <a:pPr indent="0" marL="0">
              <a:buNone/>
            </a:pPr>
            <a:r>
              <a:rPr lang="en-US" sz="1350" dirty="0">
                <a:solidFill>
                  <a:srgbClr val="5B6676"/>
                </a:solidFill>
                <a:latin typeface="Calibri" pitchFamily="34" charset="0"/>
                <a:ea typeface="Calibri" pitchFamily="34" charset="-122"/>
                <a:cs typeface="Calibri" pitchFamily="34" charset="-120"/>
              </a:rPr>
              <a:t> · 1.1× </a:t>
            </a:r>
            <a:pPr indent="0" marL="0">
              <a:buNone/>
            </a:pPr>
            <a:r>
              <a:rPr lang="en-US" sz="1350" u="sng" dirty="0">
                <a:solidFill>
                  <a:srgbClr val="0E7C7B"/>
                </a:solidFill>
                <a:latin typeface="Calibri" pitchFamily="34" charset="0"/>
                <a:ea typeface="Calibri" pitchFamily="34" charset="-122"/>
                <a:cs typeface="Calibri" pitchFamily="34" charset="-120"/>
                <a:hlinkClick r:id="rId12" invalidUrl="" action="" tgtFrame="" tooltip="https://forge.coreweave.com/wandb/kiettheis-university-of-science-vnu-hcm/pilot-llm-routing-team8/runs/p2-174179870de0760904001148" history="1" highlightClick="0" endSnd="0">
                  <a:extLst>
                    <a:ext uri="{A12FA001-AC4F-418D-AE19-62706E023703}">
                      <ahyp:hlinkClr xmlns:ahyp="http://schemas.microsoft.com/office/drawing/2018/hyperlinkcolor" val="tx"/>
                    </a:ext>
                  </a:extLst>
                </a:hlinkClick>
              </a:rPr>
              <a:t>p2-174179870de…</a:t>
            </a:r>
            <a:pPr indent="0" marL="0">
              <a:buNone/>
            </a:pPr>
            <a:r>
              <a:rPr lang="en-US" sz="1350" dirty="0">
                <a:solidFill>
                  <a:srgbClr val="5B6676"/>
                </a:solidFill>
                <a:latin typeface="Calibri" pitchFamily="34" charset="0"/>
                <a:ea typeface="Calibri" pitchFamily="34" charset="-122"/>
                <a:cs typeface="Calibri" pitchFamily="34" charset="-120"/>
              </a:rPr>
              <a:t> · all core at 1.0× </a:t>
            </a:r>
            <a:pPr indent="0" marL="0">
              <a:buNone/>
            </a:pPr>
            <a:r>
              <a:rPr lang="en-US" sz="1350" u="sng" dirty="0">
                <a:solidFill>
                  <a:srgbClr val="0E7C7B"/>
                </a:solidFill>
                <a:latin typeface="Calibri" pitchFamily="34" charset="0"/>
                <a:ea typeface="Calibri" pitchFamily="34" charset="-122"/>
                <a:cs typeface="Calibri" pitchFamily="34" charset="-120"/>
                <a:hlinkClick r:id="rId13" invalidUrl="" action="" tgtFrame="" tooltip="https://forge.coreweave.com/wandb/kiettheis-university-of-science-vnu-hcm/pilot-llm-routing-team8/runs/p2-b332a34c98ea0c75b3ae5fb7" history="1" highlightClick="0" endSnd="0">
                  <a:extLst>
                    <a:ext uri="{A12FA001-AC4F-418D-AE19-62706E023703}">
                      <ahyp:hlinkClr xmlns:ahyp="http://schemas.microsoft.com/office/drawing/2018/hyperlinkcolor" val="tx"/>
                    </a:ext>
                  </a:extLst>
                </a:hlinkClick>
              </a:rPr>
              <a:t>p2-b332a34c98e…</a:t>
            </a:r>
            <a:endParaRPr lang="en-US" sz="1350" dirty="0"/>
          </a:p>
        </p:txBody>
      </p:sp>
      <p:sp>
        <p:nvSpPr>
          <p:cNvPr id="77" name="Shape 70"/>
          <p:cNvSpPr/>
          <p:nvPr/>
        </p:nvSpPr>
        <p:spPr>
          <a:xfrm>
            <a:off x="548640" y="17958816"/>
            <a:ext cx="4521840" cy="2340864"/>
          </a:xfrm>
          <a:prstGeom prst="roundRect">
            <a:avLst>
              <a:gd name="adj" fmla="val 3125"/>
            </a:avLst>
          </a:prstGeom>
          <a:solidFill>
            <a:srgbClr val="FFFFFF"/>
          </a:solidFill>
          <a:ln w="15875">
            <a:solidFill>
              <a:srgbClr val="0E7C7B"/>
            </a:solidFill>
            <a:prstDash val="solid"/>
          </a:ln>
        </p:spPr>
      </p:sp>
      <p:sp>
        <p:nvSpPr>
          <p:cNvPr id="78" name="Text 71"/>
          <p:cNvSpPr txBox="1"/>
          <p:nvPr/>
        </p:nvSpPr>
        <p:spPr>
          <a:xfrm>
            <a:off x="749808" y="18086832"/>
            <a:ext cx="4119504" cy="384048"/>
          </a:xfrm>
          <a:prstGeom prst="rect">
            <a:avLst/>
          </a:prstGeom>
          <a:noFill/>
          <a:ln/>
        </p:spPr>
        <p:txBody>
          <a:bodyPr wrap="square" lIns="0" tIns="0" rIns="0" bIns="0" rtlCol="0" anchor="t"/>
          <a:lstStyle/>
          <a:p>
            <a:pPr indent="0" marL="0">
              <a:buNone/>
            </a:pPr>
            <a:r>
              <a:rPr lang="en-US" sz="1900" b="1" dirty="0">
                <a:solidFill>
                  <a:srgbClr val="0E7C7B"/>
                </a:solidFill>
                <a:latin typeface="Cambria" pitchFamily="34" charset="0"/>
                <a:ea typeface="Cambria" pitchFamily="34" charset="-122"/>
                <a:cs typeface="Cambria" pitchFamily="34" charset="-120"/>
              </a:rPr>
              <a:t>Three strengths, with evidence</a:t>
            </a:r>
            <a:endParaRPr lang="en-US" sz="1900" dirty="0"/>
          </a:p>
        </p:txBody>
      </p:sp>
      <p:sp>
        <p:nvSpPr>
          <p:cNvPr id="79" name="Text 72"/>
          <p:cNvSpPr txBox="1"/>
          <p:nvPr/>
        </p:nvSpPr>
        <p:spPr>
          <a:xfrm>
            <a:off x="749808" y="18507456"/>
            <a:ext cx="4119504" cy="1700784"/>
          </a:xfrm>
          <a:prstGeom prst="rect">
            <a:avLst/>
          </a:prstGeom>
          <a:noFill/>
          <a:ln/>
        </p:spPr>
        <p:txBody>
          <a:bodyPr wrap="square" lIns="0" tIns="0" rIns="0" bIns="0" rtlCol="0" anchor="t"/>
          <a:lstStyle/>
          <a:p>
            <a:pPr indent="0" marL="0">
              <a:spcAft>
                <a:spcPts val="500"/>
              </a:spcAft>
              <a:buNone/>
            </a:pPr>
            <a:r>
              <a:rPr lang="en-US" sz="1350" b="1" dirty="0">
                <a:solidFill>
                  <a:srgbClr val="1F2933"/>
                </a:solidFill>
                <a:latin typeface="Calibri" pitchFamily="34" charset="0"/>
                <a:ea typeface="Calibri" pitchFamily="34" charset="-122"/>
                <a:cs typeface="Calibri" pitchFamily="34" charset="-120"/>
              </a:rPr>
              <a:t>S1 One reward per query. </a:t>
            </a:r>
            <a:pPr indent="0" marL="0">
              <a:buNone/>
            </a:pPr>
            <a:r>
              <a:rPr lang="en-US" sz="1350" dirty="0">
                <a:solidFill>
                  <a:srgbClr val="1F2933"/>
                </a:solidFill>
                <a:latin typeface="Calibri" pitchFamily="34" charset="0"/>
                <a:ea typeface="Calibri" pitchFamily="34" charset="-122"/>
                <a:cs typeface="Calibri" pitchFamily="34" charset="-120"/>
              </a:rPr>
              <a:t>Only the served answer is rated, yet regret is lowest among learners (4,275 vs 4,747).</a:t>
            </a:r>
            <a:endParaRPr lang="en-US" sz="1350" dirty="0"/>
          </a:p>
          <a:p>
            <a:pPr indent="0" marL="0">
              <a:spcAft>
                <a:spcPts val="500"/>
              </a:spcAft>
              <a:buNone/>
            </a:pPr>
            <a:r>
              <a:rPr lang="en-US" sz="1350" b="1" dirty="0">
                <a:solidFill>
                  <a:srgbClr val="1F2933"/>
                </a:solidFill>
                <a:latin typeface="Calibri" pitchFamily="34" charset="0"/>
                <a:ea typeface="Calibri" pitchFamily="34" charset="-122"/>
                <a:cs typeface="Calibri" pitchFamily="34" charset="-120"/>
              </a:rPr>
              <a:t>S2 Cold start from free data. </a:t>
            </a:r>
            <a:pPr indent="0" marL="0">
              <a:buNone/>
            </a:pPr>
            <a:r>
              <a:rPr lang="en-US" sz="1350" dirty="0">
                <a:solidFill>
                  <a:srgbClr val="1F2933"/>
                </a:solidFill>
                <a:latin typeface="Calibri" pitchFamily="34" charset="0"/>
                <a:ea typeface="Calibri" pitchFamily="34" charset="-122"/>
                <a:cs typeface="Calibri" pitchFamily="34" charset="-120"/>
              </a:rPr>
              <a:t>A prior from public preference pairs: 60.7% calibration accuracy vs 50% chance.</a:t>
            </a:r>
            <a:endParaRPr lang="en-US" sz="1350" dirty="0"/>
          </a:p>
          <a:p>
            <a:pPr indent="0" marL="0">
              <a:spcAft>
                <a:spcPts val="500"/>
              </a:spcAft>
              <a:buNone/>
            </a:pPr>
            <a:r>
              <a:rPr lang="en-US" sz="1350" b="1" dirty="0">
                <a:solidFill>
                  <a:srgbClr val="1F2933"/>
                </a:solidFill>
                <a:latin typeface="Calibri" pitchFamily="34" charset="0"/>
                <a:ea typeface="Calibri" pitchFamily="34" charset="-122"/>
                <a:cs typeface="Calibri" pitchFamily="34" charset="-120"/>
              </a:rPr>
              <a:t>S3 Auditable deployment. </a:t>
            </a:r>
            <a:pPr indent="0" marL="0">
              <a:buNone/>
            </a:pPr>
            <a:r>
              <a:rPr lang="en-US" sz="1350" dirty="0">
                <a:solidFill>
                  <a:srgbClr val="1F2933"/>
                </a:solidFill>
                <a:latin typeface="Calibri" pitchFamily="34" charset="0"/>
                <a:ea typeface="Calibri" pitchFamily="34" charset="-122"/>
                <a:cs typeface="Calibri" pitchFamily="34" charset="-120"/>
              </a:rPr>
              <a:t>Frozen router + explicit cost policy: 0/48 recorded overspends.</a:t>
            </a:r>
            <a:endParaRPr lang="en-US" sz="1350" dirty="0"/>
          </a:p>
        </p:txBody>
      </p:sp>
      <p:sp>
        <p:nvSpPr>
          <p:cNvPr id="80" name="Shape 73"/>
          <p:cNvSpPr/>
          <p:nvPr/>
        </p:nvSpPr>
        <p:spPr>
          <a:xfrm>
            <a:off x="5299080" y="17958816"/>
            <a:ext cx="4521840" cy="2340864"/>
          </a:xfrm>
          <a:prstGeom prst="roundRect">
            <a:avLst>
              <a:gd name="adj" fmla="val 3125"/>
            </a:avLst>
          </a:prstGeom>
          <a:solidFill>
            <a:srgbClr val="FFFFFF"/>
          </a:solidFill>
          <a:ln w="15875">
            <a:solidFill>
              <a:srgbClr val="3D5A80"/>
            </a:solidFill>
            <a:prstDash val="solid"/>
          </a:ln>
        </p:spPr>
      </p:sp>
      <p:sp>
        <p:nvSpPr>
          <p:cNvPr id="81" name="Text 74"/>
          <p:cNvSpPr txBox="1"/>
          <p:nvPr/>
        </p:nvSpPr>
        <p:spPr>
          <a:xfrm>
            <a:off x="5500248" y="18086832"/>
            <a:ext cx="4119504" cy="384048"/>
          </a:xfrm>
          <a:prstGeom prst="rect">
            <a:avLst/>
          </a:prstGeom>
          <a:noFill/>
          <a:ln/>
        </p:spPr>
        <p:txBody>
          <a:bodyPr wrap="square" lIns="0" tIns="0" rIns="0" bIns="0" rtlCol="0" anchor="t"/>
          <a:lstStyle/>
          <a:p>
            <a:pPr indent="0" marL="0">
              <a:buNone/>
            </a:pPr>
            <a:r>
              <a:rPr lang="en-US" sz="1900" b="1" dirty="0">
                <a:solidFill>
                  <a:srgbClr val="3D5A80"/>
                </a:solidFill>
                <a:latin typeface="Cambria" pitchFamily="34" charset="0"/>
                <a:ea typeface="Cambria" pitchFamily="34" charset="-122"/>
                <a:cs typeface="Cambria" pitchFamily="34" charset="-120"/>
              </a:rPr>
              <a:t>Theory audit: more limits</a:t>
            </a:r>
            <a:endParaRPr lang="en-US" sz="1900" dirty="0"/>
          </a:p>
        </p:txBody>
      </p:sp>
      <p:sp>
        <p:nvSpPr>
          <p:cNvPr id="82" name="Text 75"/>
          <p:cNvSpPr txBox="1"/>
          <p:nvPr/>
        </p:nvSpPr>
        <p:spPr>
          <a:xfrm>
            <a:off x="5500248" y="18507456"/>
            <a:ext cx="4119504" cy="1700784"/>
          </a:xfrm>
          <a:prstGeom prst="rect">
            <a:avLst/>
          </a:prstGeom>
          <a:noFill/>
          <a:ln/>
        </p:spPr>
        <p:txBody>
          <a:bodyPr wrap="square" lIns="0" tIns="0" rIns="0" bIns="0" rtlCol="0" anchor="t"/>
          <a:lstStyle/>
          <a:p>
            <a:pPr indent="0" marL="0">
              <a:spcAft>
                <a:spcPts val="500"/>
              </a:spcAft>
              <a:buNone/>
            </a:pPr>
            <a:r>
              <a:rPr lang="en-US" sz="1350" b="1" dirty="0">
                <a:solidFill>
                  <a:srgbClr val="1F2933"/>
                </a:solidFill>
                <a:latin typeface="Calibri" pitchFamily="34" charset="0"/>
                <a:ea typeface="Calibri" pitchFamily="34" charset="-122"/>
                <a:cs typeface="Calibri" pitchFamily="34" charset="-120"/>
              </a:rPr>
              <a:t>Rate. </a:t>
            </a:r>
            <a:pPr indent="0" marL="0">
              <a:buNone/>
            </a:pPr>
            <a:r>
              <a:rPr lang="en-US" sz="1350" dirty="0">
                <a:solidFill>
                  <a:srgbClr val="1F2933"/>
                </a:solidFill>
                <a:latin typeface="Calibri" pitchFamily="34" charset="0"/>
                <a:ea typeface="Calibri" pitchFamily="34" charset="-122"/>
                <a:cs typeface="Calibri" pitchFamily="34" charset="-120"/>
              </a:rPr>
              <a:t>The prior shrinks the </a:t>
            </a:r>
            <a:pPr indent="0" marL="0">
              <a:buNone/>
            </a:pPr>
            <a:r>
              <a:rPr lang="en-US" sz="1350" dirty="0">
                <a:solidFill>
                  <a:srgbClr val="1F2933"/>
                </a:solidFill>
                <a:latin typeface="Cambria Math" pitchFamily="34" charset="0"/>
                <a:ea typeface="Cambria Math" pitchFamily="34" charset="-122"/>
                <a:cs typeface="Cambria Math" pitchFamily="34" charset="-120"/>
              </a:rPr>
              <a:t>√</a:t>
            </a:r>
            <a:pPr indent="0" marL="0">
              <a:buNone/>
            </a:pPr>
            <a:r>
              <a:rPr lang="en-US" sz="1350" dirty="0">
                <a:solidFill>
                  <a:srgbClr val="1F2933"/>
                </a:solidFill>
                <a:latin typeface="Calibri" pitchFamily="34" charset="0"/>
                <a:ea typeface="Calibri" pitchFamily="34" charset="-122"/>
                <a:cs typeface="Calibri" pitchFamily="34" charset="-120"/>
              </a:rPr>
              <a:t>λ·S constant, not the d</a:t>
            </a:r>
            <a:pPr indent="0" marL="0">
              <a:buNone/>
            </a:pPr>
            <a:r>
              <a:rPr lang="en-US" sz="1350" dirty="0">
                <a:solidFill>
                  <a:srgbClr val="1F2933"/>
                </a:solidFill>
                <a:latin typeface="Cambria Math" pitchFamily="34" charset="0"/>
                <a:ea typeface="Cambria Math" pitchFamily="34" charset="-122"/>
                <a:cs typeface="Cambria Math" pitchFamily="34" charset="-120"/>
              </a:rPr>
              <a:t>√</a:t>
            </a:r>
            <a:pPr indent="0" marL="0">
              <a:buNone/>
            </a:pPr>
            <a:r>
              <a:rPr lang="en-US" sz="1350" dirty="0">
                <a:solidFill>
                  <a:srgbClr val="1F2933"/>
                </a:solidFill>
                <a:latin typeface="Calibri" pitchFamily="34" charset="0"/>
                <a:ea typeface="Calibri" pitchFamily="34" charset="-122"/>
                <a:cs typeface="Calibri" pitchFamily="34" charset="-120"/>
              </a:rPr>
              <a:t>T rate.</a:t>
            </a:r>
            <a:endParaRPr lang="en-US" sz="1350" dirty="0"/>
          </a:p>
          <a:p>
            <a:pPr indent="0" marL="0">
              <a:spcAft>
                <a:spcPts val="500"/>
              </a:spcAft>
              <a:buNone/>
            </a:pPr>
            <a:r>
              <a:rPr lang="en-US" sz="1350" b="1" dirty="0">
                <a:solidFill>
                  <a:srgbClr val="1F2933"/>
                </a:solidFill>
                <a:latin typeface="Calibri" pitchFamily="34" charset="0"/>
                <a:ea typeface="Calibri" pitchFamily="34" charset="-122"/>
                <a:cs typeface="Calibri" pitchFamily="34" charset="-120"/>
              </a:rPr>
              <a:t>S′ unknown. </a:t>
            </a:r>
            <a:pPr indent="0" marL="0">
              <a:buNone/>
            </a:pPr>
            <a:r>
              <a:rPr lang="en-US" sz="1350" dirty="0">
                <a:solidFill>
                  <a:srgbClr val="1F2933"/>
                </a:solidFill>
                <a:latin typeface="Calibri" pitchFamily="34" charset="0"/>
                <a:ea typeface="Calibri" pitchFamily="34" charset="-122"/>
                <a:cs typeface="Calibri" pitchFamily="34" charset="-120"/>
              </a:rPr>
              <a:t>λ</a:t>
            </a:r>
            <a:pPr indent="0" marL="0">
              <a:buNone/>
            </a:pPr>
            <a:r>
              <a:rPr lang="en-US" sz="1350" baseline="-40000" dirty="0">
                <a:solidFill>
                  <a:srgbClr val="1F2933"/>
                </a:solidFill>
                <a:latin typeface="Calibri" pitchFamily="34" charset="0"/>
                <a:ea typeface="Calibri" pitchFamily="34" charset="-122"/>
                <a:cs typeface="Calibri" pitchFamily="34" charset="-120"/>
              </a:rPr>
              <a:t>a</a:t>
            </a:r>
            <a:pPr indent="0" marL="0">
              <a:buNone/>
            </a:pPr>
            <a:r>
              <a:rPr lang="en-US" sz="1350" dirty="0">
                <a:solidFill>
                  <a:srgbClr val="1F2933"/>
                </a:solidFill>
                <a:latin typeface="Calibri" pitchFamily="34" charset="0"/>
                <a:ea typeface="Calibri" pitchFamily="34" charset="-122"/>
                <a:cs typeface="Calibri" pitchFamily="34" charset="-120"/>
              </a:rPr>
              <a:t> = 1/accuracy stands in for it; λ = 1 did better (+1.55 pp / +0.32 pp).</a:t>
            </a:r>
            <a:endParaRPr lang="en-US" sz="1350" dirty="0"/>
          </a:p>
          <a:p>
            <a:pPr indent="0" marL="0">
              <a:spcAft>
                <a:spcPts val="500"/>
              </a:spcAft>
              <a:buNone/>
            </a:pPr>
            <a:r>
              <a:rPr lang="en-US" sz="1350" b="1" dirty="0">
                <a:solidFill>
                  <a:srgbClr val="1F2933"/>
                </a:solidFill>
                <a:latin typeface="Calibri" pitchFamily="34" charset="0"/>
                <a:ea typeface="Calibri" pitchFamily="34" charset="-122"/>
                <a:cs typeface="Calibri" pitchFamily="34" charset="-120"/>
              </a:rPr>
              <a:t>Proof. </a:t>
            </a:r>
            <a:pPr indent="0" marL="0">
              <a:buNone/>
            </a:pPr>
            <a:r>
              <a:rPr lang="en-US" sz="1350" dirty="0">
                <a:solidFill>
                  <a:srgbClr val="1F2933"/>
                </a:solidFill>
                <a:latin typeface="Calibri" pitchFamily="34" charset="0"/>
                <a:ea typeface="Calibri" pitchFamily="34" charset="-122"/>
                <a:cs typeface="Calibri" pitchFamily="34" charset="-120"/>
              </a:rPr>
              <a:t>Two printing slips (pp. 23945–46). Corrected, the bound holds.</a:t>
            </a:r>
            <a:endParaRPr lang="en-US" sz="1350" dirty="0"/>
          </a:p>
          <a:p>
            <a:pPr indent="0" marL="0">
              <a:spcAft>
                <a:spcPts val="500"/>
              </a:spcAft>
              <a:buNone/>
            </a:pPr>
            <a:r>
              <a:rPr lang="en-US" sz="1350" b="1" dirty="0">
                <a:solidFill>
                  <a:srgbClr val="1F2933"/>
                </a:solidFill>
                <a:latin typeface="Calibri" pitchFamily="34" charset="0"/>
                <a:ea typeface="Calibri" pitchFamily="34" charset="-122"/>
                <a:cs typeface="Calibri" pitchFamily="34" charset="-120"/>
              </a:rPr>
              <a:t>Cost. </a:t>
            </a:r>
            <a:pPr indent="0" marL="0">
              <a:buNone/>
            </a:pPr>
            <a:r>
              <a:rPr lang="en-US" sz="1350" dirty="0">
                <a:solidFill>
                  <a:srgbClr val="1F2933"/>
                </a:solidFill>
                <a:latin typeface="Calibri" pitchFamily="34" charset="0"/>
                <a:ea typeface="Calibri" pitchFamily="34" charset="-122"/>
                <a:cs typeface="Calibri" pitchFamily="34" charset="-120"/>
              </a:rPr>
              <a:t>O(K d</a:t>
            </a:r>
            <a:pPr indent="0" marL="0">
              <a:buNone/>
            </a:pPr>
            <a:r>
              <a:rPr lang="en-US" sz="1350" baseline="30000" dirty="0">
                <a:solidFill>
                  <a:srgbClr val="1F2933"/>
                </a:solidFill>
                <a:latin typeface="Calibri" pitchFamily="34" charset="0"/>
                <a:ea typeface="Calibri" pitchFamily="34" charset="-122"/>
                <a:cs typeface="Calibri" pitchFamily="34" charset="-120"/>
              </a:rPr>
              <a:t>2</a:t>
            </a:r>
            <a:pPr indent="0" marL="0">
              <a:buNone/>
            </a:pPr>
            <a:r>
              <a:rPr lang="en-US" sz="1350" dirty="0">
                <a:solidFill>
                  <a:srgbClr val="1F2933"/>
                </a:solidFill>
                <a:latin typeface="Calibri" pitchFamily="34" charset="0"/>
                <a:ea typeface="Calibri" pitchFamily="34" charset="-122"/>
                <a:cs typeface="Calibri" pitchFamily="34" charset="-120"/>
              </a:rPr>
              <a:t>) per query is possible with rank-one updates (ours: dense O(K d</a:t>
            </a:r>
            <a:pPr indent="0" marL="0">
              <a:buNone/>
            </a:pPr>
            <a:r>
              <a:rPr lang="en-US" sz="1350" baseline="30000" dirty="0">
                <a:solidFill>
                  <a:srgbClr val="1F2933"/>
                </a:solidFill>
                <a:latin typeface="Calibri" pitchFamily="34" charset="0"/>
                <a:ea typeface="Calibri" pitchFamily="34" charset="-122"/>
                <a:cs typeface="Calibri" pitchFamily="34" charset="-120"/>
              </a:rPr>
              <a:t>3</a:t>
            </a:r>
            <a:pPr indent="0" marL="0">
              <a:buNone/>
            </a:pPr>
            <a:r>
              <a:rPr lang="en-US" sz="1350" dirty="0">
                <a:solidFill>
                  <a:srgbClr val="1F2933"/>
                </a:solidFill>
                <a:latin typeface="Calibri" pitchFamily="34" charset="0"/>
                <a:ea typeface="Calibri" pitchFamily="34" charset="-122"/>
                <a:cs typeface="Calibri" pitchFamily="34" charset="-120"/>
              </a:rPr>
              <a:t>)); embedding dominates.</a:t>
            </a:r>
            <a:endParaRPr lang="en-US" sz="1350" dirty="0"/>
          </a:p>
        </p:txBody>
      </p:sp>
      <p:sp>
        <p:nvSpPr>
          <p:cNvPr id="83" name="Shape 76"/>
          <p:cNvSpPr/>
          <p:nvPr/>
        </p:nvSpPr>
        <p:spPr>
          <a:xfrm>
            <a:off x="10049520" y="17958816"/>
            <a:ext cx="4521840" cy="2340864"/>
          </a:xfrm>
          <a:prstGeom prst="roundRect">
            <a:avLst>
              <a:gd name="adj" fmla="val 3125"/>
            </a:avLst>
          </a:prstGeom>
          <a:solidFill>
            <a:srgbClr val="FFFFFF"/>
          </a:solidFill>
          <a:ln w="15875">
            <a:solidFill>
              <a:srgbClr val="C2452D"/>
            </a:solidFill>
            <a:prstDash val="solid"/>
          </a:ln>
        </p:spPr>
      </p:sp>
      <p:sp>
        <p:nvSpPr>
          <p:cNvPr id="84" name="Text 77"/>
          <p:cNvSpPr txBox="1"/>
          <p:nvPr/>
        </p:nvSpPr>
        <p:spPr>
          <a:xfrm>
            <a:off x="10250688" y="18086832"/>
            <a:ext cx="4119504" cy="384048"/>
          </a:xfrm>
          <a:prstGeom prst="rect">
            <a:avLst/>
          </a:prstGeom>
          <a:noFill/>
          <a:ln/>
        </p:spPr>
        <p:txBody>
          <a:bodyPr wrap="square" lIns="0" tIns="0" rIns="0" bIns="0" rtlCol="0" anchor="t"/>
          <a:lstStyle/>
          <a:p>
            <a:pPr indent="0" marL="0">
              <a:buNone/>
            </a:pPr>
            <a:r>
              <a:rPr lang="en-US" sz="1900" b="1" dirty="0">
                <a:solidFill>
                  <a:srgbClr val="C2452D"/>
                </a:solidFill>
                <a:latin typeface="Cambria" pitchFamily="34" charset="0"/>
                <a:ea typeface="Cambria" pitchFamily="34" charset="-122"/>
                <a:cs typeface="Cambria" pitchFamily="34" charset="-120"/>
              </a:rPr>
              <a:t>Future directions, one per weakness</a:t>
            </a:r>
            <a:endParaRPr lang="en-US" sz="1900" dirty="0"/>
          </a:p>
        </p:txBody>
      </p:sp>
      <p:sp>
        <p:nvSpPr>
          <p:cNvPr id="85" name="Text 78"/>
          <p:cNvSpPr txBox="1"/>
          <p:nvPr/>
        </p:nvSpPr>
        <p:spPr>
          <a:xfrm>
            <a:off x="10250688" y="18507456"/>
            <a:ext cx="4119504" cy="1700784"/>
          </a:xfrm>
          <a:prstGeom prst="rect">
            <a:avLst/>
          </a:prstGeom>
          <a:noFill/>
          <a:ln/>
        </p:spPr>
        <p:txBody>
          <a:bodyPr wrap="square" lIns="0" tIns="0" rIns="0" bIns="0" rtlCol="0" anchor="t"/>
          <a:lstStyle/>
          <a:p>
            <a:pPr indent="0" marL="0">
              <a:spcAft>
                <a:spcPts val="500"/>
              </a:spcAft>
              <a:buNone/>
            </a:pPr>
            <a:r>
              <a:rPr lang="en-US" sz="1350" b="1" dirty="0">
                <a:solidFill>
                  <a:srgbClr val="C2452D"/>
                </a:solidFill>
                <a:latin typeface="Calibri" pitchFamily="34" charset="0"/>
                <a:ea typeface="Calibri" pitchFamily="34" charset="-122"/>
                <a:cs typeface="Calibri" pitchFamily="34" charset="-120"/>
              </a:rPr>
              <a:t>F1 → W1. </a:t>
            </a:r>
            <a:pPr indent="0" marL="0">
              <a:buNone/>
            </a:pPr>
            <a:r>
              <a:rPr lang="en-US" sz="1350" dirty="0">
                <a:solidFill>
                  <a:srgbClr val="1F2933"/>
                </a:solidFill>
                <a:latin typeface="Calibri" pitchFamily="34" charset="0"/>
                <a:ea typeface="Calibri" pitchFamily="34" charset="-122"/>
                <a:cs typeface="Calibri" pitchFamily="34" charset="-120"/>
              </a:rPr>
              <a:t>A magnitude-aware score (linear mean or learned arm scale) so the OFUL analysis applies. Test: magnitude sweep + RouterBench, same prior and budget.</a:t>
            </a:r>
            <a:endParaRPr lang="en-US" sz="1350" dirty="0"/>
          </a:p>
          <a:p>
            <a:pPr indent="0" marL="0">
              <a:spcAft>
                <a:spcPts val="500"/>
              </a:spcAft>
              <a:buNone/>
            </a:pPr>
            <a:r>
              <a:rPr lang="en-US" sz="1350" b="1" dirty="0">
                <a:solidFill>
                  <a:srgbClr val="C77700"/>
                </a:solidFill>
                <a:latin typeface="Calibri" pitchFamily="34" charset="0"/>
                <a:ea typeface="Calibri" pitchFamily="34" charset="-122"/>
                <a:cs typeface="Calibri" pitchFamily="34" charset="-120"/>
              </a:rPr>
              <a:t>F2 → W2. </a:t>
            </a:r>
            <a:pPr indent="0" marL="0">
              <a:buNone/>
            </a:pPr>
            <a:r>
              <a:rPr lang="en-US" sz="1350" dirty="0">
                <a:solidFill>
                  <a:srgbClr val="1F2933"/>
                </a:solidFill>
                <a:latin typeface="Calibri" pitchFamily="34" charset="0"/>
                <a:ea typeface="Calibri" pitchFamily="34" charset="-122"/>
                <a:cs typeface="Calibri" pitchFamily="34" charset="-120"/>
              </a:rPr>
              <a:t>Reserve budget from tuning-only cost quantiles, updated from realized bills. Test: overspend and coverage under length shifts.</a:t>
            </a:r>
            <a:endParaRPr lang="en-US" sz="1350" dirty="0"/>
          </a:p>
          <a:p>
            <a:pPr indent="0" marL="0">
              <a:spcAft>
                <a:spcPts val="500"/>
              </a:spcAft>
              <a:buNone/>
            </a:pPr>
            <a:r>
              <a:rPr lang="en-US" sz="1350" i="1" dirty="0">
                <a:solidFill>
                  <a:srgbClr val="5B6676"/>
                </a:solidFill>
                <a:latin typeface="Calibri" pitchFamily="34" charset="0"/>
                <a:ea typeface="Calibri" pitchFamily="34" charset="-122"/>
                <a:cs typeface="Calibri" pitchFamily="34" charset="-120"/>
              </a:rPr>
              <a:t>Both are proposals, not yet demonstrated.</a:t>
            </a:r>
            <a:endParaRPr lang="en-US" sz="1350" dirty="0"/>
          </a:p>
        </p:txBody>
      </p:sp>
      <p:sp>
        <p:nvSpPr>
          <p:cNvPr id="86" name="Text 79"/>
          <p:cNvSpPr txBox="1"/>
          <p:nvPr/>
        </p:nvSpPr>
        <p:spPr>
          <a:xfrm>
            <a:off x="548640" y="20409408"/>
            <a:ext cx="14022720" cy="837432"/>
          </a:xfrm>
          <a:prstGeom prst="rect">
            <a:avLst/>
          </a:prstGeom>
          <a:noFill/>
          <a:ln/>
        </p:spPr>
        <p:txBody>
          <a:bodyPr wrap="square" lIns="0" tIns="0" rIns="0" bIns="0" rtlCol="0" anchor="t"/>
          <a:lstStyle/>
          <a:p>
            <a:pPr indent="0" marL="0">
              <a:buNone/>
            </a:pPr>
            <a:r>
              <a:rPr lang="en-US" sz="1100" u="sng" dirty="0">
                <a:solidFill>
                  <a:srgbClr val="5B6676"/>
                </a:solidFill>
                <a:latin typeface="Calibri" pitchFamily="34" charset="0"/>
                <a:ea typeface="Calibri" pitchFamily="34" charset="-122"/>
                <a:cs typeface="Calibri" pitchFamily="34" charset="-120"/>
                <a:hlinkClick r:id="rId14" invalidUrl="" action="" tgtFrame="" tooltip="https://aclanthology.org/2025.findings-emnlp.1301.pdf" history="1" highlightClick="0" endSnd="0">
                  <a:extLst>
                    <a:ext uri="{A12FA001-AC4F-418D-AE19-62706E023703}">
                      <ahyp:hlinkClr xmlns:ahyp="http://schemas.microsoft.com/office/drawing/2018/hyperlinkcolor" val="tx"/>
                    </a:ext>
                  </a:extLst>
                </a:hlinkClick>
              </a:rPr>
              <a:t>[1] P. Panda et al., “Adaptive LLM routing under budget constraints,” in Findings Assoc. Comput. Linguistics: EMNLP 2025, 2025, pp. 23934–23949.</a:t>
            </a:r>
            <a:endParaRPr lang="en-US" sz="1100" dirty="0"/>
          </a:p>
          <a:p>
            <a:pPr indent="0" marL="0">
              <a:buNone/>
            </a:pPr>
            <a:r>
              <a:rPr lang="en-US" sz="1100" u="sng" dirty="0">
                <a:solidFill>
                  <a:srgbClr val="5B6676"/>
                </a:solidFill>
                <a:latin typeface="Calibri" pitchFamily="34" charset="0"/>
                <a:ea typeface="Calibri" pitchFamily="34" charset="-122"/>
                <a:cs typeface="Calibri" pitchFamily="34" charset="-120"/>
                <a:hlinkClick r:id="rId15" invalidUrl="" action="" tgtFrame="" tooltip="https://proceedings.neurips.cc/paper/2011/hash/e1d5be1c7f2f456670de3d53c7b54f4a-Abstract.html" history="1" highlightClick="0" endSnd="0">
                  <a:extLst>
                    <a:ext uri="{A12FA001-AC4F-418D-AE19-62706E023703}">
                      <ahyp:hlinkClr xmlns:ahyp="http://schemas.microsoft.com/office/drawing/2018/hyperlinkcolor" val="tx"/>
                    </a:ext>
                  </a:extLst>
                </a:hlinkClick>
              </a:rPr>
              <a:t>[2] Y. Abbasi-Yadkori, D. Pál, and C. Szepesvári, “Improved algorithms for linear stochastic bandits,” in Adv. Neural Inf. Process. Syst., vol. 24, 2011, pp. 2312–2320.</a:t>
            </a:r>
            <a:endParaRPr lang="en-US" sz="1100" dirty="0"/>
          </a:p>
          <a:p>
            <a:pPr indent="0" marL="0">
              <a:buNone/>
            </a:pPr>
            <a:r>
              <a:rPr lang="en-US" sz="1100" u="sng" dirty="0">
                <a:solidFill>
                  <a:srgbClr val="5B6676"/>
                </a:solidFill>
                <a:latin typeface="Calibri" pitchFamily="34" charset="0"/>
                <a:ea typeface="Calibri" pitchFamily="34" charset="-122"/>
                <a:cs typeface="Calibri" pitchFamily="34" charset="-120"/>
                <a:hlinkClick r:id="rId16" invalidUrl="" action="" tgtFrame="" tooltip="https://forge.coreweave.com/wandb/kiettheis-university-of-science-vnu-hcm/pilot-llm-routing-team8" history="1" highlightClick="0" endSnd="0">
                  <a:extLst>
                    <a:ext uri="{A12FA001-AC4F-418D-AE19-62706E023703}">
                      <ahyp:hlinkClr xmlns:ahyp="http://schemas.microsoft.com/office/drawing/2018/hyperlinkcolor" val="tx"/>
                    </a:ext>
                  </a:extLst>
                </a:hlinkClick>
              </a:rPr>
              <a:t>[3] Team 8, “pilot-llm-routing-team8,” Weights &amp; Biases public project, 3,626 runs, Oct. 2026. [Online]. Available: forge.coreweave.com/wandb/kiettheis-university-of-science-vnu-hcm/pilot-llm-routing-team8</a:t>
            </a:r>
            <a:endParaRPr lang="en-US" sz="1100" dirty="0"/>
          </a:p>
          <a:p>
            <a:pPr indent="0" marL="0">
              <a:buNone/>
            </a:pPr>
            <a:r>
              <a:rPr lang="en-US" sz="1100" u="sng" dirty="0">
                <a:solidFill>
                  <a:srgbClr val="5B6676"/>
                </a:solidFill>
                <a:latin typeface="Calibri" pitchFamily="34" charset="0"/>
                <a:ea typeface="Calibri" pitchFamily="34" charset="-122"/>
                <a:cs typeface="Calibri" pitchFamily="34" charset="-120"/>
                <a:hlinkClick r:id="rId17" invalidUrl="" action="" tgtFrame="" tooltip="https://doi.org/10.1145/1367497.1367747" history="1" highlightClick="0" endSnd="0">
                  <a:extLst>
                    <a:ext uri="{A12FA001-AC4F-418D-AE19-62706E023703}">
                      <ahyp:hlinkClr xmlns:ahyp="http://schemas.microsoft.com/office/drawing/2018/hyperlinkcolor" val="tx"/>
                    </a:ext>
                  </a:extLst>
                </a:hlinkClick>
              </a:rPr>
              <a:t>[4] Y. Zhou, D. Chakrabarty, and R. Lukose, “Budget constrained bidding in keyword auctions and online knapsack problems,” in Proc. 17th Int. Conf. World Wide Web, 2008, pp. 1243–1244.</a:t>
            </a:r>
            <a:endParaRPr lang="en-US" sz="1100" dirty="0"/>
          </a:p>
          <a:p>
            <a:pPr indent="0" marL="0">
              <a:buNone/>
            </a:pPr>
            <a:r>
              <a:rPr lang="en-US" sz="1100" u="sng" dirty="0">
                <a:solidFill>
                  <a:srgbClr val="5B6676"/>
                </a:solidFill>
                <a:latin typeface="Calibri" pitchFamily="34" charset="0"/>
                <a:ea typeface="Calibri" pitchFamily="34" charset="-122"/>
                <a:cs typeface="Calibri" pitchFamily="34" charset="-120"/>
                <a:hlinkClick r:id="rId18" invalidUrl="" action="" tgtFrame="" tooltip="https://github.com/kiettheis0702/pilot-llm-routing" history="1" highlightClick="0" endSnd="0">
                  <a:extLst>
                    <a:ext uri="{A12FA001-AC4F-418D-AE19-62706E023703}">
                      <ahyp:hlinkClr xmlns:ahyp="http://schemas.microsoft.com/office/drawing/2018/hyperlinkcolor" val="tx"/>
                    </a:ext>
                  </a:extLst>
                </a:hlinkClick>
              </a:rPr>
              <a:t>[5] Team 8, “pilot-llm-routing,” GitHub repository, Oct. 2026. [Online]. Available: github.com/kiettheis0702/pilot-llm-routing</a:t>
            </a:r>
            <a:endParaRPr lang="en-US" sz="1100" dirty="0"/>
          </a:p>
        </p:txBody>
      </p:sp>
    </p:spTree>
  </p:cSld>
  <p:clrMapOvr>
    <a:masterClrMapping/>
  </p:clrMapOvr>
</p:sld>
</file>

<file path=ppt/theme/theme1.xml><?xml version="1.0" encoding="utf-8"?>
<a:theme xmlns:a="http://schemas.openxmlformats.org/drawingml/2006/main" name="PILOT Team 8">
  <a:themeElements>
    <a:clrScheme name="PILOT Team 8">
      <a:dk1>
        <a:srgbClr val="1F2933"/>
      </a:dk1>
      <a:lt1>
        <a:srgbClr val="FFFFFF"/>
      </a:lt1>
      <a:dk2>
        <a:srgbClr val="14213D"/>
      </a:dk2>
      <a:lt2>
        <a:srgbClr val="F2F4F7"/>
      </a:lt2>
      <a:accent1>
        <a:srgbClr val="0E7C7B"/>
      </a:accent1>
      <a:accent2>
        <a:srgbClr val="C77700"/>
      </a:accent2>
      <a:accent3>
        <a:srgbClr val="C2452D"/>
      </a:accent3>
      <a:accent4>
        <a:srgbClr val="3D5A80"/>
      </a:accent4>
      <a:accent5>
        <a:srgbClr val="8D99AE"/>
      </a:accent5>
      <a:accent6>
        <a:srgbClr val="7A5195"/>
      </a:accent6>
      <a:hlink>
        <a:srgbClr val="0E7C7B"/>
      </a:hlink>
      <a:folHlink>
        <a:srgbClr val="3D5A80"/>
      </a:folHlink>
    </a:clrScheme>
    <a:fontScheme name="PILOT Team 8">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University of Science, VNU-HCM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Where PILOT’s guarantees stop — Team 8 poster</dc:title>
  <dc:subject>PptxGenJS Presentation</dc:subject>
  <dc:creator>Team 8 (Thái Kiệt, Trần Lê Hải)</dc:creator>
  <cp:lastModifiedBy>Team 8 (Thái Kiệt, Trần Lê Hải)</cp:lastModifiedBy>
  <cp:revision>1</cp:revision>
  <dcterms:created xsi:type="dcterms:W3CDTF">2026-10-31T10:50:58Z</dcterms:created>
  <dcterms:modified xsi:type="dcterms:W3CDTF">2026-10-31T10:50:58Z</dcterms:modified>
</cp:coreProperties>
</file>