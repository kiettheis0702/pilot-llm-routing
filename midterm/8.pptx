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8.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125695-041d-b877-559e-0bdaed44851f}">
          <p14:sldIdLst>
            <p14:sldId id="256"/>
          </p14:sldIdLst>
        </p14:section>
        <p14:section name="Context" id="{843c76d3-54bb-f204-1888-f23dcdddc7e9}">
          <p14:sldIdLst>
            <p14:sldId id="257"/>
            <p14:sldId id="258"/>
            <p14:sldId id="259"/>
          </p14:sldIdLst>
        </p14:section>
        <p14:section name="Method" id="{af0fcfba-bd65-2a34-a5b6-1f8c2632ff57}">
          <p14:sldIdLst>
            <p14:sldId id="260"/>
            <p14:sldId id="261"/>
            <p14:sldId id="262"/>
            <p14:sldId id="263"/>
            <p14:sldId id="264"/>
          </p14:sldIdLst>
        </p14:section>
        <p14:section name="Theory" id="{4919c6ee-3e70-9714-59fd-5ff62539892b}">
          <p14:sldIdLst>
            <p14:sldId id="265"/>
            <p14:sldId id="266"/>
            <p14:sldId id="267"/>
          </p14:sldIdLst>
        </p14:section>
        <p14:section name="Reproduction" id="{9694f93c-e691-aab0-03cb-08c9d774a7a6}">
          <p14:sldIdLst>
            <p14:sldId id="268"/>
            <p14:sldId id="269"/>
          </p14:sldIdLst>
        </p14:section>
        <p14:section name="Results" id="{fffbf9ba-6381-16db-eadc-1702d6f61f8e}">
          <p14:sldIdLst>
            <p14:sldId id="270"/>
            <p14:sldId id="271"/>
            <p14:sldId id="272"/>
            <p14:sldId id="273"/>
            <p14:sldId id="274"/>
            <p14:sldId id="275"/>
            <p14:sldId id="276"/>
            <p14:sldId id="277"/>
          </p14:sldIdLst>
        </p14:section>
        <p14:section name="Closing" id="{fecb5d36-7426-6afa-0823-e4235431798b}">
          <p14:sldIdLst>
            <p14:sldId id="278"/>
          </p14:sldIdLst>
        </p14:section>
        <p14:section name="Appendix" id="{68c85b74-cb16-40e7-f419-a51e8af018d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One round (illustration, not data)</a:t>
            </a:r>
          </a:p>
        </c:rich>
      </c:tx>
      <c:layout/>
      <c:overlay val="0"/>
    </c:title>
    <c:autoTitleDeleted val="0"/>
    <c:plotArea>
      <c:layout/>
      <c:barChart>
        <c:barDir val="col"/>
        <c:grouping val="stacked"/>
        <c:varyColors val="0"/>
        <c:ser>
          <c:idx val="0"/>
          <c:order val="0"/>
          <c:tx>
            <c:strRef>
              <c:f>Sheet1!$B$1</c:f>
              <c:strCache>
                <c:ptCount val="1"/>
                <c:pt idx="0">
                  <c:v>estimate cos(x, θ̃)</c:v>
                </c:pt>
              </c:strCache>
            </c:strRef>
          </c:tx>
          <c:spPr>
            <a:solidFill>
              <a:srgbClr val="0E7C7B"/>
            </a:solidFill>
            <a:effectLst/>
          </c:spPr>
          <c:invertIfNegative val="0"/>
          <c:dLbls>
            <c:numFmt formatCode="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cheap</c:v>
                  </c:pt>
                  <c:pt idx="1">
                    <c:v>mid</c:v>
                  </c:pt>
                  <c:pt idx="2">
                    <c:v>strong</c:v>
                  </c:pt>
                </c:lvl>
              </c:multiLvlStrCache>
            </c:multiLvlStrRef>
          </c:cat>
          <c:val>
            <c:numRef>
              <c:f>Sheet1!$B$2:$B$4</c:f>
              <c:numCache>
                <c:formatCode>General</c:formatCode>
                <c:ptCount val="3"/>
                <c:pt idx="0">
                  <c:v>0.52</c:v>
                </c:pt>
                <c:pt idx="1">
                  <c:v>0.63</c:v>
                </c:pt>
                <c:pt idx="2">
                  <c:v>0.66</c:v>
                </c:pt>
              </c:numCache>
            </c:numRef>
          </c:val>
        </c:ser>
        <c:ser>
          <c:idx val="1"/>
          <c:order val="1"/>
          <c:tx>
            <c:strRef>
              <c:f>Sheet1!$C$1</c:f>
              <c:strCache>
                <c:ptCount val="1"/>
                <c:pt idx="0">
                  <c:v>exploration bonus</c:v>
                </c:pt>
              </c:strCache>
            </c:strRef>
          </c:tx>
          <c:spPr>
            <a:solidFill>
              <a:srgbClr val="9FD3CF"/>
            </a:solidFill>
            <a:effectLst/>
          </c:spPr>
          <c:invertIfNegative val="0"/>
          <c:dLbls>
            <c:numFmt formatCode="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cheap</c:v>
                  </c:pt>
                  <c:pt idx="1">
                    <c:v>mid</c:v>
                  </c:pt>
                  <c:pt idx="2">
                    <c:v>strong</c:v>
                  </c:pt>
                </c:lvl>
              </c:multiLvlStrCache>
            </c:multiLvlStrRef>
          </c:cat>
          <c:val>
            <c:numRef>
              <c:f>Sheet1!$C$2:$C$4</c:f>
              <c:numCache>
                <c:formatCode>General</c:formatCode>
                <c:ptCount val="3"/>
                <c:pt idx="0">
                  <c:v>0.22</c:v>
                </c:pt>
                <c:pt idx="1">
                  <c:v>0.05</c:v>
                </c:pt>
                <c:pt idx="2">
                  <c:v>0.04</c:v>
                </c:pt>
              </c:numCache>
            </c:numRef>
          </c:val>
        </c:ser>
        <c:dLbls>
          <c:numFmt formatCode="0.00" sourceLinked="0"/>
          <c:txPr>
            <a:bodyPr/>
            <a:lstStyle/>
            <a:p>
              <a:pPr>
                <a:defRPr b="0"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arm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upper confidence score</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RouterBench · full learning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Sheet1!$B$2:$B$9</c:f>
              <c:numCache>
                <c:formatCode>General</c:formatCode>
                <c:ptCount val="8"/>
                <c:pt idx="0">
                  <c:v>0.11982744847419717</c:v>
                </c:pt>
                <c:pt idx="1">
                  <c:v>0.582494541194014</c:v>
                </c:pt>
                <c:pt idx="2">
                  <c:v>77.80662512648453</c:v>
                </c:pt>
                <c:pt idx="3">
                  <c:v>80.68048676572403</c:v>
                </c:pt>
                <c:pt idx="4">
                  <c:v>86.59530276401982</c:v>
                </c:pt>
                <c:pt idx="5">
                  <c:v>93.26969164403259</c:v>
                </c:pt>
                <c:pt idx="6">
                  <c:v>97.9363050540555</c:v>
                </c:pt>
                <c:pt idx="7">
                  <c:v>98.295121691431</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Sheet1!$C$2:$C$9</c:f>
              <c:numCache>
                <c:formatCode>General</c:formatCode>
                <c:ptCount val="8"/>
                <c:pt idx="0">
                  <c:v>0.37279650636416894</c:v>
                </c:pt>
                <c:pt idx="1">
                  <c:v>0.9186771049688449</c:v>
                </c:pt>
                <c:pt idx="2">
                  <c:v>85.55346967034137</c:v>
                </c:pt>
                <c:pt idx="3">
                  <c:v>88.45595675560526</c:v>
                </c:pt>
                <c:pt idx="4">
                  <c:v>91.27523033498429</c:v>
                </c:pt>
                <c:pt idx="5">
                  <c:v>94.62707035202641</c:v>
                </c:pt>
                <c:pt idx="6">
                  <c:v>96.5875805506737</c:v>
                </c:pt>
                <c:pt idx="7">
                  <c:v>96.84720668903446</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Sheet1!$D$2:$D$9</c:f>
              <c:numCache>
                <c:formatCode>General</c:formatCode>
                <c:ptCount val="8"/>
                <c:pt idx="0">
                  <c:v>0.5225808169569153</c:v>
                </c:pt>
                <c:pt idx="1">
                  <c:v>0.8221494381424083</c:v>
                </c:pt>
                <c:pt idx="2">
                  <c:v>84.89042445545083</c:v>
                </c:pt>
                <c:pt idx="3">
                  <c:v>87.5885391702615</c:v>
                </c:pt>
                <c:pt idx="4">
                  <c:v>91.03158118975342</c:v>
                </c:pt>
                <c:pt idx="5">
                  <c:v>92.96213452628216</c:v>
                </c:pt>
                <c:pt idx="6">
                  <c:v>95.87127869201683</c:v>
                </c:pt>
                <c:pt idx="7">
                  <c:v>97.75589817329711</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Sheet1!$E$2:$E$9</c:f>
              <c:numCache>
                <c:formatCode>General</c:formatCode>
                <c:ptCount val="8"/>
                <c:pt idx="0">
                  <c:v>0.5525376790754647</c:v>
                </c:pt>
                <c:pt idx="1">
                  <c:v>0.8687490014379293</c:v>
                </c:pt>
                <c:pt idx="2">
                  <c:v>84.16746551632316</c:v>
                </c:pt>
                <c:pt idx="3">
                  <c:v>86.48679235234596</c:v>
                </c:pt>
                <c:pt idx="4">
                  <c:v>90.26268839537734</c:v>
                </c:pt>
                <c:pt idx="5">
                  <c:v>92.648586036108</c:v>
                </c:pt>
                <c:pt idx="6">
                  <c:v>95.53110187995954</c:v>
                </c:pt>
                <c:pt idx="7">
                  <c:v>97.78984928369815</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Sheet1!$F$2:$F$9</c:f>
              <c:numCache>
                <c:formatCode>General</c:formatCode>
                <c:ptCount val="8"/>
                <c:pt idx="0">
                  <c:v>0.5092666560153379</c:v>
                </c:pt>
                <c:pt idx="1">
                  <c:v>60.34310592746445</c:v>
                </c:pt>
                <c:pt idx="2">
                  <c:v>62.41345795387975</c:v>
                </c:pt>
                <c:pt idx="3">
                  <c:v>64.93981999254407</c:v>
                </c:pt>
                <c:pt idx="4">
                  <c:v>67.02814613623049</c:v>
                </c:pt>
                <c:pt idx="5">
                  <c:v>67.38762848165308</c:v>
                </c:pt>
                <c:pt idx="6">
                  <c:v>67.38762848165308</c:v>
                </c:pt>
                <c:pt idx="7">
                  <c:v>67.38762848165308</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Allocation (% of tuning-estimated GPT-4 cost)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MMLU subset · full learning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Sheet1!$B$2:$B$9</c:f>
              <c:numCache>
                <c:formatCode>General</c:formatCode>
                <c:ptCount val="8"/>
                <c:pt idx="0">
                  <c:v>0.324254215304799</c:v>
                </c:pt>
                <c:pt idx="1">
                  <c:v>0.5512321660181583</c:v>
                </c:pt>
                <c:pt idx="2">
                  <c:v>1.7185473411154344</c:v>
                </c:pt>
                <c:pt idx="3">
                  <c:v>20.1686121919585</c:v>
                </c:pt>
                <c:pt idx="4">
                  <c:v>83.52788586251621</c:v>
                </c:pt>
                <c:pt idx="5">
                  <c:v>92.67185473411153</c:v>
                </c:pt>
                <c:pt idx="6">
                  <c:v>98.44357976653697</c:v>
                </c:pt>
                <c:pt idx="7">
                  <c:v>98.99481193255512</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Sheet1!$C$2:$C$9</c:f>
              <c:numCache>
                <c:formatCode>General</c:formatCode>
                <c:ptCount val="8"/>
                <c:pt idx="0">
                  <c:v>0.42153047989623865</c:v>
                </c:pt>
                <c:pt idx="1">
                  <c:v>0.940337224383917</c:v>
                </c:pt>
                <c:pt idx="2">
                  <c:v>1.621271076523995</c:v>
                </c:pt>
                <c:pt idx="3">
                  <c:v>19.779507133592737</c:v>
                </c:pt>
                <c:pt idx="4">
                  <c:v>86.96498054474708</c:v>
                </c:pt>
                <c:pt idx="5">
                  <c:v>90.40207522697796</c:v>
                </c:pt>
                <c:pt idx="6">
                  <c:v>95.1686121919585</c:v>
                </c:pt>
                <c:pt idx="7">
                  <c:v>97.47081712062257</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Sheet1!$D$2:$D$9</c:f>
              <c:numCache>
                <c:formatCode>General</c:formatCode>
                <c:ptCount val="8"/>
                <c:pt idx="0">
                  <c:v>0.38910505836575876</c:v>
                </c:pt>
                <c:pt idx="1">
                  <c:v>0.7133592736705577</c:v>
                </c:pt>
                <c:pt idx="2">
                  <c:v>2.4643320363164722</c:v>
                </c:pt>
                <c:pt idx="3">
                  <c:v>19.682230869001298</c:v>
                </c:pt>
                <c:pt idx="4">
                  <c:v>86.60830090791181</c:v>
                </c:pt>
                <c:pt idx="5">
                  <c:v>90.33722438391699</c:v>
                </c:pt>
                <c:pt idx="6">
                  <c:v>95.00648508430608</c:v>
                </c:pt>
                <c:pt idx="7">
                  <c:v>98.24902723735408</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Sheet1!$E$2:$E$9</c:f>
              <c:numCache>
                <c:formatCode>General</c:formatCode>
                <c:ptCount val="8"/>
                <c:pt idx="0">
                  <c:v>0.648508430609598</c:v>
                </c:pt>
                <c:pt idx="1">
                  <c:v>0.940337224383917</c:v>
                </c:pt>
                <c:pt idx="2">
                  <c:v>2.529182879377432</c:v>
                </c:pt>
                <c:pt idx="3">
                  <c:v>21.46562905317769</c:v>
                </c:pt>
                <c:pt idx="4">
                  <c:v>85.34370946822308</c:v>
                </c:pt>
                <c:pt idx="5">
                  <c:v>89.62386511024644</c:v>
                </c:pt>
                <c:pt idx="6">
                  <c:v>95.42801556420234</c:v>
                </c:pt>
                <c:pt idx="7">
                  <c:v>98.11932555123218</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Sheet1!$F$2:$F$9</c:f>
              <c:numCache>
                <c:formatCode>General</c:formatCode>
                <c:ptCount val="8"/>
                <c:pt idx="0">
                  <c:v>0.940337224383917</c:v>
                </c:pt>
                <c:pt idx="1">
                  <c:v>2.1725032425421533</c:v>
                </c:pt>
                <c:pt idx="2">
                  <c:v>53.56679636835279</c:v>
                </c:pt>
                <c:pt idx="3">
                  <c:v>55.350194552529175</c:v>
                </c:pt>
                <c:pt idx="4">
                  <c:v>58.268482490272376</c:v>
                </c:pt>
                <c:pt idx="5">
                  <c:v>58.62516212710766</c:v>
                </c:pt>
                <c:pt idx="6">
                  <c:v>58.62516212710766</c:v>
                </c:pt>
                <c:pt idx="7">
                  <c:v>58.62516212710766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Allocation (% of tuning-estimated GPT-4 cost)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RouterBench · learning stream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Sheet1!$B$2:$B$5</c:f>
              <c:numCache>
                <c:formatCode>General</c:formatCode>
                <c:ptCount val="4"/>
                <c:pt idx="0">
                  <c:v>527.7</c:v>
                </c:pt>
                <c:pt idx="1">
                  <c:v>1182.5499999999995</c:v>
                </c:pt>
                <c:pt idx="2">
                  <c:v>2234.916666666666</c:v>
                </c:pt>
                <c:pt idx="3">
                  <c:v>4275.383333333332</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Sheet1!$C$2:$C$5</c:f>
              <c:numCache>
                <c:formatCode>General</c:formatCode>
                <c:ptCount val="4"/>
                <c:pt idx="0">
                  <c:v>686.1</c:v>
                </c:pt>
                <c:pt idx="1">
                  <c:v>1749.55</c:v>
                </c:pt>
                <c:pt idx="2">
                  <c:v>3440.3666666666663</c:v>
                </c:pt>
                <c:pt idx="3">
                  <c:v>6825.583333333333</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Sheet1!$D$2:$D$5</c:f>
              <c:numCache>
                <c:formatCode>General</c:formatCode>
                <c:ptCount val="4"/>
                <c:pt idx="0">
                  <c:v>1158.1333333333334</c:v>
                </c:pt>
                <c:pt idx="1">
                  <c:v>2900.683333333333</c:v>
                </c:pt>
                <c:pt idx="2">
                  <c:v>5847.450000000002</c:v>
                </c:pt>
                <c:pt idx="3">
                  <c:v>11764.516666666668</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Sheet1!$E$2:$E$5</c:f>
              <c:numCache>
                <c:formatCode>General</c:formatCode>
                <c:ptCount val="4"/>
                <c:pt idx="0">
                  <c:v>654.5166666666667</c:v>
                </c:pt>
                <c:pt idx="1">
                  <c:v>1319.6333333333334</c:v>
                </c:pt>
                <c:pt idx="2">
                  <c:v>2449.3666666666663</c:v>
                </c:pt>
                <c:pt idx="3">
                  <c:v>4746.966666666666</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Sheet1!$F$2:$F$5</c:f>
              <c:numCache>
                <c:formatCode>General</c:formatCode>
                <c:ptCount val="4"/>
                <c:pt idx="0">
                  <c:v>1162.3166666666668</c:v>
                </c:pt>
                <c:pt idx="1">
                  <c:v>2892.316666666667</c:v>
                </c:pt>
                <c:pt idx="2">
                  <c:v>5834.883333333335</c:v>
                </c:pt>
                <c:pt idx="3">
                  <c:v>11760.200000000003</c:v>
                </c:pt>
              </c:numCache>
            </c:numRef>
          </c:val>
          <c:smooth val="0"/>
        </c:ser>
        <c:ser>
          <c:idx val="5"/>
          <c:order val="5"/>
          <c:tx>
            <c:strRef>
              <c:f>Sheet1!$G$1</c:f>
              <c:strCache>
                <c:ptCount val="1"/>
                <c:pt idx="0">
                  <c:v>Always GPT-4</c:v>
                </c:pt>
              </c:strCache>
            </c:strRef>
          </c:tx>
          <c:spPr>
            <a:solidFill>
              <a:srgbClr val="7A5195"/>
            </a:solidFill>
            <a:ln w="28575" cap="flat">
              <a:solidFill>
                <a:srgbClr val="7A519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7A5195"/>
              </a:solidFill>
              <a:ln w="9525" cap="flat">
                <a:solidFill>
                  <a:srgbClr val="7A5195"/>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Sheet1!$G$2:$G$5</c:f>
              <c:numCache>
                <c:formatCode>General</c:formatCode>
                <c:ptCount val="4"/>
                <c:pt idx="0">
                  <c:v>367.25</c:v>
                </c:pt>
                <c:pt idx="1">
                  <c:v>915.85</c:v>
                </c:pt>
                <c:pt idx="2">
                  <c:v>1828.5999999999997</c:v>
                </c:pt>
                <c:pt idx="3">
                  <c:v>3675.0499999999993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Share of the learning stream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Cumulative oracle regret</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MMLU subset · learning stream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Sheet1!$B$2:$B$5</c:f>
              <c:numCache>
                <c:formatCode>General</c:formatCode>
                <c:ptCount val="4"/>
                <c:pt idx="0">
                  <c:v>264.3333333333333</c:v>
                </c:pt>
                <c:pt idx="1">
                  <c:v>564</c:v>
                </c:pt>
                <c:pt idx="2">
                  <c:v>979.3333333333334</c:v>
                </c:pt>
                <c:pt idx="3">
                  <c:v>1758.3333333333333</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Sheet1!$C$2:$C$5</c:f>
              <c:numCache>
                <c:formatCode>General</c:formatCode>
                <c:ptCount val="4"/>
                <c:pt idx="0">
                  <c:v>213.33333333333334</c:v>
                </c:pt>
                <c:pt idx="1">
                  <c:v>622</c:v>
                </c:pt>
                <c:pt idx="2">
                  <c:v>1329</c:v>
                </c:pt>
                <c:pt idx="3">
                  <c:v>2749.3333333333335</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Sheet1!$D$2:$D$5</c:f>
              <c:numCache>
                <c:formatCode>General</c:formatCode>
                <c:ptCount val="4"/>
                <c:pt idx="0">
                  <c:v>548</c:v>
                </c:pt>
                <c:pt idx="1">
                  <c:v>1363.6666666666667</c:v>
                </c:pt>
                <c:pt idx="2">
                  <c:v>2740.3333333333335</c:v>
                </c:pt>
                <c:pt idx="3">
                  <c:v>5508.333333333333</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Sheet1!$E$2:$E$5</c:f>
              <c:numCache>
                <c:formatCode>General</c:formatCode>
                <c:ptCount val="4"/>
                <c:pt idx="0">
                  <c:v>477</c:v>
                </c:pt>
                <c:pt idx="1">
                  <c:v>830.6666666666666</c:v>
                </c:pt>
                <c:pt idx="2">
                  <c:v>1328.6666666666667</c:v>
                </c:pt>
                <c:pt idx="3">
                  <c:v>2274.3333333333335</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Sheet1!$F$2:$F$5</c:f>
              <c:numCache>
                <c:formatCode>General</c:formatCode>
                <c:ptCount val="4"/>
                <c:pt idx="0">
                  <c:v>552.3333333333334</c:v>
                </c:pt>
                <c:pt idx="1">
                  <c:v>1365.3333333333333</c:v>
                </c:pt>
                <c:pt idx="2">
                  <c:v>2758.6666666666665</c:v>
                </c:pt>
                <c:pt idx="3">
                  <c:v>5526</c:v>
                </c:pt>
              </c:numCache>
            </c:numRef>
          </c:val>
          <c:smooth val="0"/>
        </c:ser>
        <c:ser>
          <c:idx val="5"/>
          <c:order val="5"/>
          <c:tx>
            <c:strRef>
              <c:f>Sheet1!$G$1</c:f>
              <c:strCache>
                <c:ptCount val="1"/>
                <c:pt idx="0">
                  <c:v>Always GPT-4</c:v>
                </c:pt>
              </c:strCache>
            </c:strRef>
          </c:tx>
          <c:spPr>
            <a:solidFill>
              <a:srgbClr val="7A5195"/>
            </a:solidFill>
            <a:ln w="28575" cap="flat">
              <a:solidFill>
                <a:srgbClr val="7A519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7A5195"/>
              </a:solidFill>
              <a:ln w="9525" cap="flat">
                <a:solidFill>
                  <a:srgbClr val="7A5195"/>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Sheet1!$G$2:$G$5</c:f>
              <c:numCache>
                <c:formatCode>General</c:formatCode>
                <c:ptCount val="4"/>
                <c:pt idx="0">
                  <c:v>134</c:v>
                </c:pt>
                <c:pt idx="1">
                  <c:v>359</c:v>
                </c:pt>
                <c:pt idx="2">
                  <c:v>712</c:v>
                </c:pt>
                <c:pt idx="3">
                  <c:v>1416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Share of the learning stream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Cumulative oracle regret</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RouterBench · 50% allocation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Sheet1!$B$2:$B$5</c:f>
              <c:numCache>
                <c:formatCode>General</c:formatCode>
                <c:ptCount val="4"/>
                <c:pt idx="0">
                  <c:v>86.10267880918144</c:v>
                </c:pt>
                <c:pt idx="1">
                  <c:v>85.80843585237258</c:v>
                </c:pt>
                <c:pt idx="2">
                  <c:v>86.00615114235501</c:v>
                </c:pt>
                <c:pt idx="3">
                  <c:v>86.59530276401982</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Sheet1!$C$2:$C$5</c:f>
              <c:numCache>
                <c:formatCode>General</c:formatCode>
                <c:ptCount val="4"/>
                <c:pt idx="0">
                  <c:v>90.06031314906537</c:v>
                </c:pt>
                <c:pt idx="1">
                  <c:v>90.32726207594396</c:v>
                </c:pt>
                <c:pt idx="2">
                  <c:v>91.02226127709433</c:v>
                </c:pt>
                <c:pt idx="3">
                  <c:v>91.27523033498429</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Sheet1!$D$2:$D$5</c:f>
              <c:numCache>
                <c:formatCode>General</c:formatCode>
                <c:ptCount val="4"/>
                <c:pt idx="0">
                  <c:v>90.01571070991106</c:v>
                </c:pt>
                <c:pt idx="1">
                  <c:v>90.26867976780105</c:v>
                </c:pt>
                <c:pt idx="2">
                  <c:v>90.87913404697238</c:v>
                </c:pt>
                <c:pt idx="3">
                  <c:v>91.03158118975342</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Sheet1!$E$2:$E$5</c:f>
              <c:numCache>
                <c:formatCode>General</c:formatCode>
                <c:ptCount val="4"/>
                <c:pt idx="0">
                  <c:v>80.61325025296907</c:v>
                </c:pt>
                <c:pt idx="1">
                  <c:v>87.18245726154338</c:v>
                </c:pt>
                <c:pt idx="2">
                  <c:v>89.20288118442775</c:v>
                </c:pt>
                <c:pt idx="3">
                  <c:v>90.26268839537734</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Sheet1!$F$2:$F$5</c:f>
              <c:numCache>
                <c:formatCode>General</c:formatCode>
                <c:ptCount val="4"/>
                <c:pt idx="0">
                  <c:v>67.02814613623049</c:v>
                </c:pt>
                <c:pt idx="1">
                  <c:v>67.02814613623049</c:v>
                </c:pt>
                <c:pt idx="2">
                  <c:v>67.02814613623049</c:v>
                </c:pt>
                <c:pt idx="3">
                  <c:v>67.02814613623049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Share of the learning stream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MMLU subset · 50% allocation · 3-seed mean</a:t>
            </a:r>
          </a:p>
        </c:rich>
      </c:tx>
      <c:layout/>
      <c:overlay val="0"/>
    </c:title>
    <c:autoTitleDeleted val="0"/>
    <c:plotArea>
      <c:layout/>
      <c:lineChart>
        <c:varyColors val="0"/>
        <c:ser>
          <c:idx val="0"/>
          <c:order val="0"/>
          <c:tx>
            <c:strRef>
              <c:f>Sheet1!$B$1</c:f>
              <c:strCache>
                <c:ptCount val="1"/>
                <c:pt idx="0">
                  <c:v>PILOT</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Sheet1!$B$2:$B$5</c:f>
              <c:numCache>
                <c:formatCode>General</c:formatCode>
                <c:ptCount val="4"/>
                <c:pt idx="0">
                  <c:v>82.00389105058366</c:v>
                </c:pt>
                <c:pt idx="1">
                  <c:v>82.1011673151751</c:v>
                </c:pt>
                <c:pt idx="2">
                  <c:v>83.10635538261998</c:v>
                </c:pt>
                <c:pt idx="3">
                  <c:v>83.52788586251621</c:v>
                </c:pt>
              </c:numCache>
            </c:numRef>
          </c:val>
          <c:smooth val="0"/>
        </c:ser>
        <c:ser>
          <c:idx val="1"/>
          <c:order val="1"/>
          <c:tx>
            <c:strRef>
              <c:f>Sheet1!$C$1</c:f>
              <c:strCache>
                <c:ptCount val="1"/>
                <c:pt idx="0">
                  <c:v>LinUCB</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Sheet1!$C$2:$C$5</c:f>
              <c:numCache>
                <c:formatCode>General</c:formatCode>
                <c:ptCount val="4"/>
                <c:pt idx="0">
                  <c:v>86.64072632944229</c:v>
                </c:pt>
                <c:pt idx="1">
                  <c:v>87.19195849546044</c:v>
                </c:pt>
                <c:pt idx="2">
                  <c:v>86.83527885862516</c:v>
                </c:pt>
                <c:pt idx="3">
                  <c:v>86.96498054474708</c:v>
                </c:pt>
              </c:numCache>
            </c:numRef>
          </c:val>
          <c:smooth val="0"/>
        </c:ser>
        <c:ser>
          <c:idx val="2"/>
          <c:order val="2"/>
          <c:tx>
            <c:strRef>
              <c:f>Sheet1!$D$1</c:f>
              <c:strCache>
                <c:ptCount val="1"/>
                <c:pt idx="0">
                  <c:v>ExploreOnly</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Sheet1!$D$2:$D$5</c:f>
              <c:numCache>
                <c:formatCode>General</c:formatCode>
                <c:ptCount val="4"/>
                <c:pt idx="0">
                  <c:v>85.7976653696498</c:v>
                </c:pt>
                <c:pt idx="1">
                  <c:v>85.92736705577173</c:v>
                </c:pt>
                <c:pt idx="2">
                  <c:v>85.99221789883268</c:v>
                </c:pt>
                <c:pt idx="3">
                  <c:v>86.60830090791181</c:v>
                </c:pt>
              </c:numCache>
            </c:numRef>
          </c:val>
          <c:smooth val="0"/>
        </c:ser>
        <c:ser>
          <c:idx val="3"/>
          <c:order val="3"/>
          <c:tx>
            <c:strRef>
              <c:f>Sheet1!$E$1</c:f>
              <c:strCache>
                <c:ptCount val="1"/>
                <c:pt idx="0">
                  <c:v>EpochGreedy</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Sheet1!$E$2:$E$5</c:f>
              <c:numCache>
                <c:formatCode>General</c:formatCode>
                <c:ptCount val="4"/>
                <c:pt idx="0">
                  <c:v>73.34630350194553</c:v>
                </c:pt>
                <c:pt idx="1">
                  <c:v>81.67963683527887</c:v>
                </c:pt>
                <c:pt idx="2">
                  <c:v>84.3709468223087</c:v>
                </c:pt>
                <c:pt idx="3">
                  <c:v>85.34370946822308</c:v>
                </c:pt>
              </c:numCache>
            </c:numRef>
          </c:val>
          <c:smooth val="0"/>
        </c:ser>
        <c:ser>
          <c:idx val="4"/>
          <c:order val="4"/>
          <c:tx>
            <c:strRef>
              <c:f>Sheet1!$F$1</c:f>
              <c:strCache>
                <c:ptCount val="1"/>
                <c:pt idx="0">
                  <c:v>Random</c:v>
                </c:pt>
              </c:strCache>
            </c:strRef>
          </c:tx>
          <c:spPr>
            <a:solidFill>
              <a:srgbClr val="D6DCE4"/>
            </a:solidFill>
            <a:ln w="28575" cap="flat">
              <a:solidFill>
                <a:srgbClr val="D6DCE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D6DCE4"/>
              </a:solidFill>
              <a:ln w="9525" cap="flat">
                <a:solidFill>
                  <a:srgbClr val="D6DCE4"/>
                </a:solidFill>
                <a:prstDash val="solid"/>
                <a:round/>
              </a:ln>
              <a:effectLst/>
            </c:spPr>
          </c:marker>
          <c:cat>
            <c:multiLvlStrRef>
              <c:f>Sheet1!$A$2:$A$5</c:f>
              <c:multiLvlStrCache>
                <c:ptCount val="4"/>
                <c:lvl>
                  <c:pt idx="0">
                    <c:v>10%</c:v>
                  </c:pt>
                  <c:pt idx="1">
                    <c:v>25%</c:v>
                  </c:pt>
                  <c:pt idx="2">
                    <c:v>50%</c:v>
                  </c:pt>
                  <c:pt idx="3">
                    <c:v>100%</c:v>
                  </c:pt>
                </c:lvl>
              </c:multiLvlStrCache>
            </c:multiLvlStrRef>
          </c:cat>
          <c:val>
            <c:numRef>
              <c:f>Sheet1!$F$2:$F$5</c:f>
              <c:numCache>
                <c:formatCode>General</c:formatCode>
                <c:ptCount val="4"/>
                <c:pt idx="0">
                  <c:v>58.268482490272376</c:v>
                </c:pt>
                <c:pt idx="1">
                  <c:v>58.268482490272376</c:v>
                </c:pt>
                <c:pt idx="2">
                  <c:v>58.268482490272376</c:v>
                </c:pt>
                <c:pt idx="3">
                  <c:v>58.268482490272376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Share of the learning stream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Δ quality vs main PILOT (pp) · 50% allocation · full learning · 3-seed paired mean</a:t>
            </a:r>
          </a:p>
        </c:rich>
      </c:tx>
      <c:layout/>
      <c:overlay val="0"/>
    </c:title>
    <c:autoTitleDeleted val="0"/>
    <c:plotArea>
      <c:layout/>
      <c:barChart>
        <c:barDir val="bar"/>
        <c:grouping val="clustered"/>
        <c:varyColors val="0"/>
        <c:ser>
          <c:idx val="0"/>
          <c:order val="0"/>
          <c:tx>
            <c:strRef>
              <c:f>Sheet1!$B$1</c:f>
              <c:strCache>
                <c:ptCount val="1"/>
                <c:pt idx="0">
                  <c:v>RouterBench</c:v>
                </c:pt>
              </c:strCache>
            </c:strRef>
          </c:tx>
          <c:spPr>
            <a:solidFill>
              <a:srgbClr val="0E7C7B"/>
            </a:solidFill>
            <a:effectLst/>
          </c:spPr>
          <c:invertIfNegative val="0"/>
          <c:dLbls>
            <c:numFmt formatCode="+0.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Projection d = 8</c:v>
                  </c:pt>
                  <c:pt idx="1">
                    <c:v>Single budget bin</c:v>
                  </c:pt>
                  <c:pt idx="2">
                    <c:v>Prior only (no online updates)</c:v>
                  </c:pt>
                  <c:pt idx="3">
                    <c:v>Unit prior strength (λ = 1)</c:v>
                  </c:pt>
                  <c:pt idx="4">
                    <c:v>Zero prior directions</c:v>
                  </c:pt>
                </c:lvl>
              </c:multiLvlStrCache>
            </c:multiLvlStrRef>
          </c:cat>
          <c:val>
            <c:numRef>
              <c:f>Sheet1!$B$2:$B$6</c:f>
              <c:numCache>
                <c:formatCode>General</c:formatCode>
                <c:ptCount val="5"/>
                <c:pt idx="0">
                  <c:v>-0.9033658198860336</c:v>
                </c:pt>
                <c:pt idx="1">
                  <c:v>-0.35482238909304575</c:v>
                </c:pt>
                <c:pt idx="2">
                  <c:v>-6.7030143260371755</c:v>
                </c:pt>
                <c:pt idx="3">
                  <c:v>1.5504340416466942</c:v>
                </c:pt>
                <c:pt idx="4">
                  <c:v>2.142248495499806</c:v>
                </c:pt>
              </c:numCache>
            </c:numRef>
          </c:val>
        </c:ser>
        <c:ser>
          <c:idx val="1"/>
          <c:order val="1"/>
          <c:tx>
            <c:strRef>
              <c:f>Sheet1!$C$1</c:f>
              <c:strCache>
                <c:ptCount val="1"/>
                <c:pt idx="0">
                  <c:v>MMLU subset</c:v>
                </c:pt>
              </c:strCache>
            </c:strRef>
          </c:tx>
          <c:spPr>
            <a:solidFill>
              <a:srgbClr val="C77700"/>
            </a:solidFill>
            <a:effectLst/>
          </c:spPr>
          <c:invertIfNegative val="0"/>
          <c:dLbls>
            <c:numFmt formatCode="+0.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Projection d = 8</c:v>
                  </c:pt>
                  <c:pt idx="1">
                    <c:v>Single budget bin</c:v>
                  </c:pt>
                  <c:pt idx="2">
                    <c:v>Prior only (no online updates)</c:v>
                  </c:pt>
                  <c:pt idx="3">
                    <c:v>Unit prior strength (λ = 1)</c:v>
                  </c:pt>
                  <c:pt idx="4">
                    <c:v>Zero prior directions</c:v>
                  </c:pt>
                </c:lvl>
              </c:multiLvlStrCache>
            </c:multiLvlStrRef>
          </c:cat>
          <c:val>
            <c:numRef>
              <c:f>Sheet1!$C$2:$C$6</c:f>
              <c:numCache>
                <c:formatCode>General</c:formatCode>
                <c:ptCount val="5"/>
                <c:pt idx="0">
                  <c:v>1.6536964980544762</c:v>
                </c:pt>
                <c:pt idx="1">
                  <c:v>-0.6160830090791196</c:v>
                </c:pt>
                <c:pt idx="2">
                  <c:v>-13.878080415045394</c:v>
                </c:pt>
                <c:pt idx="3">
                  <c:v>0.3242542153048015</c:v>
                </c:pt>
                <c:pt idx="4">
                  <c:v>-0.45395590142672065</c:v>
                </c:pt>
              </c:numCache>
            </c:numRef>
          </c:val>
        </c:ser>
        <c:dLbls>
          <c:numFmt formatCode="+0.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title>
          <c:tx>
            <c:rich>
              <a:bodyPr/>
              <a:lstStyle/>
              <a:p>
                <a:pPr>
                  <a:defRPr sz="1100" b="0" i="0" u="none" strike="noStrike">
                    <a:solidFill>
                      <a:srgbClr val="1F2933"/>
                    </a:solidFill>
                    <a:latin typeface="+mn-lt"/>
                  </a:defRPr>
                </a:pPr>
                <a:r>
                  <a:rPr sz="1100" b="0" i="0" u="none" strike="noStrike">
                    <a:solidFill>
                      <a:srgbClr val="1F2933"/>
                    </a:solidFill>
                    <a:latin typeface="+mn-lt"/>
                  </a:rPr>
                  <a:t>Variant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4"/>
          <c:min val="-16"/>
        </c:scaling>
        <c:delete val="0"/>
        <c:axPos val="b"/>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Δ quality / GPT-4 (percentage points)</a:t>
                </a:r>
              </a:p>
            </c:rich>
          </c:tx>
          <c:layout/>
          <c:overlay val="0"/>
        </c:title>
        <c:numFmt formatCode="+0;-0;0" sourceLinked="0"/>
        <c:majorTickMark val="out"/>
        <c:minorTickMark val="none"/>
        <c:tickLblPos val="low"/>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MMLU subset · same frozen PILOT scores · 3-seed mean</a:t>
            </a:r>
          </a:p>
        </c:rich>
      </c:tx>
      <c:layout/>
      <c:overlay val="0"/>
    </c:title>
    <c:autoTitleDeleted val="0"/>
    <c:plotArea>
      <c:layout/>
      <c:lineChart>
        <c:varyColors val="0"/>
        <c:ser>
          <c:idx val="0"/>
          <c:order val="0"/>
          <c:tx>
            <c:strRef>
              <c:f>Sheet1!$B$1</c:f>
              <c:strCache>
                <c:ptCount val="1"/>
                <c:pt idx="0">
                  <c:v>Guarded stop (main)</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0E7C7B"/>
              </a:solidFill>
              <a:ln w="9525" cap="flat">
                <a:solidFill>
                  <a:srgbClr val="0E7C7B"/>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Sheet1!$B$2:$B$9</c:f>
              <c:numCache>
                <c:formatCode>General</c:formatCode>
                <c:ptCount val="8"/>
                <c:pt idx="0">
                  <c:v>0.324254215304799</c:v>
                </c:pt>
                <c:pt idx="1">
                  <c:v>0.5512321660181583</c:v>
                </c:pt>
                <c:pt idx="2">
                  <c:v>1.7185473411154344</c:v>
                </c:pt>
                <c:pt idx="3">
                  <c:v>20.1686121919585</c:v>
                </c:pt>
                <c:pt idx="4">
                  <c:v>83.52788586251621</c:v>
                </c:pt>
                <c:pt idx="5">
                  <c:v>92.67185473411153</c:v>
                </c:pt>
                <c:pt idx="6">
                  <c:v>98.44357976653697</c:v>
                </c:pt>
                <c:pt idx="7">
                  <c:v>98.99481193255512</c:v>
                </c:pt>
              </c:numCache>
            </c:numRef>
          </c:val>
          <c:smooth val="0"/>
        </c:ser>
        <c:ser>
          <c:idx val="1"/>
          <c:order val="1"/>
          <c:tx>
            <c:strRef>
              <c:f>Sheet1!$C$1</c:f>
              <c:strCache>
                <c:ptCount val="1"/>
                <c:pt idx="0">
                  <c:v>Guarded skip</c:v>
                </c:pt>
              </c:strCache>
            </c:strRef>
          </c:tx>
          <c:spPr>
            <a:solidFill>
              <a:srgbClr val="C77700"/>
            </a:solidFill>
            <a:ln w="28575" cap="flat">
              <a:solidFill>
                <a:srgbClr val="C7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C77700"/>
              </a:solidFill>
              <a:ln w="9525" cap="flat">
                <a:solidFill>
                  <a:srgbClr val="C7770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Sheet1!$C$2:$C$9</c:f>
              <c:numCache>
                <c:formatCode>General</c:formatCode>
                <c:ptCount val="8"/>
                <c:pt idx="0">
                  <c:v>26.977950713359274</c:v>
                </c:pt>
                <c:pt idx="1">
                  <c:v>50.06485084306096</c:v>
                </c:pt>
                <c:pt idx="2">
                  <c:v>68.90402075226977</c:v>
                </c:pt>
                <c:pt idx="3">
                  <c:v>75.29182879377431</c:v>
                </c:pt>
                <c:pt idx="4">
                  <c:v>83.52788586251621</c:v>
                </c:pt>
                <c:pt idx="5">
                  <c:v>92.67185473411153</c:v>
                </c:pt>
                <c:pt idx="6">
                  <c:v>98.44357976653697</c:v>
                </c:pt>
                <c:pt idx="7">
                  <c:v>98.99481193255512</c:v>
                </c:pt>
              </c:numCache>
            </c:numRef>
          </c:val>
          <c:smooth val="0"/>
        </c:ser>
        <c:ser>
          <c:idx val="2"/>
          <c:order val="2"/>
          <c:tx>
            <c:strRef>
              <c:f>Sheet1!$D$1</c:f>
              <c:strCache>
                <c:ptCount val="1"/>
                <c:pt idx="0">
                  <c:v>Fixed per query</c:v>
                </c:pt>
              </c:strCache>
            </c:strRef>
          </c:tx>
          <c:spPr>
            <a:solidFill>
              <a:srgbClr val="3D5A80"/>
            </a:solidFill>
            <a:ln w="28575" cap="flat">
              <a:solidFill>
                <a:srgbClr val="3D5A8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Sheet1!$D$2:$D$9</c:f>
              <c:numCache>
                <c:formatCode>General</c:formatCode>
                <c:ptCount val="8"/>
                <c:pt idx="0">
                  <c:v>50.032425421530476</c:v>
                </c:pt>
                <c:pt idx="1">
                  <c:v>64.81841763942931</c:v>
                </c:pt>
                <c:pt idx="2">
                  <c:v>68.93644617380025</c:v>
                </c:pt>
                <c:pt idx="3">
                  <c:v>69.71465629053176</c:v>
                </c:pt>
                <c:pt idx="4">
                  <c:v>70.91439688715954</c:v>
                </c:pt>
                <c:pt idx="5">
                  <c:v>83.62516212710766</c:v>
                </c:pt>
                <c:pt idx="6">
                  <c:v>91.08300907911803</c:v>
                </c:pt>
                <c:pt idx="7">
                  <c:v>94.6498054474708</c:v>
                </c:pt>
              </c:numCache>
            </c:numRef>
          </c:val>
          <c:smooth val="0"/>
        </c:ser>
        <c:ser>
          <c:idx val="3"/>
          <c:order val="3"/>
          <c:tx>
            <c:strRef>
              <c:f>Sheet1!$E$1</c:f>
              <c:strCache>
                <c:ptCount val="1"/>
                <c:pt idx="0">
                  <c:v>Retrospective P − λC</c:v>
                </c:pt>
              </c:strCache>
            </c:strRef>
          </c:tx>
          <c:spPr>
            <a:solidFill>
              <a:srgbClr val="8D99AE"/>
            </a:solidFill>
            <a:ln w="28575" cap="flat">
              <a:solidFill>
                <a:srgbClr val="8D99AE"/>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8D99AE"/>
              </a:solidFill>
              <a:ln w="9525" cap="flat">
                <a:solidFill>
                  <a:srgbClr val="8D99AE"/>
                </a:solidFill>
                <a:prstDash val="solid"/>
                <a:round/>
              </a:ln>
              <a:effectLst/>
            </c:spPr>
          </c:marker>
          <c:cat>
            <c:multiLvlStrRef>
              <c:f>Sheet1!$A$2:$A$9</c:f>
              <c:multiLvlStrCache>
                <c:ptCount val="8"/>
                <c:lvl>
                  <c:pt idx="0">
                    <c:v>5%</c:v>
                  </c:pt>
                  <c:pt idx="1">
                    <c:v>10%</c:v>
                  </c:pt>
                  <c:pt idx="2">
                    <c:v>20%</c:v>
                  </c:pt>
                  <c:pt idx="3">
                    <c:v>30%</c:v>
                  </c:pt>
                  <c:pt idx="4">
                    <c:v>50%</c:v>
                  </c:pt>
                  <c:pt idx="5">
                    <c:v>75%</c:v>
                  </c:pt>
                  <c:pt idx="6">
                    <c:v>100%</c:v>
                  </c:pt>
                  <c:pt idx="7">
                    <c:v>125%</c:v>
                  </c:pt>
                </c:lvl>
              </c:multiLvlStrCache>
            </c:multiLvlStrRef>
          </c:cat>
          <c:val>
            <c:numRef>
              <c:f>Sheet1!$E$2:$E$9</c:f>
              <c:numCache>
                <c:formatCode>General</c:formatCode>
                <c:ptCount val="8"/>
                <c:pt idx="0">
                  <c:v>31.1284046692607</c:v>
                </c:pt>
                <c:pt idx="1">
                  <c:v>39.81841763942931</c:v>
                </c:pt>
                <c:pt idx="2">
                  <c:v>53.53437094682231</c:v>
                </c:pt>
                <c:pt idx="3">
                  <c:v>64.0402075226978</c:v>
                </c:pt>
                <c:pt idx="4">
                  <c:v>79.96108949416342</c:v>
                </c:pt>
                <c:pt idx="5">
                  <c:v>93.64461738002593</c:v>
                </c:pt>
                <c:pt idx="6">
                  <c:v>99.28664072632944</c:v>
                </c:pt>
                <c:pt idx="7">
                  <c:v>100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Allocation (% of tuning-estimated GPT-4 cost)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4213D"/>
                </a:solidFill>
                <a:latin typeface="+mn-lt"/>
              </a:defRPr>
            </a:pPr>
            <a:r>
              <a:rPr sz="1300" b="1" i="0" u="none" strike="noStrike">
                <a:solidFill>
                  <a:srgbClr val="14213D"/>
                </a:solidFill>
                <a:latin typeface="+mn-lt"/>
              </a:rPr>
              <a:t>Binary GPT-4 / Llama-2 pool · seed 42</a:t>
            </a:r>
          </a:p>
        </c:rich>
      </c:tx>
      <c:layout/>
      <c:overlay val="0"/>
    </c:title>
    <c:autoTitleDeleted val="0"/>
    <c:plotArea>
      <c:layout/>
      <c:scatterChart>
        <c:scatterStyle val="lineMarker"/>
        <c:varyColors val="0"/>
        <c:ser>
          <c:idx val="0"/>
          <c:order val="0"/>
          <c:tx>
            <c:strRef>
              <c:f>Sheet1!$B$1</c:f>
              <c:strCache>
                <c:ptCount val="1"/>
                <c:pt idx="0">
                  <c:v>Hybrid LLM, 21 thresholds</c:v>
                </c:pt>
              </c:strCache>
            </c:strRef>
          </c:tx>
          <c:spPr>
            <a:solidFill>
              <a:srgbClr val="3D5A80"/>
            </a:solidFill>
            <a:ln w="25400" cap="flat">
              <a:solidFill>
                <a:srgbClr val="3D5A80"/>
              </a:solidFill>
              <a:prstDash val="solid"/>
              <a:round/>
            </a:ln>
            <a:effectLst/>
          </c:spPr>
          <c:marker>
            <c:symbol val="circle"/>
            <c:size val="5"/>
            <c:spPr>
              <a:solidFill>
                <a:srgbClr val="3D5A80"/>
              </a:solidFill>
              <a:ln w="9525" cap="flat">
                <a:solidFill>
                  <a:srgbClr val="3D5A80"/>
                </a:solidFill>
                <a:prstDash val="solid"/>
                <a:round/>
              </a:ln>
              <a:effectLst/>
            </c:spPr>
          </c:marker>
          <c:xVal>
            <c:numRef>
              <c:f>Sheet1!$A$2:$A$30</c:f>
              <c:numCache>
                <c:formatCode>General</c:formatCode>
                <c:ptCount val="21"/>
                <c:pt idx="0">
                  <c:v>6.2321285824927</c:v>
                </c:pt>
                <c:pt idx="1">
                  <c:v>10.4403169184316</c:v>
                </c:pt>
                <c:pt idx="2">
                  <c:v>12.933062660893249</c:v>
                </c:pt>
                <c:pt idx="3">
                  <c:v>14.337178656255888</c:v>
                </c:pt>
                <c:pt idx="4">
                  <c:v>15.57123053843775</c:v>
                </c:pt>
                <c:pt idx="5">
                  <c:v>17.33015368208019</c:v>
                </c:pt>
                <c:pt idx="6">
                  <c:v>19.011405770282</c:v>
                </c:pt>
                <c:pt idx="7">
                  <c:v>20.1822893680491</c:v>
                </c:pt>
                <c:pt idx="8">
                  <c:v>21.08563613927025</c:v>
                </c:pt>
                <c:pt idx="9">
                  <c:v>22.14951860067263</c:v>
                </c:pt>
                <c:pt idx="10">
                  <c:v>23.11740265509176</c:v>
                </c:pt>
                <c:pt idx="11">
                  <c:v>24.49111634670708</c:v>
                </c:pt>
                <c:pt idx="12">
                  <c:v>77.04893835580376</c:v>
                </c:pt>
                <c:pt idx="13">
                  <c:v>81.35430262914781</c:v>
                </c:pt>
                <c:pt idx="14">
                  <c:v>86.5060422628114</c:v>
                </c:pt>
                <c:pt idx="15">
                  <c:v>91.65946011666168</c:v>
                </c:pt>
                <c:pt idx="16">
                  <c:v>94.61871086267028</c:v>
                </c:pt>
                <c:pt idx="17">
                  <c:v>97.97927259254864</c:v>
                </c:pt>
                <c:pt idx="18">
                  <c:v>98.23928566983771</c:v>
                </c:pt>
                <c:pt idx="19">
                  <c:v>99.49983007182936</c:v>
                </c:pt>
                <c:pt idx="20">
                  <c:v>100</c:v>
                </c:pt>
              </c:numCache>
            </c:numRef>
          </c:xVal>
          <c:yVal>
            <c:numRef>
              <c:f>Sheet1!$B$2:$B$30</c:f>
              <c:numCache>
                <c:formatCode>General</c:formatCode>
                <c:ptCount val="21"/>
                <c:pt idx="0">
                  <c:v>42.20322735261224</c:v>
                </c:pt>
                <c:pt idx="1">
                  <c:v>53.82648985460936</c:v>
                </c:pt>
                <c:pt idx="2">
                  <c:v>60.776481866112796</c:v>
                </c:pt>
                <c:pt idx="3">
                  <c:v>64.65090270011183</c:v>
                </c:pt>
                <c:pt idx="4">
                  <c:v>68.60520849976034</c:v>
                </c:pt>
                <c:pt idx="5">
                  <c:v>73.2385365074293</c:v>
                </c:pt>
                <c:pt idx="6">
                  <c:v>76.63364754753155</c:v>
                </c:pt>
                <c:pt idx="7">
                  <c:v>78.39111679181978</c:v>
                </c:pt>
                <c:pt idx="8">
                  <c:v>79.66927624221121</c:v>
                </c:pt>
                <c:pt idx="9">
                  <c:v>80.74772327847899</c:v>
                </c:pt>
                <c:pt idx="10">
                  <c:v>81.66640038344784</c:v>
                </c:pt>
                <c:pt idx="11">
                  <c:v>83.38392714491133</c:v>
                </c:pt>
                <c:pt idx="12">
                  <c:v>89.15561591308516</c:v>
                </c:pt>
                <c:pt idx="13">
                  <c:v>92.17127336635245</c:v>
                </c:pt>
                <c:pt idx="14">
                  <c:v>95.64626937210417</c:v>
                </c:pt>
                <c:pt idx="15">
                  <c:v>98.00287585876339</c:v>
                </c:pt>
                <c:pt idx="16">
                  <c:v>99.28103530915482</c:v>
                </c:pt>
                <c:pt idx="17">
                  <c:v>99.76034510305159</c:v>
                </c:pt>
                <c:pt idx="18">
                  <c:v>99.86020131011344</c:v>
                </c:pt>
                <c:pt idx="19">
                  <c:v>99.92011503435052</c:v>
                </c:pt>
                <c:pt idx="20">
                  <c:v>100</c:v>
                </c:pt>
              </c:numCache>
            </c:numRef>
          </c:yVal>
          <c:smooth val="0"/>
        </c:ser>
        <c:ser>
          <c:idx val="1"/>
          <c:order val="1"/>
          <c:tx>
            <c:strRef>
              <c:f>Sheet1!$C$1</c:f>
              <c:strCache>
                <c:ptCount val="1"/>
                <c:pt idx="0">
                  <c:v>PILOT, 8 allocations</c:v>
                </c:pt>
              </c:strCache>
            </c:strRef>
          </c:tx>
          <c:spPr>
            <a:solidFill>
              <a:srgbClr val="0E7C7B"/>
            </a:solidFill>
            <a:ln w="25400" cap="flat">
              <a:solidFill>
                <a:srgbClr val="0E7C7B"/>
              </a:solidFill>
              <a:prstDash val="solid"/>
              <a:round/>
            </a:ln>
            <a:effectLst/>
          </c:spPr>
          <c:marker>
            <c:symbol val="circle"/>
            <c:size val="5"/>
            <c:spPr>
              <a:solidFill>
                <a:srgbClr val="0E7C7B"/>
              </a:solidFill>
              <a:ln w="9525" cap="flat">
                <a:solidFill>
                  <a:srgbClr val="0E7C7B"/>
                </a:solidFill>
                <a:prstDash val="solid"/>
                <a:round/>
              </a:ln>
              <a:effectLst/>
            </c:spPr>
          </c:marker>
          <c:xVal>
            <c:numRef>
              <c:f>Sheet1!$A$2:$A$30</c:f>
              <c:numCache>
                <c:formatCode>General</c:formatCode>
                <c:ptCount val="8"/>
                <c:pt idx="0">
                  <c:v>0.044707862361049996</c:v>
                </c:pt>
                <c:pt idx="1">
                  <c:v>0.10435025690267001</c:v>
                </c:pt>
                <c:pt idx="2">
                  <c:v>0.3167461100809</c:v>
                </c:pt>
                <c:pt idx="3">
                  <c:v>5.0450419746515</c:v>
                </c:pt>
                <c:pt idx="4">
                  <c:v>46.157340083231304</c:v>
                </c:pt>
                <c:pt idx="5">
                  <c:v>67.34658358216244</c:v>
                </c:pt>
                <c:pt idx="6">
                  <c:v>92.28654389077114</c:v>
                </c:pt>
                <c:pt idx="7">
                  <c:v>93.09232125710469</c:v>
                </c:pt>
              </c:numCache>
            </c:numRef>
          </c:xVal>
          <c:yVal>
            <c:numRef>
              <c:f>Sheet1!$C$2:$C$30</c:f>
              <c:numCache>
                <c:formatCode>General</c:formatCode>
                <c:ptCount val="8"/>
                <c:pt idx="0">
                  <c:v>0.11982744847419001</c:v>
                </c:pt>
                <c:pt idx="1">
                  <c:v>0.19971241412366</c:v>
                </c:pt>
                <c:pt idx="2">
                  <c:v>0.44935293177823</c:v>
                </c:pt>
                <c:pt idx="3">
                  <c:v>9.5063109122863</c:v>
                </c:pt>
                <c:pt idx="4">
                  <c:v>72.48961495446557</c:v>
                </c:pt>
                <c:pt idx="5">
                  <c:v>89.49512701709537</c:v>
                </c:pt>
                <c:pt idx="6">
                  <c:v>98.8117111359642</c:v>
                </c:pt>
                <c:pt idx="7">
                  <c:v>98.98146668796932</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100" b="0" i="0" u="none" strike="noStrike">
                    <a:solidFill>
                      <a:srgbClr val="1F2933"/>
                    </a:solidFill>
                    <a:latin typeface="+mn-lt"/>
                  </a:defRPr>
                </a:pPr>
                <a:r>
                  <a:rPr sz="1100" b="0" i="0" u="none" strike="noStrike">
                    <a:solidFill>
                      <a:srgbClr val="1F2933"/>
                    </a:solidFill>
                    <a:latin typeface="+mn-lt"/>
                  </a:rPr>
                  <a:t>Recorded cost (% of GPT-4)</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6676"/>
                </a:solidFill>
                <a:latin typeface="+mn-lt"/>
              </a:defRPr>
            </a:pPr>
            <a:endParaRPr lang="en-US"/>
          </a:p>
        </c:txPr>
        <c:crossAx val="2094734552"/>
        <c:crosses val="autoZero"/>
        <c:auto val="1"/>
        <c:lblAlgn val="ctr"/>
        <c:noMultiLvlLbl val="1"/>
      </c:valAx>
      <c:valAx>
        <c:axId val="2094734552"/>
        <c:scaling>
          <c:orientation val="minMax"/>
          <c:max val="100"/>
          <c:min val="0"/>
        </c:scaling>
        <c:delete val="0"/>
        <c:axPos val="l"/>
        <c:majorGridlines>
          <c:spPr>
            <a:ln w="9525" cap="flat">
              <a:solidFill>
                <a:srgbClr val="E3E7EC"/>
              </a:solidFill>
              <a:prstDash val="solid"/>
              <a:round/>
            </a:ln>
          </c:spPr>
        </c:majorGridlines>
        <c:title>
          <c:tx>
            <c:rich>
              <a:bodyPr/>
              <a:lstStyle/>
              <a:p>
                <a:pPr>
                  <a:defRPr sz="1100" b="0" i="0" u="none" strike="noStrike">
                    <a:solidFill>
                      <a:srgbClr val="1F2933"/>
                    </a:solidFill>
                    <a:latin typeface="+mn-lt"/>
                  </a:defRPr>
                </a:pPr>
                <a:r>
                  <a:rPr sz="1100" b="0" i="0" u="none" strike="noStrike">
                    <a:solidFill>
                      <a:srgbClr val="1F2933"/>
                    </a:solidFill>
                    <a:latin typeface="+mn-lt"/>
                  </a:rPr>
                  <a:t>Quality (% of GPT-4)</a:t>
                </a:r>
              </a:p>
            </c:rich>
          </c:tx>
          <c:layout/>
          <c:overlay val="0"/>
        </c:title>
        <c:numFmt formatCode="0" sourceLinked="0"/>
        <c:majorTickMark val="none"/>
        <c:minorTickMark val="none"/>
        <c:tickLblPos val="nextTo"/>
        <c:spPr>
          <a:ln w="12700" cap="flat">
            <a:noFill/>
            <a:prstDash val="solid"/>
            <a:round/>
          </a:ln>
        </c:spPr>
        <c:txPr>
          <a:bodyPr/>
          <a:lstStyle/>
          <a:p>
            <a:pPr>
              <a:defRPr sz="1100" b="0" i="0" u="none" strike="noStrike">
                <a:solidFill>
                  <a:srgbClr val="5B6676"/>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deck is Team 8's reading and reproduction report on "Adaptive LLM Routing under Budget Constraints" by Panda et al., Findings of EMNLP 2025 [1]. Because the deck is graded without an oral presentation, these notes carry the reasoning that the slides only sketch.
The paper studies a practical question: when a service can call several large language models (LLMs) of very different price and quality, which model should answer each incoming query, if the operator must stay within a fixed spending budget and only learns how good an answer was for the model it actually used? The authors call their method PILOT (Preference-prior Informed LinUCB fOr adaptive RouTing).
The deck has four parts. (1) Context: the problem, our own real-world example, and two predecessor approaches. (2) Method: notation, the full pipeline, each of the three components, the regret proposition and its proof idea, and complexity. (3) Reproduction: our declared scope and protocol, the two core experiments (performance versus budget; learning size and cumulative regret), ablations, a diagnosis of the budget controller, local adaptations of the paper's supplementary studies, and a side-by-side comparison with the paper with an analysis of every notable deviation. (4) Appendix: the W&amp;B runs behind each headline number.
Scope statement, said once and kept throughout: this is a student reproduction of a declared local variant, not the authors' code and not a matched replication. We route among 8 of the paper's 11 models and replay historical RouterBench outcomes instead of calling LLMs. Queries are embedded with the paper's own embedder, OpenAI text-embedding-3-small, using real vectors from one earlier, approved embedding run (437 requests); every experiment in this deck reuses that cache and makes no new paid request. An earlier version of this study used the free local BGE-M3 embedder; those results are kept only where a slide labels them as historical BGE. Every number on a results slide links to its public W&amp;B run [10]; the code and data recipes are on GitHub [11]. The critique of the paper's theory and its empirical demonstration are on our separate A2 poster.
Illustration on this slide: one query (q) reaches a router (R), which chooses one of eight models; circle size hints at price. Only the chosen route produces feedback.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sentence: for every incoming query, pick exactly one LLM so that answers are as good as possible while the total bill over a period stays under a budget B, learning only from feedback on the answer that was actually shown [1].
Our own example (not from the paper). Imagine an HCMUS student help-desk chatbot with a fixed monthly API budget and eight available models, from small open models to GPT-4-class models. A question such as "When does course registration close?" is answered correctly by a cheap model; paying for GPT-4 here wastes budget. A question such as "Why does gradient descent diverge when the step size is too large? Show the math." needs a strong model; a cheap model may produce a confident but wrong derivation. The router must learn which kind of query is which.
Three constraints make this hard. Quality: the best model differs per query, and nobody labels queries in advance. Cost: models differ in price by more than an order of magnitude, and the budget covers a whole period, so a choice now changes what is affordable later. Feedback: students only press a thumbs-up or thumbs-down on the one answer they saw. We never learn what the seven other models would have said. This is exactly the contextual-bandit feedback setting: reward is observed only for the chosen action.
Why not simply ask every model and grade all answers (full supervision)? It multiplies inference cost by the number of models and needs a grader for each answer, which is what the routing system is trying to avoid. The paper therefore formulates routing as a budget-constrained contextual bandit, which is the formulation we follow and formalize on the notation slide. The formal goal at the bottom of this slide is restated there with all variables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asks for at least two predecessor approaches, each with its core idea, remaining limitation and practical consequence. We chose the two the paper itself builds on and compares against.
LinUCB [2] (Li et al., WWW 2010) is the contextual-bandit algorithm PILOT extends. Each arm (here: each LLM) keeps a linear model of expected reward given the context vector, fitted by ridge regression on the rounds where that arm was chosen. It selects the arm with the highest upper confidence bound: estimated reward plus an exploration bonus that is large when the arm has seen few similar contexts. It learns from bandit feedback, which is exactly the thumbs-up/down situation. Its limitation for LLM routing: every arm starts from zero knowledge, so the first users pay for exploration (cold start); and it optimizes reward only, with no notion of a spending budget. Practical consequence: early traffic gets poor or needlessly expensive answers, and the operator cannot cap spend.
Hybrid LLM [3] (Ding et al., ICLR 2024) routes between a small and a large model with a supervised classifier that predicts whether the small model's answer will be nearly as good as the large one's; a threshold on that prediction trades cost against quality. Its limitation: training needs responses from both models on every training query plus a quality score for each, i.e. full supervision, and it handles two models. After training it is static. Practical consequence: labeling cost grows with the model pool and the router cannot adapt to drift from user feedback.
PILOT [1] combines the missing pieces: a preference prior learned from public human comparisons attacks LinUCB's cold start; LinUCB-style updates keep learning from bandit feedback; and a separate online cost policy enforces a budget across many models. The bottom row is our reading of what this adds and what it newly assumes. The new assumptions are the starting point of our poster critique: the prior must be close to the truth, cosine scores must carry the reward differences, and cost estimates must be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band: the paper's own three contributions, paraphrased closely in its terms [1, Sec. 1]. (i) LLM routing is formulated as a budget-constrained contextual bandit problem. (ii) PILOT is proposed: a preference-prior informed LinUCB that combines offline human preference data with online bandit feedback, coupled with an online cost policy; the paper also claims the preference prior yields a lower regret bound than the standard algorithm. (iii) Experiments are claimed to show PILOT outperforms existing bandit baselines, with the lowest regret and highest performance across cost budgets.
The course asks us to regroup them as theoretical, technical and empirical, and to state what was not previously possible or attempted.
Theoretical. Claim: if the preference prior is closer to the true reward vector than the origin is, the prior-informed OFUL algorithm (PI-OFUL) has a smaller regret upper bound than OFUL (Proposition 2.1, proof in Appendix C.1). What was new: standard OFUL/LinUCB analyses start from an uninformed (zero) estimate; the paper gives a condition under which an informative initialization provably tightens the bound. Its limits are on the theory slides.
Technical. Claim: a two-phase preference pretraining builds a shared query–LLM embedding space; its arm vectors initialize LinUCB; a ZCL-style online knapsack policy with binning and budget rollover enforces a user budget at deployment. What was new: prior routers either needed all models' outputs on training queries (full supervision) or ignored a per-period budget.
Empirical. Claim: the first online bandit-feedback evaluation of LLM routing, using RouterBench split into a learning bucket and a deployment bucket, reaching 93% of GPT-4's performance at 25% of its cost on RouterBench and 86% at 27% on MMLU. The paper states that, to its knowledge, routing had not been studied in this online bandit setting before.
Our reproduction tests the empirical claims (budget–quality and regret) under a declared local variant. Our poster tests whether the theoretical and technical claims hold outside their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one notation throughout the deck and poster, close to the paper's [1] but simplified where the paper overloads symbols.
Arms and queries. L is the set of K candidate LLMs (the arms); the paper has K = 11, our local study K = 8. Queries q_t arrive one at a time, t = 1, …, T during online learning and t = 1, …, Q during deployment.
Representations. φ(q) is a frozen pre-trained text embedder producing a D-dimensional vector (the paper and our current study both use OpenAI text-embedding-3-small, D = 1,536, on the full query text). A learned linear projection ψ(q) = Wφ(q) + b maps it into a shared d-dimensional routing space (ours: d = 64). The paper calls these dimensions d_e and d_m; we use D and d so that formulas stay readable. We write x_t = ψ(q_t)/‖ψ(q_t)‖ for the unit-length context the bandit sees. Each arm a has a vector θ_a in the same space; θ_a^pref is the version learned from human preferences, which serves as the prior.
Feedback and cost. After serving the answer of arm a_t, the system observes a reward r_t in [0, 1] (a thumbs-up, an exact-match score, or a GPT-4 judgment in RouterBench). Each arm has a cost c_t(a) on query t; the router only knows an estimate ĉ_t(a) before it answers.
Learner state. For each arm, A_a (a d × d matrix) and b_a (a d-dimensional vector) are ridge-regression sufficient statistics; θ̃_a = A_a⁻¹ b_a is the current estimate. λ_a sets prior strength and α the exploration weight.
The formal problem (right). Over Q deployment queries, choose arms to maximize total reward subject to total cost at most B. The decisive restriction is the last line: only the chosen arm's reward is observed. Two quantities measure success: cumulative regret during learning (how much reward was lost relative to always picking the best arm in hindsight, per query), and reward per requested query during budgeted deployment.
Important for later: the paper's theory uses a linear reward model r = θ*·x + ε, while the implemented algorithm scores arms with a cosine, cos(x, θ_a). That difference is the first weakness our poster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own drawing of the full pipeline, from input query to the answer that is served and paid for. It has three stages that the paper keeps separate on purpose [1].
Stage 1, offline and once (top lane). Human preference pairs from Chatbot Arena [4] – a query, two models, and which answer people preferred – train two things in sequence: a projection (W, b) that maps text embeddings into a shared routing space, and one vector θ_a^pref per LLM in that space. These vectors are the "preference prior".
Stage 2, online learning with bandit feedback (middle lane). Each incoming query is embedded with the frozen embedder φ, projected and normalized to x_t. For every arm the router computes an upper-confidence score; it serves the best-scoring arm, observes that answer's reward, and updates only that arm's statistics A_a and b_a. The prior from stage 1 enters as the initial value of A_a and b_a (dashed arrow). The paper applies no budget during this stage.
Stage 3, deployment with a frozen router (bottom lane). The learned estimates are frozen (dashed arrow). Each deployment query gets an estimated reward per arm, cos(x, θ̃_a), and an estimated cost ĉ(a). The online cost policy decides which arms are affordable given how much of the current bin's budget is already used, then serves the best affordable arm. The served answer's true reward and recorded cost are what we evaluate.
Why separate learning and deployment? The paper argues it gives deployment stability and lets users change the budget without retraining; the cost is that learning ignores the budget entirely (stated as a limitation in the paper). It also means two different metrics: regret is measured in stage 2, budgeted utility in stage 3. This matters when we interpret results.
Our run is in the bottom line. The embedder is the paper's own, OpenAI text-embedding-3-small [5]: real 1,536-dimensional vectors of the full query and preference text, taken from a cache built by one earlier, approved embedding run, and projected to a learned 64-dimensional routing space. The remaining local differences are the 8 instead of 11 models and the replayed historical outcomes. The learning/deployment separation is unchanged, and the LLM answers, rewards and costs are the historical RouterBench records. An earlier version of this deck substituted the local BGE-M3 embedder; that substitution is resolved, and BGE now appears only as a labelled historical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it builds a space where the cosine similarity between a query and an LLM vector predicts how well that LLM suits that query. Why it is needed: a bandit that starts from zero must explore a lot before it routes well (cold start), and public human preference data from Chatbot Arena [4] already encodes which models people prefer on which prompts. How it works: two phases, trained one after the other so that the query map and the arm vectors do not chase each other (the paper calls this the moving-target problem) [1, Sec. 2.2.1].
Phase 1 (left). The frozen embedder gives φ(q) in ℝ^D. A linear map ψ(q) = Wφ(q) + b, with W of size d × D and bias b, is trained with a cosine triplet loss. For an anchor query q_a whose preferred model was l_win, a positive q⁺ is another query where the same model won; a hard negative q⁻ is a query where that model lost to a cheaper (smaller) model. The distance d(u, v) = 1 − cos(u, v). The loss is zero once the anchor is closer to its positive than to its negative by at least the margin m; otherwise it pulls the positive in and pushes the negative out.
Phase 2 (right). With W and b frozen, each LLM i gets a vector θ_i. For a comparison between models i and j on query q, the probability that i wins is a two-way softmax over cosine similarities. Training minimizes binary cross-entropy against the human label (1 if i won). The final vectors θ_i^pref are the preference prior.
Our run (bottom strip): text-embedding-3-small [5] gives 1,536-dimensional vectors of the full text, read from the cache of one earlier, approved embedding run (no new paid request); we project to d = 64. After restricting Arena to pairs whose two models are both in our 8-arm pool, 1,558 pairs remain: 1,245 for training (forming 1,193 triplets) and 313 for calibration. The 313 calibration pairs set each arm's prior strength λ_a, so they are not an independent final test. Margin 0.2, 30 projection epochs, 40 prior epochs, learning rate 0.03. Calibration accuracy over three seeds is 186, 190, 194 of 313, mean 60.70% (the historical BGE fits gave 189, 188, 193, the same mean). The paper reports 65.0% on its own 500-pair test, which is a different measurement.
A separate, explicitly supplementary protocol regroups the pairs by prompt into 847 training / 211 calibration / 500 test pairs. On that local 500-pair test PILOT reaches 63.53%; it is discussed with the RouteLLM comparison on the supplementary slide and does not replace the main 1,245 / 313 protocol used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it turns the preference prior into a router that keeps improving from thumbs-up/down feedback. Why it is needed: preferences come from a different population (Arena users, other prompts), so the target task's rewards must correct them. How it works: PILOT is LinUCB [2] with two changes, a prior-centred initialization and a cosine reward model [1, Sec. 2.2.2].
Step 1, reward model. The expected reward of arm a on context x_t is modelled as cos(x_t, θ_a). Because x_t is unit length, this equals x_t · θ_a / ‖θ_a‖: only the direction of θ_a matters, not its length. Keep this in mind for the poster.
Step 2, prior initialization. A_a starts at λ_a times the identity and b_a at λ_a θ_a^pref, so the initial estimate θ̃_a = A_a⁻¹ b_a equals the prior exactly. In Bayesian terms this is a Gaussian prior centred at θ_a^pref with precision λ_a. The paper sets λ_a to the inverse of arm a's preference accuracy; larger λ_a keeps the estimate near the prior for longer. In our run θ_a^pref and λ_a come from the text-embedding-3-small preference fits, with λ_a computed on the 313 calibration pairs. The method itself is unchanged, and, as in the paper, no budget applies while the router learns.
Step 3, choose optimistically. For every arm compute the estimate cos(x_t, θ̃_a) plus an exploration bonus α √(x_tᵀ A_a⁻¹ x_t). The bonus is large in directions the arm has rarely seen, so rarely tried arms get tried. α is tuned on the tuning split (ours: α = 1 for PILOT, α = 5 for LinUCB).
Step 4, update only the chosen arm. A_a gains the outer product x_t x_tᵀ and b_a gains r_t x_t. No other arm learns anything that round – this is what bandit feedback means.
The bar chart on the right is an illustration we constructed, not measured data: three arms with an estimate (dark) and an exploration bonus (light). The "cheap" arm has the lowest estimate but has been tried least, so its large bonus makes its upper bound the highest and it is chosen. After its reward is observed, its bonus shrinks. This is how the algorithm balances exploring and exploiting.
Variables: x_t unit context; θ_a, θ̃_a arm vector and its current estimate; A_a, b_a ridge statistics; λ_a prior strength; α exploration weight; r_t observed reward in [0,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at deployment, it decides which arms are affordable for each query so that total spend over Q queries stays within B while reward stays high. Why it is needed: queries arrive one at a time, so the router cannot solve the budget allocation in hindsight; it must decide now without seeing future queries. How it works: the paper casts this as an online multiple-choice knapsack problem and adapts the ZCL algorithm of Zhou, Chakrabarty and Lukose [6]; the full procedure is Algorithm 3 in Appendix C.2 [1].
Step 1, estimate cost before answering. The input cost is known from the query's tokens; the unknown output length is replaced by that model's mean output length on the tuning data, priced per token as in the benchmark. This estimate ĉ_t(a) is the item's weight.
Step 2, eligibility threshold. The value of an arm is its frozen score cos(x, θ̃_a). With z the fraction of the current bin's budget already used, an arm is eligible only if ĉ_t(a) ≤ score / ((UB·e/LB)^z · (LB/e)). When z = 0 the threshold is generous; as z approaches 1 it shrinks by the factor UB·e/LB, so only arms with a high score per unit of cost remain eligible. UB and LB are assumed upper and lower bounds on the score-to-cost ratio.
Step 3, choose. Serve the eligible arm with the highest score. Our implementation adds one guard that the paper does not spell out: an eligible arm's estimated cost must also fit the money currently available in the bin (guarded estimated affordability). If no arm is eligible, fall back to any arm whose estimate fits the remaining bin budget divided by the remaining queries in the bin. If even that set is empty, Algorithm 3 returns "Insufficient budget"; we apply it as an explicit stream-stop rule, so the rest of the stream goes unserved although later bins would release more money. At a 20% allocation on MMLU all three seeds stop after 29 of 1,275 queries with at least 94% of the estimated budget unspent. Without the guard (paper-literal) the results are identical on our grid. Variants that avoid the stop are labelled local extensions on the controller slide.
Step 4, bins and rollover (right). ZCL is designed for an infinite stream and tends to under-spend over a finite horizon, so the paper splits the Q queries into N = ⌈Q/S⌉ bins of S queries, gives each bin B/N, and rolls unused budget into the next bin.
Guarantee and its scope: ZCL is (ln(UB/LB) + 1)-competitive when the value-to-weight ratios lie in [LB, UB] and items are small relative to the budget [6]. That guarantee is about estimated weights. Binning, rollover and the cost estimator are heuristics outside it. Our local choices: S = 100 queries per bin; LB = 0.5 × the minimum and UB = 2 × the maximum positive score-to-cost ratio seen on tuning data. The poster tests what happens when realized costs differ from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paper proves (Proposition 2.1, formal version Proposition C.1 in Appendix C.1) [1]. The analysis is for OFUL [7], an optimistic linear bandit with a well-studied regret bound, not for LinUCB itself; the authors argue both follow the same optimism principle.
Setting. Rewards are linear in an unknown vector: r_t = θ*·x_t + ε_t, where the noise ε_t is R-sub-Gaussian and contexts are bounded. OFUL keeps a confidence ellipsoid around its ridge estimate and plays the arm with the highest optimistic reward. If ‖θ*‖ ≤ S, then with probability at least 1 − δ its cumulative regret satisfies R(T) ≤ U_T(S), where U_T(S) = 4√(T d log(λ + T/d)) · (√λ S + R√(2 log(1/δ) + d log(1 + T/(λd)))). The best choice S = ‖θ*‖ gives U_T(OFUL).
Prior-informed version. PI-OFUL starts its ridge estimate at θ^pref instead of 0 and uses a confidence set with parameter S′ ≥ ‖θ* − θ^pref‖. The same argument gives regret bound U_T(S′). With the best S′, U_T(PI-OFUL) = U_T(‖θ* − θ^pref‖). So whenever ‖θ* − θ^pref‖ ≤ ‖θ*‖, i.e. the prior is closer to the truth than the origin is, the bound is no larger than OFUL's.
Intuition (right). Think of the learner as searching for θ* inside a ball. Without a prior the ball is centred at the origin and must have radius ‖θ*‖. A good prior moves the centre next to θ*, so the ball – and with it the exploration the algorithm must pay for – is smaller.
Limits we keep in view (bottom). (1) Only the √λ·S term changes. The growth rate in T, roughly d√T up to logarithms, is the same; the prior improves a constant, not the rate. (2) S′ must be known to build the confidence set; in practice it is not, and PILOT replaces it with heuristics (λ_a from preference accuracy, α tuned). (3) The proof is for linear OFUL; PILOT scores with a cosine and uses LinUCB, which is not covered. (4) It compares two upper bounds. A smaller bound does not by itself guarantee lower realized regret. We examine limit 3 empirically on our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in Appendix C.1 [1] is short because it reuses OFUL's machinery [7]. We retell it in four steps (top row) and then point out two typographical slips we found while checking it against the final ACL PDF.
Step 1. Ridge regression with a prior. Stack the past contexts into X and rewards into y. Starting from θ^pref means using A = XᵀX + λI and b = Xᵀy + λθ^pref, and the estimate θ̃ = A⁻¹b.
Step 2. Substitute y = Xθ* + ε. A few lines of algebra split the estimation error into two parts: θ̃ − θ* = A⁻¹Xᵀε − λA⁻¹(θ* − θ^pref). The first is noise, the second is bias from the prior. With θ^pref = 0 this is exactly the familiar OFUL decomposition with bias −λA⁻¹θ*.
Step 3. Bound both parts. The self-normalized martingale bound of Abbasi-Yadkori et al. controls the noise part; the bias part contributes √λ‖θ* − θ^pref‖. So for any x, |x·(θ̃ − θ*)| is at most ‖x‖ in the A⁻¹-norm times (R√(2 log(det(A)^½ det(λI)^−½ / δ)) + √λ‖θ* − θ^pref‖). This is OFUL's confidence width with ‖θ*‖ replaced by ‖θ* − θ^pref‖.
Step 4. The standard OFUL regret argument (their Theorem 13) then goes through unchanged with S′ in place of S, giving U_T(S′).
Printing slips. On the final PDF's page 23945 the definition of b_t is printed as λθ^pref + Σ x(l_s, q_s), without the rewards r_s; on page 23946 the bias term is printed as λ(XᵀX + λI)(θ* − θ^pref), without the inverse. Both are typographical: with r_s and the inverse restored, the identity in step 2 holds and the argument is the standard one. We therefore do not claim the theorem is wrong; we claim the printed algebra needs these two corrections.
What the proof does not cover (bottom right). It never touches the cosine normalization used by PILOT, the λ_a = 1/accuracy heuristic (preference accuracy is not a measured distance ‖θ* − θ^pref‖), or the cost policy and its bins. Those are the gaps our poster examines.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asks for time and space complexity compared with the predecessors. K is the number of arms, d the routing dimension (ours 64), D the embedding dimension (text-embedding-3-small: 1,536), T the number of learning rounds.
LinUCB [2]. Each arm stores A_a (d × d) and b_a, so memory is O(K d²). Routing one query computes a score for every arm. If A_a⁻¹ is maintained directly with the Sherman–Morrison rank-one update, a score and an update each cost O(d²), so O(K d²) per query. Supervision: only the chosen arm's reward. Li et al. do not prove a bound for LinUCB itself; the closely related OFUL has regret of order d√T up to log factors [7].
Hybrid LLM [3]. Routing is one forward pass of a transformer classifier – much more arithmetic per query than a bandit score, but still small next to generating an LLM answer. The real cost is in training: for every training query both models must generate an answer and each answer must be scored, i.e. full supervision; and the router covers two models only.
PILOT, as described in the paper [1]. Per query: one embedding forward pass, the projection O(dD), K scores O(K d²) with maintained inverses, and the cost policy O(K). Memory: O(K d² + dD) for arm statistics plus the projection. Training adds preference pretraining, linear in the number of pairs and epochs. The regret story is OFUL's: same d√T rate, smaller constant when the prior is close. The paper measures routing at 0.065 s with Instructor-XL and 0.239 s with OpenAI embeddings versus about 2.5 s for a GPT-4 answer on MMLU, so the embedding call dominates routing time.
Our implementation. For numerical safety we solve the K ridge systems densely on every query instead of maintaining inverses: O(K d³) per query and O(d³) per update. At K = 8 and d = 64 the state is about 260 KiB (8 × (64 × 64 + 64) doubles). Rank-one inverse maintenance would bring scoring down to O(K d²); we did not implement it and do not claim its speed-up. The arm state itself is O(K d²) either way.
So PILOT is as cheap as LinUCB at routing time and avoids Hybrid LLM's all-model labeling; what it adds is a one-off pretraining cost and an embedding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choice. The course allows full scope (all main experiments) or core scope (at least the two most important experiments, including the headline comparison, plus one team-designed analysis). We chose core scope, and later added clearly labelled local adaptations of some of the paper's supplementary studies.
Experiment E1, performance versus budget, contains the paper's headline comparison (Section 4, Figure 3, columns (i)): quality of PILOT and bandit baselines on held-out deployment queries across a grid of budgets. Experiment E2, learning size and cumulative regret (Figure 3, columns (ii)–(iii)): how deployment quality changes as more of the learning stream is used, and how much reward each learner loses while learning. Our team-designed analyses are five ablations and a budget-controller diagnosis, shown later in this deck, and two critique experiments, shown on the poster. The supplementary slide adds local versions of the Hybrid LLM, binary-routing, task-shift, embedder, preference-prediction and feedback-noise studies.
Why core scope and not full scope: three of the paper's eleven RouterBench models (Claude-v2, Mistral-7B, Mixtral-8x7B) could not be matched one-to-one to entries in the public RouterBench release with enough evidence, so a matched eleven-arm run was not possible without guessing. No official implementation was found on the ACL page or the authors' project site when we checked on 30 Oct 2026.
The table lists every protocol difference we know of. Model pool: 8 admitted arms; the eight are WizardLM-13B, Claude-instant-v1, Claude-v1, GPT-3.5-turbo-1106, GPT-4-1106-preview, Code-Llama-34B, Llama-2-70B and Yi-34B, as named in RouterBench [8]; three of these version mappings also remain unverified against the paper. Embedding: the paper's text-embedding-3-small, real 1,536-dimensional vectors of the full text. They come from one earlier, approved embedding run (38,018 unique texts, 437 successful requests, 6,867,235 provider-reported tokens; about USD 0.137 before tax at the cited Standard rate, a calculated price rather than a verified invoice). The follow-up experiments reuse that cache and make no new paid embedding or LLM request; benchmark model costs are historical accounting units, not charges we paid. The earlier version of this study used BGE-M3 [9] with a 2,048-token cap; its 1,098 conditions are kept as a separate historical result. Data: the same 36,497 zero-shot RouterBench queries, but the public release has 86 raw task labels where the paper reports 64 tasks, so equal counts do not prove the same population. Splits follow the paper's recipe (1,000 tuning queries; learning:deployment 10:1). MMLU is the subset of RouterBench, not an independent dataset. Seeds 7, 42, 2026; we report mean with min–max, never as a confidence interval. Budget axis: the paper reports fractions of GPT-4's cost; we allocate a fraction of the tuning-estimated GPT-4 cost and report both quality and recorded cost as fractions of GPT-4 on the same queries (next slide).
The OpenAI study also has 1,098 conditions (858 main + 240 ablation); it is not the historical BGE 1,098. Version, release, task-label and author-hyperparameter gaps remain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Splits (top left, drawn to scale for RouterBench). The stream is cut into a tuning split of 1,000 queries, a learning split of 32,270 and a deployment split of 3,227. The MMLU population uses the MMLU queries inside each of those splits (398 / 12,369 / 1,275), without resplitting. This follows the paper's learning-bucket / deployment-bucket design [1, Sec. 3.1].
Who sees what (bottom left). This is our leakage guard. Hyperparameters (α for PILOT and LinUCB, the EpochGreedy window), the cost estimator and the score-to-cost bounds are chosen on tuning data only. Re-tuned on the OpenAI vectors, both domains again select PILOT α = 1, LinUCB α = 5, EpochGreedy window 10. The main prior is 64-dimensional with 30 projection and 40 prior epochs. During learning, a learner observes only the reward of the arm it chose. During deployment, nothing updates the router. Only the evaluator reads the rewards of all arms, to compute regret and quality. An independent replay re-derived all 108 learning groups (78 main + 30 ablation) from the stored traces and found identical numbers.
Baselines (from the paper): LinUCB, EpochGreedy, ExploreOnly (always explores), Random, and each of the 8 single models. All of them go through the same cost policy at deployment, as in the paper, so differences come from the routers' scores, not from budget handling.
Metrics (right). Quality / GPT-4 is the total reward on all requested deployment queries divided by GPT-4's total reward on the same queries; a query left unserved because the budget ran out counts as 0. It is not accuracy on served queries. Recorded cost / GPT-4 is the benchmark's historical cost of the chosen answers divided by GPT-4's recorded cost on the same queries. Coverage is the fraction served. Empirical oracle regret sums, over the learning stream, the best recorded reward among all arms minus the chosen arm's reward.
Allocation is the budget we give the controller, as a fraction of the tuning-estimated cost of answering every deployment query with GPT-4. It is an estimate made before deployment, so it differs from the recorded cost actually spent: a 50% allocation equals 48.98% of GPT-4's recorded cost on RouterBench and 47.79% on MMLU. The grid is 5, 10, 20, 30, 50, 75, 100 and 125%. Costs are historical benchmark accounting units, not dollars we paid.
Inventory: 858 main plus 240 ablation OpenAI deployment conditions = 1,098. Each condition and every supplementary result is a public W&amp;B summary in the follow-up registry (2,498 records); the 1,128 historical BGE records are preserved, for 3,626 runs in the project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plotted. Each line is one router's quality as a share of GPT-4's (total reward on all requested deployment queries ÷ GPT-4's total reward on the same queries), averaged over seeds 7, 42 and 2026, at eight allocations (share of the tuning-estimated GPT-4 cost). All routers use the full learning stream and the same cost policy. Unserved queries count as zero, so the left end is dominated by coverage. At 5% and 10% the four learning routers serve at most 1.1% of RouterBench queries, because the controller stops the stream (controller slide). Random often picks cheap arms and serves every query from 10% on RouterBench (60.34%) and from 20% on MMLU (53.57%), beating all learners there. On MMLU the learners also stop early at 20–30% (PILOT coverage 2.27% and 27.45%). We show this rather than crop the axis.
RouterBench (left). At 50% allocation PILOT reaches 86.60% of GPT-4's quality at 46.23% of its recorded cost; LinUCB reaches 91.28% at only 29.62%, so higher quality for less money. Seed ranges do not overlap (PILOT 84.98%–88.61%, LinUCB 90.22%–91.93%). PILOT leads the bandit baselines only at 100% and 125%: at 100% it reaches 97.94% at 91.57% cost versus LinUCB 96.59% at 49.44%.
MMLU subset (right). At 50%, PILOT 83.53% at 47.53% cost versus LinUCB 86.96% at 45.07% (seed ranges 82.39%–84.92% and 86.48%–87.74%). PILOT leads from 75% upward: at 100%, 98.44% at 91.81% cost versus EpochGreedy 95.43% at 72.66%. Every router serves all queries from 50% upward.
Reading. PILOT's scores favour stronger, more expensive models. That buys quality when money is plentiful, at a much higher spend, and hurts when the budget binds. The paper reports PILOT above all baselines across budgets; we do not reproduce that at tight and medium allocations, even with the paper's own embedder. This describes our 8-arm local variant, not a refutation of the paper's 11-arm result; the historical BGE curves showed the same pattern. Causes are on the deviation slide.
Each headline number links to its three W&amp;B seed runs (s7 · s42 · s2026 under each chart) [10]; every other point maps to its run through the follow-up experiment-map.csv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plotted. Cumulative empirical oracle regret on the learning stream: at each checkpoint (10%, 25%, 50% and 100% of the stream), the sum over all learning queries so far of the best recorded reward among the eight arms minus the reward of the arm the learner chose. Lower is better. The four points are immutable nested snapshots of one uninterrupted stream per seed, not four restarts; they are three-seed means. No budget applies during learning.
Full stream, RouterBench (left): PILOT 4,275, EpochGreedy 4,747, LinUCB 6,826, Random 11,760, ExploreOnly 11,765. MMLU subset (right): PILOT 1,758, EpochGreedy 2,274, LinUCB 2,749, ExploreOnly 5,508, Random 5,526. PILOT's seed range does not overlap the next-best router's (RouterBench 4,060–4,480 versus 4,685–4,836; MMLU 1,633–1,936 versus 2,051–2,611). One early exception: on MMLU after 10% of the stream LinUCB has less regret (213 versus 264).
Scope of the claim. "Least" applies to the adaptive learners and Random shown. A fixed router that always calls GPT-4 (purple) loses less still, 3,675 on RouterBench and 1,416 on MMLU, because GPT-4 is the best single arm on most queries; it learns nothing and ignores cost. The other seven fixed arms lose more than PILOT. We therefore do not claim that every fixed comparator loses more.
This reproduces the paper's ordering among bandit learners. The likely reason is the one the theory predicts: the preference prior gives PILOT a better starting point, so it wastes fewer early rounds. The curves still grow roughly linearly because no learner can match a per-query oracle with full hindsight.
The next slide shows the tension: lower learning regret does not give PILOT the best budgeted deployment quality.
Source: learning-prefixes.csv in the OpenAI core package on GitHub [11]; the deployment conditions frozen from each snapshot are W&amp;B runs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plotted. Quality / GPT-4 on the deployment queries at the 50% allocation, when each router is frozen after 10%, 25%, 50% or 100% of the learning stream. The four points are immutable nested snapshots of one continuous stream per seed, not four restarts. Three-seed means; every router serves all queries at this allocation.
RouterBench (left). PILOT 86.10% → 85.81% → 86.01% → 86.60% (+0.49 pp from 10% to 100%). EpochGreedy gains far more: 80.61% → 87.18% → 89.20% → 90.26% (+9.65 pp). LinUCB 90.06% → 91.28%; ExploreOnly 90.02% → 91.03%. MMLU (right): PILOT 82.00% → 83.53% (+1.52 pp); EpochGreedy 73.35% → 85.34% (+12.00 pp); LinUCB 86.64% → 86.96%. LinUCB is highest at every prefix on both populations.
The paper reports PILOT with the highest deployment performance at every learning-bucket size. Locally that does not hold at this allocation. PILOT's prior does put it ahead of EpochGreedy, which starts with no knowledge, at the smallest prefix, but LinUCB is already ahead after 10% of the stream. The BGE version of this deck said that PILOT gains the most from more learning; that does not describe these OpenAI curves.
Why can PILOT have the lowest regret among learners yet not the best deployment quality? Three differences, none proven to be the single cause: (1) regret is scored on the learning stream with exploration and no budget, quality on held-out queries with frozen scores and a cost policy; (2) the cost policy rewards a high score per unit of cost, and PILOT's compressed cosine scores keep steering it to expensive arms (at 50% it spends 46.23% of GPT-4's cost on RouterBench versus 29.62% for LinUCB); (3) the 8-arm pool changes which arms are cheap and good. We report this tension rather than resolve it.
Every snapshot condition is a separate W&amp;B run listed in the follow-up experiment-map.csv [10],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Five controlled variants of PILOT, each changing one component, frozen before any deployment result was seen. Each is paired with main PILOT on the same seed, domain, split, query order, α, cost estimates, allocation and cost policy, and run at all eight allocations (240 deployment conditions, all independently replayed; no retuning). The chart shows the paired change in quality / GPT-4, in percentage points, at the 50% allocation with full learning, averaged over three seeds; every variant serves all queries there. Other allocations are in the ablation package on GitHub [11]. A positive bar means the variant beats main PILOT.
Prior only (no online updates): −6.70 pp / −13.88 pp (RouterBench / MMLU), by far the largest change. Online feedback clearly improves on the pretrained-only router.
Zero prior directions (arm vectors start at zero): +2.14 pp / −0.45 pp. This variant still uses the preference-trained projection and the calibrated λ_a, so it does not remove all preference information, and its sign differs by population: no blanket conclusion that the prior direction helps or hurts.
Unit prior strength (λ = 1 for every arm instead of 1/accuracy): +1.55 pp / +0.32 pp. The paper's inverse-accuracy heuristic is not supported locally.
Single budget bin: −0.35 pp / −0.62 pp at this allocation. It is not a universal improvement and not a fix for the early stop at tight allocations (next slide). Projection to 8 dimensions: −0.90 pp / +1.65 pp, again mixed.
Caveats. Three seeds give a descriptive range, not significance. The ablations keep α and the score-to-cost bounds at main PILOT's tuned values, so a variant might do better with its own tuning. The historical BGE ablations agreed in sign for prior-only and unit strength but are not mixed into this chart.
Each variant and seed is its own W&amp;B run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The E1 curves collapse at the left: on MMLU, PILOT serves only 2.27% of queries at a 20% allocation. We checked whether that is a bug or a property of the controller, and what other declared controllers do with the same frozen scores. This is a separately verified local extension; the main results are unchanged.
Diagnosis (right). In all three seeds the MMLU stream at 20% stops after 29 of 1,275 queries. At the stopping query the threshold admits no arm because the current bin's money is almost spent; the fallback allowance, the bin's remaining money divided by its remaining queries, is below the estimated cost of even the cheapest model; Algorithm 3 then returns "Insufficient budget" and our explicit stop rule ends the stream. At that moment at least 94% of the allocated estimated budget is unspent, because later bins have not released their share yet. At 30% the same happens after 350 queries. This is the frozen protocol's behaviour, not an arithmetic error.
Variants (chart and table), all with the same frozen PILOT scores, estimates, query order and denominators: 240 new conditions, each independently replayed, plus 48 reused one-bin controls. Guarded skip keeps the threshold and fallback but, when no arm qualifies, records the query as unserved with zero reward and moves on: at 20% it serves 97.31% and reaches 68.90% of GPT-4's quality. Fixed per query caps each request at B/Q with no transfer: 99.92% coverage and 68.94% at 20%, but it underuses large allocations (91.08% at 100% versus 98.44%). The retrospective P − λC comparator uses all future queries' predicted scores and estimated costs, never true rewards; it has more information than any online controller and is not a guaranteed optimum. Paper-literal stop, which drops only our affordability guard, matches the main controller at every point. A single bin is not a cure (15.18% at 20%).
Reading. The left end of the E1 curves measures the stop rule, not routing quality. A skip rule removes most of the collapse. These are local variants with three seeds; we do not claim the authors' code behaves this way.
Each policy, allocation and seed is a W&amp;B run in the follow-up registry [10]; CSVs are on GitHub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Besides its two core experiments, the paper reports several supplementary studies. We ran local versions of six of them on the same cached vectors. Each is a declared local adaptation (8-arm or a verified two-arm pool, our splits, one seed for the neural baselines), not the authors' setting; adverse results are kept.
Native Hybrid LLM [3] (chart). On the verified GPT-4-1106-preview / Llama-2-70B-chat pair, seed 42, we trained the official-source DeBERTa-v3-large classifier once (epoch 4 selected by validation loss) and kept all 21 predeclared thresholds, with no test-based choice. PILOT's curve is its main controller at eight allocations on the same 3,227 queries. Hybrid's default threshold 0.5 gives 81.67% of GPT-4's quality at 23.12% of its cost; PILOT at 50% allocation gives 72.49% at 46.16%. The two "0.5" values are different controls (probability threshold versus estimated allocation), not a matched budget, and the curves do not show PILOT losing at every point. Hybrid sees both arms' training rewards; PILOT sees only selected feedback plus its prior. The paper's D.1 pairs could not be verified.
Binary bandits (App. D.4), three seeds, 50% allocation: quality PILOT 72.45%, LinUCB 72.09%, EpochGreedy 70.81%; learning regret 879 versus 729, 731 and 719 for always-GPT-4, against a two-arm oracle, so not comparable with eight-arm totals. At 50% the always-GPT-4 router serves only 0.96% of queries because the guarded-stop controller stops early, so its tiny deployment quality is not GPT-4's accuracy. The prior reuses two rows of the eight-arm fit, not a new two-arm pretraining.
Task shift (seed 42, no budget, every query served): before the MMLU-to-GSM8K shift PILOT has 80.52% true reward per query versus 79.58% for a static Hybrid classifier; after it, 65.61% versus 65.81%, with Hybrid choosing GPT-4 for every query. Task and GPT-4 quality both change, so the drop does not measure adaptation.
Instructor-XL [13] (Section 5.4): a recipe comparison with fresh tuning and a 512-token cap. Change versus OpenAI: +2.58 pp / +0.55 pp at 50%, −0.60 pp / −0.23 pp at 100%.
Preference prediction (App. D.3), local 847 / 211 / 500 split, three seeds on the same 500 pairs: RouteLLM matrix factorization [12] 68.07% versus PILOT 63.53%, reversing the paper's ranking.
Feedback noise (App. D.5), MMLU, three seeds: replacing 5% of the chosen learning rewards with random values (a replacement probability, not forced flips; evaluation labels untouched) changes true reward by −0.31 pp, with 100% coverage throughout; 3% to 5% is non-monotonic. This does not verify the paper's Table 5.
All are W&amp;B runs in the follow-up registry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puts each published number or claim next to ours. Quality and recorded cost are now both normalized to GPT-4 on the same queries, as in the paper, but the 8- versus 11-arm pools and the unverified task, split and version details still prevent a matched-reproduction claim, so we compute no "reproduction error" against the headline. Paper values are from the final ACL version [1]; ours link to W&amp;B [10] and GitHub [11].
Rows 1–2, headline. The paper reports 93% of GPT-4's performance at 25% of GPT-4's cost on RouterBench, and 86% at 27% on MMLU (Section 4, Figure 3). Our measured RouterBench points nearest that cost are 77.81% at 19.23% cost (20% allocation) and 80.68% at 28.57% cost (30%). There is no measured point at 25% and we do not interpolate one. On MMLU the main controller stops early at 20–30% (coverage 2.27% and 27.45%), so there is no full-coverage point near 27% cost; at 50% we measure 83.53% at 47.53% cost.
Row 3, ranking against bandit baselines. Paper: PILOT best across budgets. Ours: at 50%, PILOT is −4.68 pp behind LinUCB on RouterBench and −3.44 pp on MMLU while spending more; at 100% it is +1.35 pp ahead of LinUCB and +3.02 pp ahead of EpochGreedy. Partially reproduced.
Row 4, regret. Paper: lowest cumulative regret. Ours: lowest among the adaptive learners and Random (4,275 versus 4,747 on RouterBench; 1,758 versus 2,274 on MMLU), but always-GPT-4 is lower (3,675; 1,416). Reproduced among learners.
Row 5, preference prediction (Appendix D.3). Paper: PILOT 65.0% and RouteLLM 63.6% on 500 held-out Arena pairs. Ours, on a local 847 / 211 / 500 split: PILOT 63.53% and RouteLLM matrix factorization [12] 68.07%, so the ranking reverses. The main protocol's 60.70% is calibration accuracy on 313 pairs, a different measurement. Neither local pair set is confirmed to be the authors'; no matched error is computed.
Row 6, embedder (Section 5.4). The paper reports PILOT working with Instructor-XL. Ours [13]: +2.58 pp / +0.55 pp at 50% and −0.60 pp / −0.23 pp at 100% versus OpenAI. Consistent, but a recipe comparison with retuning.
Row 7, data. Same query count, but 86 versus 64 task labels and 8 versus 11 models.
Overall: the learning-efficiency claim reproduces among learners; the deployment-ranking claim only at loose allocations; the headline cannot be matched under our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asks us to explain every notable gap, considering unstated configuration, library and version differences, random initialization and hardware. Each row lists candidate causes, what our own runs can say, and whether the cause is tested, ruled out or untestable.
1. PILOT is not the best router at 20–75% allocation on RouterBench (20–50% on MMLU). The embedder substitution of our earlier version is resolved: with the paper's own text-embedding-3-small the gap persists, and OpenAI is not uniformly better than BGE [9]. Averaged over all allocations and seeds, PILOT quality changes by −0.33 pp on RouterBench (range −5.68 pp to +4.59 pp) and −2.76 pp on MMLU (−54.86 pp to +2.63 pp). That comparison also moves from 13 truncated preference inputs to full text and retunes, so it does not isolate the encoder. Remaining candidates: the smaller arm pool, three unverified model-version mappings, 86 raw task labels versus 64 reported tasks, and the authors' unpublished split and settings. These need the authors' data to test.
2. Preference accuracy 60.70% versus 65.0%. Not the same measurement: ours is calibration accuracy on the 313 pairs that also set λ_a; the paper's is a 500-pair test. On a local 500-pair test PILOT reaches 63.53%. The zero-prior-direction ablation moves quality by +2.14 pp / −0.45 pp, so the prior direction is not a consistent driver of gap 1.
3. Prior-strength heuristic. λ = 1 instead of 1/accuracy changes quality by +1.55 pp / +0.32 pp: not supported locally (three seeds).
4. Collapse at low allocation. Explained by the explicit stop rule (controller slide): at 20% on MMLU every seed stops after 29 of 1,275 queries with money left; the skip variant serves 97.31%. The paper may handle exhaustion differently, which would change the left end of every curve but not the 50% comparison, where all routers serve every query.
5. Settings we fixed ourselves: S = 100, the LB/UB rule, d = 64, margin 0.2, 30/40 epochs, learning rate 0.03, the affordability guard. One bin (−0.35 pp / −0.62 pp) and 8 dimensions (−0.90 pp / +1.65 pp) were ablated; the LB/UB rule is untested. Baselines are deployed with frozen linear means and PILOT with cosine scores through the same cost policy, our declared adaptation.
6. Seeds. At 50% on RouterBench PILOT spans 84.98%–88.61% and LinUCB 90.22%–91.93%: no overlap, so seed noise does not explain gap 1. No significance is computed.
7. Libraries, hardware and code. Outcomes are replayed and independent replays reproduce every learning group exactly, so machine differences cannot create these gaps. We found no official implementation (checked 30 Oct 2026). Runs: W&amp;B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summarize what the evidence allows us to say. Numbers are from the OpenAI-embedding study unless labelled BGE.
Reproduced, with limits. Among the adaptive learners and Random, PILOT accumulates the least oracle regret while learning on both RouterBench and the MMLU subset, matching the paper's ordering in direction; a fixed router that always calls GPT-4 loses less still, so we do not claim PILOT beats every comparator. At loose allocations PILOT leads in quality (97.94% and 98.44% of GPT-4 at 100%), but it spends about 92% of GPT-4's cost to get there. We retold the method in our own notation, checked the regret proposition step by step, and compared complexity with LinUCB and Hybrid LLM.
Not reproduced in our local variant. At a 50% allocation PILOT reaches 86.60% of GPT-4's quality on RouterBench and 83.53% on MMLU, below LinUCB (91.28% and 86.96%) while spending more, with non-overlapping seed ranges. More learning barely moves PILOT at that allocation. The paper's headline (93% of GPT-4 at 25% of its cost) has no matched measured point in our study; the nearest RouterBench points are 78–81% of GPT-4's quality. Switching to the paper's own embedder did not close the gap: OpenAI is not uniformly better than the historical BGE run. On a local 500-pair preference test, RouteLLM matrix factorization (68.07%) beats PILOT (63.53%), the reverse of the paper's ranking. Both the favourable learning-regret result and these adverse budgeted results stay in the deck.
Tested next. The poster takes two weaknesses that the theory slides already flagged. First, PILOT's cosine score throws away the length of the arm vector, so arms whose rewards differ only in magnitude become indistinguishable; the regret guarantee is proven for linear rewards and does not cover this. Second, the cost policy guarantees feasibility for estimated costs only; realized costs that drift from the estimates can break the budget. Each is argued theoretically and demonstrated with a dedicated experiment.
The QR codes open the public GitHub repository (code, data recipes, result packages, experiment maps) and the public W&amp;B project with 3,626 runs: 1,128 historical BGE records and 2,498 OpenAI follow-up records. Scope reminder: 8 arms, the paper's embedder from a cached earlier run, three seeds, historical outcomes; a declared local variant, not a matched replication.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makes every headline number on the results slides traceable to its public W&amp;B run [10], as the course requires. Each mean in the deck averages three seed runs (seeds 7, 42 and 2026); each link opens one seed's run in the OpenAI follow-up registry, whose config records the domain, method, learning fraction, allocation and seed, and whose summary holds the logged condition metrics (quality and recorded cost relative to GPT-4, coverage, estimated and recorded cost).
Numbers not listed here, including every other allocation, learning-size snapshot, fixed-model baseline, ablation, controller variant and supplementary study, map to their runs through the follow-up experiment-map.csv in the GitHub repository [11]. It has one row per W&amp;B record: recipe, experiment family, source run id, source CSV and checksum, producer script, W&amp;B run id and public URL. There are 2,498 rows. The 1,128 historical BGE records keep their own older map and support only the BGE-labelled statements and the poster's synthetic magnitude test.
How to verify one number, e.g. RouterBench PILOT 86.60% at 50%: open the three PILOT links in the first row and compare each run with the per-seed values in per-seed.csv of the OpenAI core package (84.98%, 86.20%, 88.61%); their mean is the slide value. An anonymous API readback on 31 Oct 2026 matched all 2,498 new records and 35,402 metric values, and confirmed that the 1,128 historical records were preserved.
These runs are historical-data aggregates: each holds one summary of a deployment condition computed offline from replayed benchmark outcomes and cached embeddings, not a new set of LLM calls, and not an epoch-by-epoch training curve. Cumulative regret values come from learning-prefixes.csv in the same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58368"/>
          </a:xfrm>
          <a:prstGeom prst="rect">
            <a:avLst/>
          </a:prstGeom>
          <a:noFill/>
          <a:ln/>
        </p:spPr>
        <p:txBody>
          <a:bodyPr wrap="square" rtlCol="0"/>
          <a:lstStyle>
            <a:lvl1pPr algn="l" indent="0" marL="0">
              <a:buNone/>
              <a:defRPr lang="en-US" sz="30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1003.0146" TargetMode="External"/><Relationship Id="rId3" Type="http://schemas.openxmlformats.org/officeDocument/2006/relationships/hyperlink" Target="https://openreview.net/pdf?id=02f3mUtqnM" TargetMode="External"/><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2403.04132" TargetMode="External"/><Relationship Id="rId3" Type="http://schemas.openxmlformats.org/officeDocument/2006/relationships/hyperlink" Target="https://openai.com/index/new-embedding-models-and-api-updates/" TargetMode="Externa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2403.04132" TargetMode="External"/><Relationship Id="rId3" Type="http://schemas.openxmlformats.org/officeDocument/2006/relationships/hyperlink" Target="https://openai.com/index/new-embedding-models-and-api-updates/" TargetMode="External"/><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1003.0146" TargetMode="External"/><Relationship Id="rId3" Type="http://schemas.openxmlformats.org/officeDocument/2006/relationships/chart" Target="/ppt/charts/chart1.xml"/><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doi.org/10.1145/1367497.1367747" TargetMode="Externa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proceedings.neurips.cc/paper/2011/hash/e1d5be1c7f2f456670de3d53c7b54f4a-Abstract.html" TargetMode="Externa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proceedings.neurips.cc/paper/2011/hash/e1d5be1c7f2f456670de3d53c7b54f4a-Abstract.html" TargetMode="Externa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1003.0146" TargetMode="External"/><Relationship Id="rId3" Type="http://schemas.openxmlformats.org/officeDocument/2006/relationships/hyperlink" Target="https://openreview.net/pdf?id=02f3mUtqnM" TargetMode="External"/><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2403.12031" TargetMode="External"/><Relationship Id="rId3" Type="http://schemas.openxmlformats.org/officeDocument/2006/relationships/hyperlink" Target="https://arxiv.org/abs/2402.03216" TargetMode="Externa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5" Type="http://schemas.openxmlformats.org/officeDocument/2006/relationships/hyperlink" Target="https://forge.coreweave.com/wandb/kiettheis-university-of-science-vnu-hcm/pilot-llm-routing-team8/runs/p2-7d78b1693ceca1bae751be80" TargetMode="External"/><Relationship Id="rId6" Type="http://schemas.openxmlformats.org/officeDocument/2006/relationships/hyperlink" Target="https://forge.coreweave.com/wandb/kiettheis-university-of-science-vnu-hcm/pilot-llm-routing-team8/runs/p2-7e458ecb9aa6bc27b76bcaf3" TargetMode="External"/><Relationship Id="rId7" Type="http://schemas.openxmlformats.org/officeDocument/2006/relationships/hyperlink" Target="https://forge.coreweave.com/wandb/kiettheis-university-of-science-vnu-hcm/pilot-llm-routing-team8/runs/p2-7325190ce97dc5c4a1d986fa" TargetMode="External"/><Relationship Id="rId8" Type="http://schemas.openxmlformats.org/officeDocument/2006/relationships/hyperlink" Target="https://forge.coreweave.com/wandb/kiettheis-university-of-science-vnu-hcm/pilot-llm-routing-team8/runs/p2-77db5e01f61381e958f9e169" TargetMode="External"/><Relationship Id="rId9" Type="http://schemas.openxmlformats.org/officeDocument/2006/relationships/hyperlink" Target="https://forge.coreweave.com/wandb/kiettheis-university-of-science-vnu-hcm/pilot-llm-routing-team8/runs/p2-282b745642832ebb59f3d263" TargetMode="External"/><Relationship Id="rId10" Type="http://schemas.openxmlformats.org/officeDocument/2006/relationships/hyperlink" Target="https://forge.coreweave.com/wandb/kiettheis-university-of-science-vnu-hcm/pilot-llm-routing-team8/runs/p2-1bc691d8055130960ac58419" TargetMode="External"/><Relationship Id="rId11" Type="http://schemas.openxmlformats.org/officeDocument/2006/relationships/hyperlink" Target="https://forge.coreweave.com/wandb/kiettheis-university-of-science-vnu-hcm/pilot-llm-routing-team8/runs/p2-e2a3a1f9474a22b0f9c5a31f" TargetMode="External"/><Relationship Id="rId12" Type="http://schemas.openxmlformats.org/officeDocument/2006/relationships/hyperlink" Target="https://forge.coreweave.com/wandb/kiettheis-university-of-science-vnu-hcm/pilot-llm-routing-team8/runs/p2-7a1be896143dbf1dd1ea65cd" TargetMode="External"/><Relationship Id="rId13" Type="http://schemas.openxmlformats.org/officeDocument/2006/relationships/hyperlink" Target="https://forge.coreweave.com/wandb/kiettheis-university-of-science-vnu-hcm/pilot-llm-routing-team8/runs/p2-ae43e5c37116d0d6205943b3" TargetMode="External"/><Relationship Id="rId14" Type="http://schemas.openxmlformats.org/officeDocument/2006/relationships/hyperlink" Target="https://forge.coreweave.com/wandb/kiettheis-university-of-science-vnu-hcm/pilot-llm-routing-team8/runs/p2-e69603db58106be4ebffeb2e" TargetMode="External"/><Relationship Id="rId15" Type="http://schemas.openxmlformats.org/officeDocument/2006/relationships/hyperlink" Target="https://forge.coreweave.com/wandb/kiettheis-university-of-science-vnu-hcm/pilot-llm-routing-team8/runs/p2-6e0469958272f93ee954d604" TargetMode="External"/><Relationship Id="rId16" Type="http://schemas.openxmlformats.org/officeDocument/2006/relationships/hyperlink" Target="https://forge.coreweave.com/wandb/kiettheis-university-of-science-vnu-hcm/pilot-llm-routing-team8/runs/p2-647f1eb3313b84f07ae69543" TargetMode="External"/><Relationship Id="rId3" Type="http://schemas.openxmlformats.org/officeDocument/2006/relationships/chart" Target="/ppt/charts/chart2.xml"/><Relationship Id="rId4" Type="http://schemas.openxmlformats.org/officeDocument/2006/relationships/chart" Target="/ppt/charts/chart3.xml"/><Relationship Id="rId17" Type="http://schemas.openxmlformats.org/officeDocument/2006/relationships/slideLayout" Target="../slideLayouts/slideLayout3.xml"/><Relationship Id="rId1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5" Type="http://schemas.openxmlformats.org/officeDocument/2006/relationships/hyperlink" Target="https://github.com/kiettheis0702/pilot-llm-routing/blob/main/reports/openai-core-2026-10-31/learning-prefixes.csv" TargetMode="External"/><Relationship Id="rId6" Type="http://schemas.openxmlformats.org/officeDocument/2006/relationships/hyperlink" Target="https://github.com/kiettheis0702/pilot-llm-routing/blob/main/reports/openai-core-2026-10-31/learning-prefixes.csv" TargetMode="External"/><Relationship Id="rId3" Type="http://schemas.openxmlformats.org/officeDocument/2006/relationships/chart" Target="/ppt/charts/chart4.xml"/><Relationship Id="rId4" Type="http://schemas.openxmlformats.org/officeDocument/2006/relationships/chart" Target="/ppt/charts/chart5.xml"/><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3" Type="http://schemas.openxmlformats.org/officeDocument/2006/relationships/chart" Target="/ppt/charts/chart6.xml"/><Relationship Id="rId4" Type="http://schemas.openxmlformats.org/officeDocument/2006/relationships/chart" Target="/ppt/charts/chart7.xml"/><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3" Type="http://schemas.openxmlformats.org/officeDocument/2006/relationships/chart" Target="/ppt/charts/chart8.xml"/><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4" Type="http://schemas.openxmlformats.org/officeDocument/2006/relationships/hyperlink" Target="https://forge.coreweave.com/wandb/kiettheis-university-of-science-vnu-hcm/pilot-llm-routing-team8/runs/p2-6ed02bf687a1064979f762c4" TargetMode="External"/><Relationship Id="rId5" Type="http://schemas.openxmlformats.org/officeDocument/2006/relationships/hyperlink" Target="https://forge.coreweave.com/wandb/kiettheis-university-of-science-vnu-hcm/pilot-llm-routing-team8/runs/p2-7666a2a702589c674fae0994" TargetMode="External"/><Relationship Id="rId6" Type="http://schemas.openxmlformats.org/officeDocument/2006/relationships/hyperlink" Target="https://forge.coreweave.com/wandb/kiettheis-university-of-science-vnu-hcm/pilot-llm-routing-team8/runs/p2-15137dc59589c056f2aad8f2" TargetMode="External"/><Relationship Id="rId7" Type="http://schemas.openxmlformats.org/officeDocument/2006/relationships/hyperlink" Target="https://forge.coreweave.com/wandb/kiettheis-university-of-science-vnu-hcm/pilot-llm-routing-team8/runs/p2-cc401d949a35c50f6e524abc" TargetMode="External"/><Relationship Id="rId8" Type="http://schemas.openxmlformats.org/officeDocument/2006/relationships/hyperlink" Target="https://forge.coreweave.com/wandb/kiettheis-university-of-science-vnu-hcm/pilot-llm-routing-team8/runs/p2-ae604b1622a3b176be6a9cad" TargetMode="External"/><Relationship Id="rId9" Type="http://schemas.openxmlformats.org/officeDocument/2006/relationships/hyperlink" Target="https://forge.coreweave.com/wandb/kiettheis-university-of-science-vnu-hcm/pilot-llm-routing-team8/runs/p2-5fc406a2be78648e067103ea" TargetMode="External"/><Relationship Id="rId3" Type="http://schemas.openxmlformats.org/officeDocument/2006/relationships/chart" Target="/ppt/charts/chart9.xml"/><Relationship Id="rId10" Type="http://schemas.openxmlformats.org/officeDocument/2006/relationships/slideLayout" Target="../slideLayouts/slideLayout3.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openreview.net/pdf?id=02f3mUtqnM" TargetMode="External"/><Relationship Id="rId3" Type="http://schemas.openxmlformats.org/officeDocument/2006/relationships/hyperlink" Target="https://forge.coreweave.com/wandb/kiettheis-university-of-science-vnu-hcm/pilot-llm-routing-team8" TargetMode="External"/><Relationship Id="rId4" Type="http://schemas.openxmlformats.org/officeDocument/2006/relationships/hyperlink" Target="https://arxiv.org/abs/2406.18665" TargetMode="External"/><Relationship Id="rId5" Type="http://schemas.openxmlformats.org/officeDocument/2006/relationships/hyperlink" Target="https://aclanthology.org/2023.findings-acl.71/" TargetMode="External"/><Relationship Id="rId6" Type="http://schemas.openxmlformats.org/officeDocument/2006/relationships/chart" Target="/ppt/charts/chart10.xml"/><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forge.coreweave.com/wandb/kiettheis-university-of-science-vnu-hcm/pilot-llm-routing-team8" TargetMode="External"/><Relationship Id="rId3" Type="http://schemas.openxmlformats.org/officeDocument/2006/relationships/hyperlink" Target="https://github.com/kiettheis0702/pilot-llm-routing" TargetMode="External"/><Relationship Id="rId4" Type="http://schemas.openxmlformats.org/officeDocument/2006/relationships/hyperlink" Target="https://arxiv.org/abs/2406.18665" TargetMode="External"/><Relationship Id="rId5" Type="http://schemas.openxmlformats.org/officeDocument/2006/relationships/hyperlink" Target="https://aclanthology.org/2023.findings-acl.71/" TargetMode="External"/><Relationship Id="rId6" Type="http://schemas.openxmlformats.org/officeDocument/2006/relationships/hyperlink" Target="https://github.com/kiettheis0702/pilot-llm-routing/blob/main/reports/openai-publication-2026-10-31/experiment-map.csv" TargetMode="External"/><Relationship Id="rId7" Type="http://schemas.openxmlformats.org/officeDocument/2006/relationships/hyperlink" Target="https://github.com/kiettheis0702/pilot-llm-routing/tree/main/reports/openai-core-2026-10-31/evidence/priors" TargetMode="External"/><Relationship Id="rId8" Type="http://schemas.openxmlformats.org/officeDocument/2006/relationships/slideLayout" Target="../slideLayouts/slideLayout3.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clanthology.org/2025.findings-emnlp.1301.pdf" TargetMode="External"/><Relationship Id="rId2" Type="http://schemas.openxmlformats.org/officeDocument/2006/relationships/hyperlink" Target="https://arxiv.org/abs/2402.03216" TargetMode="External"/><Relationship Id="rId3" Type="http://schemas.openxmlformats.org/officeDocument/2006/relationships/hyperlink" Target="https://forge.coreweave.com/wandb/kiettheis-university-of-science-vnu-hcm/pilot-llm-routing-team8" TargetMode="External"/><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kiettheis0702/pilot-llm-routing" TargetMode="External"/><Relationship Id="rId4" Type="http://schemas.openxmlformats.org/officeDocument/2006/relationships/hyperlink" Target="https://forge.coreweave.com/wandb/kiettheis-university-of-science-vnu-hcm/pilot-llm-routing-team8" TargetMode="External"/><Relationship Id="rId5" Type="http://schemas.openxmlformats.org/officeDocument/2006/relationships/hyperlink" Target="https://forge.coreweave.com/wandb/kiettheis-university-of-science-vnu-hcm/pilot-llm-routing-team8" TargetMode="External"/><Relationship Id="rId6" Type="http://schemas.openxmlformats.org/officeDocument/2006/relationships/hyperlink" Target="https://github.com/kiettheis0702/pilot-llm-routing" TargetMode="External"/><Relationship Id="rId1" Type="http://schemas.openxmlformats.org/officeDocument/2006/relationships/image" Target="../media/image-23-1.png"/><Relationship Id="rId3" Type="http://schemas.openxmlformats.org/officeDocument/2006/relationships/image" Target="../media/image-23-2.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forge.coreweave.com/wandb/kiettheis-university-of-science-vnu-hcm/pilot-llm-routing-team8" TargetMode="External"/><Relationship Id="rId2" Type="http://schemas.openxmlformats.org/officeDocument/2006/relationships/hyperlink" Target="https://github.com/kiettheis0702/pilot-llm-routing" TargetMode="External"/><Relationship Id="rId3" Type="http://schemas.openxmlformats.org/officeDocument/2006/relationships/hyperlink" Target="https://forge.coreweave.com/wandb/kiettheis-university-of-science-vnu-hcm/pilot-llm-routing-team8/runs/p2-7d78b1693ceca1bae751be80" TargetMode="External"/><Relationship Id="rId4" Type="http://schemas.openxmlformats.org/officeDocument/2006/relationships/hyperlink" Target="https://forge.coreweave.com/wandb/kiettheis-university-of-science-vnu-hcm/pilot-llm-routing-team8/runs/p2-7e458ecb9aa6bc27b76bcaf3" TargetMode="External"/><Relationship Id="rId5" Type="http://schemas.openxmlformats.org/officeDocument/2006/relationships/hyperlink" Target="https://forge.coreweave.com/wandb/kiettheis-university-of-science-vnu-hcm/pilot-llm-routing-team8/runs/p2-7325190ce97dc5c4a1d986fa" TargetMode="External"/><Relationship Id="rId6" Type="http://schemas.openxmlformats.org/officeDocument/2006/relationships/hyperlink" Target="https://forge.coreweave.com/wandb/kiettheis-university-of-science-vnu-hcm/pilot-llm-routing-team8/runs/p2-77db5e01f61381e958f9e169" TargetMode="External"/><Relationship Id="rId7" Type="http://schemas.openxmlformats.org/officeDocument/2006/relationships/hyperlink" Target="https://forge.coreweave.com/wandb/kiettheis-university-of-science-vnu-hcm/pilot-llm-routing-team8/runs/p2-282b745642832ebb59f3d263" TargetMode="External"/><Relationship Id="rId8" Type="http://schemas.openxmlformats.org/officeDocument/2006/relationships/hyperlink" Target="https://forge.coreweave.com/wandb/kiettheis-university-of-science-vnu-hcm/pilot-llm-routing-team8/runs/p2-1bc691d8055130960ac58419" TargetMode="External"/><Relationship Id="rId9" Type="http://schemas.openxmlformats.org/officeDocument/2006/relationships/hyperlink" Target="https://forge.coreweave.com/wandb/kiettheis-university-of-science-vnu-hcm/pilot-llm-routing-team8/runs/p2-e2a3a1f9474a22b0f9c5a31f" TargetMode="External"/><Relationship Id="rId10" Type="http://schemas.openxmlformats.org/officeDocument/2006/relationships/hyperlink" Target="https://forge.coreweave.com/wandb/kiettheis-university-of-science-vnu-hcm/pilot-llm-routing-team8/runs/p2-7a1be896143dbf1dd1ea65cd" TargetMode="External"/><Relationship Id="rId11" Type="http://schemas.openxmlformats.org/officeDocument/2006/relationships/hyperlink" Target="https://forge.coreweave.com/wandb/kiettheis-university-of-science-vnu-hcm/pilot-llm-routing-team8/runs/p2-ae43e5c37116d0d6205943b3" TargetMode="External"/><Relationship Id="rId12" Type="http://schemas.openxmlformats.org/officeDocument/2006/relationships/hyperlink" Target="https://forge.coreweave.com/wandb/kiettheis-university-of-science-vnu-hcm/pilot-llm-routing-team8/runs/p2-e69603db58106be4ebffeb2e" TargetMode="External"/><Relationship Id="rId13" Type="http://schemas.openxmlformats.org/officeDocument/2006/relationships/hyperlink" Target="https://forge.coreweave.com/wandb/kiettheis-university-of-science-vnu-hcm/pilot-llm-routing-team8/runs/p2-6e0469958272f93ee954d604" TargetMode="External"/><Relationship Id="rId14" Type="http://schemas.openxmlformats.org/officeDocument/2006/relationships/hyperlink" Target="https://forge.coreweave.com/wandb/kiettheis-university-of-science-vnu-hcm/pilot-llm-routing-team8/runs/p2-647f1eb3313b84f07ae69543" TargetMode="External"/><Relationship Id="rId15" Type="http://schemas.openxmlformats.org/officeDocument/2006/relationships/hyperlink" Target="https://forge.coreweave.com/wandb/kiettheis-university-of-science-vnu-hcm/pilot-llm-routing-team8/runs/p2-35f07caca3046f857c9467ae" TargetMode="External"/><Relationship Id="rId16" Type="http://schemas.openxmlformats.org/officeDocument/2006/relationships/hyperlink" Target="https://forge.coreweave.com/wandb/kiettheis-university-of-science-vnu-hcm/pilot-llm-routing-team8/runs/p2-87e55a3701060f2df0175522" TargetMode="External"/><Relationship Id="rId17" Type="http://schemas.openxmlformats.org/officeDocument/2006/relationships/hyperlink" Target="https://forge.coreweave.com/wandb/kiettheis-university-of-science-vnu-hcm/pilot-llm-routing-team8/runs/p2-3e032b4bce0bc6ad6f630001" TargetMode="External"/><Relationship Id="rId18" Type="http://schemas.openxmlformats.org/officeDocument/2006/relationships/hyperlink" Target="https://forge.coreweave.com/wandb/kiettheis-university-of-science-vnu-hcm/pilot-llm-routing-team8/runs/p2-8f35be049a2b04de12ce98e5" TargetMode="External"/><Relationship Id="rId19" Type="http://schemas.openxmlformats.org/officeDocument/2006/relationships/hyperlink" Target="https://forge.coreweave.com/wandb/kiettheis-university-of-science-vnu-hcm/pilot-llm-routing-team8/runs/p2-335b9f4915abe7d60d423a70" TargetMode="External"/><Relationship Id="rId20" Type="http://schemas.openxmlformats.org/officeDocument/2006/relationships/hyperlink" Target="https://forge.coreweave.com/wandb/kiettheis-university-of-science-vnu-hcm/pilot-llm-routing-team8/runs/p2-5b46026710d6ea299b560b94" TargetMode="External"/><Relationship Id="rId21" Type="http://schemas.openxmlformats.org/officeDocument/2006/relationships/hyperlink" Target="https://forge.coreweave.com/wandb/kiettheis-university-of-science-vnu-hcm/pilot-llm-routing-team8/runs/p2-53e75de1be2c2df31cbbbfba" TargetMode="External"/><Relationship Id="rId22" Type="http://schemas.openxmlformats.org/officeDocument/2006/relationships/hyperlink" Target="https://forge.coreweave.com/wandb/kiettheis-university-of-science-vnu-hcm/pilot-llm-routing-team8/runs/p2-f76972412daa2e9f9b982419" TargetMode="External"/><Relationship Id="rId23" Type="http://schemas.openxmlformats.org/officeDocument/2006/relationships/hyperlink" Target="https://forge.coreweave.com/wandb/kiettheis-university-of-science-vnu-hcm/pilot-llm-routing-team8/runs/p2-68cd995aaee7207a053c6910" TargetMode="External"/><Relationship Id="rId24" Type="http://schemas.openxmlformats.org/officeDocument/2006/relationships/hyperlink" Target="https://forge.coreweave.com/wandb/kiettheis-university-of-science-vnu-hcm/pilot-llm-routing-team8/runs/p2-c318cec42a6256b9e553a9c3" TargetMode="External"/><Relationship Id="rId25" Type="http://schemas.openxmlformats.org/officeDocument/2006/relationships/hyperlink" Target="https://forge.coreweave.com/wandb/kiettheis-university-of-science-vnu-hcm/pilot-llm-routing-team8/runs/p2-8a63f502544b1bf9ba055237" TargetMode="External"/><Relationship Id="rId26" Type="http://schemas.openxmlformats.org/officeDocument/2006/relationships/hyperlink" Target="https://forge.coreweave.com/wandb/kiettheis-university-of-science-vnu-hcm/pilot-llm-routing-team8/runs/p2-e7411b1536a336cf3fb5c834" TargetMode="External"/><Relationship Id="rId27" Type="http://schemas.openxmlformats.org/officeDocument/2006/relationships/hyperlink" Target="https://github.com/kiettheis0702/pilot-llm-routing/blob/main/reports/openai-publication-2026-10-31/experiment-map.csv" TargetMode="External"/><Relationship Id="rId28" Type="http://schemas.openxmlformats.org/officeDocument/2006/relationships/hyperlink" Target="https://github.com/kiettheis0702/pilot-llm-routing/blob/main/reports/publication-2026-10-30/experiment-map.csv" TargetMode="External"/><Relationship Id="rId29" Type="http://schemas.openxmlformats.org/officeDocument/2006/relationships/hyperlink" Target="https://github.com/kiettheis0702/pilot-llm-routing/blob/main/reports/openai-core-2026-10-31/learning-prefixes.csv" TargetMode="External"/><Relationship Id="rId30" Type="http://schemas.openxmlformats.org/officeDocument/2006/relationships/slideLayout" Target="../slideLayouts/slideLayout3.xml"/><Relationship Id="rId31"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85800"/>
            <a:ext cx="6858000" cy="320040"/>
          </a:xfrm>
          <a:prstGeom prst="rect">
            <a:avLst/>
          </a:prstGeom>
          <a:noFill/>
          <a:ln/>
        </p:spPr>
        <p:txBody>
          <a:bodyPr wrap="square" lIns="0" tIns="0" rIns="0" bIns="0" rtlCol="0" anchor="t"/>
          <a:lstStyle/>
          <a:p>
            <a:pPr indent="0" marL="0">
              <a:buNone/>
            </a:pPr>
            <a:r>
              <a:rPr lang="en-US" sz="1300" b="1" spc="150" kern="0" dirty="0">
                <a:solidFill>
                  <a:srgbClr val="6CC3BA"/>
                </a:solidFill>
                <a:latin typeface="Calibri" pitchFamily="34" charset="0"/>
                <a:ea typeface="Calibri" pitchFamily="34" charset="-122"/>
                <a:cs typeface="Calibri" pitchFamily="34" charset="-120"/>
              </a:rPr>
              <a:t>INTRODUCTION TO MACHINE LEARNING · TEAM 8</a:t>
            </a:r>
            <a:endParaRPr lang="en-US" sz="1300" dirty="0"/>
          </a:p>
        </p:txBody>
      </p:sp>
      <p:sp>
        <p:nvSpPr>
          <p:cNvPr id="3" name="Text 1"/>
          <p:cNvSpPr txBox="1"/>
          <p:nvPr/>
        </p:nvSpPr>
        <p:spPr>
          <a:xfrm>
            <a:off x="640080" y="1234440"/>
            <a:ext cx="6766560" cy="2057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PILOT: Adaptive LLM Routing under Budget Constraints</a:t>
            </a:r>
            <a:endParaRPr lang="en-US" sz="4000" dirty="0"/>
          </a:p>
        </p:txBody>
      </p:sp>
      <p:sp>
        <p:nvSpPr>
          <p:cNvPr id="4" name="Text 2"/>
          <p:cNvSpPr txBox="1"/>
          <p:nvPr/>
        </p:nvSpPr>
        <p:spPr>
          <a:xfrm>
            <a:off x="640080" y="3383280"/>
            <a:ext cx="6766560" cy="457200"/>
          </a:xfrm>
          <a:prstGeom prst="rect">
            <a:avLst/>
          </a:prstGeom>
          <a:noFill/>
          <a:ln/>
        </p:spPr>
        <p:txBody>
          <a:bodyPr wrap="square" lIns="0" tIns="0" rIns="0" bIns="0" rtlCol="0" anchor="t"/>
          <a:lstStyle/>
          <a:p>
            <a:pPr indent="0" marL="0">
              <a:buNone/>
            </a:pPr>
            <a:r>
              <a:rPr lang="en-US" sz="2000" dirty="0">
                <a:solidFill>
                  <a:srgbClr val="C9D3E3"/>
                </a:solidFill>
                <a:latin typeface="Calibri" pitchFamily="34" charset="0"/>
                <a:ea typeface="Calibri" pitchFamily="34" charset="-122"/>
                <a:cs typeface="Calibri" pitchFamily="34" charset="-120"/>
              </a:rPr>
              <a:t>Reading the paper and reproducing its two core experiments</a:t>
            </a:r>
            <a:endParaRPr lang="en-US" sz="2000" dirty="0"/>
          </a:p>
        </p:txBody>
      </p:sp>
      <p:sp>
        <p:nvSpPr>
          <p:cNvPr id="5" name="Text 3"/>
          <p:cNvSpPr txBox="1"/>
          <p:nvPr/>
        </p:nvSpPr>
        <p:spPr>
          <a:xfrm>
            <a:off x="640080" y="3931920"/>
            <a:ext cx="6766560" cy="548640"/>
          </a:xfrm>
          <a:prstGeom prst="rect">
            <a:avLst/>
          </a:prstGeom>
          <a:noFill/>
          <a:ln/>
        </p:spPr>
        <p:txBody>
          <a:bodyPr wrap="square" lIns="0" tIns="0" rIns="0" bIns="0" rtlCol="0" anchor="t"/>
          <a:lstStyle/>
          <a:p>
            <a:pPr indent="0" marL="0">
              <a:buNone/>
            </a:pPr>
            <a:r>
              <a:rPr lang="en-US" sz="1300" dirty="0">
                <a:solidFill>
                  <a:srgbClr val="AEB8C8"/>
                </a:solidFill>
                <a:latin typeface="Calibri" pitchFamily="34" charset="0"/>
                <a:ea typeface="Calibri" pitchFamily="34" charset="-122"/>
                <a:cs typeface="Calibri" pitchFamily="34" charset="-120"/>
              </a:rPr>
              <a:t>Paper </a:t>
            </a:r>
            <a:pPr indent="0" marL="0">
              <a:buNone/>
            </a:pPr>
            <a:r>
              <a:rPr lang="en-US" sz="1300" dirty="0">
                <a:solidFill>
                  <a:srgbClr val="AEB8C8"/>
                </a:solidFill>
                <a:latin typeface="Calibri" pitchFamily="34" charset="0"/>
                <a:ea typeface="Calibri" pitchFamily="34" charset="-122"/>
                <a:cs typeface="Calibri" pitchFamily="34" charset="-120"/>
              </a:rPr>
              <a:t>[1]</a:t>
            </a:r>
            <a:pPr indent="0" marL="0">
              <a:buNone/>
            </a:pPr>
            <a:r>
              <a:rPr lang="en-US" sz="1300" dirty="0">
                <a:solidFill>
                  <a:srgbClr val="AEB8C8"/>
                </a:solidFill>
                <a:latin typeface="Calibri" pitchFamily="34" charset="0"/>
                <a:ea typeface="Calibri" pitchFamily="34" charset="-122"/>
                <a:cs typeface="Calibri" pitchFamily="34" charset="-120"/>
              </a:rPr>
              <a:t>: P. Panda, R. Magazine, C. Devaguptapu, S. Takemori, V. Sharma — Findings of EMNLP 2025</a:t>
            </a:r>
            <a:endParaRPr lang="en-US" sz="1300" dirty="0"/>
          </a:p>
        </p:txBody>
      </p:sp>
      <p:sp>
        <p:nvSpPr>
          <p:cNvPr id="6" name="Text 4"/>
          <p:cNvSpPr txBox="1"/>
          <p:nvPr/>
        </p:nvSpPr>
        <p:spPr>
          <a:xfrm>
            <a:off x="640080" y="4800600"/>
            <a:ext cx="67665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Thái Kiệt  ·  Trần Lê Hải</a:t>
            </a:r>
            <a:endParaRPr lang="en-US" sz="2000" dirty="0"/>
          </a:p>
        </p:txBody>
      </p:sp>
      <p:sp>
        <p:nvSpPr>
          <p:cNvPr id="7" name="Text 5"/>
          <p:cNvSpPr txBox="1"/>
          <p:nvPr/>
        </p:nvSpPr>
        <p:spPr>
          <a:xfrm>
            <a:off x="640080" y="5230368"/>
            <a:ext cx="6766560" cy="320040"/>
          </a:xfrm>
          <a:prstGeom prst="rect">
            <a:avLst/>
          </a:prstGeom>
          <a:noFill/>
          <a:ln/>
        </p:spPr>
        <p:txBody>
          <a:bodyPr wrap="square" lIns="0" tIns="0" rIns="0" bIns="0" rtlCol="0" anchor="t"/>
          <a:lstStyle/>
          <a:p>
            <a:pPr indent="0" marL="0">
              <a:buNone/>
            </a:pPr>
            <a:r>
              <a:rPr lang="en-US" sz="1300" dirty="0">
                <a:solidFill>
                  <a:srgbClr val="AEB8C8"/>
                </a:solidFill>
                <a:latin typeface="Calibri" pitchFamily="34" charset="0"/>
                <a:ea typeface="Calibri" pitchFamily="34" charset="-122"/>
                <a:cs typeface="Calibri" pitchFamily="34" charset="-120"/>
              </a:rPr>
              <a:t>24KHMT1 · University of Science, VNU-HCM · October 2026</a:t>
            </a:r>
            <a:endParaRPr lang="en-US" sz="1300" dirty="0"/>
          </a:p>
        </p:txBody>
      </p:sp>
      <p:sp>
        <p:nvSpPr>
          <p:cNvPr id="8" name="Shape 6"/>
          <p:cNvSpPr/>
          <p:nvPr/>
        </p:nvSpPr>
        <p:spPr>
          <a:xfrm flipV="1">
            <a:off x="9729216" y="1143000"/>
            <a:ext cx="1435608" cy="2029968"/>
          </a:xfrm>
          <a:prstGeom prst="line">
            <a:avLst/>
          </a:prstGeom>
          <a:noFill/>
          <a:ln w="12700">
            <a:solidFill>
              <a:srgbClr val="3A4A6B"/>
            </a:solidFill>
            <a:prstDash val="solid"/>
          </a:ln>
        </p:spPr>
      </p:sp>
      <p:sp>
        <p:nvSpPr>
          <p:cNvPr id="9" name="Shape 7"/>
          <p:cNvSpPr/>
          <p:nvPr/>
        </p:nvSpPr>
        <p:spPr>
          <a:xfrm flipV="1">
            <a:off x="9729216" y="1691640"/>
            <a:ext cx="1380744" cy="1481328"/>
          </a:xfrm>
          <a:prstGeom prst="line">
            <a:avLst/>
          </a:prstGeom>
          <a:noFill/>
          <a:ln w="12700">
            <a:solidFill>
              <a:srgbClr val="3A4A6B"/>
            </a:solidFill>
            <a:prstDash val="solid"/>
          </a:ln>
        </p:spPr>
      </p:sp>
      <p:sp>
        <p:nvSpPr>
          <p:cNvPr id="10" name="Shape 8"/>
          <p:cNvSpPr/>
          <p:nvPr/>
        </p:nvSpPr>
        <p:spPr>
          <a:xfrm flipV="1">
            <a:off x="9729216" y="2240280"/>
            <a:ext cx="1408176" cy="932688"/>
          </a:xfrm>
          <a:prstGeom prst="line">
            <a:avLst/>
          </a:prstGeom>
          <a:noFill/>
          <a:ln w="12700">
            <a:solidFill>
              <a:srgbClr val="3A4A6B"/>
            </a:solidFill>
            <a:prstDash val="solid"/>
          </a:ln>
        </p:spPr>
      </p:sp>
      <p:sp>
        <p:nvSpPr>
          <p:cNvPr id="11" name="Shape 9"/>
          <p:cNvSpPr/>
          <p:nvPr/>
        </p:nvSpPr>
        <p:spPr>
          <a:xfrm flipV="1">
            <a:off x="9729216" y="2788920"/>
            <a:ext cx="1344168" cy="384048"/>
          </a:xfrm>
          <a:prstGeom prst="line">
            <a:avLst/>
          </a:prstGeom>
          <a:noFill/>
          <a:ln w="38100">
            <a:solidFill>
              <a:srgbClr val="6CC3BA"/>
            </a:solidFill>
            <a:prstDash val="solid"/>
          </a:ln>
        </p:spPr>
      </p:sp>
      <p:sp>
        <p:nvSpPr>
          <p:cNvPr id="12" name="Shape 10"/>
          <p:cNvSpPr/>
          <p:nvPr/>
        </p:nvSpPr>
        <p:spPr>
          <a:xfrm>
            <a:off x="9729216" y="3172968"/>
            <a:ext cx="1316736" cy="164592"/>
          </a:xfrm>
          <a:prstGeom prst="line">
            <a:avLst/>
          </a:prstGeom>
          <a:noFill/>
          <a:ln w="12700">
            <a:solidFill>
              <a:srgbClr val="3A4A6B"/>
            </a:solidFill>
            <a:prstDash val="solid"/>
          </a:ln>
        </p:spPr>
      </p:sp>
      <p:sp>
        <p:nvSpPr>
          <p:cNvPr id="13" name="Shape 11"/>
          <p:cNvSpPr/>
          <p:nvPr/>
        </p:nvSpPr>
        <p:spPr>
          <a:xfrm>
            <a:off x="9729216" y="3172968"/>
            <a:ext cx="1421892" cy="713232"/>
          </a:xfrm>
          <a:prstGeom prst="line">
            <a:avLst/>
          </a:prstGeom>
          <a:noFill/>
          <a:ln w="12700">
            <a:solidFill>
              <a:srgbClr val="3A4A6B"/>
            </a:solidFill>
            <a:prstDash val="solid"/>
          </a:ln>
        </p:spPr>
      </p:sp>
      <p:sp>
        <p:nvSpPr>
          <p:cNvPr id="14" name="Shape 12"/>
          <p:cNvSpPr/>
          <p:nvPr/>
        </p:nvSpPr>
        <p:spPr>
          <a:xfrm>
            <a:off x="9729216" y="3172968"/>
            <a:ext cx="1362456" cy="1261872"/>
          </a:xfrm>
          <a:prstGeom prst="line">
            <a:avLst/>
          </a:prstGeom>
          <a:noFill/>
          <a:ln w="12700">
            <a:solidFill>
              <a:srgbClr val="3A4A6B"/>
            </a:solidFill>
            <a:prstDash val="solid"/>
          </a:ln>
        </p:spPr>
      </p:sp>
      <p:sp>
        <p:nvSpPr>
          <p:cNvPr id="15" name="Shape 13"/>
          <p:cNvSpPr/>
          <p:nvPr/>
        </p:nvSpPr>
        <p:spPr>
          <a:xfrm>
            <a:off x="9729216" y="3172968"/>
            <a:ext cx="1394460" cy="1810512"/>
          </a:xfrm>
          <a:prstGeom prst="line">
            <a:avLst/>
          </a:prstGeom>
          <a:noFill/>
          <a:ln w="12700">
            <a:solidFill>
              <a:srgbClr val="3A4A6B"/>
            </a:solidFill>
            <a:prstDash val="solid"/>
          </a:ln>
        </p:spPr>
      </p:sp>
      <p:sp>
        <p:nvSpPr>
          <p:cNvPr id="16" name="Shape 14"/>
          <p:cNvSpPr/>
          <p:nvPr/>
        </p:nvSpPr>
        <p:spPr>
          <a:xfrm>
            <a:off x="11164824" y="1014984"/>
            <a:ext cx="256032" cy="256032"/>
          </a:xfrm>
          <a:prstGeom prst="ellipse">
            <a:avLst/>
          </a:prstGeom>
          <a:solidFill>
            <a:srgbClr val="2C3A58"/>
          </a:solidFill>
          <a:ln w="9525">
            <a:solidFill>
              <a:srgbClr val="4A5A7A"/>
            </a:solidFill>
            <a:prstDash val="solid"/>
          </a:ln>
        </p:spPr>
      </p:sp>
      <p:sp>
        <p:nvSpPr>
          <p:cNvPr id="17" name="Shape 15"/>
          <p:cNvSpPr/>
          <p:nvPr/>
        </p:nvSpPr>
        <p:spPr>
          <a:xfrm>
            <a:off x="11109960" y="1508760"/>
            <a:ext cx="365760" cy="365760"/>
          </a:xfrm>
          <a:prstGeom prst="ellipse">
            <a:avLst/>
          </a:prstGeom>
          <a:solidFill>
            <a:srgbClr val="2C3A58"/>
          </a:solidFill>
          <a:ln w="9525">
            <a:solidFill>
              <a:srgbClr val="4A5A7A"/>
            </a:solidFill>
            <a:prstDash val="solid"/>
          </a:ln>
        </p:spPr>
      </p:sp>
      <p:sp>
        <p:nvSpPr>
          <p:cNvPr id="18" name="Shape 16"/>
          <p:cNvSpPr/>
          <p:nvPr/>
        </p:nvSpPr>
        <p:spPr>
          <a:xfrm>
            <a:off x="11137392" y="2084832"/>
            <a:ext cx="310896" cy="310896"/>
          </a:xfrm>
          <a:prstGeom prst="ellipse">
            <a:avLst/>
          </a:prstGeom>
          <a:solidFill>
            <a:srgbClr val="2C3A58"/>
          </a:solidFill>
          <a:ln w="9525">
            <a:solidFill>
              <a:srgbClr val="4A5A7A"/>
            </a:solidFill>
            <a:prstDash val="solid"/>
          </a:ln>
        </p:spPr>
      </p:sp>
      <p:sp>
        <p:nvSpPr>
          <p:cNvPr id="19" name="Shape 17"/>
          <p:cNvSpPr/>
          <p:nvPr/>
        </p:nvSpPr>
        <p:spPr>
          <a:xfrm>
            <a:off x="11073384" y="2569464"/>
            <a:ext cx="438912" cy="438912"/>
          </a:xfrm>
          <a:prstGeom prst="ellipse">
            <a:avLst/>
          </a:prstGeom>
          <a:solidFill>
            <a:srgbClr val="0E7C7B"/>
          </a:solidFill>
          <a:ln w="9525">
            <a:solidFill>
              <a:srgbClr val="6CC3BA"/>
            </a:solidFill>
            <a:prstDash val="solid"/>
          </a:ln>
        </p:spPr>
      </p:sp>
      <p:sp>
        <p:nvSpPr>
          <p:cNvPr id="20" name="Shape 18"/>
          <p:cNvSpPr/>
          <p:nvPr/>
        </p:nvSpPr>
        <p:spPr>
          <a:xfrm>
            <a:off x="11045952" y="3090672"/>
            <a:ext cx="493776" cy="493776"/>
          </a:xfrm>
          <a:prstGeom prst="ellipse">
            <a:avLst/>
          </a:prstGeom>
          <a:solidFill>
            <a:srgbClr val="2C3A58"/>
          </a:solidFill>
          <a:ln w="9525">
            <a:solidFill>
              <a:srgbClr val="4A5A7A"/>
            </a:solidFill>
            <a:prstDash val="solid"/>
          </a:ln>
        </p:spPr>
      </p:sp>
      <p:sp>
        <p:nvSpPr>
          <p:cNvPr id="21" name="Shape 19"/>
          <p:cNvSpPr/>
          <p:nvPr/>
        </p:nvSpPr>
        <p:spPr>
          <a:xfrm>
            <a:off x="11151108" y="3744468"/>
            <a:ext cx="283464" cy="283464"/>
          </a:xfrm>
          <a:prstGeom prst="ellipse">
            <a:avLst/>
          </a:prstGeom>
          <a:solidFill>
            <a:srgbClr val="2C3A58"/>
          </a:solidFill>
          <a:ln w="9525">
            <a:solidFill>
              <a:srgbClr val="4A5A7A"/>
            </a:solidFill>
            <a:prstDash val="solid"/>
          </a:ln>
        </p:spPr>
      </p:sp>
      <p:sp>
        <p:nvSpPr>
          <p:cNvPr id="22" name="Shape 20"/>
          <p:cNvSpPr/>
          <p:nvPr/>
        </p:nvSpPr>
        <p:spPr>
          <a:xfrm>
            <a:off x="11091672" y="4233672"/>
            <a:ext cx="402336" cy="402336"/>
          </a:xfrm>
          <a:prstGeom prst="ellipse">
            <a:avLst/>
          </a:prstGeom>
          <a:solidFill>
            <a:srgbClr val="2C3A58"/>
          </a:solidFill>
          <a:ln w="9525">
            <a:solidFill>
              <a:srgbClr val="4A5A7A"/>
            </a:solidFill>
            <a:prstDash val="solid"/>
          </a:ln>
        </p:spPr>
      </p:sp>
      <p:sp>
        <p:nvSpPr>
          <p:cNvPr id="23" name="Shape 21"/>
          <p:cNvSpPr/>
          <p:nvPr/>
        </p:nvSpPr>
        <p:spPr>
          <a:xfrm>
            <a:off x="11123676" y="4814316"/>
            <a:ext cx="338328" cy="338328"/>
          </a:xfrm>
          <a:prstGeom prst="ellipse">
            <a:avLst/>
          </a:prstGeom>
          <a:solidFill>
            <a:srgbClr val="2C3A58"/>
          </a:solidFill>
          <a:ln w="9525">
            <a:solidFill>
              <a:srgbClr val="4A5A7A"/>
            </a:solidFill>
            <a:prstDash val="solid"/>
          </a:ln>
        </p:spPr>
      </p:sp>
      <p:sp>
        <p:nvSpPr>
          <p:cNvPr id="24" name="Shape 22"/>
          <p:cNvSpPr/>
          <p:nvPr/>
        </p:nvSpPr>
        <p:spPr>
          <a:xfrm>
            <a:off x="8558784" y="3172968"/>
            <a:ext cx="566928" cy="914"/>
          </a:xfrm>
          <a:prstGeom prst="line">
            <a:avLst/>
          </a:prstGeom>
          <a:noFill/>
          <a:ln w="31750">
            <a:solidFill>
              <a:srgbClr val="6CC3BA"/>
            </a:solidFill>
            <a:prstDash val="solid"/>
            <a:tailEnd type="triangle"/>
          </a:ln>
        </p:spPr>
      </p:sp>
      <p:sp>
        <p:nvSpPr>
          <p:cNvPr id="25" name="Shape 23"/>
          <p:cNvSpPr/>
          <p:nvPr/>
        </p:nvSpPr>
        <p:spPr>
          <a:xfrm>
            <a:off x="7955280" y="2880360"/>
            <a:ext cx="585216" cy="585216"/>
          </a:xfrm>
          <a:prstGeom prst="ellipse">
            <a:avLst/>
          </a:prstGeom>
          <a:solidFill>
            <a:srgbClr val="C77700"/>
          </a:solidFill>
          <a:ln w="9525">
            <a:solidFill>
              <a:srgbClr val="C77700"/>
            </a:solidFill>
            <a:prstDash val="solid"/>
          </a:ln>
        </p:spPr>
      </p:sp>
      <p:sp>
        <p:nvSpPr>
          <p:cNvPr id="26" name="Text 24"/>
          <p:cNvSpPr txBox="1"/>
          <p:nvPr/>
        </p:nvSpPr>
        <p:spPr>
          <a:xfrm>
            <a:off x="7955280" y="2880360"/>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q</a:t>
            </a:r>
            <a:endParaRPr lang="en-US" sz="1800" dirty="0"/>
          </a:p>
        </p:txBody>
      </p:sp>
      <p:sp>
        <p:nvSpPr>
          <p:cNvPr id="27" name="Shape 25"/>
          <p:cNvSpPr/>
          <p:nvPr/>
        </p:nvSpPr>
        <p:spPr>
          <a:xfrm>
            <a:off x="9144000" y="2880360"/>
            <a:ext cx="585216" cy="585216"/>
          </a:xfrm>
          <a:prstGeom prst="ellipse">
            <a:avLst/>
          </a:prstGeom>
          <a:solidFill>
            <a:srgbClr val="FFFFFF"/>
          </a:solidFill>
          <a:ln w="9525">
            <a:solidFill>
              <a:srgbClr val="FFFFFF"/>
            </a:solidFill>
            <a:prstDash val="solid"/>
          </a:ln>
        </p:spPr>
      </p:sp>
      <p:sp>
        <p:nvSpPr>
          <p:cNvPr id="28" name="Text 26"/>
          <p:cNvSpPr txBox="1"/>
          <p:nvPr/>
        </p:nvSpPr>
        <p:spPr>
          <a:xfrm>
            <a:off x="9144000" y="2880360"/>
            <a:ext cx="585216" cy="585216"/>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R</a:t>
            </a:r>
            <a:endParaRPr lang="en-US" sz="1800" dirty="0"/>
          </a:p>
        </p:txBody>
      </p:sp>
      <p:sp>
        <p:nvSpPr>
          <p:cNvPr id="29" name="Text 27"/>
          <p:cNvSpPr txBox="1"/>
          <p:nvPr/>
        </p:nvSpPr>
        <p:spPr>
          <a:xfrm>
            <a:off x="7772400" y="3538728"/>
            <a:ext cx="950976" cy="274320"/>
          </a:xfrm>
          <a:prstGeom prst="rect">
            <a:avLst/>
          </a:prstGeom>
          <a:noFill/>
          <a:ln/>
        </p:spPr>
        <p:txBody>
          <a:bodyPr wrap="square" lIns="0" tIns="0" rIns="0" bIns="0" rtlCol="0" anchor="t"/>
          <a:lstStyle/>
          <a:p>
            <a:pPr algn="ctr" indent="0" marL="0">
              <a:buNone/>
            </a:pPr>
            <a:r>
              <a:rPr lang="en-US" sz="1100" dirty="0">
                <a:solidFill>
                  <a:srgbClr val="AEB8C8"/>
                </a:solidFill>
                <a:latin typeface="Calibri" pitchFamily="34" charset="0"/>
                <a:ea typeface="Calibri" pitchFamily="34" charset="-122"/>
                <a:cs typeface="Calibri" pitchFamily="34" charset="-120"/>
              </a:rPr>
              <a:t>query</a:t>
            </a:r>
            <a:endParaRPr lang="en-US" sz="1100" dirty="0"/>
          </a:p>
        </p:txBody>
      </p:sp>
      <p:sp>
        <p:nvSpPr>
          <p:cNvPr id="30" name="Text 28"/>
          <p:cNvSpPr txBox="1"/>
          <p:nvPr/>
        </p:nvSpPr>
        <p:spPr>
          <a:xfrm>
            <a:off x="8961120" y="3538728"/>
            <a:ext cx="950976" cy="274320"/>
          </a:xfrm>
          <a:prstGeom prst="rect">
            <a:avLst/>
          </a:prstGeom>
          <a:noFill/>
          <a:ln/>
        </p:spPr>
        <p:txBody>
          <a:bodyPr wrap="square" lIns="0" tIns="0" rIns="0" bIns="0" rtlCol="0" anchor="t"/>
          <a:lstStyle/>
          <a:p>
            <a:pPr algn="ctr" indent="0" marL="0">
              <a:buNone/>
            </a:pPr>
            <a:r>
              <a:rPr lang="en-US" sz="1100" dirty="0">
                <a:solidFill>
                  <a:srgbClr val="AEB8C8"/>
                </a:solidFill>
                <a:latin typeface="Calibri" pitchFamily="34" charset="0"/>
                <a:ea typeface="Calibri" pitchFamily="34" charset="-122"/>
                <a:cs typeface="Calibri" pitchFamily="34" charset="-120"/>
              </a:rPr>
              <a:t>router</a:t>
            </a:r>
            <a:endParaRPr lang="en-US" sz="1100" dirty="0"/>
          </a:p>
        </p:txBody>
      </p:sp>
      <p:sp>
        <p:nvSpPr>
          <p:cNvPr id="31" name="Text 29"/>
          <p:cNvSpPr txBox="1"/>
          <p:nvPr/>
        </p:nvSpPr>
        <p:spPr>
          <a:xfrm>
            <a:off x="9966960" y="5440680"/>
            <a:ext cx="2194560" cy="274320"/>
          </a:xfrm>
          <a:prstGeom prst="rect">
            <a:avLst/>
          </a:prstGeom>
          <a:noFill/>
          <a:ln/>
        </p:spPr>
        <p:txBody>
          <a:bodyPr wrap="square" lIns="0" tIns="0" rIns="0" bIns="0" rtlCol="0" anchor="t"/>
          <a:lstStyle/>
          <a:p>
            <a:pPr algn="ctr" indent="0" marL="0">
              <a:buNone/>
            </a:pPr>
            <a:r>
              <a:rPr lang="en-US" sz="1050" dirty="0">
                <a:solidFill>
                  <a:srgbClr val="AEB8C8"/>
                </a:solidFill>
                <a:latin typeface="Calibri" pitchFamily="34" charset="0"/>
                <a:ea typeface="Calibri" pitchFamily="34" charset="-122"/>
                <a:cs typeface="Calibri" pitchFamily="34" charset="-120"/>
              </a:rPr>
              <a:t>8 LLM arms (circle size ≈ cost)</a:t>
            </a:r>
            <a:endParaRPr lang="en-US" sz="1050" dirty="0"/>
          </a:p>
        </p:txBody>
      </p:sp>
      <p:sp>
        <p:nvSpPr>
          <p:cNvPr id="32" name="Text 30"/>
          <p:cNvSpPr txBox="1"/>
          <p:nvPr/>
        </p:nvSpPr>
        <p:spPr>
          <a:xfrm>
            <a:off x="548640" y="6469380"/>
            <a:ext cx="10561320" cy="205740"/>
          </a:xfrm>
          <a:prstGeom prst="rect">
            <a:avLst/>
          </a:prstGeom>
          <a:noFill/>
          <a:ln/>
        </p:spPr>
        <p:txBody>
          <a:bodyPr wrap="square" lIns="0" tIns="0" rIns="0" bIns="0" rtlCol="0" anchor="b"/>
          <a:lstStyle/>
          <a:p>
            <a:pPr indent="0" marL="0">
              <a:buNone/>
            </a:pPr>
            <a:r>
              <a:rPr lang="en-US" sz="950" u="sng" dirty="0">
                <a:solidFill>
                  <a:srgbClr val="AEB8C8"/>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CONTEXT AND MOTIVATION</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One query, eight models, one monthly budget</a:t>
            </a:r>
            <a:endParaRPr lang="en-US" sz="3000" dirty="0"/>
          </a:p>
        </p:txBody>
      </p:sp>
      <p:sp>
        <p:nvSpPr>
          <p:cNvPr id="5" name="Text 3"/>
          <p:cNvSpPr txBox="1"/>
          <p:nvPr/>
        </p:nvSpPr>
        <p:spPr>
          <a:xfrm>
            <a:off x="548640" y="6469380"/>
            <a:ext cx="10561320" cy="205740"/>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p:txBody>
      </p:sp>
      <p:sp>
        <p:nvSpPr>
          <p:cNvPr id="7" name="Text 4"/>
          <p:cNvSpPr txBox="1"/>
          <p:nvPr/>
        </p:nvSpPr>
        <p:spPr>
          <a:xfrm>
            <a:off x="548640" y="1481328"/>
            <a:ext cx="6675120"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Our example · an HCMUS student help-desk chatbot</a:t>
            </a:r>
            <a:endParaRPr lang="en-US" sz="1500" dirty="0"/>
          </a:p>
        </p:txBody>
      </p:sp>
      <p:sp>
        <p:nvSpPr>
          <p:cNvPr id="8" name="Shape 5"/>
          <p:cNvSpPr/>
          <p:nvPr/>
        </p:nvSpPr>
        <p:spPr>
          <a:xfrm>
            <a:off x="548640" y="1965960"/>
            <a:ext cx="2788920" cy="1234440"/>
          </a:xfrm>
          <a:prstGeom prst="roundRect">
            <a:avLst>
              <a:gd name="adj" fmla="val 5926"/>
            </a:avLst>
          </a:prstGeom>
          <a:solidFill>
            <a:srgbClr val="F2F4F7"/>
          </a:solidFill>
          <a:ln w="9525">
            <a:solidFill>
              <a:srgbClr val="F2F4F7"/>
            </a:solidFill>
            <a:prstDash val="solid"/>
          </a:ln>
        </p:spPr>
      </p:sp>
      <p:sp>
        <p:nvSpPr>
          <p:cNvPr id="9" name="Text 6"/>
          <p:cNvSpPr txBox="1"/>
          <p:nvPr/>
        </p:nvSpPr>
        <p:spPr>
          <a:xfrm>
            <a:off x="713232" y="2075688"/>
            <a:ext cx="2468880" cy="1024128"/>
          </a:xfrm>
          <a:prstGeom prst="rect">
            <a:avLst/>
          </a:prstGeom>
          <a:noFill/>
          <a:ln/>
        </p:spPr>
        <p:txBody>
          <a:bodyPr wrap="square" lIns="0" tIns="0" rIns="0" bIns="0" rtlCol="0" anchor="ctr"/>
          <a:lstStyle/>
          <a:p>
            <a:pPr indent="0" marL="0">
              <a:buNone/>
            </a:pPr>
            <a:r>
              <a:rPr lang="en-US" sz="1350" i="1" dirty="0">
                <a:solidFill>
                  <a:srgbClr val="1F2933"/>
                </a:solidFill>
                <a:latin typeface="Calibri" pitchFamily="34" charset="0"/>
                <a:ea typeface="Calibri" pitchFamily="34" charset="-122"/>
                <a:cs typeface="Calibri" pitchFamily="34" charset="-120"/>
              </a:rPr>
              <a:t>“When does course registration close?”</a:t>
            </a:r>
            <a:endParaRPr lang="en-US" sz="1350" dirty="0"/>
          </a:p>
        </p:txBody>
      </p:sp>
      <p:sp>
        <p:nvSpPr>
          <p:cNvPr id="10" name="Shape 7"/>
          <p:cNvSpPr/>
          <p:nvPr/>
        </p:nvSpPr>
        <p:spPr>
          <a:xfrm>
            <a:off x="3383280" y="2578608"/>
            <a:ext cx="411480" cy="914"/>
          </a:xfrm>
          <a:prstGeom prst="line">
            <a:avLst/>
          </a:prstGeom>
          <a:noFill/>
          <a:ln w="19050">
            <a:solidFill>
              <a:srgbClr val="5B6676"/>
            </a:solidFill>
            <a:prstDash val="solid"/>
            <a:tailEnd type="triangle"/>
          </a:ln>
        </p:spPr>
      </p:sp>
      <p:sp>
        <p:nvSpPr>
          <p:cNvPr id="11" name="Shape 8"/>
          <p:cNvSpPr/>
          <p:nvPr/>
        </p:nvSpPr>
        <p:spPr>
          <a:xfrm>
            <a:off x="3840480" y="2322576"/>
            <a:ext cx="512064" cy="512064"/>
          </a:xfrm>
          <a:prstGeom prst="ellipse">
            <a:avLst/>
          </a:prstGeom>
          <a:solidFill>
            <a:srgbClr val="14213D"/>
          </a:solidFill>
          <a:ln w="9525">
            <a:solidFill>
              <a:srgbClr val="14213D"/>
            </a:solidFill>
            <a:prstDash val="solid"/>
          </a:ln>
        </p:spPr>
      </p:sp>
      <p:sp>
        <p:nvSpPr>
          <p:cNvPr id="12" name="Text 9"/>
          <p:cNvSpPr txBox="1"/>
          <p:nvPr/>
        </p:nvSpPr>
        <p:spPr>
          <a:xfrm>
            <a:off x="3840480" y="232257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13" name="Shape 10"/>
          <p:cNvSpPr/>
          <p:nvPr/>
        </p:nvSpPr>
        <p:spPr>
          <a:xfrm>
            <a:off x="4389120" y="2578608"/>
            <a:ext cx="365760" cy="914"/>
          </a:xfrm>
          <a:prstGeom prst="line">
            <a:avLst/>
          </a:prstGeom>
          <a:noFill/>
          <a:ln w="25400">
            <a:solidFill>
              <a:srgbClr val="0E7C7B"/>
            </a:solidFill>
            <a:prstDash val="solid"/>
            <a:tailEnd type="triangle"/>
          </a:ln>
        </p:spPr>
      </p:sp>
      <p:sp>
        <p:nvSpPr>
          <p:cNvPr id="14" name="Shape 11"/>
          <p:cNvSpPr/>
          <p:nvPr/>
        </p:nvSpPr>
        <p:spPr>
          <a:xfrm>
            <a:off x="4800600" y="2148840"/>
            <a:ext cx="1417320" cy="868680"/>
          </a:xfrm>
          <a:prstGeom prst="roundRect">
            <a:avLst>
              <a:gd name="adj" fmla="val 8421"/>
            </a:avLst>
          </a:prstGeom>
          <a:solidFill>
            <a:srgbClr val="E2F1F0"/>
          </a:solidFill>
          <a:ln w="9525">
            <a:solidFill>
              <a:srgbClr val="0E7C7B"/>
            </a:solidFill>
            <a:prstDash val="solid"/>
          </a:ln>
        </p:spPr>
      </p:sp>
      <p:sp>
        <p:nvSpPr>
          <p:cNvPr id="15" name="Text 12"/>
          <p:cNvSpPr txBox="1"/>
          <p:nvPr/>
        </p:nvSpPr>
        <p:spPr>
          <a:xfrm>
            <a:off x="4846320" y="2167128"/>
            <a:ext cx="1325880" cy="82296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small model</a:t>
            </a:r>
            <a:endParaRPr lang="en-US" sz="1250" dirty="0"/>
          </a:p>
          <a:p>
            <a:pPr algn="ctr" indent="0" marL="0">
              <a:buNone/>
            </a:pPr>
            <a:r>
              <a:rPr lang="en-US" sz="1500" b="1" dirty="0">
                <a:solidFill>
                  <a:srgbClr val="0E7C7B"/>
                </a:solidFill>
                <a:latin typeface="Calibri" pitchFamily="34" charset="0"/>
                <a:ea typeface="Calibri" pitchFamily="34" charset="-122"/>
                <a:cs typeface="Calibri" pitchFamily="34" charset="-120"/>
              </a:rPr>
              <a:t>$</a:t>
            </a:r>
            <a:endParaRPr lang="en-US" sz="1250" dirty="0"/>
          </a:p>
        </p:txBody>
      </p:sp>
      <p:sp>
        <p:nvSpPr>
          <p:cNvPr id="16" name="Shape 13"/>
          <p:cNvSpPr/>
          <p:nvPr/>
        </p:nvSpPr>
        <p:spPr>
          <a:xfrm>
            <a:off x="6263640" y="2578608"/>
            <a:ext cx="320040" cy="914"/>
          </a:xfrm>
          <a:prstGeom prst="line">
            <a:avLst/>
          </a:prstGeom>
          <a:noFill/>
          <a:ln w="19050">
            <a:solidFill>
              <a:srgbClr val="5B6676"/>
            </a:solidFill>
            <a:prstDash val="solid"/>
            <a:tailEnd type="triangle"/>
          </a:ln>
        </p:spPr>
      </p:sp>
      <p:sp>
        <p:nvSpPr>
          <p:cNvPr id="17" name="Shape 14"/>
          <p:cNvSpPr/>
          <p:nvPr/>
        </p:nvSpPr>
        <p:spPr>
          <a:xfrm>
            <a:off x="6601968" y="2304288"/>
            <a:ext cx="804672" cy="548640"/>
          </a:xfrm>
          <a:prstGeom prst="roundRect">
            <a:avLst>
              <a:gd name="adj" fmla="val 13333"/>
            </a:avLst>
          </a:prstGeom>
          <a:solidFill>
            <a:srgbClr val="FFFFFF"/>
          </a:solidFill>
          <a:ln w="9525">
            <a:solidFill>
              <a:srgbClr val="D9DEE5"/>
            </a:solidFill>
            <a:prstDash val="solid"/>
          </a:ln>
        </p:spPr>
      </p:sp>
      <p:sp>
        <p:nvSpPr>
          <p:cNvPr id="18" name="Text 15"/>
          <p:cNvSpPr txBox="1"/>
          <p:nvPr/>
        </p:nvSpPr>
        <p:spPr>
          <a:xfrm>
            <a:off x="6620256" y="2304288"/>
            <a:ext cx="768096" cy="548640"/>
          </a:xfrm>
          <a:prstGeom prst="rect">
            <a:avLst/>
          </a:prstGeom>
          <a:noFill/>
          <a:ln/>
        </p:spPr>
        <p:txBody>
          <a:bodyPr wrap="square" lIns="0" tIns="0" rIns="0" bIns="0" rtlCol="0" anchor="ctr"/>
          <a:lstStyle/>
          <a:p>
            <a:pPr algn="ctr" indent="0" marL="0">
              <a:buNone/>
            </a:pPr>
            <a:r>
              <a:rPr lang="en-US" sz="1100" dirty="0">
                <a:solidFill>
                  <a:srgbClr val="5B6676"/>
                </a:solidFill>
                <a:latin typeface="Calibri" pitchFamily="34" charset="0"/>
                <a:ea typeface="Calibri" pitchFamily="34" charset="-122"/>
                <a:cs typeface="Calibri" pitchFamily="34" charset="-120"/>
              </a:rPr>
              <a:t>rated good</a:t>
            </a:r>
            <a:endParaRPr lang="en-US" sz="1100" dirty="0"/>
          </a:p>
        </p:txBody>
      </p:sp>
      <p:sp>
        <p:nvSpPr>
          <p:cNvPr id="19" name="Shape 16"/>
          <p:cNvSpPr/>
          <p:nvPr/>
        </p:nvSpPr>
        <p:spPr>
          <a:xfrm>
            <a:off x="548640" y="3566160"/>
            <a:ext cx="2788920" cy="1234440"/>
          </a:xfrm>
          <a:prstGeom prst="roundRect">
            <a:avLst>
              <a:gd name="adj" fmla="val 5926"/>
            </a:avLst>
          </a:prstGeom>
          <a:solidFill>
            <a:srgbClr val="F2F4F7"/>
          </a:solidFill>
          <a:ln w="9525">
            <a:solidFill>
              <a:srgbClr val="F2F4F7"/>
            </a:solidFill>
            <a:prstDash val="solid"/>
          </a:ln>
        </p:spPr>
      </p:sp>
      <p:sp>
        <p:nvSpPr>
          <p:cNvPr id="20" name="Text 17"/>
          <p:cNvSpPr txBox="1"/>
          <p:nvPr/>
        </p:nvSpPr>
        <p:spPr>
          <a:xfrm>
            <a:off x="713232" y="3675888"/>
            <a:ext cx="2468880" cy="1024128"/>
          </a:xfrm>
          <a:prstGeom prst="rect">
            <a:avLst/>
          </a:prstGeom>
          <a:noFill/>
          <a:ln/>
        </p:spPr>
        <p:txBody>
          <a:bodyPr wrap="square" lIns="0" tIns="0" rIns="0" bIns="0" rtlCol="0" anchor="ctr"/>
          <a:lstStyle/>
          <a:p>
            <a:pPr indent="0" marL="0">
              <a:buNone/>
            </a:pPr>
            <a:r>
              <a:rPr lang="en-US" sz="1350" i="1" dirty="0">
                <a:solidFill>
                  <a:srgbClr val="1F2933"/>
                </a:solidFill>
                <a:latin typeface="Calibri" pitchFamily="34" charset="0"/>
                <a:ea typeface="Calibri" pitchFamily="34" charset="-122"/>
                <a:cs typeface="Calibri" pitchFamily="34" charset="-120"/>
              </a:rPr>
              <a:t>“Why does gradient descent diverge when the step size is too large? Show the math.”</a:t>
            </a:r>
            <a:endParaRPr lang="en-US" sz="1350" dirty="0"/>
          </a:p>
        </p:txBody>
      </p:sp>
      <p:sp>
        <p:nvSpPr>
          <p:cNvPr id="21" name="Shape 18"/>
          <p:cNvSpPr/>
          <p:nvPr/>
        </p:nvSpPr>
        <p:spPr>
          <a:xfrm>
            <a:off x="3383280" y="4178808"/>
            <a:ext cx="411480" cy="914"/>
          </a:xfrm>
          <a:prstGeom prst="line">
            <a:avLst/>
          </a:prstGeom>
          <a:noFill/>
          <a:ln w="19050">
            <a:solidFill>
              <a:srgbClr val="5B6676"/>
            </a:solidFill>
            <a:prstDash val="solid"/>
            <a:tailEnd type="triangle"/>
          </a:ln>
        </p:spPr>
      </p:sp>
      <p:sp>
        <p:nvSpPr>
          <p:cNvPr id="22" name="Shape 19"/>
          <p:cNvSpPr/>
          <p:nvPr/>
        </p:nvSpPr>
        <p:spPr>
          <a:xfrm>
            <a:off x="3840480" y="3922776"/>
            <a:ext cx="512064" cy="512064"/>
          </a:xfrm>
          <a:prstGeom prst="ellipse">
            <a:avLst/>
          </a:prstGeom>
          <a:solidFill>
            <a:srgbClr val="14213D"/>
          </a:solidFill>
          <a:ln w="9525">
            <a:solidFill>
              <a:srgbClr val="14213D"/>
            </a:solidFill>
            <a:prstDash val="solid"/>
          </a:ln>
        </p:spPr>
      </p:sp>
      <p:sp>
        <p:nvSpPr>
          <p:cNvPr id="23" name="Text 20"/>
          <p:cNvSpPr txBox="1"/>
          <p:nvPr/>
        </p:nvSpPr>
        <p:spPr>
          <a:xfrm>
            <a:off x="3840480" y="392277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24" name="Shape 21"/>
          <p:cNvSpPr/>
          <p:nvPr/>
        </p:nvSpPr>
        <p:spPr>
          <a:xfrm>
            <a:off x="4389120" y="4178808"/>
            <a:ext cx="365760" cy="914"/>
          </a:xfrm>
          <a:prstGeom prst="line">
            <a:avLst/>
          </a:prstGeom>
          <a:noFill/>
          <a:ln w="25400">
            <a:solidFill>
              <a:srgbClr val="C77700"/>
            </a:solidFill>
            <a:prstDash val="solid"/>
            <a:tailEnd type="triangle"/>
          </a:ln>
        </p:spPr>
      </p:sp>
      <p:sp>
        <p:nvSpPr>
          <p:cNvPr id="25" name="Shape 22"/>
          <p:cNvSpPr/>
          <p:nvPr/>
        </p:nvSpPr>
        <p:spPr>
          <a:xfrm>
            <a:off x="4800600" y="3749040"/>
            <a:ext cx="1417320" cy="868680"/>
          </a:xfrm>
          <a:prstGeom prst="roundRect">
            <a:avLst>
              <a:gd name="adj" fmla="val 8421"/>
            </a:avLst>
          </a:prstGeom>
          <a:solidFill>
            <a:srgbClr val="FBF0DC"/>
          </a:solidFill>
          <a:ln w="9525">
            <a:solidFill>
              <a:srgbClr val="C77700"/>
            </a:solidFill>
            <a:prstDash val="solid"/>
          </a:ln>
        </p:spPr>
      </p:sp>
      <p:sp>
        <p:nvSpPr>
          <p:cNvPr id="26" name="Text 23"/>
          <p:cNvSpPr txBox="1"/>
          <p:nvPr/>
        </p:nvSpPr>
        <p:spPr>
          <a:xfrm>
            <a:off x="4846320" y="3767328"/>
            <a:ext cx="1325880" cy="822960"/>
          </a:xfrm>
          <a:prstGeom prst="rect">
            <a:avLst/>
          </a:prstGeom>
          <a:noFill/>
          <a:ln/>
        </p:spPr>
        <p:txBody>
          <a:bodyPr wrap="square" lIns="0" tIns="0" rIns="0" bIns="0" rtlCol="0" anchor="ctr"/>
          <a:lstStyle/>
          <a:p>
            <a:pPr algn="ctr" indent="0" marL="0">
              <a:buNone/>
            </a:pPr>
            <a:r>
              <a:rPr lang="en-US" sz="1250" b="1" dirty="0">
                <a:solidFill>
                  <a:srgbClr val="14213D"/>
                </a:solidFill>
                <a:latin typeface="Calibri" pitchFamily="34" charset="0"/>
                <a:ea typeface="Calibri" pitchFamily="34" charset="-122"/>
                <a:cs typeface="Calibri" pitchFamily="34" charset="-120"/>
              </a:rPr>
              <a:t>GPT-4-class model</a:t>
            </a:r>
            <a:endParaRPr lang="en-US" sz="1250" dirty="0"/>
          </a:p>
          <a:p>
            <a:pPr algn="ctr" indent="0" marL="0">
              <a:buNone/>
            </a:pPr>
            <a:r>
              <a:rPr lang="en-US" sz="1500" b="1" dirty="0">
                <a:solidFill>
                  <a:srgbClr val="C77700"/>
                </a:solidFill>
                <a:latin typeface="Calibri" pitchFamily="34" charset="0"/>
                <a:ea typeface="Calibri" pitchFamily="34" charset="-122"/>
                <a:cs typeface="Calibri" pitchFamily="34" charset="-120"/>
              </a:rPr>
              <a:t>$$$</a:t>
            </a:r>
            <a:endParaRPr lang="en-US" sz="1250" dirty="0"/>
          </a:p>
        </p:txBody>
      </p:sp>
      <p:sp>
        <p:nvSpPr>
          <p:cNvPr id="27" name="Shape 24"/>
          <p:cNvSpPr/>
          <p:nvPr/>
        </p:nvSpPr>
        <p:spPr>
          <a:xfrm>
            <a:off x="6263640" y="4178808"/>
            <a:ext cx="320040" cy="914"/>
          </a:xfrm>
          <a:prstGeom prst="line">
            <a:avLst/>
          </a:prstGeom>
          <a:noFill/>
          <a:ln w="19050">
            <a:solidFill>
              <a:srgbClr val="5B6676"/>
            </a:solidFill>
            <a:prstDash val="solid"/>
            <a:tailEnd type="triangle"/>
          </a:ln>
        </p:spPr>
      </p:sp>
      <p:sp>
        <p:nvSpPr>
          <p:cNvPr id="28" name="Shape 25"/>
          <p:cNvSpPr/>
          <p:nvPr/>
        </p:nvSpPr>
        <p:spPr>
          <a:xfrm>
            <a:off x="6601968" y="3904488"/>
            <a:ext cx="804672" cy="548640"/>
          </a:xfrm>
          <a:prstGeom prst="roundRect">
            <a:avLst>
              <a:gd name="adj" fmla="val 13333"/>
            </a:avLst>
          </a:prstGeom>
          <a:solidFill>
            <a:srgbClr val="FFFFFF"/>
          </a:solidFill>
          <a:ln w="9525">
            <a:solidFill>
              <a:srgbClr val="D9DEE5"/>
            </a:solidFill>
            <a:prstDash val="solid"/>
          </a:ln>
        </p:spPr>
      </p:sp>
      <p:sp>
        <p:nvSpPr>
          <p:cNvPr id="29" name="Text 26"/>
          <p:cNvSpPr txBox="1"/>
          <p:nvPr/>
        </p:nvSpPr>
        <p:spPr>
          <a:xfrm>
            <a:off x="6620256" y="3904488"/>
            <a:ext cx="768096" cy="548640"/>
          </a:xfrm>
          <a:prstGeom prst="rect">
            <a:avLst/>
          </a:prstGeom>
          <a:noFill/>
          <a:ln/>
        </p:spPr>
        <p:txBody>
          <a:bodyPr wrap="square" lIns="0" tIns="0" rIns="0" bIns="0" rtlCol="0" anchor="ctr"/>
          <a:lstStyle/>
          <a:p>
            <a:pPr algn="ctr" indent="0" marL="0">
              <a:buNone/>
            </a:pPr>
            <a:r>
              <a:rPr lang="en-US" sz="1100" dirty="0">
                <a:solidFill>
                  <a:srgbClr val="5B6676"/>
                </a:solidFill>
                <a:latin typeface="Calibri" pitchFamily="34" charset="0"/>
                <a:ea typeface="Calibri" pitchFamily="34" charset="-122"/>
                <a:cs typeface="Calibri" pitchFamily="34" charset="-120"/>
              </a:rPr>
              <a:t>rated good</a:t>
            </a:r>
            <a:endParaRPr lang="en-US" sz="1100" dirty="0"/>
          </a:p>
        </p:txBody>
      </p:sp>
      <p:sp>
        <p:nvSpPr>
          <p:cNvPr id="30" name="Text 27"/>
          <p:cNvSpPr txBox="1"/>
          <p:nvPr/>
        </p:nvSpPr>
        <p:spPr>
          <a:xfrm>
            <a:off x="548640" y="5102352"/>
            <a:ext cx="6766560" cy="457200"/>
          </a:xfrm>
          <a:prstGeom prst="rect">
            <a:avLst/>
          </a:prstGeom>
          <a:noFill/>
          <a:ln/>
        </p:spPr>
        <p:txBody>
          <a:bodyPr wrap="square" lIns="0" tIns="0" rIns="0" bIns="0" rtlCol="0" anchor="t"/>
          <a:lstStyle/>
          <a:p>
            <a:pPr indent="0" marL="0">
              <a:buNone/>
            </a:pPr>
            <a:r>
              <a:rPr lang="en-US" sz="1300" dirty="0">
                <a:solidFill>
                  <a:srgbClr val="5B6676"/>
                </a:solidFill>
                <a:latin typeface="Calibri" pitchFamily="34" charset="0"/>
                <a:ea typeface="Calibri" pitchFamily="34" charset="-122"/>
                <a:cs typeface="Calibri" pitchFamily="34" charset="-120"/>
              </a:rPr>
              <a:t>Only the answer that was shown gets a thumbs-up or thumbs-down. The other seven models stay unobserved.</a:t>
            </a:r>
            <a:endParaRPr lang="en-US" sz="1300" dirty="0"/>
          </a:p>
        </p:txBody>
      </p:sp>
      <p:sp>
        <p:nvSpPr>
          <p:cNvPr id="31" name="Shape 28"/>
          <p:cNvSpPr/>
          <p:nvPr/>
        </p:nvSpPr>
        <p:spPr>
          <a:xfrm>
            <a:off x="7635240" y="1481328"/>
            <a:ext cx="4005072" cy="1188720"/>
          </a:xfrm>
          <a:prstGeom prst="roundRect">
            <a:avLst>
              <a:gd name="adj" fmla="val 615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32" name="Shape 29"/>
          <p:cNvSpPr/>
          <p:nvPr/>
        </p:nvSpPr>
        <p:spPr>
          <a:xfrm>
            <a:off x="7818120" y="1664208"/>
            <a:ext cx="457200" cy="457200"/>
          </a:xfrm>
          <a:prstGeom prst="ellipse">
            <a:avLst/>
          </a:prstGeom>
          <a:solidFill>
            <a:srgbClr val="0E7C7B"/>
          </a:solidFill>
          <a:ln w="9525">
            <a:solidFill>
              <a:srgbClr val="0E7C7B"/>
            </a:solidFill>
            <a:prstDash val="solid"/>
          </a:ln>
        </p:spPr>
      </p:sp>
      <p:sp>
        <p:nvSpPr>
          <p:cNvPr id="33" name="Text 30"/>
          <p:cNvSpPr txBox="1"/>
          <p:nvPr/>
        </p:nvSpPr>
        <p:spPr>
          <a:xfrm>
            <a:off x="7818120" y="1664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4" name="Text 31"/>
          <p:cNvSpPr txBox="1"/>
          <p:nvPr/>
        </p:nvSpPr>
        <p:spPr>
          <a:xfrm>
            <a:off x="8412480" y="1609344"/>
            <a:ext cx="3108960" cy="96012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Quality</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The best model differs per query, and no one labels queries in advance.</a:t>
            </a:r>
            <a:endParaRPr lang="en-US" sz="1600" dirty="0"/>
          </a:p>
        </p:txBody>
      </p:sp>
      <p:sp>
        <p:nvSpPr>
          <p:cNvPr id="35" name="Shape 32"/>
          <p:cNvSpPr/>
          <p:nvPr/>
        </p:nvSpPr>
        <p:spPr>
          <a:xfrm>
            <a:off x="7635240" y="2852928"/>
            <a:ext cx="4005072" cy="1188720"/>
          </a:xfrm>
          <a:prstGeom prst="roundRect">
            <a:avLst>
              <a:gd name="adj" fmla="val 615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36" name="Shape 33"/>
          <p:cNvSpPr/>
          <p:nvPr/>
        </p:nvSpPr>
        <p:spPr>
          <a:xfrm>
            <a:off x="7818120" y="3035808"/>
            <a:ext cx="457200" cy="457200"/>
          </a:xfrm>
          <a:prstGeom prst="ellipse">
            <a:avLst/>
          </a:prstGeom>
          <a:solidFill>
            <a:srgbClr val="C77700"/>
          </a:solidFill>
          <a:ln w="9525">
            <a:solidFill>
              <a:srgbClr val="C77700"/>
            </a:solidFill>
            <a:prstDash val="solid"/>
          </a:ln>
        </p:spPr>
      </p:sp>
      <p:sp>
        <p:nvSpPr>
          <p:cNvPr id="37" name="Text 34"/>
          <p:cNvSpPr txBox="1"/>
          <p:nvPr/>
        </p:nvSpPr>
        <p:spPr>
          <a:xfrm>
            <a:off x="7818120" y="30358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8" name="Text 35"/>
          <p:cNvSpPr txBox="1"/>
          <p:nvPr/>
        </p:nvSpPr>
        <p:spPr>
          <a:xfrm>
            <a:off x="8412480" y="2980944"/>
            <a:ext cx="3108960" cy="96012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Cost</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Prices differ by more than 10×. The budget B covers the whole month, not one query.</a:t>
            </a:r>
            <a:endParaRPr lang="en-US" sz="1600" dirty="0"/>
          </a:p>
        </p:txBody>
      </p:sp>
      <p:sp>
        <p:nvSpPr>
          <p:cNvPr id="39" name="Shape 36"/>
          <p:cNvSpPr/>
          <p:nvPr/>
        </p:nvSpPr>
        <p:spPr>
          <a:xfrm>
            <a:off x="7635240" y="4224528"/>
            <a:ext cx="4005072" cy="1188720"/>
          </a:xfrm>
          <a:prstGeom prst="roundRect">
            <a:avLst>
              <a:gd name="adj" fmla="val 615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40" name="Shape 37"/>
          <p:cNvSpPr/>
          <p:nvPr/>
        </p:nvSpPr>
        <p:spPr>
          <a:xfrm>
            <a:off x="7818120" y="4407408"/>
            <a:ext cx="457200" cy="457200"/>
          </a:xfrm>
          <a:prstGeom prst="ellipse">
            <a:avLst/>
          </a:prstGeom>
          <a:solidFill>
            <a:srgbClr val="3D5A80"/>
          </a:solidFill>
          <a:ln w="9525">
            <a:solidFill>
              <a:srgbClr val="3D5A80"/>
            </a:solidFill>
            <a:prstDash val="solid"/>
          </a:ln>
        </p:spPr>
      </p:sp>
      <p:sp>
        <p:nvSpPr>
          <p:cNvPr id="41" name="Text 38"/>
          <p:cNvSpPr txBox="1"/>
          <p:nvPr/>
        </p:nvSpPr>
        <p:spPr>
          <a:xfrm>
            <a:off x="7818120" y="44074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2" name="Text 39"/>
          <p:cNvSpPr txBox="1"/>
          <p:nvPr/>
        </p:nvSpPr>
        <p:spPr>
          <a:xfrm>
            <a:off x="8412480" y="4352544"/>
            <a:ext cx="3108960" cy="96012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Feedback</a:t>
            </a:r>
            <a:endParaRPr lang="en-US" sz="1600" dirty="0"/>
          </a:p>
          <a:p>
            <a:pPr indent="0" marL="0">
              <a:buNone/>
            </a:pPr>
            <a:r>
              <a:rPr lang="en-US" sz="1300" dirty="0">
                <a:solidFill>
                  <a:srgbClr val="1F2933"/>
                </a:solidFill>
                <a:latin typeface="Calibri" pitchFamily="34" charset="0"/>
                <a:ea typeface="Calibri" pitchFamily="34" charset="-122"/>
                <a:cs typeface="Calibri" pitchFamily="34" charset="-120"/>
              </a:rPr>
              <a:t>Bandit feedback: a reward only for the chosen model.</a:t>
            </a:r>
            <a:endParaRPr lang="en-US" sz="1600" dirty="0"/>
          </a:p>
        </p:txBody>
      </p:sp>
      <p:sp>
        <p:nvSpPr>
          <p:cNvPr id="43" name="Shape 40"/>
          <p:cNvSpPr/>
          <p:nvPr/>
        </p:nvSpPr>
        <p:spPr>
          <a:xfrm>
            <a:off x="548640" y="5577840"/>
            <a:ext cx="11094415" cy="457200"/>
          </a:xfrm>
          <a:prstGeom prst="roundRect">
            <a:avLst>
              <a:gd name="adj" fmla="val 16000"/>
            </a:avLst>
          </a:prstGeom>
          <a:solidFill>
            <a:srgbClr val="F2F4F7"/>
          </a:solidFill>
          <a:ln w="9525">
            <a:solidFill>
              <a:srgbClr val="F2F4F7"/>
            </a:solidFill>
            <a:prstDash val="solid"/>
          </a:ln>
        </p:spPr>
      </p:sp>
      <p:sp>
        <p:nvSpPr>
          <p:cNvPr id="44" name="Text 41"/>
          <p:cNvSpPr txBox="1"/>
          <p:nvPr/>
        </p:nvSpPr>
        <p:spPr>
          <a:xfrm>
            <a:off x="731520" y="5577840"/>
            <a:ext cx="10728655"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Math" pitchFamily="34" charset="0"/>
                <a:ea typeface="Cambria Math" pitchFamily="34" charset="-122"/>
                <a:cs typeface="Cambria Math" pitchFamily="34" charset="-120"/>
              </a:rPr>
              <a:t>Goal  </a:t>
            </a:r>
            <a:pPr indent="0" marL="0">
              <a:buNone/>
            </a:pPr>
            <a:r>
              <a:rPr lang="en-US" sz="1500" dirty="0">
                <a:solidFill>
                  <a:srgbClr val="1F2933"/>
                </a:solidFill>
                <a:latin typeface="Cambria Math" pitchFamily="34" charset="0"/>
                <a:ea typeface="Cambria Math" pitchFamily="34" charset="-122"/>
                <a:cs typeface="Cambria Math" pitchFamily="34" charset="-120"/>
              </a:rPr>
              <a:t>maximize Σ</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r</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subject to   Σ</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c</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(a</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 B,   observing r</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only for the chosen model a</a:t>
            </a:r>
            <a:pPr indent="0" marL="0">
              <a:buNone/>
            </a:pPr>
            <a:r>
              <a:rPr lang="en-US" sz="15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500" dirty="0">
                <a:solidFill>
                  <a:srgbClr val="1F2933"/>
                </a:solidFill>
                <a:latin typeface="Cambria Math" pitchFamily="34" charset="0"/>
                <a:ea typeface="Cambria Math" pitchFamily="34" charset="-122"/>
                <a:cs typeface="Cambria Math" pitchFamily="34" charset="-120"/>
              </a:rPr>
              <a:t>  </a:t>
            </a:r>
            <a:pPr indent="0" marL="0">
              <a:buNone/>
            </a:pPr>
            <a:r>
              <a:rPr lang="en-US" sz="1500" dirty="0">
                <a:solidFill>
                  <a:srgbClr val="5B6676"/>
                </a:solidFill>
                <a:latin typeface="Cambria Math" pitchFamily="34" charset="0"/>
                <a:ea typeface="Cambria Math" pitchFamily="34" charset="-122"/>
                <a:cs typeface="Cambria Math" pitchFamily="34" charset="-120"/>
              </a:rPr>
              <a:t>[1]</a:t>
            </a:r>
            <a:endParaRPr lang="en-US" sz="15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CONTEXT · PREDECESSORS</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Two predecessors, two missing pieces</a:t>
            </a:r>
            <a:endParaRPr lang="en-US" sz="3000" dirty="0"/>
          </a:p>
        </p:txBody>
      </p:sp>
      <p:sp>
        <p:nvSpPr>
          <p:cNvPr id="5" name="Text 3"/>
          <p:cNvSpPr txBox="1"/>
          <p:nvPr/>
        </p:nvSpPr>
        <p:spPr>
          <a:xfrm>
            <a:off x="548640" y="6129909"/>
            <a:ext cx="10561320" cy="54521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1003.0146" history="1" highlightClick="0" endSnd="0">
                  <a:extLst>
                    <a:ext uri="{A12FA001-AC4F-418D-AE19-62706E023703}">
                      <ahyp:hlinkClr xmlns:ahyp="http://schemas.microsoft.com/office/drawing/2018/hyperlinkcolor" val="tx"/>
                    </a:ext>
                  </a:extLst>
                </a:hlinkClick>
              </a:rPr>
              <a:t>[2] L. Li, W. Chu, J. Langford, and R. E. Schapire, “A contextual-bandit approach to personalized news article recommendation,” in Proc. 19th Int. Conf. World Wide Web, 2010, pp. 661–670.</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openreview.net/pdf?id=02f3mUtqnM" history="1" highlightClick="0" endSnd="0">
                  <a:extLst>
                    <a:ext uri="{A12FA001-AC4F-418D-AE19-62706E023703}">
                      <ahyp:hlinkClr xmlns:ahyp="http://schemas.microsoft.com/office/drawing/2018/hyperlinkcolor" val="tx"/>
                    </a:ext>
                  </a:extLst>
                </a:hlinkClick>
              </a:rPr>
              <a:t>[3] D. Ding et al., “Hybrid LLM: Cost-efficient and quality-aware query routing,” in Proc. Int. Conf. Learn. Represent. (ICLR), 2024.</a:t>
            </a:r>
            <a:endParaRPr lang="en-US" sz="950" dirty="0"/>
          </a:p>
        </p:txBody>
      </p:sp>
      <p:graphicFrame>
        <p:nvGraphicFramePr>
          <p:cNvPr id="4" name="predecessor-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83080"/>
                <a:gridCol w="3337560"/>
                <a:gridCol w="3200400"/>
                <a:gridCol w="277063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Core idea</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Limitation left for LLM routing</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Practical consequence</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r>
              <a:tr h="1143000">
                <a:tc>
                  <a:txBody>
                    <a:bodyPr/>
                    <a:lstStyle/>
                    <a:p>
                      <a:pPr indent="0" marL="0">
                        <a:buNone/>
                      </a:pPr>
                      <a:r>
                        <a:rPr lang="en-US" sz="1300" b="1" dirty="0">
                          <a:solidFill>
                            <a:srgbClr val="3D5A80"/>
                          </a:solidFill>
                          <a:latin typeface="Calibri" pitchFamily="34" charset="0"/>
                          <a:ea typeface="Calibri" pitchFamily="34" charset="-122"/>
                          <a:cs typeface="Calibri" pitchFamily="34" charset="-120"/>
                        </a:rPr>
                        <a:t>LinUCB [2]</a:t>
                      </a:r>
                      <a:endParaRPr lang="en-US" sz="1300" dirty="0">
                        <a:latin typeface="Calibri" charset="0"/>
                        <a:ea typeface="Calibri" charset="0"/>
                        <a:cs typeface="Calibri" charset="0"/>
                      </a:endParaRPr>
                    </a:p>
                    <a:p>
                      <a:pPr indent="0" marL="0">
                        <a:buNone/>
                      </a:pPr>
                      <a:r>
                        <a:rPr lang="en-US" sz="1300" b="1" dirty="0">
                          <a:solidFill>
                            <a:srgbClr val="3D5A80"/>
                          </a:solidFill>
                          <a:latin typeface="Calibri" pitchFamily="34" charset="0"/>
                          <a:ea typeface="Calibri" pitchFamily="34" charset="-122"/>
                          <a:cs typeface="Calibri" pitchFamily="34" charset="-120"/>
                        </a:rPr>
                        <a:t>WWW 2010</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Per-arm linear reward model fitted by ridge regression, plus an upper-confidence exploration bonus. Learns from the chosen arm only.</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Every arm starts from zero (cold start). Optimizes reward with no budget.</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Early users pay for exploration. Spend cannot be capped.</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1143000">
                <a:tc>
                  <a:txBody>
                    <a:bodyPr/>
                    <a:lstStyle/>
                    <a:p>
                      <a:pPr indent="0" marL="0">
                        <a:buNone/>
                      </a:pPr>
                      <a:r>
                        <a:rPr lang="en-US" sz="1300" b="1" dirty="0">
                          <a:solidFill>
                            <a:srgbClr val="3D5A80"/>
                          </a:solidFill>
                          <a:latin typeface="Calibri" pitchFamily="34" charset="0"/>
                          <a:ea typeface="Calibri" pitchFamily="34" charset="-122"/>
                          <a:cs typeface="Calibri" pitchFamily="34" charset="-120"/>
                        </a:rPr>
                        <a:t>Hybrid LLM [3]</a:t>
                      </a:r>
                      <a:endParaRPr lang="en-US" sz="1300" dirty="0">
                        <a:latin typeface="Calibri" charset="0"/>
                        <a:ea typeface="Calibri" charset="0"/>
                        <a:cs typeface="Calibri" charset="0"/>
                      </a:endParaRPr>
                    </a:p>
                    <a:p>
                      <a:pPr indent="0" marL="0">
                        <a:buNone/>
                      </a:pPr>
                      <a:r>
                        <a:rPr lang="en-US" sz="1300" b="1" dirty="0">
                          <a:solidFill>
                            <a:srgbClr val="3D5A80"/>
                          </a:solidFill>
                          <a:latin typeface="Calibri" pitchFamily="34" charset="0"/>
                          <a:ea typeface="Calibri" pitchFamily="34" charset="-122"/>
                          <a:cs typeface="Calibri" pitchFamily="34" charset="-120"/>
                        </a:rPr>
                        <a:t>ICLR 2024</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Supervised classifier predicts if a small model is “good enough” versus a large one. A threshold sets the cost–quality trade-off.</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Needs both models’ answers and quality scores for every training query. Two models only. Static after training.</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Labeling cost grows with the pool. No adaptation from user feedback.</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1005840">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PILOT [1]</a:t>
                      </a:r>
                      <a:endParaRPr lang="en-US" sz="1300" dirty="0">
                        <a:latin typeface="Calibri" charset="0"/>
                        <a:ea typeface="Calibri" charset="0"/>
                        <a:cs typeface="Calibri" charset="0"/>
                      </a:endParaRPr>
                    </a:p>
                    <a:p>
                      <a:pPr indent="0" marL="0">
                        <a:buNone/>
                      </a:pPr>
                      <a:r>
                        <a:rPr lang="en-US" sz="1300" b="1" dirty="0">
                          <a:solidFill>
                            <a:srgbClr val="0E7C7B"/>
                          </a:solidFill>
                          <a:latin typeface="Calibri" pitchFamily="34" charset="0"/>
                          <a:ea typeface="Calibri" pitchFamily="34" charset="-122"/>
                          <a:cs typeface="Calibri" pitchFamily="34" charset="-120"/>
                        </a:rPr>
                        <a:t>EMNLP 2025</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Preference prior + LinUCB-style updates + online budget policy, for any number of models.</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New assumptions: the prior is close, cosine scores carry reward differences, cost estimates hold.</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These are the weaknesses our poster tests.</a:t>
                      </a:r>
                      <a:endParaRPr lang="en-US" sz="1300" dirty="0">
                        <a:latin typeface="Calibri" charset="0"/>
                        <a:ea typeface="Calibri" charset="0"/>
                        <a:cs typeface="Calibri" charset="0"/>
                      </a:endParaRPr>
                    </a:p>
                  </a:txBody>
                  <a:tcPr marL="91440" marR="91440" marT="54864" marB="54864"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bl>
          </a:graphicData>
        </a:graphic>
      </p:graphicFrame>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CONTEXT · CONTRIBUTIONS</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What the paper claims, grouped by kind</a:t>
            </a:r>
            <a:endParaRPr lang="en-US" sz="3000" dirty="0"/>
          </a:p>
        </p:txBody>
      </p:sp>
      <p:sp>
        <p:nvSpPr>
          <p:cNvPr id="5" name="Text 3"/>
          <p:cNvSpPr txBox="1"/>
          <p:nvPr/>
        </p:nvSpPr>
        <p:spPr>
          <a:xfrm>
            <a:off x="548640" y="6469380"/>
            <a:ext cx="10561320" cy="205740"/>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p:txBody>
      </p:sp>
      <p:sp>
        <p:nvSpPr>
          <p:cNvPr id="7" name="Shape 4"/>
          <p:cNvSpPr/>
          <p:nvPr/>
        </p:nvSpPr>
        <p:spPr>
          <a:xfrm>
            <a:off x="548640" y="1481328"/>
            <a:ext cx="11094415" cy="960120"/>
          </a:xfrm>
          <a:prstGeom prst="roundRect">
            <a:avLst>
              <a:gd name="adj" fmla="val 7619"/>
            </a:avLst>
          </a:prstGeom>
          <a:solidFill>
            <a:srgbClr val="F2F4F7"/>
          </a:solidFill>
          <a:ln w="9525">
            <a:solidFill>
              <a:srgbClr val="F2F4F7"/>
            </a:solidFill>
            <a:prstDash val="solid"/>
          </a:ln>
        </p:spPr>
      </p:sp>
      <p:sp>
        <p:nvSpPr>
          <p:cNvPr id="8" name="Text 5"/>
          <p:cNvSpPr txBox="1"/>
          <p:nvPr/>
        </p:nvSpPr>
        <p:spPr>
          <a:xfrm>
            <a:off x="777240" y="1554480"/>
            <a:ext cx="2743200" cy="274320"/>
          </a:xfrm>
          <a:prstGeom prst="rect">
            <a:avLst/>
          </a:prstGeom>
          <a:noFill/>
          <a:ln/>
        </p:spPr>
        <p:txBody>
          <a:bodyPr wrap="square" lIns="0" tIns="0" rIns="0" bIns="0" rtlCol="0" anchor="t"/>
          <a:lstStyle/>
          <a:p>
            <a:pPr indent="0" marL="0">
              <a:buNone/>
            </a:pPr>
            <a:r>
              <a:rPr lang="en-US" sz="1200" b="1" dirty="0">
                <a:solidFill>
                  <a:srgbClr val="5B6676"/>
                </a:solidFill>
                <a:latin typeface="Calibri" pitchFamily="34" charset="0"/>
                <a:ea typeface="Calibri" pitchFamily="34" charset="-122"/>
                <a:cs typeface="Calibri" pitchFamily="34" charset="-120"/>
              </a:rPr>
              <a:t>In the paper’s terms</a:t>
            </a:r>
            <a:endParaRPr lang="en-US" sz="1200" dirty="0"/>
          </a:p>
        </p:txBody>
      </p:sp>
      <p:sp>
        <p:nvSpPr>
          <p:cNvPr id="9" name="Text 6"/>
          <p:cNvSpPr txBox="1"/>
          <p:nvPr/>
        </p:nvSpPr>
        <p:spPr>
          <a:xfrm>
            <a:off x="777240" y="1828800"/>
            <a:ext cx="342900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(i) LLM routing as a budget-constrained contextual bandit</a:t>
            </a:r>
            <a:endParaRPr lang="en-US" sz="1300" dirty="0"/>
          </a:p>
        </p:txBody>
      </p:sp>
      <p:sp>
        <p:nvSpPr>
          <p:cNvPr id="10" name="Text 7"/>
          <p:cNvSpPr txBox="1"/>
          <p:nvPr/>
        </p:nvSpPr>
        <p:spPr>
          <a:xfrm>
            <a:off x="4434840" y="1828800"/>
            <a:ext cx="342900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(ii) PILOT: preference-prior LinUCB + online cost policy, with a lower regret bound</a:t>
            </a:r>
            <a:endParaRPr lang="en-US" sz="1300" dirty="0"/>
          </a:p>
        </p:txBody>
      </p:sp>
      <p:sp>
        <p:nvSpPr>
          <p:cNvPr id="11" name="Text 8"/>
          <p:cNvSpPr txBox="1"/>
          <p:nvPr/>
        </p:nvSpPr>
        <p:spPr>
          <a:xfrm>
            <a:off x="8092440" y="1828800"/>
            <a:ext cx="342900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(iii) Beats bandit baselines: lowest regret, highest performance across budgets</a:t>
            </a:r>
            <a:endParaRPr lang="en-US" sz="1300" dirty="0"/>
          </a:p>
        </p:txBody>
      </p:sp>
      <p:sp>
        <p:nvSpPr>
          <p:cNvPr id="12" name="Shape 9"/>
          <p:cNvSpPr/>
          <p:nvPr/>
        </p:nvSpPr>
        <p:spPr>
          <a:xfrm>
            <a:off x="548640" y="2697480"/>
            <a:ext cx="3575304" cy="3017520"/>
          </a:xfrm>
          <a:prstGeom prst="roundRect">
            <a:avLst>
              <a:gd name="adj" fmla="val 242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3" name="Shape 10"/>
          <p:cNvSpPr/>
          <p:nvPr/>
        </p:nvSpPr>
        <p:spPr>
          <a:xfrm>
            <a:off x="749808" y="2898648"/>
            <a:ext cx="384048" cy="384048"/>
          </a:xfrm>
          <a:prstGeom prst="ellipse">
            <a:avLst/>
          </a:prstGeom>
          <a:solidFill>
            <a:srgbClr val="14213D"/>
          </a:solidFill>
          <a:ln w="9525">
            <a:solidFill>
              <a:srgbClr val="14213D"/>
            </a:solidFill>
            <a:prstDash val="solid"/>
          </a:ln>
        </p:spPr>
      </p:sp>
      <p:sp>
        <p:nvSpPr>
          <p:cNvPr id="14" name="Text 11"/>
          <p:cNvSpPr txBox="1"/>
          <p:nvPr/>
        </p:nvSpPr>
        <p:spPr>
          <a:xfrm>
            <a:off x="74980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2"/>
          <p:cNvSpPr txBox="1"/>
          <p:nvPr/>
        </p:nvSpPr>
        <p:spPr>
          <a:xfrm>
            <a:off x="1261872" y="2898648"/>
            <a:ext cx="2660904" cy="38404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Theoretical</a:t>
            </a:r>
            <a:endParaRPr lang="en-US" sz="1800" dirty="0"/>
          </a:p>
        </p:txBody>
      </p:sp>
      <p:sp>
        <p:nvSpPr>
          <p:cNvPr id="16" name="Text 13"/>
          <p:cNvSpPr txBox="1"/>
          <p:nvPr/>
        </p:nvSpPr>
        <p:spPr>
          <a:xfrm>
            <a:off x="749808" y="3447288"/>
            <a:ext cx="3172968" cy="109728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 preference prior closer to the true reward vector than the origin gives a smaller regret upper bound (PI-OFUL, Prop. 2.1).</a:t>
            </a:r>
            <a:endParaRPr lang="en-US" sz="1500" dirty="0"/>
          </a:p>
        </p:txBody>
      </p:sp>
      <p:sp>
        <p:nvSpPr>
          <p:cNvPr id="17" name="Shape 14"/>
          <p:cNvSpPr/>
          <p:nvPr/>
        </p:nvSpPr>
        <p:spPr>
          <a:xfrm>
            <a:off x="749808" y="4599432"/>
            <a:ext cx="3172968" cy="932688"/>
          </a:xfrm>
          <a:prstGeom prst="roundRect">
            <a:avLst>
              <a:gd name="adj" fmla="val 7843"/>
            </a:avLst>
          </a:prstGeom>
          <a:solidFill>
            <a:srgbClr val="F2F4F7"/>
          </a:solidFill>
          <a:ln w="9525">
            <a:solidFill>
              <a:srgbClr val="F2F4F7"/>
            </a:solidFill>
            <a:prstDash val="solid"/>
          </a:ln>
        </p:spPr>
      </p:sp>
      <p:sp>
        <p:nvSpPr>
          <p:cNvPr id="18" name="Text 15"/>
          <p:cNvSpPr txBox="1"/>
          <p:nvPr/>
        </p:nvSpPr>
        <p:spPr>
          <a:xfrm>
            <a:off x="868680" y="4636008"/>
            <a:ext cx="2935224" cy="8595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Not attempted before: </a:t>
            </a:r>
            <a:pPr indent="0" marL="0">
              <a:buNone/>
            </a:pPr>
            <a:r>
              <a:rPr lang="en-US" sz="1250" dirty="0">
                <a:solidFill>
                  <a:srgbClr val="1F2933"/>
                </a:solidFill>
                <a:latin typeface="Calibri" pitchFamily="34" charset="0"/>
                <a:ea typeface="Calibri" pitchFamily="34" charset="-122"/>
                <a:cs typeface="Calibri" pitchFamily="34" charset="-120"/>
              </a:rPr>
              <a:t>Bandit regret analyses with an informed, rather than zero, starting point for routing.</a:t>
            </a:r>
            <a:endParaRPr lang="en-US" sz="1250" dirty="0"/>
          </a:p>
        </p:txBody>
      </p:sp>
      <p:sp>
        <p:nvSpPr>
          <p:cNvPr id="19" name="Shape 16"/>
          <p:cNvSpPr/>
          <p:nvPr/>
        </p:nvSpPr>
        <p:spPr>
          <a:xfrm>
            <a:off x="4306824" y="2697480"/>
            <a:ext cx="3575304" cy="3017520"/>
          </a:xfrm>
          <a:prstGeom prst="roundRect">
            <a:avLst>
              <a:gd name="adj" fmla="val 242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20" name="Shape 17"/>
          <p:cNvSpPr/>
          <p:nvPr/>
        </p:nvSpPr>
        <p:spPr>
          <a:xfrm>
            <a:off x="4507992" y="2898648"/>
            <a:ext cx="384048" cy="384048"/>
          </a:xfrm>
          <a:prstGeom prst="ellipse">
            <a:avLst/>
          </a:prstGeom>
          <a:solidFill>
            <a:srgbClr val="0E7C7B"/>
          </a:solidFill>
          <a:ln w="9525">
            <a:solidFill>
              <a:srgbClr val="0E7C7B"/>
            </a:solidFill>
            <a:prstDash val="solid"/>
          </a:ln>
        </p:spPr>
      </p:sp>
      <p:sp>
        <p:nvSpPr>
          <p:cNvPr id="21" name="Text 18"/>
          <p:cNvSpPr txBox="1"/>
          <p:nvPr/>
        </p:nvSpPr>
        <p:spPr>
          <a:xfrm>
            <a:off x="4507992"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5020056" y="2898648"/>
            <a:ext cx="2660904" cy="384048"/>
          </a:xfrm>
          <a:prstGeom prst="rect">
            <a:avLst/>
          </a:prstGeom>
          <a:noFill/>
          <a:ln/>
        </p:spPr>
        <p:txBody>
          <a:bodyPr wrap="square" lIns="0" tIns="0" rIns="0" bIns="0" rtlCol="0" anchor="ctr"/>
          <a:lstStyle/>
          <a:p>
            <a:pPr indent="0" marL="0">
              <a:buNone/>
            </a:pPr>
            <a:r>
              <a:rPr lang="en-US" sz="1800" b="1" dirty="0">
                <a:solidFill>
                  <a:srgbClr val="0E7C7B"/>
                </a:solidFill>
                <a:latin typeface="Cambria" pitchFamily="34" charset="0"/>
                <a:ea typeface="Cambria" pitchFamily="34" charset="-122"/>
                <a:cs typeface="Cambria" pitchFamily="34" charset="-120"/>
              </a:rPr>
              <a:t>Technical</a:t>
            </a:r>
            <a:endParaRPr lang="en-US" sz="1800" dirty="0"/>
          </a:p>
        </p:txBody>
      </p:sp>
      <p:sp>
        <p:nvSpPr>
          <p:cNvPr id="23" name="Text 20"/>
          <p:cNvSpPr txBox="1"/>
          <p:nvPr/>
        </p:nvSpPr>
        <p:spPr>
          <a:xfrm>
            <a:off x="4507992" y="3447288"/>
            <a:ext cx="3172968" cy="109728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Two-phase preference pretraining → prior-initialized LinUCB → ZCL online knapsack policy with bins and rollover.</a:t>
            </a:r>
            <a:endParaRPr lang="en-US" sz="1500" dirty="0"/>
          </a:p>
        </p:txBody>
      </p:sp>
      <p:sp>
        <p:nvSpPr>
          <p:cNvPr id="24" name="Shape 21"/>
          <p:cNvSpPr/>
          <p:nvPr/>
        </p:nvSpPr>
        <p:spPr>
          <a:xfrm>
            <a:off x="4507992" y="4599432"/>
            <a:ext cx="3172968" cy="932688"/>
          </a:xfrm>
          <a:prstGeom prst="roundRect">
            <a:avLst>
              <a:gd name="adj" fmla="val 7843"/>
            </a:avLst>
          </a:prstGeom>
          <a:solidFill>
            <a:srgbClr val="F2F4F7"/>
          </a:solidFill>
          <a:ln w="9525">
            <a:solidFill>
              <a:srgbClr val="F2F4F7"/>
            </a:solidFill>
            <a:prstDash val="solid"/>
          </a:ln>
        </p:spPr>
      </p:sp>
      <p:sp>
        <p:nvSpPr>
          <p:cNvPr id="25" name="Text 22"/>
          <p:cNvSpPr txBox="1"/>
          <p:nvPr/>
        </p:nvSpPr>
        <p:spPr>
          <a:xfrm>
            <a:off x="4626864" y="4636008"/>
            <a:ext cx="2935224" cy="859536"/>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Not attempted before: </a:t>
            </a:r>
            <a:pPr indent="0" marL="0">
              <a:buNone/>
            </a:pPr>
            <a:r>
              <a:rPr lang="en-US" sz="1250" dirty="0">
                <a:solidFill>
                  <a:srgbClr val="1F2933"/>
                </a:solidFill>
                <a:latin typeface="Calibri" pitchFamily="34" charset="0"/>
                <a:ea typeface="Calibri" pitchFamily="34" charset="-122"/>
                <a:cs typeface="Calibri" pitchFamily="34" charset="-120"/>
              </a:rPr>
              <a:t>Routing many LLMs from thumbs-up/down feedback alone while honoring a per-period budget.</a:t>
            </a:r>
            <a:endParaRPr lang="en-US" sz="1250" dirty="0"/>
          </a:p>
        </p:txBody>
      </p:sp>
      <p:sp>
        <p:nvSpPr>
          <p:cNvPr id="26" name="Shape 23"/>
          <p:cNvSpPr/>
          <p:nvPr/>
        </p:nvSpPr>
        <p:spPr>
          <a:xfrm>
            <a:off x="8065008" y="2697480"/>
            <a:ext cx="3575304" cy="3017520"/>
          </a:xfrm>
          <a:prstGeom prst="roundRect">
            <a:avLst>
              <a:gd name="adj" fmla="val 242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27" name="Shape 24"/>
          <p:cNvSpPr/>
          <p:nvPr/>
        </p:nvSpPr>
        <p:spPr>
          <a:xfrm>
            <a:off x="8266176" y="2898648"/>
            <a:ext cx="384048" cy="384048"/>
          </a:xfrm>
          <a:prstGeom prst="ellipse">
            <a:avLst/>
          </a:prstGeom>
          <a:solidFill>
            <a:srgbClr val="C77700"/>
          </a:solidFill>
          <a:ln w="9525">
            <a:solidFill>
              <a:srgbClr val="C77700"/>
            </a:solidFill>
            <a:prstDash val="solid"/>
          </a:ln>
        </p:spPr>
      </p:sp>
      <p:sp>
        <p:nvSpPr>
          <p:cNvPr id="28" name="Text 25"/>
          <p:cNvSpPr txBox="1"/>
          <p:nvPr/>
        </p:nvSpPr>
        <p:spPr>
          <a:xfrm>
            <a:off x="8266176"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6"/>
          <p:cNvSpPr txBox="1"/>
          <p:nvPr/>
        </p:nvSpPr>
        <p:spPr>
          <a:xfrm>
            <a:off x="8778240" y="2898648"/>
            <a:ext cx="2660904" cy="384048"/>
          </a:xfrm>
          <a:prstGeom prst="rect">
            <a:avLst/>
          </a:prstGeom>
          <a:noFill/>
          <a:ln/>
        </p:spPr>
        <p:txBody>
          <a:bodyPr wrap="square" lIns="0" tIns="0" rIns="0" bIns="0" rtlCol="0" anchor="ctr"/>
          <a:lstStyle/>
          <a:p>
            <a:pPr indent="0" marL="0">
              <a:buNone/>
            </a:pPr>
            <a:r>
              <a:rPr lang="en-US" sz="1800" b="1" dirty="0">
                <a:solidFill>
                  <a:srgbClr val="C77700"/>
                </a:solidFill>
                <a:latin typeface="Cambria" pitchFamily="34" charset="0"/>
                <a:ea typeface="Cambria" pitchFamily="34" charset="-122"/>
                <a:cs typeface="Cambria" pitchFamily="34" charset="-120"/>
              </a:rPr>
              <a:t>Empirical</a:t>
            </a:r>
            <a:endParaRPr lang="en-US" sz="1800" dirty="0"/>
          </a:p>
        </p:txBody>
      </p:sp>
      <p:sp>
        <p:nvSpPr>
          <p:cNvPr id="30" name="Text 27"/>
          <p:cNvSpPr txBox="1"/>
          <p:nvPr/>
        </p:nvSpPr>
        <p:spPr>
          <a:xfrm>
            <a:off x="8266176" y="3447288"/>
            <a:ext cx="3172968" cy="109728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Online learning/deployment protocol on RouterBench. 93% of GPT-4 performance at 25% of its cost (MMLU: 86% at 27%).</a:t>
            </a:r>
            <a:endParaRPr lang="en-US" sz="1500" dirty="0"/>
          </a:p>
        </p:txBody>
      </p:sp>
      <p:sp>
        <p:nvSpPr>
          <p:cNvPr id="31" name="Shape 28"/>
          <p:cNvSpPr/>
          <p:nvPr/>
        </p:nvSpPr>
        <p:spPr>
          <a:xfrm>
            <a:off x="8266176" y="4599432"/>
            <a:ext cx="3172968" cy="932688"/>
          </a:xfrm>
          <a:prstGeom prst="roundRect">
            <a:avLst>
              <a:gd name="adj" fmla="val 7843"/>
            </a:avLst>
          </a:prstGeom>
          <a:solidFill>
            <a:srgbClr val="F2F4F7"/>
          </a:solidFill>
          <a:ln w="9525">
            <a:solidFill>
              <a:srgbClr val="F2F4F7"/>
            </a:solidFill>
            <a:prstDash val="solid"/>
          </a:ln>
        </p:spPr>
      </p:sp>
      <p:sp>
        <p:nvSpPr>
          <p:cNvPr id="32" name="Text 29"/>
          <p:cNvSpPr txBox="1"/>
          <p:nvPr/>
        </p:nvSpPr>
        <p:spPr>
          <a:xfrm>
            <a:off x="8385048" y="4636008"/>
            <a:ext cx="2935224" cy="859536"/>
          </a:xfrm>
          <a:prstGeom prst="rect">
            <a:avLst/>
          </a:prstGeom>
          <a:noFill/>
          <a:ln/>
        </p:spPr>
        <p:txBody>
          <a:bodyPr wrap="square" lIns="0" tIns="0" rIns="0" bIns="0" rtlCol="0" anchor="ctr"/>
          <a:lstStyle/>
          <a:p>
            <a:pPr indent="0" marL="0">
              <a:buNone/>
            </a:pPr>
            <a:r>
              <a:rPr lang="en-US" sz="1250" b="1" dirty="0">
                <a:solidFill>
                  <a:srgbClr val="C77700"/>
                </a:solidFill>
                <a:latin typeface="Calibri" pitchFamily="34" charset="0"/>
                <a:ea typeface="Calibri" pitchFamily="34" charset="-122"/>
                <a:cs typeface="Calibri" pitchFamily="34" charset="-120"/>
              </a:rPr>
              <a:t>Not attempted before: </a:t>
            </a:r>
            <a:pPr indent="0" marL="0">
              <a:buNone/>
            </a:pPr>
            <a:r>
              <a:rPr lang="en-US" sz="1250" dirty="0">
                <a:solidFill>
                  <a:srgbClr val="1F2933"/>
                </a:solidFill>
                <a:latin typeface="Calibri" pitchFamily="34" charset="0"/>
                <a:ea typeface="Calibri" pitchFamily="34" charset="-122"/>
                <a:cs typeface="Calibri" pitchFamily="34" charset="-120"/>
              </a:rPr>
              <a:t>An online bandit-feedback benchmark protocol for LLM routing.</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1 OF 5</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Notation and the formal problem</a:t>
            </a:r>
            <a:endParaRPr lang="en-US" sz="3000" dirty="0"/>
          </a:p>
        </p:txBody>
      </p:sp>
      <p:sp>
        <p:nvSpPr>
          <p:cNvPr id="5" name="Text 3"/>
          <p:cNvSpPr txBox="1"/>
          <p:nvPr/>
        </p:nvSpPr>
        <p:spPr>
          <a:xfrm>
            <a:off x="548640" y="6469380"/>
            <a:ext cx="10561320" cy="205740"/>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p:txBody>
      </p:sp>
      <p:graphicFrame>
        <p:nvGraphicFramePr>
          <p:cNvPr id="6" name="notation-table"/>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914400"/>
        </p:xfrm>
        <a:graphic>
          <a:graphicData uri="http://schemas.openxmlformats.org/drawingml/2006/table">
            <a:tbl>
              <a:tblPr/>
              <a:tblGrid>
                <a:gridCol w="2514600"/>
                <a:gridCol w="4160520"/>
              </a:tblGrid>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L, K</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set of LLM arms, and how many (paper 11, ours 8)</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q</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query at round 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φ(q) ∈ ℝ</a:t>
                      </a:r>
                      <a:pPr indent="0" marL="0">
                        <a:buNone/>
                      </a:pPr>
                      <a:r>
                        <a:rPr lang="en-US" sz="1400" baseline="30000" dirty="0">
                          <a:solidFill>
                            <a:srgbClr val="14213D"/>
                          </a:solidFill>
                          <a:latin typeface="Cambria Math" pitchFamily="34" charset="0"/>
                          <a:ea typeface="Cambria Math" pitchFamily="34" charset="-122"/>
                          <a:cs typeface="Cambria Math" pitchFamily="34" charset="-120"/>
                        </a:rPr>
                        <a:t>D</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frozen embedding (text-embedding-3-small, D = 1,536)</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ψ(q) = Wφ(q) + b ∈ ℝ</a:t>
                      </a:r>
                      <a:pPr indent="0" marL="0">
                        <a:buNone/>
                      </a:pPr>
                      <a:r>
                        <a:rPr lang="en-US" sz="1400" baseline="30000" dirty="0">
                          <a:solidFill>
                            <a:srgbClr val="14213D"/>
                          </a:solidFill>
                          <a:latin typeface="Cambria Math" pitchFamily="34" charset="0"/>
                          <a:ea typeface="Cambria Math" pitchFamily="34" charset="-122"/>
                          <a:cs typeface="Cambria Math" pitchFamily="34" charset="-120"/>
                        </a:rPr>
                        <a:t>d</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learned projection (ours: d = 64)</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x</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 = ψ(q</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)/‖ψ(q</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unit context seen by the bandit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θ</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dirty="0">
                          <a:solidFill>
                            <a:srgbClr val="14213D"/>
                          </a:solidFill>
                          <a:latin typeface="Cambria Math" pitchFamily="34" charset="0"/>
                          <a:ea typeface="Cambria Math" pitchFamily="34" charset="-122"/>
                          <a:cs typeface="Cambria Math" pitchFamily="34" charset="-120"/>
                        </a:rPr>
                        <a:t>, θ</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baseline="30000" dirty="0">
                          <a:solidFill>
                            <a:srgbClr val="14213D"/>
                          </a:solidFill>
                          <a:latin typeface="Cambria Math" pitchFamily="34" charset="0"/>
                          <a:ea typeface="Cambria Math" pitchFamily="34" charset="-122"/>
                          <a:cs typeface="Cambria Math" pitchFamily="34" charset="-120"/>
                        </a:rPr>
                        <a:t>pref</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arm vector, and its preference prior</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r</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 ∈ [0, 1]</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reward of the chosen arm only</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c</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(a), ĉ</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(a)</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true and estimated cost of arm a on q</a:t>
                      </a:r>
                      <a:pPr indent="0" marL="0">
                        <a:buNone/>
                      </a:pPr>
                      <a:r>
                        <a:rPr lang="en-US" sz="1300" baseline="-40000" dirty="0">
                          <a:solidFill>
                            <a:srgbClr val="1F2933"/>
                          </a:solidFill>
                          <a:latin typeface="Calibri" pitchFamily="34" charset="0"/>
                          <a:ea typeface="Calibri" pitchFamily="34" charset="-122"/>
                          <a:cs typeface="Calibri" pitchFamily="34" charset="-120"/>
                        </a:rPr>
                        <a:t>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A</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dirty="0">
                          <a:solidFill>
                            <a:srgbClr val="14213D"/>
                          </a:solidFill>
                          <a:latin typeface="Cambria Math" pitchFamily="34" charset="0"/>
                          <a:ea typeface="Cambria Math" pitchFamily="34" charset="-122"/>
                          <a:cs typeface="Cambria Math" pitchFamily="34" charset="-120"/>
                        </a:rPr>
                        <a:t>, b</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dirty="0">
                          <a:solidFill>
                            <a:srgbClr val="14213D"/>
                          </a:solidFill>
                          <a:latin typeface="Cambria Math" pitchFamily="34" charset="0"/>
                          <a:ea typeface="Cambria Math" pitchFamily="34" charset="-122"/>
                          <a:cs typeface="Cambria Math" pitchFamily="34" charset="-120"/>
                        </a:rPr>
                        <a:t>, θ̃</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dirty="0">
                          <a:solidFill>
                            <a:srgbClr val="14213D"/>
                          </a:solidFill>
                          <a:latin typeface="Cambria Math" pitchFamily="34" charset="0"/>
                          <a:ea typeface="Cambria Math" pitchFamily="34" charset="-122"/>
                          <a:cs typeface="Cambria Math" pitchFamily="34" charset="-120"/>
                        </a:rPr>
                        <a:t> = A</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baseline="30000" dirty="0">
                          <a:solidFill>
                            <a:srgbClr val="14213D"/>
                          </a:solidFill>
                          <a:latin typeface="Cambria Math" pitchFamily="34" charset="0"/>
                          <a:ea typeface="Cambria Math" pitchFamily="34" charset="-122"/>
                          <a:cs typeface="Cambria Math" pitchFamily="34" charset="-120"/>
                        </a:rPr>
                        <a:t>-1</a:t>
                      </a:r>
                      <a:pPr indent="0" marL="0">
                        <a:buNone/>
                      </a:pPr>
                      <a:r>
                        <a:rPr lang="en-US" sz="1400" dirty="0">
                          <a:solidFill>
                            <a:srgbClr val="14213D"/>
                          </a:solidFill>
                          <a:latin typeface="Cambria Math" pitchFamily="34" charset="0"/>
                          <a:ea typeface="Cambria Math" pitchFamily="34" charset="-122"/>
                          <a:cs typeface="Cambria Math" pitchFamily="34" charset="-120"/>
                        </a:rPr>
                        <a:t>b</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ridge statistics and current estimate</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2F4F7"/>
                    </a:solidFill>
                  </a:tcPr>
                </a:tc>
              </a:tr>
              <a:tr h="411480">
                <a:tc>
                  <a:txBody>
                    <a:bodyPr/>
                    <a:lstStyle/>
                    <a:p>
                      <a:pPr indent="0" marL="0">
                        <a:buNone/>
                      </a:pPr>
                      <a:r>
                        <a:rPr lang="en-US" sz="1400" dirty="0">
                          <a:solidFill>
                            <a:srgbClr val="14213D"/>
                          </a:solidFill>
                          <a:latin typeface="Cambria Math" pitchFamily="34" charset="0"/>
                          <a:ea typeface="Cambria Math" pitchFamily="34" charset="-122"/>
                          <a:cs typeface="Cambria Math" pitchFamily="34" charset="-120"/>
                        </a:rPr>
                        <a:t>λ</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00" dirty="0">
                          <a:solidFill>
                            <a:srgbClr val="14213D"/>
                          </a:solidFill>
                          <a:latin typeface="Cambria Math" pitchFamily="34" charset="0"/>
                          <a:ea typeface="Cambria Math" pitchFamily="34" charset="-122"/>
                          <a:cs typeface="Cambria Math" pitchFamily="34" charset="-120"/>
                        </a:rPr>
                        <a:t>, α</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prior strength, exploration weight</a:t>
                      </a:r>
                      <a:endParaRPr lang="en-US" sz="1200" dirty="0">
                        <a:latin typeface="Calibri" charset="0"/>
                        <a:ea typeface="Calibri" charset="0"/>
                        <a:cs typeface="Calibri" charset="0"/>
                      </a:endParaRPr>
                    </a:p>
                  </a:txBody>
                  <a:tcPr marL="109728" marR="109728" marT="27432" marB="2743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8" name="Shape 4"/>
          <p:cNvSpPr/>
          <p:nvPr/>
        </p:nvSpPr>
        <p:spPr>
          <a:xfrm>
            <a:off x="7498080" y="1508760"/>
            <a:ext cx="4142232" cy="4114800"/>
          </a:xfrm>
          <a:prstGeom prst="roundRect">
            <a:avLst>
              <a:gd name="adj" fmla="val 1778"/>
            </a:avLst>
          </a:prstGeom>
          <a:solidFill>
            <a:srgbClr val="14213D"/>
          </a:solidFill>
          <a:ln w="9525">
            <a:solidFill>
              <a:srgbClr val="14213D"/>
            </a:solidFill>
            <a:prstDash val="solid"/>
          </a:ln>
        </p:spPr>
      </p:sp>
      <p:sp>
        <p:nvSpPr>
          <p:cNvPr id="9" name="Text 5"/>
          <p:cNvSpPr txBox="1"/>
          <p:nvPr/>
        </p:nvSpPr>
        <p:spPr>
          <a:xfrm>
            <a:off x="7726680" y="1645920"/>
            <a:ext cx="3657600" cy="365760"/>
          </a:xfrm>
          <a:prstGeom prst="rect">
            <a:avLst/>
          </a:prstGeom>
          <a:noFill/>
          <a:ln/>
        </p:spPr>
        <p:txBody>
          <a:bodyPr wrap="square" lIns="0" tIns="0" rIns="0" bIns="0" rtlCol="0" anchor="t"/>
          <a:lstStyle/>
          <a:p>
            <a:pPr indent="0" marL="0">
              <a:buNone/>
            </a:pPr>
            <a:r>
              <a:rPr lang="en-US" sz="1600" b="1" dirty="0">
                <a:solidFill>
                  <a:srgbClr val="6CC3BA"/>
                </a:solidFill>
                <a:latin typeface="Cambria" pitchFamily="34" charset="0"/>
                <a:ea typeface="Cambria" pitchFamily="34" charset="-122"/>
                <a:cs typeface="Cambria" pitchFamily="34" charset="-120"/>
              </a:rPr>
              <a:t>The problem</a:t>
            </a:r>
            <a:endParaRPr lang="en-US" sz="1600" dirty="0"/>
          </a:p>
        </p:txBody>
      </p:sp>
      <p:sp>
        <p:nvSpPr>
          <p:cNvPr id="10" name="Text 6"/>
          <p:cNvSpPr txBox="1"/>
          <p:nvPr/>
        </p:nvSpPr>
        <p:spPr>
          <a:xfrm>
            <a:off x="7726680" y="2148840"/>
            <a:ext cx="3749040" cy="2194560"/>
          </a:xfrm>
          <a:prstGeom prst="rect">
            <a:avLst/>
          </a:prstGeom>
          <a:noFill/>
          <a:ln/>
        </p:spPr>
        <p:txBody>
          <a:bodyPr wrap="square" lIns="0" tIns="0" rIns="0" bIns="0" rtlCol="0" anchor="t"/>
          <a:lstStyle/>
          <a:p>
            <a:pPr indent="0" marL="0">
              <a:spcAft>
                <a:spcPts val="1400"/>
              </a:spcAft>
              <a:buNone/>
            </a:pPr>
            <a:r>
              <a:rPr lang="en-US" sz="1700" dirty="0">
                <a:solidFill>
                  <a:srgbClr val="FFFFFF"/>
                </a:solidFill>
                <a:latin typeface="Cambria Math" pitchFamily="34" charset="0"/>
                <a:ea typeface="Cambria Math" pitchFamily="34" charset="-122"/>
                <a:cs typeface="Cambria Math" pitchFamily="34" charset="-120"/>
              </a:rPr>
              <a:t>for t = 1, …, Q: choose a</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pPr indent="0" marL="0">
              <a:buNone/>
            </a:pPr>
            <a:r>
              <a:rPr lang="en-US" sz="1700" dirty="0">
                <a:solidFill>
                  <a:srgbClr val="FFFFFF"/>
                </a:solidFill>
                <a:latin typeface="Cambria Math" pitchFamily="34" charset="0"/>
                <a:ea typeface="Cambria Math" pitchFamily="34" charset="-122"/>
                <a:cs typeface="Cambria Math" pitchFamily="34" charset="-120"/>
              </a:rPr>
              <a:t> ∈ L</a:t>
            </a:r>
            <a:endParaRPr lang="en-US" sz="1700" dirty="0"/>
          </a:p>
          <a:p>
            <a:pPr indent="0" marL="0">
              <a:spcAft>
                <a:spcPts val="1400"/>
              </a:spcAft>
              <a:buNone/>
            </a:pPr>
            <a:r>
              <a:rPr lang="en-US" sz="1700" dirty="0">
                <a:solidFill>
                  <a:srgbClr val="FFFFFF"/>
                </a:solidFill>
                <a:latin typeface="Cambria Math" pitchFamily="34" charset="0"/>
                <a:ea typeface="Cambria Math" pitchFamily="34" charset="-122"/>
                <a:cs typeface="Cambria Math" pitchFamily="34" charset="-120"/>
              </a:rPr>
              <a:t>maximize   Σ</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pPr indent="0" marL="0">
              <a:buNone/>
            </a:pPr>
            <a:r>
              <a:rPr lang="en-US" sz="1700" dirty="0">
                <a:solidFill>
                  <a:srgbClr val="FFFFFF"/>
                </a:solidFill>
                <a:latin typeface="Cambria Math" pitchFamily="34" charset="0"/>
                <a:ea typeface="Cambria Math" pitchFamily="34" charset="-122"/>
                <a:cs typeface="Cambria Math" pitchFamily="34" charset="-120"/>
              </a:rPr>
              <a:t> r</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endParaRPr lang="en-US" sz="1700" dirty="0"/>
          </a:p>
          <a:p>
            <a:pPr indent="0" marL="0">
              <a:spcAft>
                <a:spcPts val="1400"/>
              </a:spcAft>
              <a:buNone/>
            </a:pPr>
            <a:r>
              <a:rPr lang="en-US" sz="1700" dirty="0">
                <a:solidFill>
                  <a:srgbClr val="FFFFFF"/>
                </a:solidFill>
                <a:latin typeface="Cambria Math" pitchFamily="34" charset="0"/>
                <a:ea typeface="Cambria Math" pitchFamily="34" charset="-122"/>
                <a:cs typeface="Cambria Math" pitchFamily="34" charset="-120"/>
              </a:rPr>
              <a:t>subject to   Σ</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pPr indent="0" marL="0">
              <a:buNone/>
            </a:pPr>
            <a:r>
              <a:rPr lang="en-US" sz="1700" dirty="0">
                <a:solidFill>
                  <a:srgbClr val="FFFFFF"/>
                </a:solidFill>
                <a:latin typeface="Cambria Math" pitchFamily="34" charset="0"/>
                <a:ea typeface="Cambria Math" pitchFamily="34" charset="-122"/>
                <a:cs typeface="Cambria Math" pitchFamily="34" charset="-120"/>
              </a:rPr>
              <a:t> c</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pPr indent="0" marL="0">
              <a:buNone/>
            </a:pPr>
            <a:r>
              <a:rPr lang="en-US" sz="1700" dirty="0">
                <a:solidFill>
                  <a:srgbClr val="FFFFFF"/>
                </a:solidFill>
                <a:latin typeface="Cambria Math" pitchFamily="34" charset="0"/>
                <a:ea typeface="Cambria Math" pitchFamily="34" charset="-122"/>
                <a:cs typeface="Cambria Math" pitchFamily="34" charset="-120"/>
              </a:rPr>
              <a:t>(a</a:t>
            </a:r>
            <a:pPr indent="0" marL="0">
              <a:buNone/>
            </a:pPr>
            <a:r>
              <a:rPr lang="en-US" sz="1700" baseline="-40000" dirty="0">
                <a:solidFill>
                  <a:srgbClr val="FFFFFF"/>
                </a:solidFill>
                <a:latin typeface="Cambria Math" pitchFamily="34" charset="0"/>
                <a:ea typeface="Cambria Math" pitchFamily="34" charset="-122"/>
                <a:cs typeface="Cambria Math" pitchFamily="34" charset="-120"/>
              </a:rPr>
              <a:t>t</a:t>
            </a:r>
            <a:pPr indent="0" marL="0">
              <a:buNone/>
            </a:pPr>
            <a:r>
              <a:rPr lang="en-US" sz="1700" dirty="0">
                <a:solidFill>
                  <a:srgbClr val="FFFFFF"/>
                </a:solidFill>
                <a:latin typeface="Cambria Math" pitchFamily="34" charset="0"/>
                <a:ea typeface="Cambria Math" pitchFamily="34" charset="-122"/>
                <a:cs typeface="Cambria Math" pitchFamily="34" charset="-120"/>
              </a:rPr>
              <a:t>) ≤ B</a:t>
            </a:r>
            <a:endParaRPr lang="en-US" sz="1700" dirty="0"/>
          </a:p>
          <a:p>
            <a:pPr indent="0" marL="0">
              <a:spcAft>
                <a:spcPts val="1400"/>
              </a:spcAft>
              <a:buNone/>
            </a:pPr>
            <a:r>
              <a:rPr lang="en-US" sz="1700" dirty="0">
                <a:solidFill>
                  <a:srgbClr val="F2C46D"/>
                </a:solidFill>
                <a:latin typeface="Cambria Math" pitchFamily="34" charset="0"/>
                <a:ea typeface="Cambria Math" pitchFamily="34" charset="-122"/>
                <a:cs typeface="Cambria Math" pitchFamily="34" charset="-120"/>
              </a:rPr>
              <a:t>observe only  </a:t>
            </a:r>
            <a:pPr indent="0" marL="0">
              <a:buNone/>
            </a:pPr>
            <a:r>
              <a:rPr lang="en-US" sz="1700" dirty="0">
                <a:solidFill>
                  <a:srgbClr val="F2C46D"/>
                </a:solidFill>
                <a:latin typeface="Cambria Math" pitchFamily="34" charset="0"/>
                <a:ea typeface="Cambria Math" pitchFamily="34" charset="-122"/>
                <a:cs typeface="Cambria Math" pitchFamily="34" charset="-120"/>
              </a:rPr>
              <a:t>r</a:t>
            </a:r>
            <a:pPr indent="0" marL="0">
              <a:buNone/>
            </a:pPr>
            <a:r>
              <a:rPr lang="en-US" sz="1700" baseline="-40000" dirty="0">
                <a:solidFill>
                  <a:srgbClr val="F2C46D"/>
                </a:solidFill>
                <a:latin typeface="Cambria Math" pitchFamily="34" charset="0"/>
                <a:ea typeface="Cambria Math" pitchFamily="34" charset="-122"/>
                <a:cs typeface="Cambria Math" pitchFamily="34" charset="-120"/>
              </a:rPr>
              <a:t>t</a:t>
            </a:r>
            <a:pPr indent="0" marL="0">
              <a:buNone/>
            </a:pPr>
            <a:r>
              <a:rPr lang="en-US" sz="1700" dirty="0">
                <a:solidFill>
                  <a:srgbClr val="F2C46D"/>
                </a:solidFill>
                <a:latin typeface="Cambria Math" pitchFamily="34" charset="0"/>
                <a:ea typeface="Cambria Math" pitchFamily="34" charset="-122"/>
                <a:cs typeface="Cambria Math" pitchFamily="34" charset="-120"/>
              </a:rPr>
              <a:t> = s(q</a:t>
            </a:r>
            <a:pPr indent="0" marL="0">
              <a:buNone/>
            </a:pPr>
            <a:r>
              <a:rPr lang="en-US" sz="1700" baseline="-40000" dirty="0">
                <a:solidFill>
                  <a:srgbClr val="F2C46D"/>
                </a:solidFill>
                <a:latin typeface="Cambria Math" pitchFamily="34" charset="0"/>
                <a:ea typeface="Cambria Math" pitchFamily="34" charset="-122"/>
                <a:cs typeface="Cambria Math" pitchFamily="34" charset="-120"/>
              </a:rPr>
              <a:t>t</a:t>
            </a:r>
            <a:pPr indent="0" marL="0">
              <a:buNone/>
            </a:pPr>
            <a:r>
              <a:rPr lang="en-US" sz="1700" dirty="0">
                <a:solidFill>
                  <a:srgbClr val="F2C46D"/>
                </a:solidFill>
                <a:latin typeface="Cambria Math" pitchFamily="34" charset="0"/>
                <a:ea typeface="Cambria Math" pitchFamily="34" charset="-122"/>
                <a:cs typeface="Cambria Math" pitchFamily="34" charset="-120"/>
              </a:rPr>
              <a:t>, y</a:t>
            </a:r>
            <a:pPr indent="0" marL="0">
              <a:buNone/>
            </a:pPr>
            <a:r>
              <a:rPr lang="en-US" sz="1700" baseline="-40000" dirty="0">
                <a:solidFill>
                  <a:srgbClr val="F2C46D"/>
                </a:solidFill>
                <a:latin typeface="Cambria Math" pitchFamily="34" charset="0"/>
                <a:ea typeface="Cambria Math" pitchFamily="34" charset="-122"/>
                <a:cs typeface="Cambria Math" pitchFamily="34" charset="-120"/>
              </a:rPr>
              <a:t>t</a:t>
            </a:r>
            <a:pPr indent="0" marL="0">
              <a:buNone/>
            </a:pPr>
            <a:r>
              <a:rPr lang="en-US" sz="1700" dirty="0">
                <a:solidFill>
                  <a:srgbClr val="F2C46D"/>
                </a:solidFill>
                <a:latin typeface="Cambria Math" pitchFamily="34" charset="0"/>
                <a:ea typeface="Cambria Math" pitchFamily="34" charset="-122"/>
                <a:cs typeface="Cambria Math" pitchFamily="34" charset="-120"/>
              </a:rPr>
              <a:t>(a</a:t>
            </a:r>
            <a:pPr indent="0" marL="0">
              <a:buNone/>
            </a:pPr>
            <a:r>
              <a:rPr lang="en-US" sz="1700" baseline="-40000" dirty="0">
                <a:solidFill>
                  <a:srgbClr val="F2C46D"/>
                </a:solidFill>
                <a:latin typeface="Cambria Math" pitchFamily="34" charset="0"/>
                <a:ea typeface="Cambria Math" pitchFamily="34" charset="-122"/>
                <a:cs typeface="Cambria Math" pitchFamily="34" charset="-120"/>
              </a:rPr>
              <a:t>t</a:t>
            </a:r>
            <a:pPr indent="0" marL="0">
              <a:buNone/>
            </a:pPr>
            <a:r>
              <a:rPr lang="en-US" sz="1700" dirty="0">
                <a:solidFill>
                  <a:srgbClr val="F2C46D"/>
                </a:solidFill>
                <a:latin typeface="Cambria Math" pitchFamily="34" charset="0"/>
                <a:ea typeface="Cambria Math" pitchFamily="34" charset="-122"/>
                <a:cs typeface="Cambria Math" pitchFamily="34" charset="-120"/>
              </a:rPr>
              <a:t>))</a:t>
            </a:r>
            <a:endParaRPr lang="en-US" sz="1700" dirty="0"/>
          </a:p>
        </p:txBody>
      </p:sp>
      <p:sp>
        <p:nvSpPr>
          <p:cNvPr id="11" name="Text 7"/>
          <p:cNvSpPr txBox="1"/>
          <p:nvPr/>
        </p:nvSpPr>
        <p:spPr>
          <a:xfrm>
            <a:off x="7726680" y="4434840"/>
            <a:ext cx="3749040" cy="1097280"/>
          </a:xfrm>
          <a:prstGeom prst="rect">
            <a:avLst/>
          </a:prstGeom>
          <a:noFill/>
          <a:ln/>
        </p:spPr>
        <p:txBody>
          <a:bodyPr wrap="square" lIns="0" tIns="0" rIns="0" bIns="0" rtlCol="0" anchor="t"/>
          <a:lstStyle/>
          <a:p>
            <a:pPr indent="0" marL="0">
              <a:buNone/>
            </a:pPr>
            <a:r>
              <a:rPr lang="en-US" sz="1250" dirty="0">
                <a:solidFill>
                  <a:srgbClr val="C9D3E3"/>
                </a:solidFill>
                <a:latin typeface="Calibri" pitchFamily="34" charset="0"/>
                <a:ea typeface="Calibri" pitchFamily="34" charset="-122"/>
                <a:cs typeface="Calibri" pitchFamily="34" charset="-120"/>
              </a:rPr>
              <a:t>y</a:t>
            </a:r>
            <a:pPr indent="0" marL="0">
              <a:buNone/>
            </a:pPr>
            <a:r>
              <a:rPr lang="en-US" sz="1250" baseline="-40000" dirty="0">
                <a:solidFill>
                  <a:srgbClr val="C9D3E3"/>
                </a:solidFill>
                <a:latin typeface="Calibri" pitchFamily="34" charset="0"/>
                <a:ea typeface="Calibri" pitchFamily="34" charset="-122"/>
                <a:cs typeface="Calibri" pitchFamily="34" charset="-120"/>
              </a:rPr>
              <a:t>t</a:t>
            </a:r>
            <a:pPr indent="0" marL="0">
              <a:buNone/>
            </a:pPr>
            <a:r>
              <a:rPr lang="en-US" sz="1250" dirty="0">
                <a:solidFill>
                  <a:srgbClr val="C9D3E3"/>
                </a:solidFill>
                <a:latin typeface="Calibri" pitchFamily="34" charset="0"/>
                <a:ea typeface="Calibri" pitchFamily="34" charset="-122"/>
                <a:cs typeface="Calibri" pitchFamily="34" charset="-120"/>
              </a:rPr>
              <a:t>(a</a:t>
            </a:r>
            <a:pPr indent="0" marL="0">
              <a:buNone/>
            </a:pPr>
            <a:r>
              <a:rPr lang="en-US" sz="1250" baseline="-40000" dirty="0">
                <a:solidFill>
                  <a:srgbClr val="C9D3E3"/>
                </a:solidFill>
                <a:latin typeface="Calibri" pitchFamily="34" charset="0"/>
                <a:ea typeface="Calibri" pitchFamily="34" charset="-122"/>
                <a:cs typeface="Calibri" pitchFamily="34" charset="-120"/>
              </a:rPr>
              <a:t>t</a:t>
            </a:r>
            <a:pPr indent="0" marL="0">
              <a:buNone/>
            </a:pPr>
            <a:r>
              <a:rPr lang="en-US" sz="1250" dirty="0">
                <a:solidFill>
                  <a:srgbClr val="C9D3E3"/>
                </a:solidFill>
                <a:latin typeface="Calibri" pitchFamily="34" charset="0"/>
                <a:ea typeface="Calibri" pitchFamily="34" charset="-122"/>
                <a:cs typeface="Calibri" pitchFamily="34" charset="-120"/>
              </a:rPr>
              <a:t>) is the chosen model’s answer and s is a quality scorer. Success is measured by cumulative regret while learning and by reward on all requested queries, relative to GPT-4, when deployed.</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2 OF 5</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Pipeline: pretrain once, learn online, deploy frozen</a:t>
            </a:r>
            <a:endParaRPr lang="en-US" sz="3000" dirty="0"/>
          </a:p>
        </p:txBody>
      </p:sp>
      <p:sp>
        <p:nvSpPr>
          <p:cNvPr id="5" name="Text 3"/>
          <p:cNvSpPr txBox="1"/>
          <p:nvPr/>
        </p:nvSpPr>
        <p:spPr>
          <a:xfrm>
            <a:off x="548640" y="6129909"/>
            <a:ext cx="10561320" cy="54521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2403.04132" history="1" highlightClick="0" endSnd="0">
                  <a:extLst>
                    <a:ext uri="{A12FA001-AC4F-418D-AE19-62706E023703}">
                      <ahyp:hlinkClr xmlns:ahyp="http://schemas.microsoft.com/office/drawing/2018/hyperlinkcolor" val="tx"/>
                    </a:ext>
                  </a:extLst>
                </a:hlinkClick>
              </a:rPr>
              <a:t>[4] W.-L. Chiang et al., “Chatbot Arena: An open platform for evaluating LLMs by human preference,” arXiv:2403.04132,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openai.com/index/new-embedding-models-and-api-updates/" history="1" highlightClick="0" endSnd="0">
                  <a:extLst>
                    <a:ext uri="{A12FA001-AC4F-418D-AE19-62706E023703}">
                      <ahyp:hlinkClr xmlns:ahyp="http://schemas.microsoft.com/office/drawing/2018/hyperlinkcolor" val="tx"/>
                    </a:ext>
                  </a:extLst>
                </a:hlinkClick>
              </a:rPr>
              <a:t>[5] OpenAI, “New embedding models and API updates,” OpenAI, Jan. 25, 2024. [Online]. Available: openai.com/index/new-embedding-models-and-api-updates</a:t>
            </a:r>
            <a:endParaRPr lang="en-US" sz="950" dirty="0"/>
          </a:p>
        </p:txBody>
      </p:sp>
      <p:sp>
        <p:nvSpPr>
          <p:cNvPr id="7" name="Text 4"/>
          <p:cNvSpPr txBox="1"/>
          <p:nvPr/>
        </p:nvSpPr>
        <p:spPr>
          <a:xfrm>
            <a:off x="548640" y="1536192"/>
            <a:ext cx="5486400" cy="237744"/>
          </a:xfrm>
          <a:prstGeom prst="rect">
            <a:avLst/>
          </a:prstGeom>
          <a:noFill/>
          <a:ln/>
        </p:spPr>
        <p:txBody>
          <a:bodyPr wrap="square" lIns="0" tIns="0" rIns="0" bIns="0" rtlCol="0" anchor="t"/>
          <a:lstStyle/>
          <a:p>
            <a:pPr indent="0" marL="0">
              <a:buNone/>
            </a:pPr>
            <a:r>
              <a:rPr lang="en-US" sz="1100" b="1" spc="100" kern="0" dirty="0">
                <a:solidFill>
                  <a:srgbClr val="14213D"/>
                </a:solidFill>
                <a:latin typeface="Calibri" pitchFamily="34" charset="0"/>
                <a:ea typeface="Calibri" pitchFamily="34" charset="-122"/>
                <a:cs typeface="Calibri" pitchFamily="34" charset="-120"/>
              </a:rPr>
              <a:t>OFFLINE · ONCE</a:t>
            </a:r>
            <a:endParaRPr lang="en-US" sz="1100" dirty="0"/>
          </a:p>
        </p:txBody>
      </p:sp>
      <p:sp>
        <p:nvSpPr>
          <p:cNvPr id="8" name="Shape 5"/>
          <p:cNvSpPr/>
          <p:nvPr/>
        </p:nvSpPr>
        <p:spPr>
          <a:xfrm>
            <a:off x="548640" y="1810512"/>
            <a:ext cx="3503066" cy="786384"/>
          </a:xfrm>
          <a:prstGeom prst="roundRect">
            <a:avLst>
              <a:gd name="adj" fmla="val 9302"/>
            </a:avLst>
          </a:prstGeom>
          <a:solidFill>
            <a:srgbClr val="F2F4F7"/>
          </a:solidFill>
          <a:ln w="12700">
            <a:solidFill>
              <a:srgbClr val="14213D"/>
            </a:solidFill>
            <a:prstDash val="solid"/>
          </a:ln>
        </p:spPr>
      </p:sp>
      <p:sp>
        <p:nvSpPr>
          <p:cNvPr id="9" name="Text 6"/>
          <p:cNvSpPr txBox="1"/>
          <p:nvPr/>
        </p:nvSpPr>
        <p:spPr>
          <a:xfrm>
            <a:off x="621792" y="1810512"/>
            <a:ext cx="3356762"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Preference pairs</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(q, model i, model j, winner)</a:t>
            </a:r>
            <a:endParaRPr lang="en-US" sz="1300" dirty="0"/>
          </a:p>
        </p:txBody>
      </p:sp>
      <p:sp>
        <p:nvSpPr>
          <p:cNvPr id="10" name="Shape 7"/>
          <p:cNvSpPr/>
          <p:nvPr/>
        </p:nvSpPr>
        <p:spPr>
          <a:xfrm>
            <a:off x="4079138" y="2203704"/>
            <a:ext cx="237744" cy="914"/>
          </a:xfrm>
          <a:prstGeom prst="line">
            <a:avLst/>
          </a:prstGeom>
          <a:noFill/>
          <a:ln w="22225">
            <a:solidFill>
              <a:srgbClr val="14213D"/>
            </a:solidFill>
            <a:prstDash val="solid"/>
            <a:tailEnd type="triangle"/>
          </a:ln>
        </p:spPr>
      </p:sp>
      <p:sp>
        <p:nvSpPr>
          <p:cNvPr id="11" name="Shape 8"/>
          <p:cNvSpPr/>
          <p:nvPr/>
        </p:nvSpPr>
        <p:spPr>
          <a:xfrm>
            <a:off x="4344314" y="1810512"/>
            <a:ext cx="3503066" cy="786384"/>
          </a:xfrm>
          <a:prstGeom prst="roundRect">
            <a:avLst>
              <a:gd name="adj" fmla="val 9302"/>
            </a:avLst>
          </a:prstGeom>
          <a:solidFill>
            <a:srgbClr val="E7EDF4"/>
          </a:solidFill>
          <a:ln w="12700">
            <a:solidFill>
              <a:srgbClr val="14213D"/>
            </a:solidFill>
            <a:prstDash val="solid"/>
          </a:ln>
        </p:spPr>
      </p:sp>
      <p:sp>
        <p:nvSpPr>
          <p:cNvPr id="12" name="Text 9"/>
          <p:cNvSpPr txBox="1"/>
          <p:nvPr/>
        </p:nvSpPr>
        <p:spPr>
          <a:xfrm>
            <a:off x="4417466" y="1810512"/>
            <a:ext cx="3356762"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Phase 1</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learn projection W, b</a:t>
            </a:r>
            <a:endParaRPr lang="en-US" sz="1300" dirty="0"/>
          </a:p>
        </p:txBody>
      </p:sp>
      <p:sp>
        <p:nvSpPr>
          <p:cNvPr id="13" name="Shape 10"/>
          <p:cNvSpPr/>
          <p:nvPr/>
        </p:nvSpPr>
        <p:spPr>
          <a:xfrm>
            <a:off x="7874813" y="2203704"/>
            <a:ext cx="237744" cy="914"/>
          </a:xfrm>
          <a:prstGeom prst="line">
            <a:avLst/>
          </a:prstGeom>
          <a:noFill/>
          <a:ln w="22225">
            <a:solidFill>
              <a:srgbClr val="14213D"/>
            </a:solidFill>
            <a:prstDash val="solid"/>
            <a:tailEnd type="triangle"/>
          </a:ln>
        </p:spPr>
      </p:sp>
      <p:sp>
        <p:nvSpPr>
          <p:cNvPr id="14" name="Shape 11"/>
          <p:cNvSpPr/>
          <p:nvPr/>
        </p:nvSpPr>
        <p:spPr>
          <a:xfrm>
            <a:off x="8139989" y="1810512"/>
            <a:ext cx="3503066" cy="786384"/>
          </a:xfrm>
          <a:prstGeom prst="roundRect">
            <a:avLst>
              <a:gd name="adj" fmla="val 9302"/>
            </a:avLst>
          </a:prstGeom>
          <a:solidFill>
            <a:srgbClr val="E7EDF4"/>
          </a:solidFill>
          <a:ln w="12700">
            <a:solidFill>
              <a:srgbClr val="14213D"/>
            </a:solidFill>
            <a:prstDash val="solid"/>
          </a:ln>
        </p:spPr>
      </p:sp>
      <p:sp>
        <p:nvSpPr>
          <p:cNvPr id="15" name="Text 12"/>
          <p:cNvSpPr txBox="1"/>
          <p:nvPr/>
        </p:nvSpPr>
        <p:spPr>
          <a:xfrm>
            <a:off x="8213141" y="1810512"/>
            <a:ext cx="3356762"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Phase 2</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learn arm priors θ</a:t>
            </a:r>
            <a:pPr algn="ctr" indent="0" marL="0">
              <a:buNone/>
            </a:pPr>
            <a:r>
              <a:rPr lang="en-US" sz="1150" baseline="-40000" dirty="0">
                <a:solidFill>
                  <a:srgbClr val="1F2933"/>
                </a:solidFill>
                <a:latin typeface="Calibri" pitchFamily="34" charset="0"/>
                <a:ea typeface="Calibri" pitchFamily="34" charset="-122"/>
                <a:cs typeface="Calibri" pitchFamily="34" charset="-120"/>
              </a:rPr>
              <a:t>a</a:t>
            </a:r>
            <a:pPr algn="ctr" indent="0" marL="0">
              <a:buNone/>
            </a:pPr>
            <a:r>
              <a:rPr lang="en-US" sz="1150" baseline="30000" dirty="0">
                <a:solidFill>
                  <a:srgbClr val="1F2933"/>
                </a:solidFill>
                <a:latin typeface="Calibri" pitchFamily="34" charset="0"/>
                <a:ea typeface="Calibri" pitchFamily="34" charset="-122"/>
                <a:cs typeface="Calibri" pitchFamily="34" charset="-120"/>
              </a:rPr>
              <a:t>pref</a:t>
            </a:r>
            <a:endParaRPr lang="en-US" sz="1300" dirty="0"/>
          </a:p>
        </p:txBody>
      </p:sp>
      <p:sp>
        <p:nvSpPr>
          <p:cNvPr id="16" name="Text 13"/>
          <p:cNvSpPr txBox="1"/>
          <p:nvPr/>
        </p:nvSpPr>
        <p:spPr>
          <a:xfrm>
            <a:off x="548640" y="2907792"/>
            <a:ext cx="5486400" cy="237744"/>
          </a:xfrm>
          <a:prstGeom prst="rect">
            <a:avLst/>
          </a:prstGeom>
          <a:noFill/>
          <a:ln/>
        </p:spPr>
        <p:txBody>
          <a:bodyPr wrap="square" lIns="0" tIns="0" rIns="0" bIns="0" rtlCol="0" anchor="t"/>
          <a:lstStyle/>
          <a:p>
            <a:pPr indent="0" marL="0">
              <a:buNone/>
            </a:pPr>
            <a:r>
              <a:rPr lang="en-US" sz="1100" b="1" spc="100" kern="0" dirty="0">
                <a:solidFill>
                  <a:srgbClr val="0E7C7B"/>
                </a:solidFill>
                <a:latin typeface="Calibri" pitchFamily="34" charset="0"/>
                <a:ea typeface="Calibri" pitchFamily="34" charset="-122"/>
                <a:cs typeface="Calibri" pitchFamily="34" charset="-120"/>
              </a:rPr>
              <a:t>ONLINE LEARNING · BANDIT FEEDBACK</a:t>
            </a:r>
            <a:endParaRPr lang="en-US" sz="1100" dirty="0"/>
          </a:p>
        </p:txBody>
      </p:sp>
      <p:sp>
        <p:nvSpPr>
          <p:cNvPr id="17" name="Shape 14"/>
          <p:cNvSpPr/>
          <p:nvPr/>
        </p:nvSpPr>
        <p:spPr>
          <a:xfrm>
            <a:off x="548640" y="3182112"/>
            <a:ext cx="1984797" cy="786384"/>
          </a:xfrm>
          <a:prstGeom prst="roundRect">
            <a:avLst>
              <a:gd name="adj" fmla="val 9302"/>
            </a:avLst>
          </a:prstGeom>
          <a:solidFill>
            <a:srgbClr val="F2F4F7"/>
          </a:solidFill>
          <a:ln w="12700">
            <a:solidFill>
              <a:srgbClr val="0E7C7B"/>
            </a:solidFill>
            <a:prstDash val="solid"/>
          </a:ln>
        </p:spPr>
      </p:sp>
      <p:sp>
        <p:nvSpPr>
          <p:cNvPr id="18" name="Text 15"/>
          <p:cNvSpPr txBox="1"/>
          <p:nvPr/>
        </p:nvSpPr>
        <p:spPr>
          <a:xfrm>
            <a:off x="621792" y="31821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Query q</a:t>
            </a:r>
            <a:pPr algn="ctr" indent="0" marL="0">
              <a:buNone/>
            </a:pPr>
            <a:r>
              <a:rPr lang="en-US" sz="1300" b="1" baseline="-40000" dirty="0">
                <a:solidFill>
                  <a:srgbClr val="14213D"/>
                </a:solidFill>
                <a:latin typeface="Calibri" pitchFamily="34" charset="0"/>
                <a:ea typeface="Calibri" pitchFamily="34" charset="-122"/>
                <a:cs typeface="Calibri" pitchFamily="34" charset="-120"/>
              </a:rPr>
              <a:t>t</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stream, no budget</a:t>
            </a:r>
            <a:endParaRPr lang="en-US" sz="1300" dirty="0"/>
          </a:p>
        </p:txBody>
      </p:sp>
      <p:sp>
        <p:nvSpPr>
          <p:cNvPr id="19" name="Shape 16"/>
          <p:cNvSpPr/>
          <p:nvPr/>
        </p:nvSpPr>
        <p:spPr>
          <a:xfrm>
            <a:off x="2560869" y="3575304"/>
            <a:ext cx="237744" cy="914"/>
          </a:xfrm>
          <a:prstGeom prst="line">
            <a:avLst/>
          </a:prstGeom>
          <a:noFill/>
          <a:ln w="22225">
            <a:solidFill>
              <a:srgbClr val="0E7C7B"/>
            </a:solidFill>
            <a:prstDash val="solid"/>
            <a:tailEnd type="triangle"/>
          </a:ln>
        </p:spPr>
      </p:sp>
      <p:sp>
        <p:nvSpPr>
          <p:cNvPr id="20" name="Shape 17"/>
          <p:cNvSpPr/>
          <p:nvPr/>
        </p:nvSpPr>
        <p:spPr>
          <a:xfrm>
            <a:off x="2826045" y="3182112"/>
            <a:ext cx="1984797" cy="786384"/>
          </a:xfrm>
          <a:prstGeom prst="roundRect">
            <a:avLst>
              <a:gd name="adj" fmla="val 9302"/>
            </a:avLst>
          </a:prstGeom>
          <a:solidFill>
            <a:srgbClr val="E2F1F0"/>
          </a:solidFill>
          <a:ln w="12700">
            <a:solidFill>
              <a:srgbClr val="0E7C7B"/>
            </a:solidFill>
            <a:prstDash val="solid"/>
          </a:ln>
        </p:spPr>
      </p:sp>
      <p:sp>
        <p:nvSpPr>
          <p:cNvPr id="21" name="Text 18"/>
          <p:cNvSpPr txBox="1"/>
          <p:nvPr/>
        </p:nvSpPr>
        <p:spPr>
          <a:xfrm>
            <a:off x="2899197" y="31821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Embed + project</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x</a:t>
            </a:r>
            <a:pPr algn="ctr" indent="0" marL="0">
              <a:buNone/>
            </a:pPr>
            <a:r>
              <a:rPr lang="en-US" sz="1150" baseline="-40000" dirty="0">
                <a:solidFill>
                  <a:srgbClr val="1F2933"/>
                </a:solidFill>
                <a:latin typeface="Calibri" pitchFamily="34" charset="0"/>
                <a:ea typeface="Calibri" pitchFamily="34" charset="-122"/>
                <a:cs typeface="Calibri" pitchFamily="34" charset="-120"/>
              </a:rPr>
              <a:t>t</a:t>
            </a:r>
            <a:pPr algn="ctr" indent="0" marL="0">
              <a:buNone/>
            </a:pPr>
            <a:r>
              <a:rPr lang="en-US" sz="1150" dirty="0">
                <a:solidFill>
                  <a:srgbClr val="1F2933"/>
                </a:solidFill>
                <a:latin typeface="Calibri" pitchFamily="34" charset="0"/>
                <a:ea typeface="Calibri" pitchFamily="34" charset="-122"/>
                <a:cs typeface="Calibri" pitchFamily="34" charset="-120"/>
              </a:rPr>
              <a:t> = norm(Wφ(q</a:t>
            </a:r>
            <a:pPr algn="ctr" indent="0" marL="0">
              <a:buNone/>
            </a:pPr>
            <a:r>
              <a:rPr lang="en-US" sz="1150" baseline="-40000" dirty="0">
                <a:solidFill>
                  <a:srgbClr val="1F2933"/>
                </a:solidFill>
                <a:latin typeface="Calibri" pitchFamily="34" charset="0"/>
                <a:ea typeface="Calibri" pitchFamily="34" charset="-122"/>
                <a:cs typeface="Calibri" pitchFamily="34" charset="-120"/>
              </a:rPr>
              <a:t>t</a:t>
            </a:r>
            <a:pPr algn="ctr" indent="0" marL="0">
              <a:buNone/>
            </a:pPr>
            <a:r>
              <a:rPr lang="en-US" sz="1150" dirty="0">
                <a:solidFill>
                  <a:srgbClr val="1F2933"/>
                </a:solidFill>
                <a:latin typeface="Calibri" pitchFamily="34" charset="0"/>
                <a:ea typeface="Calibri" pitchFamily="34" charset="-122"/>
                <a:cs typeface="Calibri" pitchFamily="34" charset="-120"/>
              </a:rPr>
              <a:t>)+b)</a:t>
            </a:r>
            <a:endParaRPr lang="en-US" sz="1300" dirty="0"/>
          </a:p>
        </p:txBody>
      </p:sp>
      <p:sp>
        <p:nvSpPr>
          <p:cNvPr id="22" name="Shape 19"/>
          <p:cNvSpPr/>
          <p:nvPr/>
        </p:nvSpPr>
        <p:spPr>
          <a:xfrm>
            <a:off x="4838273" y="3575304"/>
            <a:ext cx="237744" cy="914"/>
          </a:xfrm>
          <a:prstGeom prst="line">
            <a:avLst/>
          </a:prstGeom>
          <a:noFill/>
          <a:ln w="22225">
            <a:solidFill>
              <a:srgbClr val="0E7C7B"/>
            </a:solidFill>
            <a:prstDash val="solid"/>
            <a:tailEnd type="triangle"/>
          </a:ln>
        </p:spPr>
      </p:sp>
      <p:sp>
        <p:nvSpPr>
          <p:cNvPr id="23" name="Shape 20"/>
          <p:cNvSpPr/>
          <p:nvPr/>
        </p:nvSpPr>
        <p:spPr>
          <a:xfrm>
            <a:off x="5103449" y="3182112"/>
            <a:ext cx="1984797" cy="786384"/>
          </a:xfrm>
          <a:prstGeom prst="roundRect">
            <a:avLst>
              <a:gd name="adj" fmla="val 9302"/>
            </a:avLst>
          </a:prstGeom>
          <a:solidFill>
            <a:srgbClr val="E2F1F0"/>
          </a:solidFill>
          <a:ln w="12700">
            <a:solidFill>
              <a:srgbClr val="0E7C7B"/>
            </a:solidFill>
            <a:prstDash val="solid"/>
          </a:ln>
        </p:spPr>
      </p:sp>
      <p:sp>
        <p:nvSpPr>
          <p:cNvPr id="24" name="Text 21"/>
          <p:cNvSpPr txBox="1"/>
          <p:nvPr/>
        </p:nvSpPr>
        <p:spPr>
          <a:xfrm>
            <a:off x="5176601" y="31821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Score every arm</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estimate + exploration</a:t>
            </a:r>
            <a:endParaRPr lang="en-US" sz="1300" dirty="0"/>
          </a:p>
        </p:txBody>
      </p:sp>
      <p:sp>
        <p:nvSpPr>
          <p:cNvPr id="25" name="Shape 22"/>
          <p:cNvSpPr/>
          <p:nvPr/>
        </p:nvSpPr>
        <p:spPr>
          <a:xfrm>
            <a:off x="7115678" y="3575304"/>
            <a:ext cx="237744" cy="914"/>
          </a:xfrm>
          <a:prstGeom prst="line">
            <a:avLst/>
          </a:prstGeom>
          <a:noFill/>
          <a:ln w="22225">
            <a:solidFill>
              <a:srgbClr val="0E7C7B"/>
            </a:solidFill>
            <a:prstDash val="solid"/>
            <a:tailEnd type="triangle"/>
          </a:ln>
        </p:spPr>
      </p:sp>
      <p:sp>
        <p:nvSpPr>
          <p:cNvPr id="26" name="Shape 23"/>
          <p:cNvSpPr/>
          <p:nvPr/>
        </p:nvSpPr>
        <p:spPr>
          <a:xfrm>
            <a:off x="7380854" y="3182112"/>
            <a:ext cx="1984797" cy="786384"/>
          </a:xfrm>
          <a:prstGeom prst="roundRect">
            <a:avLst>
              <a:gd name="adj" fmla="val 9302"/>
            </a:avLst>
          </a:prstGeom>
          <a:solidFill>
            <a:srgbClr val="E2F1F0"/>
          </a:solidFill>
          <a:ln w="12700">
            <a:solidFill>
              <a:srgbClr val="0E7C7B"/>
            </a:solidFill>
            <a:prstDash val="solid"/>
          </a:ln>
        </p:spPr>
      </p:sp>
      <p:sp>
        <p:nvSpPr>
          <p:cNvPr id="27" name="Text 24"/>
          <p:cNvSpPr txBox="1"/>
          <p:nvPr/>
        </p:nvSpPr>
        <p:spPr>
          <a:xfrm>
            <a:off x="7454006" y="31821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Serve a</a:t>
            </a:r>
            <a:pPr algn="ctr" indent="0" marL="0">
              <a:buNone/>
            </a:pPr>
            <a:r>
              <a:rPr lang="en-US" sz="1300" b="1" baseline="-40000" dirty="0">
                <a:solidFill>
                  <a:srgbClr val="14213D"/>
                </a:solidFill>
                <a:latin typeface="Calibri" pitchFamily="34" charset="0"/>
                <a:ea typeface="Calibri" pitchFamily="34" charset="-122"/>
                <a:cs typeface="Calibri" pitchFamily="34" charset="-120"/>
              </a:rPr>
              <a:t>t</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observe reward r</a:t>
            </a:r>
            <a:pPr algn="ctr" indent="0" marL="0">
              <a:buNone/>
            </a:pPr>
            <a:r>
              <a:rPr lang="en-US" sz="1150" baseline="-40000" dirty="0">
                <a:solidFill>
                  <a:srgbClr val="1F2933"/>
                </a:solidFill>
                <a:latin typeface="Calibri" pitchFamily="34" charset="0"/>
                <a:ea typeface="Calibri" pitchFamily="34" charset="-122"/>
                <a:cs typeface="Calibri" pitchFamily="34" charset="-120"/>
              </a:rPr>
              <a:t>t</a:t>
            </a:r>
            <a:endParaRPr lang="en-US" sz="1300" dirty="0"/>
          </a:p>
        </p:txBody>
      </p:sp>
      <p:sp>
        <p:nvSpPr>
          <p:cNvPr id="28" name="Shape 25"/>
          <p:cNvSpPr/>
          <p:nvPr/>
        </p:nvSpPr>
        <p:spPr>
          <a:xfrm>
            <a:off x="9393083" y="3575304"/>
            <a:ext cx="237744" cy="914"/>
          </a:xfrm>
          <a:prstGeom prst="line">
            <a:avLst/>
          </a:prstGeom>
          <a:noFill/>
          <a:ln w="22225">
            <a:solidFill>
              <a:srgbClr val="0E7C7B"/>
            </a:solidFill>
            <a:prstDash val="solid"/>
            <a:tailEnd type="triangle"/>
          </a:ln>
        </p:spPr>
      </p:sp>
      <p:sp>
        <p:nvSpPr>
          <p:cNvPr id="29" name="Shape 26"/>
          <p:cNvSpPr/>
          <p:nvPr/>
        </p:nvSpPr>
        <p:spPr>
          <a:xfrm>
            <a:off x="9658259" y="3182112"/>
            <a:ext cx="1984797" cy="786384"/>
          </a:xfrm>
          <a:prstGeom prst="roundRect">
            <a:avLst>
              <a:gd name="adj" fmla="val 9302"/>
            </a:avLst>
          </a:prstGeom>
          <a:solidFill>
            <a:srgbClr val="E2F1F0"/>
          </a:solidFill>
          <a:ln w="12700">
            <a:solidFill>
              <a:srgbClr val="0E7C7B"/>
            </a:solidFill>
            <a:prstDash val="solid"/>
          </a:ln>
        </p:spPr>
      </p:sp>
      <p:sp>
        <p:nvSpPr>
          <p:cNvPr id="30" name="Text 27"/>
          <p:cNvSpPr txBox="1"/>
          <p:nvPr/>
        </p:nvSpPr>
        <p:spPr>
          <a:xfrm>
            <a:off x="9731411" y="31821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Update arm a</a:t>
            </a:r>
            <a:pPr algn="ctr" indent="0" marL="0">
              <a:buNone/>
            </a:pPr>
            <a:r>
              <a:rPr lang="en-US" sz="1300" b="1" baseline="-40000" dirty="0">
                <a:solidFill>
                  <a:srgbClr val="14213D"/>
                </a:solidFill>
                <a:latin typeface="Calibri" pitchFamily="34" charset="0"/>
                <a:ea typeface="Calibri" pitchFamily="34" charset="-122"/>
                <a:cs typeface="Calibri" pitchFamily="34" charset="-120"/>
              </a:rPr>
              <a:t>t</a:t>
            </a:r>
            <a:pPr algn="ctr" indent="0" marL="0">
              <a:buNone/>
            </a:pPr>
            <a:r>
              <a:rPr lang="en-US" sz="1300" b="1" dirty="0">
                <a:solidFill>
                  <a:srgbClr val="14213D"/>
                </a:solidFill>
                <a:latin typeface="Calibri" pitchFamily="34" charset="0"/>
                <a:ea typeface="Calibri" pitchFamily="34" charset="-122"/>
                <a:cs typeface="Calibri" pitchFamily="34" charset="-120"/>
              </a:rPr>
              <a:t> only</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A</a:t>
            </a:r>
            <a:pPr algn="ctr" indent="0" marL="0">
              <a:buNone/>
            </a:pPr>
            <a:r>
              <a:rPr lang="en-US" sz="1150" baseline="-40000" dirty="0">
                <a:solidFill>
                  <a:srgbClr val="1F2933"/>
                </a:solidFill>
                <a:latin typeface="Calibri" pitchFamily="34" charset="0"/>
                <a:ea typeface="Calibri" pitchFamily="34" charset="-122"/>
                <a:cs typeface="Calibri" pitchFamily="34" charset="-120"/>
              </a:rPr>
              <a:t>a</a:t>
            </a:r>
            <a:pPr algn="ctr" indent="0" marL="0">
              <a:buNone/>
            </a:pPr>
            <a:r>
              <a:rPr lang="en-US" sz="1150" dirty="0">
                <a:solidFill>
                  <a:srgbClr val="1F2933"/>
                </a:solidFill>
                <a:latin typeface="Calibri" pitchFamily="34" charset="0"/>
                <a:ea typeface="Calibri" pitchFamily="34" charset="-122"/>
                <a:cs typeface="Calibri" pitchFamily="34" charset="-120"/>
              </a:rPr>
              <a:t>, b</a:t>
            </a:r>
            <a:pPr algn="ctr" indent="0" marL="0">
              <a:buNone/>
            </a:pPr>
            <a:r>
              <a:rPr lang="en-US" sz="1150" baseline="-40000" dirty="0">
                <a:solidFill>
                  <a:srgbClr val="1F2933"/>
                </a:solidFill>
                <a:latin typeface="Calibri" pitchFamily="34" charset="0"/>
                <a:ea typeface="Calibri" pitchFamily="34" charset="-122"/>
                <a:cs typeface="Calibri" pitchFamily="34" charset="-120"/>
              </a:rPr>
              <a:t>a</a:t>
            </a:r>
            <a:endParaRPr lang="en-US" sz="1300" dirty="0"/>
          </a:p>
        </p:txBody>
      </p:sp>
      <p:sp>
        <p:nvSpPr>
          <p:cNvPr id="31" name="Text 28"/>
          <p:cNvSpPr txBox="1"/>
          <p:nvPr/>
        </p:nvSpPr>
        <p:spPr>
          <a:xfrm>
            <a:off x="548640" y="4279392"/>
            <a:ext cx="5486400" cy="237744"/>
          </a:xfrm>
          <a:prstGeom prst="rect">
            <a:avLst/>
          </a:prstGeom>
          <a:noFill/>
          <a:ln/>
        </p:spPr>
        <p:txBody>
          <a:bodyPr wrap="square" lIns="0" tIns="0" rIns="0" bIns="0" rtlCol="0" anchor="t"/>
          <a:lstStyle/>
          <a:p>
            <a:pPr indent="0" marL="0">
              <a:buNone/>
            </a:pPr>
            <a:r>
              <a:rPr lang="en-US" sz="1100" b="1" spc="100" kern="0" dirty="0">
                <a:solidFill>
                  <a:srgbClr val="C77700"/>
                </a:solidFill>
                <a:latin typeface="Calibri" pitchFamily="34" charset="0"/>
                <a:ea typeface="Calibri" pitchFamily="34" charset="-122"/>
                <a:cs typeface="Calibri" pitchFamily="34" charset="-120"/>
              </a:rPr>
              <a:t>DEPLOYMENT · ROUTER FROZEN</a:t>
            </a:r>
            <a:endParaRPr lang="en-US" sz="1100" dirty="0"/>
          </a:p>
        </p:txBody>
      </p:sp>
      <p:sp>
        <p:nvSpPr>
          <p:cNvPr id="32" name="Shape 29"/>
          <p:cNvSpPr/>
          <p:nvPr/>
        </p:nvSpPr>
        <p:spPr>
          <a:xfrm>
            <a:off x="548640" y="4553712"/>
            <a:ext cx="1984797" cy="786384"/>
          </a:xfrm>
          <a:prstGeom prst="roundRect">
            <a:avLst>
              <a:gd name="adj" fmla="val 9302"/>
            </a:avLst>
          </a:prstGeom>
          <a:solidFill>
            <a:srgbClr val="F2F4F7"/>
          </a:solidFill>
          <a:ln w="12700">
            <a:solidFill>
              <a:srgbClr val="C77700"/>
            </a:solidFill>
            <a:prstDash val="solid"/>
          </a:ln>
        </p:spPr>
      </p:sp>
      <p:sp>
        <p:nvSpPr>
          <p:cNvPr id="33" name="Text 30"/>
          <p:cNvSpPr txBox="1"/>
          <p:nvPr/>
        </p:nvSpPr>
        <p:spPr>
          <a:xfrm>
            <a:off x="621792" y="45537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Query q</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held-out stream</a:t>
            </a:r>
            <a:endParaRPr lang="en-US" sz="1300" dirty="0"/>
          </a:p>
        </p:txBody>
      </p:sp>
      <p:sp>
        <p:nvSpPr>
          <p:cNvPr id="34" name="Shape 31"/>
          <p:cNvSpPr/>
          <p:nvPr/>
        </p:nvSpPr>
        <p:spPr>
          <a:xfrm>
            <a:off x="2560869" y="4946904"/>
            <a:ext cx="237744" cy="914"/>
          </a:xfrm>
          <a:prstGeom prst="line">
            <a:avLst/>
          </a:prstGeom>
          <a:noFill/>
          <a:ln w="22225">
            <a:solidFill>
              <a:srgbClr val="C77700"/>
            </a:solidFill>
            <a:prstDash val="solid"/>
            <a:tailEnd type="triangle"/>
          </a:ln>
        </p:spPr>
      </p:sp>
      <p:sp>
        <p:nvSpPr>
          <p:cNvPr id="35" name="Shape 32"/>
          <p:cNvSpPr/>
          <p:nvPr/>
        </p:nvSpPr>
        <p:spPr>
          <a:xfrm>
            <a:off x="2826045" y="4553712"/>
            <a:ext cx="1984797" cy="786384"/>
          </a:xfrm>
          <a:prstGeom prst="roundRect">
            <a:avLst>
              <a:gd name="adj" fmla="val 9302"/>
            </a:avLst>
          </a:prstGeom>
          <a:solidFill>
            <a:srgbClr val="FBF0DC"/>
          </a:solidFill>
          <a:ln w="12700">
            <a:solidFill>
              <a:srgbClr val="C77700"/>
            </a:solidFill>
            <a:prstDash val="solid"/>
          </a:ln>
        </p:spPr>
      </p:sp>
      <p:sp>
        <p:nvSpPr>
          <p:cNvPr id="36" name="Text 33"/>
          <p:cNvSpPr txBox="1"/>
          <p:nvPr/>
        </p:nvSpPr>
        <p:spPr>
          <a:xfrm>
            <a:off x="2899197" y="45537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Embed + project</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same frozen map</a:t>
            </a:r>
            <a:endParaRPr lang="en-US" sz="1300" dirty="0"/>
          </a:p>
        </p:txBody>
      </p:sp>
      <p:sp>
        <p:nvSpPr>
          <p:cNvPr id="37" name="Shape 34"/>
          <p:cNvSpPr/>
          <p:nvPr/>
        </p:nvSpPr>
        <p:spPr>
          <a:xfrm>
            <a:off x="4838273" y="4946904"/>
            <a:ext cx="237744" cy="914"/>
          </a:xfrm>
          <a:prstGeom prst="line">
            <a:avLst/>
          </a:prstGeom>
          <a:noFill/>
          <a:ln w="22225">
            <a:solidFill>
              <a:srgbClr val="C77700"/>
            </a:solidFill>
            <a:prstDash val="solid"/>
            <a:tailEnd type="triangle"/>
          </a:ln>
        </p:spPr>
      </p:sp>
      <p:sp>
        <p:nvSpPr>
          <p:cNvPr id="38" name="Shape 35"/>
          <p:cNvSpPr/>
          <p:nvPr/>
        </p:nvSpPr>
        <p:spPr>
          <a:xfrm>
            <a:off x="5103449" y="4553712"/>
            <a:ext cx="1984797" cy="786384"/>
          </a:xfrm>
          <a:prstGeom prst="roundRect">
            <a:avLst>
              <a:gd name="adj" fmla="val 9302"/>
            </a:avLst>
          </a:prstGeom>
          <a:solidFill>
            <a:srgbClr val="FBF0DC"/>
          </a:solidFill>
          <a:ln w="12700">
            <a:solidFill>
              <a:srgbClr val="C77700"/>
            </a:solidFill>
            <a:prstDash val="solid"/>
          </a:ln>
        </p:spPr>
      </p:sp>
      <p:sp>
        <p:nvSpPr>
          <p:cNvPr id="39" name="Text 36"/>
          <p:cNvSpPr txBox="1"/>
          <p:nvPr/>
        </p:nvSpPr>
        <p:spPr>
          <a:xfrm>
            <a:off x="5176601" y="45537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Frozen scores</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cos(x, θ̃</a:t>
            </a:r>
            <a:pPr algn="ctr" indent="0" marL="0">
              <a:buNone/>
            </a:pPr>
            <a:r>
              <a:rPr lang="en-US" sz="1150" baseline="-40000" dirty="0">
                <a:solidFill>
                  <a:srgbClr val="1F2933"/>
                </a:solidFill>
                <a:latin typeface="Calibri" pitchFamily="34" charset="0"/>
                <a:ea typeface="Calibri" pitchFamily="34" charset="-122"/>
                <a:cs typeface="Calibri" pitchFamily="34" charset="-120"/>
              </a:rPr>
              <a:t>a</a:t>
            </a:r>
            <a:pPr algn="ctr" indent="0" marL="0">
              <a:buNone/>
            </a:pPr>
            <a:r>
              <a:rPr lang="en-US" sz="1150" dirty="0">
                <a:solidFill>
                  <a:srgbClr val="1F2933"/>
                </a:solidFill>
                <a:latin typeface="Calibri" pitchFamily="34" charset="0"/>
                <a:ea typeface="Calibri" pitchFamily="34" charset="-122"/>
                <a:cs typeface="Calibri" pitchFamily="34" charset="-120"/>
              </a:rPr>
              <a:t>)</a:t>
            </a:r>
            <a:endParaRPr lang="en-US" sz="1300" dirty="0"/>
          </a:p>
        </p:txBody>
      </p:sp>
      <p:sp>
        <p:nvSpPr>
          <p:cNvPr id="40" name="Shape 37"/>
          <p:cNvSpPr/>
          <p:nvPr/>
        </p:nvSpPr>
        <p:spPr>
          <a:xfrm>
            <a:off x="7115678" y="4946904"/>
            <a:ext cx="237744" cy="914"/>
          </a:xfrm>
          <a:prstGeom prst="line">
            <a:avLst/>
          </a:prstGeom>
          <a:noFill/>
          <a:ln w="22225">
            <a:solidFill>
              <a:srgbClr val="C77700"/>
            </a:solidFill>
            <a:prstDash val="solid"/>
            <a:tailEnd type="triangle"/>
          </a:ln>
        </p:spPr>
      </p:sp>
      <p:sp>
        <p:nvSpPr>
          <p:cNvPr id="41" name="Shape 38"/>
          <p:cNvSpPr/>
          <p:nvPr/>
        </p:nvSpPr>
        <p:spPr>
          <a:xfrm>
            <a:off x="7380854" y="4553712"/>
            <a:ext cx="1984797" cy="786384"/>
          </a:xfrm>
          <a:prstGeom prst="roundRect">
            <a:avLst>
              <a:gd name="adj" fmla="val 9302"/>
            </a:avLst>
          </a:prstGeom>
          <a:solidFill>
            <a:srgbClr val="FBF0DC"/>
          </a:solidFill>
          <a:ln w="12700">
            <a:solidFill>
              <a:srgbClr val="C77700"/>
            </a:solidFill>
            <a:prstDash val="solid"/>
          </a:ln>
        </p:spPr>
      </p:sp>
      <p:sp>
        <p:nvSpPr>
          <p:cNvPr id="42" name="Text 39"/>
          <p:cNvSpPr txBox="1"/>
          <p:nvPr/>
        </p:nvSpPr>
        <p:spPr>
          <a:xfrm>
            <a:off x="7454006" y="45537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Cost policy</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ĉ(a), threshold, bins</a:t>
            </a:r>
            <a:endParaRPr lang="en-US" sz="1300" dirty="0"/>
          </a:p>
        </p:txBody>
      </p:sp>
      <p:sp>
        <p:nvSpPr>
          <p:cNvPr id="43" name="Shape 40"/>
          <p:cNvSpPr/>
          <p:nvPr/>
        </p:nvSpPr>
        <p:spPr>
          <a:xfrm>
            <a:off x="9393083" y="4946904"/>
            <a:ext cx="237744" cy="914"/>
          </a:xfrm>
          <a:prstGeom prst="line">
            <a:avLst/>
          </a:prstGeom>
          <a:noFill/>
          <a:ln w="22225">
            <a:solidFill>
              <a:srgbClr val="C77700"/>
            </a:solidFill>
            <a:prstDash val="solid"/>
            <a:tailEnd type="triangle"/>
          </a:ln>
        </p:spPr>
      </p:sp>
      <p:sp>
        <p:nvSpPr>
          <p:cNvPr id="44" name="Shape 41"/>
          <p:cNvSpPr/>
          <p:nvPr/>
        </p:nvSpPr>
        <p:spPr>
          <a:xfrm>
            <a:off x="9658259" y="4553712"/>
            <a:ext cx="1984797" cy="786384"/>
          </a:xfrm>
          <a:prstGeom prst="roundRect">
            <a:avLst>
              <a:gd name="adj" fmla="val 9302"/>
            </a:avLst>
          </a:prstGeom>
          <a:solidFill>
            <a:srgbClr val="FBF0DC"/>
          </a:solidFill>
          <a:ln w="12700">
            <a:solidFill>
              <a:srgbClr val="C77700"/>
            </a:solidFill>
            <a:prstDash val="solid"/>
          </a:ln>
        </p:spPr>
      </p:sp>
      <p:sp>
        <p:nvSpPr>
          <p:cNvPr id="45" name="Text 42"/>
          <p:cNvSpPr txBox="1"/>
          <p:nvPr/>
        </p:nvSpPr>
        <p:spPr>
          <a:xfrm>
            <a:off x="9731411" y="4553712"/>
            <a:ext cx="1838493" cy="786384"/>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Answer served</a:t>
            </a:r>
            <a:endParaRPr lang="en-US" sz="1300" dirty="0"/>
          </a:p>
          <a:p>
            <a:pPr algn="ctr" indent="0" marL="0">
              <a:buNone/>
            </a:pPr>
            <a:r>
              <a:rPr lang="en-US" sz="1150" dirty="0">
                <a:solidFill>
                  <a:srgbClr val="1F2933"/>
                </a:solidFill>
                <a:latin typeface="Calibri" pitchFamily="34" charset="0"/>
                <a:ea typeface="Calibri" pitchFamily="34" charset="-122"/>
                <a:cs typeface="Calibri" pitchFamily="34" charset="-120"/>
              </a:rPr>
              <a:t>reward + cost recorded</a:t>
            </a:r>
            <a:endParaRPr lang="en-US" sz="1300" dirty="0"/>
          </a:p>
        </p:txBody>
      </p:sp>
      <p:sp>
        <p:nvSpPr>
          <p:cNvPr id="46" name="Shape 43"/>
          <p:cNvSpPr/>
          <p:nvPr/>
        </p:nvSpPr>
        <p:spPr>
          <a:xfrm>
            <a:off x="9891522" y="2596896"/>
            <a:ext cx="914" cy="566928"/>
          </a:xfrm>
          <a:prstGeom prst="line">
            <a:avLst/>
          </a:prstGeom>
          <a:noFill/>
          <a:ln w="19050">
            <a:solidFill>
              <a:srgbClr val="14213D"/>
            </a:solidFill>
            <a:prstDash val="dash"/>
            <a:tailEnd type="triangle"/>
          </a:ln>
        </p:spPr>
      </p:sp>
      <p:sp>
        <p:nvSpPr>
          <p:cNvPr id="47" name="Text 44"/>
          <p:cNvSpPr txBox="1"/>
          <p:nvPr/>
        </p:nvSpPr>
        <p:spPr>
          <a:xfrm>
            <a:off x="9982962" y="2660904"/>
            <a:ext cx="3108960" cy="256032"/>
          </a:xfrm>
          <a:prstGeom prst="rect">
            <a:avLst/>
          </a:prstGeom>
          <a:noFill/>
          <a:ln/>
        </p:spPr>
        <p:txBody>
          <a:bodyPr wrap="square" lIns="0" tIns="0" rIns="0" bIns="0" rtlCol="0" anchor="ctr"/>
          <a:lstStyle/>
          <a:p>
            <a:pPr indent="0" marL="0">
              <a:buNone/>
            </a:pPr>
            <a:r>
              <a:rPr lang="en-US" sz="1100" dirty="0">
                <a:solidFill>
                  <a:srgbClr val="5B6676"/>
                </a:solidFill>
                <a:latin typeface="Calibri" pitchFamily="34" charset="0"/>
                <a:ea typeface="Calibri" pitchFamily="34" charset="-122"/>
                <a:cs typeface="Calibri" pitchFamily="34" charset="-120"/>
              </a:rPr>
              <a:t>initial A</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dirty="0">
                <a:solidFill>
                  <a:srgbClr val="5B6676"/>
                </a:solidFill>
                <a:latin typeface="Calibri" pitchFamily="34" charset="0"/>
                <a:ea typeface="Calibri" pitchFamily="34" charset="-122"/>
                <a:cs typeface="Calibri" pitchFamily="34" charset="-120"/>
              </a:rPr>
              <a:t> = λ</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dirty="0">
                <a:solidFill>
                  <a:srgbClr val="5B6676"/>
                </a:solidFill>
                <a:latin typeface="Calibri" pitchFamily="34" charset="0"/>
                <a:ea typeface="Calibri" pitchFamily="34" charset="-122"/>
                <a:cs typeface="Calibri" pitchFamily="34" charset="-120"/>
              </a:rPr>
              <a:t>I, b</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dirty="0">
                <a:solidFill>
                  <a:srgbClr val="5B6676"/>
                </a:solidFill>
                <a:latin typeface="Calibri" pitchFamily="34" charset="0"/>
                <a:ea typeface="Calibri" pitchFamily="34" charset="-122"/>
                <a:cs typeface="Calibri" pitchFamily="34" charset="-120"/>
              </a:rPr>
              <a:t> = λ</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dirty="0">
                <a:solidFill>
                  <a:srgbClr val="5B6676"/>
                </a:solidFill>
                <a:latin typeface="Calibri" pitchFamily="34" charset="0"/>
                <a:ea typeface="Calibri" pitchFamily="34" charset="-122"/>
                <a:cs typeface="Calibri" pitchFamily="34" charset="-120"/>
              </a:rPr>
              <a:t>θ</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baseline="30000" dirty="0">
                <a:solidFill>
                  <a:srgbClr val="5B6676"/>
                </a:solidFill>
                <a:latin typeface="Calibri" pitchFamily="34" charset="0"/>
                <a:ea typeface="Calibri" pitchFamily="34" charset="-122"/>
                <a:cs typeface="Calibri" pitchFamily="34" charset="-120"/>
              </a:rPr>
              <a:t>pref</a:t>
            </a:r>
            <a:endParaRPr lang="en-US" sz="1100" dirty="0"/>
          </a:p>
        </p:txBody>
      </p:sp>
      <p:sp>
        <p:nvSpPr>
          <p:cNvPr id="48" name="Shape 45"/>
          <p:cNvSpPr/>
          <p:nvPr/>
        </p:nvSpPr>
        <p:spPr>
          <a:xfrm flipH="1">
            <a:off x="6461608" y="3968496"/>
            <a:ext cx="4189049" cy="566928"/>
          </a:xfrm>
          <a:prstGeom prst="line">
            <a:avLst/>
          </a:prstGeom>
          <a:noFill/>
          <a:ln w="19050">
            <a:solidFill>
              <a:srgbClr val="0E7C7B"/>
            </a:solidFill>
            <a:prstDash val="dash"/>
            <a:tailEnd type="triangle"/>
          </a:ln>
        </p:spPr>
      </p:sp>
      <p:sp>
        <p:nvSpPr>
          <p:cNvPr id="49" name="Text 46"/>
          <p:cNvSpPr txBox="1"/>
          <p:nvPr/>
        </p:nvSpPr>
        <p:spPr>
          <a:xfrm>
            <a:off x="7010248" y="4059936"/>
            <a:ext cx="2377440" cy="256032"/>
          </a:xfrm>
          <a:prstGeom prst="rect">
            <a:avLst/>
          </a:prstGeom>
          <a:noFill/>
          <a:ln/>
        </p:spPr>
        <p:txBody>
          <a:bodyPr wrap="square" lIns="0" tIns="0" rIns="0" bIns="0" rtlCol="0" anchor="ctr"/>
          <a:lstStyle/>
          <a:p>
            <a:pPr indent="0" marL="0">
              <a:buNone/>
            </a:pPr>
            <a:r>
              <a:rPr lang="en-US" sz="1100" dirty="0">
                <a:solidFill>
                  <a:srgbClr val="5B6676"/>
                </a:solidFill>
                <a:latin typeface="Calibri" pitchFamily="34" charset="0"/>
                <a:ea typeface="Calibri" pitchFamily="34" charset="-122"/>
                <a:cs typeface="Calibri" pitchFamily="34" charset="-120"/>
              </a:rPr>
              <a:t>freeze θ̃</a:t>
            </a:r>
            <a:pPr indent="0" marL="0">
              <a:buNone/>
            </a:pPr>
            <a:r>
              <a:rPr lang="en-US" sz="1100" baseline="-40000" dirty="0">
                <a:solidFill>
                  <a:srgbClr val="5B6676"/>
                </a:solidFill>
                <a:latin typeface="Calibri" pitchFamily="34" charset="0"/>
                <a:ea typeface="Calibri" pitchFamily="34" charset="-122"/>
                <a:cs typeface="Calibri" pitchFamily="34" charset="-120"/>
              </a:rPr>
              <a:t>a</a:t>
            </a:r>
            <a:pPr indent="0" marL="0">
              <a:buNone/>
            </a:pPr>
            <a:r>
              <a:rPr lang="en-US" sz="1100" dirty="0">
                <a:solidFill>
                  <a:srgbClr val="5B6676"/>
                </a:solidFill>
                <a:latin typeface="Calibri" pitchFamily="34" charset="0"/>
                <a:ea typeface="Calibri" pitchFamily="34" charset="-122"/>
                <a:cs typeface="Calibri" pitchFamily="34" charset="-120"/>
              </a:rPr>
              <a:t> after learning</a:t>
            </a:r>
            <a:endParaRPr lang="en-US" sz="1100" dirty="0"/>
          </a:p>
        </p:txBody>
      </p:sp>
      <p:sp>
        <p:nvSpPr>
          <p:cNvPr id="50" name="Shape 47"/>
          <p:cNvSpPr/>
          <p:nvPr/>
        </p:nvSpPr>
        <p:spPr>
          <a:xfrm>
            <a:off x="548640" y="5486400"/>
            <a:ext cx="11094415" cy="457200"/>
          </a:xfrm>
          <a:prstGeom prst="roundRect">
            <a:avLst>
              <a:gd name="adj" fmla="val 16000"/>
            </a:avLst>
          </a:prstGeom>
          <a:solidFill>
            <a:srgbClr val="F2F4F7"/>
          </a:solidFill>
          <a:ln w="9525">
            <a:solidFill>
              <a:srgbClr val="F2F4F7"/>
            </a:solidFill>
            <a:prstDash val="solid"/>
          </a:ln>
        </p:spPr>
      </p:sp>
      <p:sp>
        <p:nvSpPr>
          <p:cNvPr id="51" name="Text 48"/>
          <p:cNvSpPr txBox="1"/>
          <p:nvPr/>
        </p:nvSpPr>
        <p:spPr>
          <a:xfrm>
            <a:off x="731520" y="5486400"/>
            <a:ext cx="10728655"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Our run  </a:t>
            </a:r>
            <a:pPr indent="0" marL="0">
              <a:buNone/>
            </a:pPr>
            <a:r>
              <a:rPr lang="en-US" sz="1300" dirty="0">
                <a:solidFill>
                  <a:srgbClr val="1F2933"/>
                </a:solidFill>
                <a:latin typeface="Calibri" pitchFamily="34" charset="0"/>
                <a:ea typeface="Calibri" pitchFamily="34" charset="-122"/>
                <a:cs typeface="Calibri" pitchFamily="34" charset="-120"/>
              </a:rPr>
              <a:t>φ = text-embedding-3-small [5], real 1,536-d full-text vectors → learned 64-d · 8 of 11 arms · replayed outcomes, no LLM calls</a:t>
            </a:r>
            <a:endParaRPr lang="en-US" sz="13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3 OF 5 · COMPONENT 1</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Pretrain a shared space from human preferences</a:t>
            </a:r>
            <a:endParaRPr lang="en-US" sz="3000" dirty="0"/>
          </a:p>
        </p:txBody>
      </p:sp>
      <p:sp>
        <p:nvSpPr>
          <p:cNvPr id="5" name="Text 3"/>
          <p:cNvSpPr txBox="1"/>
          <p:nvPr/>
        </p:nvSpPr>
        <p:spPr>
          <a:xfrm>
            <a:off x="548640" y="6129909"/>
            <a:ext cx="10561320" cy="54521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2403.04132" history="1" highlightClick="0" endSnd="0">
                  <a:extLst>
                    <a:ext uri="{A12FA001-AC4F-418D-AE19-62706E023703}">
                      <ahyp:hlinkClr xmlns:ahyp="http://schemas.microsoft.com/office/drawing/2018/hyperlinkcolor" val="tx"/>
                    </a:ext>
                  </a:extLst>
                </a:hlinkClick>
              </a:rPr>
              <a:t>[4] W.-L. Chiang et al., “Chatbot Arena: An open platform for evaluating LLMs by human preference,” arXiv:2403.04132,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openai.com/index/new-embedding-models-and-api-updates/" history="1" highlightClick="0" endSnd="0">
                  <a:extLst>
                    <a:ext uri="{A12FA001-AC4F-418D-AE19-62706E023703}">
                      <ahyp:hlinkClr xmlns:ahyp="http://schemas.microsoft.com/office/drawing/2018/hyperlinkcolor" val="tx"/>
                    </a:ext>
                  </a:extLst>
                </a:hlinkClick>
              </a:rPr>
              <a:t>[5] OpenAI, “New embedding models and API updates,” OpenAI, Jan. 25, 2024. [Online]. Available: openai.com/index/new-embedding-models-and-api-updates</a:t>
            </a:r>
            <a:endParaRPr lang="en-US" sz="950" dirty="0"/>
          </a:p>
        </p:txBody>
      </p:sp>
      <p:sp>
        <p:nvSpPr>
          <p:cNvPr id="7" name="Shape 4"/>
          <p:cNvSpPr/>
          <p:nvPr/>
        </p:nvSpPr>
        <p:spPr>
          <a:xfrm>
            <a:off x="548640" y="1481328"/>
            <a:ext cx="3575304" cy="822960"/>
          </a:xfrm>
          <a:prstGeom prst="roundRect">
            <a:avLst>
              <a:gd name="adj" fmla="val 8889"/>
            </a:avLst>
          </a:prstGeom>
          <a:solidFill>
            <a:srgbClr val="F2F4F7"/>
          </a:solidFill>
          <a:ln w="9525">
            <a:solidFill>
              <a:srgbClr val="F2F4F7"/>
            </a:solidFill>
            <a:prstDash val="solid"/>
          </a:ln>
        </p:spPr>
      </p:sp>
      <p:sp>
        <p:nvSpPr>
          <p:cNvPr id="8" name="Text 5"/>
          <p:cNvSpPr txBox="1"/>
          <p:nvPr/>
        </p:nvSpPr>
        <p:spPr>
          <a:xfrm>
            <a:off x="713232" y="1481328"/>
            <a:ext cx="3291840" cy="8229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What  </a:t>
            </a:r>
            <a:pPr indent="0" marL="0">
              <a:buNone/>
            </a:pPr>
            <a:r>
              <a:rPr lang="en-US" sz="1300" dirty="0">
                <a:solidFill>
                  <a:srgbClr val="1F2933"/>
                </a:solidFill>
                <a:latin typeface="Calibri" pitchFamily="34" charset="0"/>
                <a:ea typeface="Calibri" pitchFamily="34" charset="-122"/>
                <a:cs typeface="Calibri" pitchFamily="34" charset="-120"/>
              </a:rPr>
              <a:t>A space where cos(query, LLM) predicts how well that LLM fits that query.</a:t>
            </a:r>
            <a:endParaRPr lang="en-US" sz="1400" dirty="0"/>
          </a:p>
        </p:txBody>
      </p:sp>
      <p:sp>
        <p:nvSpPr>
          <p:cNvPr id="9" name="Shape 6"/>
          <p:cNvSpPr/>
          <p:nvPr/>
        </p:nvSpPr>
        <p:spPr>
          <a:xfrm>
            <a:off x="4306824" y="1481328"/>
            <a:ext cx="3575304" cy="822960"/>
          </a:xfrm>
          <a:prstGeom prst="roundRect">
            <a:avLst>
              <a:gd name="adj" fmla="val 8889"/>
            </a:avLst>
          </a:prstGeom>
          <a:solidFill>
            <a:srgbClr val="F2F4F7"/>
          </a:solidFill>
          <a:ln w="9525">
            <a:solidFill>
              <a:srgbClr val="F2F4F7"/>
            </a:solidFill>
            <a:prstDash val="solid"/>
          </a:ln>
        </p:spPr>
      </p:sp>
      <p:sp>
        <p:nvSpPr>
          <p:cNvPr id="10" name="Text 7"/>
          <p:cNvSpPr txBox="1"/>
          <p:nvPr/>
        </p:nvSpPr>
        <p:spPr>
          <a:xfrm>
            <a:off x="4471416" y="1481328"/>
            <a:ext cx="3291840" cy="8229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Why  </a:t>
            </a:r>
            <a:pPr indent="0" marL="0">
              <a:buNone/>
            </a:pPr>
            <a:r>
              <a:rPr lang="en-US" sz="1300" dirty="0">
                <a:solidFill>
                  <a:srgbClr val="1F2933"/>
                </a:solidFill>
                <a:latin typeface="Calibri" pitchFamily="34" charset="0"/>
                <a:ea typeface="Calibri" pitchFamily="34" charset="-122"/>
                <a:cs typeface="Calibri" pitchFamily="34" charset="-120"/>
              </a:rPr>
              <a:t>Bandits that start from zero explore expensively. Human preference data already exists.</a:t>
            </a:r>
            <a:endParaRPr lang="en-US" sz="1400" dirty="0"/>
          </a:p>
        </p:txBody>
      </p:sp>
      <p:sp>
        <p:nvSpPr>
          <p:cNvPr id="11" name="Shape 8"/>
          <p:cNvSpPr/>
          <p:nvPr/>
        </p:nvSpPr>
        <p:spPr>
          <a:xfrm>
            <a:off x="8065008" y="1481328"/>
            <a:ext cx="3575304" cy="822960"/>
          </a:xfrm>
          <a:prstGeom prst="roundRect">
            <a:avLst>
              <a:gd name="adj" fmla="val 8889"/>
            </a:avLst>
          </a:prstGeom>
          <a:solidFill>
            <a:srgbClr val="F2F4F7"/>
          </a:solidFill>
          <a:ln w="9525">
            <a:solidFill>
              <a:srgbClr val="F2F4F7"/>
            </a:solidFill>
            <a:prstDash val="solid"/>
          </a:ln>
        </p:spPr>
      </p:sp>
      <p:sp>
        <p:nvSpPr>
          <p:cNvPr id="12" name="Text 9"/>
          <p:cNvSpPr txBox="1"/>
          <p:nvPr/>
        </p:nvSpPr>
        <p:spPr>
          <a:xfrm>
            <a:off x="8229600" y="1481328"/>
            <a:ext cx="3291840" cy="822960"/>
          </a:xfrm>
          <a:prstGeom prst="rect">
            <a:avLst/>
          </a:prstGeom>
          <a:noFill/>
          <a:ln/>
        </p:spPr>
        <p:txBody>
          <a:bodyPr wrap="square" lIns="0" tIns="0" rIns="0" bIns="0"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How  </a:t>
            </a:r>
            <a:pPr indent="0" marL="0">
              <a:buNone/>
            </a:pPr>
            <a:r>
              <a:rPr lang="en-US" sz="1300" dirty="0">
                <a:solidFill>
                  <a:srgbClr val="1F2933"/>
                </a:solidFill>
                <a:latin typeface="Calibri" pitchFamily="34" charset="0"/>
                <a:ea typeface="Calibri" pitchFamily="34" charset="-122"/>
                <a:cs typeface="Calibri" pitchFamily="34" charset="-120"/>
              </a:rPr>
              <a:t>Two phases, so the query map and the arm vectors do not chase each other.</a:t>
            </a:r>
            <a:endParaRPr lang="en-US" sz="1400" dirty="0"/>
          </a:p>
        </p:txBody>
      </p:sp>
      <p:sp>
        <p:nvSpPr>
          <p:cNvPr id="13" name="Shape 10"/>
          <p:cNvSpPr/>
          <p:nvPr/>
        </p:nvSpPr>
        <p:spPr>
          <a:xfrm>
            <a:off x="548640" y="2514600"/>
            <a:ext cx="5449824" cy="2926080"/>
          </a:xfrm>
          <a:prstGeom prst="roundRect">
            <a:avLst>
              <a:gd name="adj" fmla="val 2500"/>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4" name="Text 11"/>
          <p:cNvSpPr txBox="1"/>
          <p:nvPr/>
        </p:nvSpPr>
        <p:spPr>
          <a:xfrm>
            <a:off x="777240" y="2633472"/>
            <a:ext cx="5029200" cy="347472"/>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Phase 1 · project the queries</a:t>
            </a:r>
            <a:endParaRPr lang="en-US" sz="1600" dirty="0"/>
          </a:p>
        </p:txBody>
      </p:sp>
      <p:sp>
        <p:nvSpPr>
          <p:cNvPr id="15" name="Text 12"/>
          <p:cNvSpPr txBox="1"/>
          <p:nvPr/>
        </p:nvSpPr>
        <p:spPr>
          <a:xfrm>
            <a:off x="777240" y="3035808"/>
            <a:ext cx="5029200" cy="1051560"/>
          </a:xfrm>
          <a:prstGeom prst="rect">
            <a:avLst/>
          </a:prstGeom>
          <a:noFill/>
          <a:ln/>
        </p:spPr>
        <p:txBody>
          <a:bodyPr wrap="square" lIns="0" tIns="0" rIns="0" bIns="0" rtlCol="0" anchor="t"/>
          <a:lstStyle/>
          <a:p>
            <a:pPr indent="0" marL="0">
              <a:spcAft>
                <a:spcPts val="600"/>
              </a:spcAft>
              <a:buNone/>
            </a:pPr>
            <a:r>
              <a:rPr lang="en-US" sz="1500" dirty="0">
                <a:solidFill>
                  <a:srgbClr val="14213D"/>
                </a:solidFill>
                <a:latin typeface="Cambria Math" pitchFamily="34" charset="0"/>
                <a:ea typeface="Cambria Math" pitchFamily="34" charset="-122"/>
                <a:cs typeface="Cambria Math" pitchFamily="34" charset="-120"/>
              </a:rPr>
              <a:t>ψ(q) = W φ(q) + b,   d(u, v) = 1 − cos(u, v)</a:t>
            </a:r>
            <a:endParaRPr lang="en-US" sz="1500" dirty="0"/>
          </a:p>
          <a:p>
            <a:pPr indent="0" marL="0">
              <a:spcAft>
                <a:spcPts val="600"/>
              </a:spcAft>
              <a:buNone/>
            </a:pPr>
            <a:r>
              <a:rPr lang="en-US" sz="1500" dirty="0">
                <a:solidFill>
                  <a:srgbClr val="14213D"/>
                </a:solidFill>
                <a:latin typeface="Cambria Math" pitchFamily="34" charset="0"/>
                <a:ea typeface="Cambria Math" pitchFamily="34" charset="-122"/>
                <a:cs typeface="Cambria Math" pitchFamily="34" charset="-120"/>
              </a:rPr>
              <a:t>ℓ = max(0, d(ψ(q</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500" dirty="0">
                <a:solidFill>
                  <a:srgbClr val="14213D"/>
                </a:solidFill>
                <a:latin typeface="Cambria Math" pitchFamily="34" charset="0"/>
                <a:ea typeface="Cambria Math" pitchFamily="34" charset="-122"/>
                <a:cs typeface="Cambria Math" pitchFamily="34" charset="-120"/>
              </a:rPr>
              <a:t>), ψ(q</a:t>
            </a:r>
            <a:pPr indent="0" marL="0">
              <a:buNone/>
            </a:pPr>
            <a:r>
              <a:rPr lang="en-US" sz="150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500" dirty="0">
                <a:solidFill>
                  <a:srgbClr val="14213D"/>
                </a:solidFill>
                <a:latin typeface="Cambria Math" pitchFamily="34" charset="0"/>
                <a:ea typeface="Cambria Math" pitchFamily="34" charset="-122"/>
                <a:cs typeface="Cambria Math" pitchFamily="34" charset="-120"/>
              </a:rPr>
              <a:t>)) − d(ψ(q</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500" dirty="0">
                <a:solidFill>
                  <a:srgbClr val="14213D"/>
                </a:solidFill>
                <a:latin typeface="Cambria Math" pitchFamily="34" charset="0"/>
                <a:ea typeface="Cambria Math" pitchFamily="34" charset="-122"/>
                <a:cs typeface="Cambria Math" pitchFamily="34" charset="-120"/>
              </a:rPr>
              <a:t>), ψ(q</a:t>
            </a:r>
            <a:pPr indent="0" marL="0">
              <a:buNone/>
            </a:pPr>
            <a:r>
              <a:rPr lang="en-US" sz="150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500" dirty="0">
                <a:solidFill>
                  <a:srgbClr val="14213D"/>
                </a:solidFill>
                <a:latin typeface="Cambria Math" pitchFamily="34" charset="0"/>
                <a:ea typeface="Cambria Math" pitchFamily="34" charset="-122"/>
                <a:cs typeface="Cambria Math" pitchFamily="34" charset="-120"/>
              </a:rPr>
              <a:t>)) + m)</a:t>
            </a:r>
            <a:endParaRPr lang="en-US" sz="1500" dirty="0"/>
          </a:p>
        </p:txBody>
      </p:sp>
      <p:sp>
        <p:nvSpPr>
          <p:cNvPr id="16" name="Text 13"/>
          <p:cNvSpPr txBox="1"/>
          <p:nvPr/>
        </p:nvSpPr>
        <p:spPr>
          <a:xfrm>
            <a:off x="777240" y="4114800"/>
            <a:ext cx="5029200" cy="1280160"/>
          </a:xfrm>
          <a:prstGeom prst="rect">
            <a:avLst/>
          </a:prstGeom>
          <a:noFill/>
          <a:ln/>
        </p:spPr>
        <p:txBody>
          <a:bodyPr wrap="square" lIns="0" tIns="0" rIns="0" bIns="0" rtlCol="0" anchor="t"/>
          <a:lstStyle/>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W, b</a:t>
            </a:r>
            <a:pPr indent="0" marL="0">
              <a:buNone/>
            </a:pPr>
            <a:r>
              <a:rPr lang="en-US" sz="1250" dirty="0">
                <a:solidFill>
                  <a:srgbClr val="1F2933"/>
                </a:solidFill>
                <a:latin typeface="Calibri" pitchFamily="34" charset="0"/>
                <a:ea typeface="Calibri" pitchFamily="34" charset="-122"/>
                <a:cs typeface="Calibri" pitchFamily="34" charset="-120"/>
              </a:rPr>
              <a:t>  learned map from ℝ</a:t>
            </a:r>
            <a:pPr indent="0" marL="0">
              <a:buNone/>
            </a:pPr>
            <a:r>
              <a:rPr lang="en-US" sz="1250" baseline="30000" dirty="0">
                <a:solidFill>
                  <a:srgbClr val="1F2933"/>
                </a:solidFill>
                <a:latin typeface="Calibri" pitchFamily="34" charset="0"/>
                <a:ea typeface="Calibri" pitchFamily="34" charset="-122"/>
                <a:cs typeface="Calibri" pitchFamily="34" charset="-120"/>
              </a:rPr>
              <a:t>D</a:t>
            </a:r>
            <a:pPr indent="0" marL="0">
              <a:buNone/>
            </a:pPr>
            <a:r>
              <a:rPr lang="en-US" sz="1250" dirty="0">
                <a:solidFill>
                  <a:srgbClr val="1F2933"/>
                </a:solidFill>
                <a:latin typeface="Calibri" pitchFamily="34" charset="0"/>
                <a:ea typeface="Calibri" pitchFamily="34" charset="-122"/>
                <a:cs typeface="Calibri" pitchFamily="34" charset="-120"/>
              </a:rPr>
              <a:t> to ℝ</a:t>
            </a:r>
            <a:pPr indent="0" marL="0">
              <a:buNone/>
            </a:pPr>
            <a:r>
              <a:rPr lang="en-US" sz="1250" baseline="30000" dirty="0">
                <a:solidFill>
                  <a:srgbClr val="1F2933"/>
                </a:solidFill>
                <a:latin typeface="Calibri" pitchFamily="34" charset="0"/>
                <a:ea typeface="Calibri" pitchFamily="34" charset="-122"/>
                <a:cs typeface="Calibri" pitchFamily="34" charset="-120"/>
              </a:rPr>
              <a:t>d</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q</a:t>
            </a:r>
            <a:pPr indent="0" marL="0">
              <a:buNone/>
            </a:pPr>
            <a:r>
              <a:rPr lang="en-US" sz="1250" b="1" baseline="30000" dirty="0">
                <a:solidFill>
                  <a:srgbClr val="0E7C7B"/>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  a query won by the same model as q</a:t>
            </a:r>
            <a:pPr indent="0" marL="0">
              <a:buNone/>
            </a:pPr>
            <a:r>
              <a:rPr lang="en-US" sz="1250" baseline="-40000" dirty="0">
                <a:solidFill>
                  <a:srgbClr val="1F2933"/>
                </a:solidFill>
                <a:latin typeface="Calibri" pitchFamily="34" charset="0"/>
                <a:ea typeface="Calibri" pitchFamily="34" charset="-122"/>
                <a:cs typeface="Calibri" pitchFamily="34" charset="-120"/>
              </a:rPr>
              <a:t>a</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q</a:t>
            </a:r>
            <a:pPr indent="0" marL="0">
              <a:buNone/>
            </a:pPr>
            <a:r>
              <a:rPr lang="en-US" sz="1250" b="1" baseline="30000" dirty="0">
                <a:solidFill>
                  <a:srgbClr val="0E7C7B"/>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  hard negative: that model lost to a cheaper one</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m</a:t>
            </a:r>
            <a:pPr indent="0" marL="0">
              <a:buNone/>
            </a:pPr>
            <a:r>
              <a:rPr lang="en-US" sz="1250" dirty="0">
                <a:solidFill>
                  <a:srgbClr val="1F2933"/>
                </a:solidFill>
                <a:latin typeface="Calibri" pitchFamily="34" charset="0"/>
                <a:ea typeface="Calibri" pitchFamily="34" charset="-122"/>
                <a:cs typeface="Calibri" pitchFamily="34" charset="-120"/>
              </a:rPr>
              <a:t>  margin (ours 0.2)</a:t>
            </a:r>
            <a:endParaRPr lang="en-US" sz="1250" dirty="0"/>
          </a:p>
        </p:txBody>
      </p:sp>
      <p:sp>
        <p:nvSpPr>
          <p:cNvPr id="17" name="Shape 14"/>
          <p:cNvSpPr/>
          <p:nvPr/>
        </p:nvSpPr>
        <p:spPr>
          <a:xfrm>
            <a:off x="6190488" y="2514600"/>
            <a:ext cx="5449824" cy="2926080"/>
          </a:xfrm>
          <a:prstGeom prst="roundRect">
            <a:avLst>
              <a:gd name="adj" fmla="val 2500"/>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8" name="Text 15"/>
          <p:cNvSpPr txBox="1"/>
          <p:nvPr/>
        </p:nvSpPr>
        <p:spPr>
          <a:xfrm>
            <a:off x="6419088" y="2633472"/>
            <a:ext cx="5029200" cy="347472"/>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Phase 2 · one vector per LLM (W, b frozen)</a:t>
            </a:r>
            <a:endParaRPr lang="en-US" sz="1600" dirty="0"/>
          </a:p>
        </p:txBody>
      </p:sp>
      <p:sp>
        <p:nvSpPr>
          <p:cNvPr id="19" name="Text 16"/>
          <p:cNvSpPr txBox="1"/>
          <p:nvPr/>
        </p:nvSpPr>
        <p:spPr>
          <a:xfrm>
            <a:off x="6419088" y="3035808"/>
            <a:ext cx="5029200" cy="1051560"/>
          </a:xfrm>
          <a:prstGeom prst="rect">
            <a:avLst/>
          </a:prstGeom>
          <a:noFill/>
          <a:ln/>
        </p:spPr>
        <p:txBody>
          <a:bodyPr wrap="square" lIns="0" tIns="0" rIns="0" bIns="0" rtlCol="0" anchor="t"/>
          <a:lstStyle/>
          <a:p>
            <a:pPr indent="0" marL="0">
              <a:spcAft>
                <a:spcPts val="600"/>
              </a:spcAft>
              <a:buNone/>
            </a:pPr>
            <a:r>
              <a:rPr lang="en-US" sz="1500" dirty="0">
                <a:solidFill>
                  <a:srgbClr val="14213D"/>
                </a:solidFill>
                <a:latin typeface="Cambria Math" pitchFamily="34" charset="0"/>
                <a:ea typeface="Cambria Math" pitchFamily="34" charset="-122"/>
                <a:cs typeface="Cambria Math" pitchFamily="34" charset="-120"/>
              </a:rPr>
              <a:t>p</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i</a:t>
            </a:r>
            <a:pPr indent="0" marL="0">
              <a:buNone/>
            </a:pPr>
            <a:r>
              <a:rPr lang="en-US" sz="1500" dirty="0">
                <a:solidFill>
                  <a:srgbClr val="14213D"/>
                </a:solidFill>
                <a:latin typeface="Cambria Math" pitchFamily="34" charset="0"/>
                <a:ea typeface="Cambria Math" pitchFamily="34" charset="-122"/>
                <a:cs typeface="Cambria Math" pitchFamily="34" charset="-120"/>
              </a:rPr>
              <a:t> = exp cos(θ</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i</a:t>
            </a:r>
            <a:pPr indent="0" marL="0">
              <a:buNone/>
            </a:pPr>
            <a:r>
              <a:rPr lang="en-US" sz="1500" dirty="0">
                <a:solidFill>
                  <a:srgbClr val="14213D"/>
                </a:solidFill>
                <a:latin typeface="Cambria Math" pitchFamily="34" charset="0"/>
                <a:ea typeface="Cambria Math" pitchFamily="34" charset="-122"/>
                <a:cs typeface="Cambria Math" pitchFamily="34" charset="-120"/>
              </a:rPr>
              <a:t>, ψ(q)) / Σ</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k</a:t>
            </a:r>
            <a:pPr indent="0" marL="0">
              <a:buNone/>
            </a:pPr>
            <a:r>
              <a:rPr lang="en-US" sz="1500" dirty="0">
                <a:solidFill>
                  <a:srgbClr val="14213D"/>
                </a:solidFill>
                <a:latin typeface="Cambria Math" pitchFamily="34" charset="0"/>
                <a:ea typeface="Cambria Math" pitchFamily="34" charset="-122"/>
                <a:cs typeface="Cambria Math" pitchFamily="34" charset="-120"/>
              </a:rPr>
              <a:t> exp cos(θ</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k</a:t>
            </a:r>
            <a:pPr indent="0" marL="0">
              <a:buNone/>
            </a:pPr>
            <a:r>
              <a:rPr lang="en-US" sz="1500" dirty="0">
                <a:solidFill>
                  <a:srgbClr val="14213D"/>
                </a:solidFill>
                <a:latin typeface="Cambria Math" pitchFamily="34" charset="0"/>
                <a:ea typeface="Cambria Math" pitchFamily="34" charset="-122"/>
                <a:cs typeface="Cambria Math" pitchFamily="34" charset="-120"/>
              </a:rPr>
              <a:t>, ψ(q)),  k ∈ {i, j}</a:t>
            </a:r>
            <a:endParaRPr lang="en-US" sz="1500" dirty="0"/>
          </a:p>
          <a:p>
            <a:pPr indent="0" marL="0">
              <a:spcAft>
                <a:spcPts val="600"/>
              </a:spcAft>
              <a:buNone/>
            </a:pPr>
            <a:r>
              <a:rPr lang="en-US" sz="1500" dirty="0">
                <a:solidFill>
                  <a:srgbClr val="14213D"/>
                </a:solidFill>
                <a:latin typeface="Cambria Math" pitchFamily="34" charset="0"/>
                <a:ea typeface="Cambria Math" pitchFamily="34" charset="-122"/>
                <a:cs typeface="Cambria Math" pitchFamily="34" charset="-120"/>
              </a:rPr>
              <a:t>ℓ = BCE(p</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i</a:t>
            </a:r>
            <a:pPr indent="0" marL="0">
              <a:buNone/>
            </a:pPr>
            <a:r>
              <a:rPr lang="en-US" sz="1500" dirty="0">
                <a:solidFill>
                  <a:srgbClr val="14213D"/>
                </a:solidFill>
                <a:latin typeface="Cambria Math" pitchFamily="34" charset="0"/>
                <a:ea typeface="Cambria Math" pitchFamily="34" charset="-122"/>
                <a:cs typeface="Cambria Math" pitchFamily="34" charset="-120"/>
              </a:rPr>
              <a:t>, 1[model i won])</a:t>
            </a:r>
            <a:endParaRPr lang="en-US" sz="1500" dirty="0"/>
          </a:p>
        </p:txBody>
      </p:sp>
      <p:sp>
        <p:nvSpPr>
          <p:cNvPr id="20" name="Text 17"/>
          <p:cNvSpPr txBox="1"/>
          <p:nvPr/>
        </p:nvSpPr>
        <p:spPr>
          <a:xfrm>
            <a:off x="6419088" y="4114800"/>
            <a:ext cx="5029200" cy="1280160"/>
          </a:xfrm>
          <a:prstGeom prst="rect">
            <a:avLst/>
          </a:prstGeom>
          <a:noFill/>
          <a:ln/>
        </p:spPr>
        <p:txBody>
          <a:bodyPr wrap="square" lIns="0" tIns="0" rIns="0" bIns="0" rtlCol="0" anchor="t"/>
          <a:lstStyle/>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θ</a:t>
            </a:r>
            <a:pPr indent="0" marL="0">
              <a:buNone/>
            </a:pPr>
            <a:r>
              <a:rPr lang="en-US" sz="1250" b="1" baseline="-40000" dirty="0">
                <a:solidFill>
                  <a:srgbClr val="0E7C7B"/>
                </a:solidFill>
                <a:latin typeface="Cambria Math" pitchFamily="34" charset="0"/>
                <a:ea typeface="Cambria Math" pitchFamily="34" charset="-122"/>
                <a:cs typeface="Cambria Math" pitchFamily="34" charset="-120"/>
              </a:rPr>
              <a:t>i</a:t>
            </a:r>
            <a:pPr indent="0" marL="0">
              <a:buNone/>
            </a:pPr>
            <a:r>
              <a:rPr lang="en-US" sz="1250" dirty="0">
                <a:solidFill>
                  <a:srgbClr val="1F2933"/>
                </a:solidFill>
                <a:latin typeface="Calibri" pitchFamily="34" charset="0"/>
                <a:ea typeface="Calibri" pitchFamily="34" charset="-122"/>
                <a:cs typeface="Calibri" pitchFamily="34" charset="-120"/>
              </a:rPr>
              <a:t>  vector of LLM i in the shared space</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p</a:t>
            </a:r>
            <a:pPr indent="0" marL="0">
              <a:buNone/>
            </a:pPr>
            <a:r>
              <a:rPr lang="en-US" sz="1250" b="1" baseline="-40000" dirty="0">
                <a:solidFill>
                  <a:srgbClr val="0E7C7B"/>
                </a:solidFill>
                <a:latin typeface="Cambria Math" pitchFamily="34" charset="0"/>
                <a:ea typeface="Cambria Math" pitchFamily="34" charset="-122"/>
                <a:cs typeface="Cambria Math" pitchFamily="34" charset="-120"/>
              </a:rPr>
              <a:t>i</a:t>
            </a:r>
            <a:pPr indent="0" marL="0">
              <a:buNone/>
            </a:pPr>
            <a:r>
              <a:rPr lang="en-US" sz="1250" dirty="0">
                <a:solidFill>
                  <a:srgbClr val="1F2933"/>
                </a:solidFill>
                <a:latin typeface="Calibri" pitchFamily="34" charset="0"/>
                <a:ea typeface="Calibri" pitchFamily="34" charset="-122"/>
                <a:cs typeface="Calibri" pitchFamily="34" charset="-120"/>
              </a:rPr>
              <a:t>  probability that model i beats model j on q</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θ</a:t>
            </a:r>
            <a:pPr indent="0" marL="0">
              <a:buNone/>
            </a:pPr>
            <a:r>
              <a:rPr lang="en-US" sz="1250" b="1" baseline="-40000" dirty="0">
                <a:solidFill>
                  <a:srgbClr val="0E7C7B"/>
                </a:solidFill>
                <a:latin typeface="Cambria Math" pitchFamily="34" charset="0"/>
                <a:ea typeface="Cambria Math" pitchFamily="34" charset="-122"/>
                <a:cs typeface="Cambria Math" pitchFamily="34" charset="-120"/>
              </a:rPr>
              <a:t>i</a:t>
            </a:r>
            <a:pPr indent="0" marL="0">
              <a:buNone/>
            </a:pPr>
            <a:r>
              <a:rPr lang="en-US" sz="1250" b="1" baseline="30000" dirty="0">
                <a:solidFill>
                  <a:srgbClr val="0E7C7B"/>
                </a:solidFill>
                <a:latin typeface="Cambria Math" pitchFamily="34" charset="0"/>
                <a:ea typeface="Cambria Math" pitchFamily="34" charset="-122"/>
                <a:cs typeface="Cambria Math" pitchFamily="34" charset="-120"/>
              </a:rPr>
              <a:t>pref</a:t>
            </a:r>
            <a:pPr indent="0" marL="0">
              <a:buNone/>
            </a:pPr>
            <a:r>
              <a:rPr lang="en-US" sz="1250" dirty="0">
                <a:solidFill>
                  <a:srgbClr val="1F2933"/>
                </a:solidFill>
                <a:latin typeface="Calibri" pitchFamily="34" charset="0"/>
                <a:ea typeface="Calibri" pitchFamily="34" charset="-122"/>
                <a:cs typeface="Calibri" pitchFamily="34" charset="-120"/>
              </a:rPr>
              <a:t>  result after training = the prior</a:t>
            </a:r>
            <a:endParaRPr lang="en-US" sz="1250" dirty="0"/>
          </a:p>
          <a:p>
            <a:pPr indent="0" marL="0">
              <a:spcAft>
                <a:spcPts val="300"/>
              </a:spcAft>
              <a:buNone/>
            </a:pPr>
            <a:r>
              <a:rPr lang="en-US" sz="1250" b="1" dirty="0">
                <a:solidFill>
                  <a:srgbClr val="0E7C7B"/>
                </a:solidFill>
                <a:latin typeface="Cambria Math" pitchFamily="34" charset="0"/>
                <a:ea typeface="Cambria Math" pitchFamily="34" charset="-122"/>
                <a:cs typeface="Cambria Math" pitchFamily="34" charset="-120"/>
              </a:rPr>
              <a:t>BCE</a:t>
            </a:r>
            <a:pPr indent="0" marL="0">
              <a:buNone/>
            </a:pPr>
            <a:r>
              <a:rPr lang="en-US" sz="1250" dirty="0">
                <a:solidFill>
                  <a:srgbClr val="1F2933"/>
                </a:solidFill>
                <a:latin typeface="Calibri" pitchFamily="34" charset="0"/>
                <a:ea typeface="Calibri" pitchFamily="34" charset="-122"/>
                <a:cs typeface="Calibri" pitchFamily="34" charset="-120"/>
              </a:rPr>
              <a:t>  binary cross-entropy against the human label</a:t>
            </a:r>
            <a:endParaRPr lang="en-US" sz="1250" dirty="0"/>
          </a:p>
        </p:txBody>
      </p:sp>
      <p:sp>
        <p:nvSpPr>
          <p:cNvPr id="21" name="Shape 18"/>
          <p:cNvSpPr/>
          <p:nvPr/>
        </p:nvSpPr>
        <p:spPr>
          <a:xfrm>
            <a:off x="548640" y="5577840"/>
            <a:ext cx="11094415" cy="411480"/>
          </a:xfrm>
          <a:prstGeom prst="roundRect">
            <a:avLst>
              <a:gd name="adj" fmla="val 17778"/>
            </a:avLst>
          </a:prstGeom>
          <a:solidFill>
            <a:srgbClr val="E2F1F0"/>
          </a:solidFill>
          <a:ln w="9525">
            <a:solidFill>
              <a:srgbClr val="E2F1F0"/>
            </a:solidFill>
            <a:prstDash val="solid"/>
          </a:ln>
        </p:spPr>
      </p:sp>
      <p:sp>
        <p:nvSpPr>
          <p:cNvPr id="22" name="Text 19"/>
          <p:cNvSpPr txBox="1"/>
          <p:nvPr/>
        </p:nvSpPr>
        <p:spPr>
          <a:xfrm>
            <a:off x="731520" y="5577840"/>
            <a:ext cx="10728655" cy="41148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Our run  </a:t>
            </a:r>
            <a:pPr indent="0" marL="0">
              <a:buNone/>
            </a:pPr>
            <a:r>
              <a:rPr lang="en-US" sz="1250" dirty="0">
                <a:solidFill>
                  <a:srgbClr val="1F2933"/>
                </a:solidFill>
                <a:latin typeface="Calibri" pitchFamily="34" charset="0"/>
                <a:ea typeface="Calibri" pitchFamily="34" charset="-122"/>
                <a:cs typeface="Calibri" pitchFamily="34" charset="-120"/>
              </a:rPr>
              <a:t>text-embedding-3-small [5] 1,536-d → d = 64 · 1,245 pairs → 1,193 triplets · 30 + 40 epochs · calibration 186 / 190 / 194 of 313 (60.70%)</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3 OF 5 · COMPONENT 2</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Learn online from one reward per query</a:t>
            </a:r>
            <a:endParaRPr lang="en-US" sz="3000" dirty="0"/>
          </a:p>
        </p:txBody>
      </p:sp>
      <p:sp>
        <p:nvSpPr>
          <p:cNvPr id="5" name="Text 3"/>
          <p:cNvSpPr txBox="1"/>
          <p:nvPr/>
        </p:nvSpPr>
        <p:spPr>
          <a:xfrm>
            <a:off x="548640" y="6280785"/>
            <a:ext cx="10561320" cy="394335"/>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1003.0146" history="1" highlightClick="0" endSnd="0">
                  <a:extLst>
                    <a:ext uri="{A12FA001-AC4F-418D-AE19-62706E023703}">
                      <ahyp:hlinkClr xmlns:ahyp="http://schemas.microsoft.com/office/drawing/2018/hyperlinkcolor" val="tx"/>
                    </a:ext>
                  </a:extLst>
                </a:hlinkClick>
              </a:rPr>
              <a:t>[2] L. Li, W. Chu, J. Langford, and R. E. Schapire, “A contextual-bandit approach to personalized news article recommendation,” in Proc. 19th Int. Conf. World Wide Web, 2010, pp. 661–670.</a:t>
            </a:r>
            <a:endParaRPr lang="en-US" sz="950" dirty="0"/>
          </a:p>
        </p:txBody>
      </p:sp>
      <p:sp>
        <p:nvSpPr>
          <p:cNvPr id="7" name="Shape 4"/>
          <p:cNvSpPr/>
          <p:nvPr/>
        </p:nvSpPr>
        <p:spPr>
          <a:xfrm>
            <a:off x="548640" y="1581912"/>
            <a:ext cx="420624" cy="420624"/>
          </a:xfrm>
          <a:prstGeom prst="ellipse">
            <a:avLst/>
          </a:prstGeom>
          <a:solidFill>
            <a:srgbClr val="0E7C7B"/>
          </a:solidFill>
          <a:ln w="9525">
            <a:solidFill>
              <a:srgbClr val="0E7C7B"/>
            </a:solidFill>
            <a:prstDash val="solid"/>
          </a:ln>
        </p:spPr>
      </p:sp>
      <p:sp>
        <p:nvSpPr>
          <p:cNvPr id="8" name="Text 5"/>
          <p:cNvSpPr txBox="1"/>
          <p:nvPr/>
        </p:nvSpPr>
        <p:spPr>
          <a:xfrm>
            <a:off x="548640"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508760"/>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Reward model</a:t>
            </a:r>
            <a:endParaRPr lang="en-US" sz="1500" dirty="0"/>
          </a:p>
        </p:txBody>
      </p:sp>
      <p:sp>
        <p:nvSpPr>
          <p:cNvPr id="10" name="Text 7"/>
          <p:cNvSpPr txBox="1"/>
          <p:nvPr/>
        </p:nvSpPr>
        <p:spPr>
          <a:xfrm>
            <a:off x="1143000" y="1856232"/>
            <a:ext cx="6309360" cy="502920"/>
          </a:xfrm>
          <a:prstGeom prst="rect">
            <a:avLst/>
          </a:prstGeom>
          <a:noFill/>
          <a:ln/>
        </p:spPr>
        <p:txBody>
          <a:bodyPr wrap="square" lIns="0" tIns="0" rIns="0" bIns="0" rtlCol="0" anchor="ctr"/>
          <a:lstStyle/>
          <a:p>
            <a:pPr indent="0" marL="0">
              <a:buNone/>
            </a:pPr>
            <a:r>
              <a:rPr lang="en-US" sz="1650" dirty="0">
                <a:solidFill>
                  <a:srgbClr val="14213D"/>
                </a:solidFill>
                <a:latin typeface="Cambria Math" pitchFamily="34" charset="0"/>
                <a:ea typeface="Cambria Math" pitchFamily="34" charset="-122"/>
                <a:cs typeface="Cambria Math" pitchFamily="34" charset="-120"/>
              </a:rPr>
              <a:t>E[r | a, 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 = cos(x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 θ</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a:t>
            </a:r>
            <a:endParaRPr lang="en-US" sz="1650" dirty="0"/>
          </a:p>
        </p:txBody>
      </p:sp>
      <p:sp>
        <p:nvSpPr>
          <p:cNvPr id="11" name="Shape 8"/>
          <p:cNvSpPr/>
          <p:nvPr/>
        </p:nvSpPr>
        <p:spPr>
          <a:xfrm>
            <a:off x="548640" y="2606040"/>
            <a:ext cx="420624" cy="420624"/>
          </a:xfrm>
          <a:prstGeom prst="ellipse">
            <a:avLst/>
          </a:prstGeom>
          <a:solidFill>
            <a:srgbClr val="0E7C7B"/>
          </a:solidFill>
          <a:ln w="9525">
            <a:solidFill>
              <a:srgbClr val="0E7C7B"/>
            </a:solidFill>
            <a:prstDash val="solid"/>
          </a:ln>
        </p:spPr>
      </p:sp>
      <p:sp>
        <p:nvSpPr>
          <p:cNvPr id="12" name="Text 9"/>
          <p:cNvSpPr txBox="1"/>
          <p:nvPr/>
        </p:nvSpPr>
        <p:spPr>
          <a:xfrm>
            <a:off x="548640" y="2606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143000" y="2532888"/>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Start at the prior</a:t>
            </a:r>
            <a:endParaRPr lang="en-US" sz="1500" dirty="0"/>
          </a:p>
        </p:txBody>
      </p:sp>
      <p:sp>
        <p:nvSpPr>
          <p:cNvPr id="14" name="Text 11"/>
          <p:cNvSpPr txBox="1"/>
          <p:nvPr/>
        </p:nvSpPr>
        <p:spPr>
          <a:xfrm>
            <a:off x="1143000" y="2880360"/>
            <a:ext cx="6309360" cy="502920"/>
          </a:xfrm>
          <a:prstGeom prst="rect">
            <a:avLst/>
          </a:prstGeom>
          <a:noFill/>
          <a:ln/>
        </p:spPr>
        <p:txBody>
          <a:bodyPr wrap="square" lIns="0" tIns="0" rIns="0" bIns="0" rtlCol="0" anchor="ctr"/>
          <a:lstStyle/>
          <a:p>
            <a:pPr indent="0" marL="0">
              <a:buNone/>
            </a:pPr>
            <a:r>
              <a:rPr lang="en-US" sz="1650" dirty="0">
                <a:solidFill>
                  <a:srgbClr val="14213D"/>
                </a:solidFill>
                <a:latin typeface="Cambria Math" pitchFamily="34" charset="0"/>
                <a:ea typeface="Cambria Math" pitchFamily="34" charset="-122"/>
                <a:cs typeface="Cambria Math" pitchFamily="34" charset="-120"/>
              </a:rPr>
              <a:t>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λ</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I,   b</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λ</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θ</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650" dirty="0">
                <a:solidFill>
                  <a:srgbClr val="14213D"/>
                </a:solidFill>
                <a:latin typeface="Cambria Math" pitchFamily="34" charset="0"/>
                <a:ea typeface="Cambria Math" pitchFamily="34" charset="-122"/>
                <a:cs typeface="Cambria Math" pitchFamily="34" charset="-120"/>
              </a:rPr>
              <a:t>   ⇒   θ̃</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θ</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baseline="30000" dirty="0">
                <a:solidFill>
                  <a:srgbClr val="14213D"/>
                </a:solidFill>
                <a:latin typeface="Cambria Math" pitchFamily="34" charset="0"/>
                <a:ea typeface="Cambria Math" pitchFamily="34" charset="-122"/>
                <a:cs typeface="Cambria Math" pitchFamily="34" charset="-120"/>
              </a:rPr>
              <a:t>pref</a:t>
            </a:r>
            <a:endParaRPr lang="en-US" sz="1650" dirty="0"/>
          </a:p>
        </p:txBody>
      </p:sp>
      <p:sp>
        <p:nvSpPr>
          <p:cNvPr id="15" name="Shape 12"/>
          <p:cNvSpPr/>
          <p:nvPr/>
        </p:nvSpPr>
        <p:spPr>
          <a:xfrm>
            <a:off x="548640" y="3630168"/>
            <a:ext cx="420624" cy="420624"/>
          </a:xfrm>
          <a:prstGeom prst="ellipse">
            <a:avLst/>
          </a:prstGeom>
          <a:solidFill>
            <a:srgbClr val="0E7C7B"/>
          </a:solidFill>
          <a:ln w="9525">
            <a:solidFill>
              <a:srgbClr val="0E7C7B"/>
            </a:solidFill>
            <a:prstDash val="solid"/>
          </a:ln>
        </p:spPr>
      </p:sp>
      <p:sp>
        <p:nvSpPr>
          <p:cNvPr id="16" name="Text 13"/>
          <p:cNvSpPr txBox="1"/>
          <p:nvPr/>
        </p:nvSpPr>
        <p:spPr>
          <a:xfrm>
            <a:off x="548640" y="36301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143000" y="3557016"/>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Choose optimistically</a:t>
            </a:r>
            <a:endParaRPr lang="en-US" sz="1500" dirty="0"/>
          </a:p>
        </p:txBody>
      </p:sp>
      <p:sp>
        <p:nvSpPr>
          <p:cNvPr id="18" name="Text 15"/>
          <p:cNvSpPr txBox="1"/>
          <p:nvPr/>
        </p:nvSpPr>
        <p:spPr>
          <a:xfrm>
            <a:off x="1143000" y="3904488"/>
            <a:ext cx="6309360" cy="502920"/>
          </a:xfrm>
          <a:prstGeom prst="rect">
            <a:avLst/>
          </a:prstGeom>
          <a:noFill/>
          <a:ln/>
        </p:spPr>
        <p:txBody>
          <a:bodyPr wrap="square" lIns="0" tIns="0" rIns="0" bIns="0" rtlCol="0" anchor="ctr"/>
          <a:lstStyle/>
          <a:p>
            <a:pPr indent="0" marL="0">
              <a:buNone/>
            </a:pPr>
            <a:r>
              <a:rPr lang="en-US" sz="1650" dirty="0">
                <a:solidFill>
                  <a:srgbClr val="14213D"/>
                </a:solidFill>
                <a:latin typeface="Cambria Math" pitchFamily="34" charset="0"/>
                <a:ea typeface="Cambria Math" pitchFamily="34" charset="-122"/>
                <a:cs typeface="Cambria Math" pitchFamily="34" charset="-120"/>
              </a:rPr>
              <a:t>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 = argmax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cos(x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 θ̃</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α</a:t>
            </a:r>
            <a:pPr indent="0" marL="0">
              <a:buNone/>
            </a:pPr>
            <a:r>
              <a:rPr lang="en-US" sz="1650" dirty="0">
                <a:solidFill>
                  <a:srgbClr val="14213D"/>
                </a:solidFill>
                <a:latin typeface="Cambria Math" pitchFamily="34" charset="0"/>
                <a:ea typeface="Cambria Math" pitchFamily="34" charset="-122"/>
                <a:cs typeface="Cambria Math" pitchFamily="34" charset="-120"/>
              </a:rPr>
              <a:t>√</a:t>
            </a:r>
            <a:pPr indent="0" marL="0">
              <a:buNone/>
            </a:pPr>
            <a:r>
              <a:rPr lang="en-US" sz="1650" dirty="0">
                <a:solidFill>
                  <a:srgbClr val="14213D"/>
                </a:solidFill>
                <a:latin typeface="Cambria Math" pitchFamily="34" charset="0"/>
                <a:ea typeface="Cambria Math" pitchFamily="34" charset="-122"/>
                <a:cs typeface="Cambria Math" pitchFamily="34" charset="-120"/>
              </a:rPr>
              <a:t>(x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650" dirty="0">
                <a:solidFill>
                  <a:srgbClr val="14213D"/>
                </a:solidFill>
                <a:latin typeface="Cambria Math" pitchFamily="34" charset="0"/>
                <a:ea typeface="Cambria Math" pitchFamily="34" charset="-122"/>
                <a:cs typeface="Cambria Math" pitchFamily="34" charset="-120"/>
              </a:rPr>
              <a:t>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baseline="30000" dirty="0">
                <a:solidFill>
                  <a:srgbClr val="14213D"/>
                </a:solidFill>
                <a:latin typeface="Cambria Math" pitchFamily="34" charset="0"/>
                <a:ea typeface="Cambria Math" pitchFamily="34" charset="-122"/>
                <a:cs typeface="Cambria Math" pitchFamily="34" charset="-120"/>
              </a:rPr>
              <a:t>-1</a:t>
            </a:r>
            <a:pPr indent="0" marL="0">
              <a:buNone/>
            </a:pPr>
            <a:r>
              <a:rPr lang="en-US" sz="1650" dirty="0">
                <a:solidFill>
                  <a:srgbClr val="14213D"/>
                </a:solidFill>
                <a:latin typeface="Cambria Math" pitchFamily="34" charset="0"/>
                <a:ea typeface="Cambria Math" pitchFamily="34" charset="-122"/>
                <a:cs typeface="Cambria Math" pitchFamily="34" charset="-120"/>
              </a:rPr>
              <a:t>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a:t>
            </a:r>
            <a:endParaRPr lang="en-US" sz="1650" dirty="0"/>
          </a:p>
        </p:txBody>
      </p:sp>
      <p:sp>
        <p:nvSpPr>
          <p:cNvPr id="19" name="Shape 16"/>
          <p:cNvSpPr/>
          <p:nvPr/>
        </p:nvSpPr>
        <p:spPr>
          <a:xfrm>
            <a:off x="548640" y="4654296"/>
            <a:ext cx="420624" cy="420624"/>
          </a:xfrm>
          <a:prstGeom prst="ellipse">
            <a:avLst/>
          </a:prstGeom>
          <a:solidFill>
            <a:srgbClr val="0E7C7B"/>
          </a:solidFill>
          <a:ln w="9525">
            <a:solidFill>
              <a:srgbClr val="0E7C7B"/>
            </a:solidFill>
            <a:prstDash val="solid"/>
          </a:ln>
        </p:spPr>
      </p:sp>
      <p:sp>
        <p:nvSpPr>
          <p:cNvPr id="20" name="Text 17"/>
          <p:cNvSpPr txBox="1"/>
          <p:nvPr/>
        </p:nvSpPr>
        <p:spPr>
          <a:xfrm>
            <a:off x="548640" y="46542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8"/>
          <p:cNvSpPr txBox="1"/>
          <p:nvPr/>
        </p:nvSpPr>
        <p:spPr>
          <a:xfrm>
            <a:off x="1143000" y="4581144"/>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Update the chosen arm only</a:t>
            </a:r>
            <a:endParaRPr lang="en-US" sz="1500" dirty="0"/>
          </a:p>
        </p:txBody>
      </p:sp>
      <p:sp>
        <p:nvSpPr>
          <p:cNvPr id="22" name="Text 19"/>
          <p:cNvSpPr txBox="1"/>
          <p:nvPr/>
        </p:nvSpPr>
        <p:spPr>
          <a:xfrm>
            <a:off x="1143000" y="4928616"/>
            <a:ext cx="6309360" cy="502920"/>
          </a:xfrm>
          <a:prstGeom prst="rect">
            <a:avLst/>
          </a:prstGeom>
          <a:noFill/>
          <a:ln/>
        </p:spPr>
        <p:txBody>
          <a:bodyPr wrap="square" lIns="0" tIns="0" rIns="0" bIns="0" rtlCol="0" anchor="ctr"/>
          <a:lstStyle/>
          <a:p>
            <a:pPr indent="0" marL="0">
              <a:buNone/>
            </a:pPr>
            <a:r>
              <a:rPr lang="en-US" sz="1650" dirty="0">
                <a:solidFill>
                  <a:srgbClr val="14213D"/>
                </a:solidFill>
                <a:latin typeface="Cambria Math" pitchFamily="34" charset="0"/>
                <a:ea typeface="Cambria Math" pitchFamily="34" charset="-122"/>
                <a:cs typeface="Cambria Math" pitchFamily="34" charset="-120"/>
              </a:rPr>
              <a:t>for a = 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   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A</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650" dirty="0">
                <a:solidFill>
                  <a:srgbClr val="14213D"/>
                </a:solidFill>
                <a:latin typeface="Cambria Math" pitchFamily="34" charset="0"/>
                <a:ea typeface="Cambria Math" pitchFamily="34" charset="-122"/>
                <a:cs typeface="Cambria Math" pitchFamily="34" charset="-120"/>
              </a:rPr>
              <a:t>,   b</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b</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650" dirty="0">
                <a:solidFill>
                  <a:srgbClr val="14213D"/>
                </a:solidFill>
                <a:latin typeface="Cambria Math" pitchFamily="34" charset="0"/>
                <a:ea typeface="Cambria Math" pitchFamily="34" charset="-122"/>
                <a:cs typeface="Cambria Math" pitchFamily="34" charset="-120"/>
              </a:rPr>
              <a:t> + r</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650" dirty="0">
                <a:solidFill>
                  <a:srgbClr val="14213D"/>
                </a:solidFill>
                <a:latin typeface="Cambria Math" pitchFamily="34" charset="0"/>
                <a:ea typeface="Cambria Math" pitchFamily="34" charset="-122"/>
                <a:cs typeface="Cambria Math" pitchFamily="34" charset="-120"/>
              </a:rPr>
              <a:t>x</a:t>
            </a:r>
            <a:pPr indent="0" marL="0">
              <a:buNone/>
            </a:pPr>
            <a:r>
              <a:rPr lang="en-US" sz="1650" baseline="-40000" dirty="0">
                <a:solidFill>
                  <a:srgbClr val="14213D"/>
                </a:solidFill>
                <a:latin typeface="Cambria Math" pitchFamily="34" charset="0"/>
                <a:ea typeface="Cambria Math" pitchFamily="34" charset="-122"/>
                <a:cs typeface="Cambria Math" pitchFamily="34" charset="-120"/>
              </a:rPr>
              <a:t>t</a:t>
            </a:r>
            <a:endParaRPr lang="en-US" sz="1650" dirty="0"/>
          </a:p>
        </p:txBody>
      </p:sp>
      <p:sp>
        <p:nvSpPr>
          <p:cNvPr id="23" name="Text 20"/>
          <p:cNvSpPr txBox="1"/>
          <p:nvPr/>
        </p:nvSpPr>
        <p:spPr>
          <a:xfrm>
            <a:off x="1143000" y="5596128"/>
            <a:ext cx="6309360" cy="411480"/>
          </a:xfrm>
          <a:prstGeom prst="rect">
            <a:avLst/>
          </a:prstGeom>
          <a:noFill/>
          <a:ln/>
        </p:spPr>
        <p:txBody>
          <a:bodyPr wrap="square" lIns="0" tIns="0" rIns="0" bIns="0" rtlCol="0" anchor="t"/>
          <a:lstStyle/>
          <a:p>
            <a:pPr indent="0" marL="0">
              <a:buNone/>
            </a:pPr>
            <a:r>
              <a:rPr lang="en-US" sz="1250" dirty="0">
                <a:solidFill>
                  <a:srgbClr val="5B6676"/>
                </a:solidFill>
                <a:latin typeface="Calibri" pitchFamily="34" charset="0"/>
                <a:ea typeface="Calibri" pitchFamily="34" charset="-122"/>
                <a:cs typeface="Calibri" pitchFamily="34" charset="-120"/>
              </a:rPr>
              <a:t>λ</a:t>
            </a:r>
            <a:pPr indent="0" marL="0">
              <a:buNone/>
            </a:pPr>
            <a:r>
              <a:rPr lang="en-US" sz="1250" baseline="-40000" dirty="0">
                <a:solidFill>
                  <a:srgbClr val="5B6676"/>
                </a:solidFill>
                <a:latin typeface="Calibri" pitchFamily="34" charset="0"/>
                <a:ea typeface="Calibri" pitchFamily="34" charset="-122"/>
                <a:cs typeface="Calibri" pitchFamily="34" charset="-120"/>
              </a:rPr>
              <a:t>a</a:t>
            </a:r>
            <a:pPr indent="0" marL="0">
              <a:buNone/>
            </a:pPr>
            <a:r>
              <a:rPr lang="en-US" sz="1250" dirty="0">
                <a:solidFill>
                  <a:srgbClr val="5B6676"/>
                </a:solidFill>
                <a:latin typeface="Calibri" pitchFamily="34" charset="0"/>
                <a:ea typeface="Calibri" pitchFamily="34" charset="-122"/>
                <a:cs typeface="Calibri" pitchFamily="34" charset="-120"/>
              </a:rPr>
              <a:t> = 1 / (calibration preference accuracy of arm a) is a heuristic. α is tuned on the tuning split (ours: α = 1). No budget applies while learning.</a:t>
            </a:r>
            <a:endParaRPr lang="en-US" sz="1250" dirty="0"/>
          </a:p>
        </p:txBody>
      </p:sp>
      <p:sp>
        <p:nvSpPr>
          <p:cNvPr id="24" name="Shape 21"/>
          <p:cNvSpPr/>
          <p:nvPr/>
        </p:nvSpPr>
        <p:spPr>
          <a:xfrm>
            <a:off x="7543800" y="1481328"/>
            <a:ext cx="4096512" cy="4526280"/>
          </a:xfrm>
          <a:prstGeom prst="roundRect">
            <a:avLst>
              <a:gd name="adj" fmla="val 1786"/>
            </a:avLst>
          </a:prstGeom>
          <a:solidFill>
            <a:srgbClr val="F2F4F7"/>
          </a:solidFill>
          <a:ln w="9525">
            <a:solidFill>
              <a:srgbClr val="F2F4F7"/>
            </a:solidFill>
            <a:prstDash val="solid"/>
          </a:ln>
        </p:spPr>
      </p:sp>
      <p:graphicFrame>
        <p:nvGraphicFramePr>
          <p:cNvPr id="25" name="ucb-illustration" descr=""/>
          <p:cNvGraphicFramePr/>
          <p:nvPr/>
        </p:nvGraphicFramePr>
        <p:xfrm>
          <a:off x="7635240" y="1572768"/>
          <a:ext cx="3913632" cy="3749040"/>
        </p:xfrm>
        <a:graphic xmlns:a="http://schemas.openxmlformats.org/drawingml/2006/main">
          <a:graphicData uri="http://schemas.openxmlformats.org/drawingml/2006/chart">
            <c:chart xmlns:c="http://schemas.openxmlformats.org/drawingml/2006/chart" r:id="rId3"/>
          </a:graphicData>
        </a:graphic>
      </p:graphicFrame>
      <p:sp>
        <p:nvSpPr>
          <p:cNvPr id="26" name="Text 22"/>
          <p:cNvSpPr txBox="1"/>
          <p:nvPr/>
        </p:nvSpPr>
        <p:spPr>
          <a:xfrm>
            <a:off x="7726680" y="5349240"/>
            <a:ext cx="3749040" cy="56692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least-tried arm wins on its bonus (0.74), is served, and its bonus shrinks next time.</a:t>
            </a:r>
            <a:endParaRPr lang="en-US" sz="12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3 OF 5 · COMPONENT 3</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Spend the budget online, bin by bin</a:t>
            </a:r>
            <a:endParaRPr lang="en-US" sz="3000" dirty="0"/>
          </a:p>
        </p:txBody>
      </p:sp>
      <p:sp>
        <p:nvSpPr>
          <p:cNvPr id="5" name="Text 3"/>
          <p:cNvSpPr txBox="1"/>
          <p:nvPr/>
        </p:nvSpPr>
        <p:spPr>
          <a:xfrm>
            <a:off x="548640" y="6280785"/>
            <a:ext cx="10561320" cy="394335"/>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doi.org/10.1145/1367497.1367747" history="1" highlightClick="0" endSnd="0">
                  <a:extLst>
                    <a:ext uri="{A12FA001-AC4F-418D-AE19-62706E023703}">
                      <ahyp:hlinkClr xmlns:ahyp="http://schemas.microsoft.com/office/drawing/2018/hyperlinkcolor" val="tx"/>
                    </a:ext>
                  </a:extLst>
                </a:hlinkClick>
              </a:rPr>
              <a:t>[6] Y. Zhou, D. Chakrabarty, and R. Lukose, “Budget constrained bidding in keyword auctions and online knapsack problems,” in Proc. 17th Int. Conf. World Wide Web, 2008, pp. 1243–1244.</a:t>
            </a:r>
            <a:endParaRPr lang="en-US" sz="950" dirty="0"/>
          </a:p>
        </p:txBody>
      </p:sp>
      <p:sp>
        <p:nvSpPr>
          <p:cNvPr id="7" name="Shape 4"/>
          <p:cNvSpPr/>
          <p:nvPr/>
        </p:nvSpPr>
        <p:spPr>
          <a:xfrm>
            <a:off x="548640" y="1581912"/>
            <a:ext cx="420624" cy="420624"/>
          </a:xfrm>
          <a:prstGeom prst="ellipse">
            <a:avLst/>
          </a:prstGeom>
          <a:solidFill>
            <a:srgbClr val="C77700"/>
          </a:solidFill>
          <a:ln w="9525">
            <a:solidFill>
              <a:srgbClr val="C77700"/>
            </a:solidFill>
            <a:prstDash val="solid"/>
          </a:ln>
        </p:spPr>
      </p:sp>
      <p:sp>
        <p:nvSpPr>
          <p:cNvPr id="8" name="Text 5"/>
          <p:cNvSpPr txBox="1"/>
          <p:nvPr/>
        </p:nvSpPr>
        <p:spPr>
          <a:xfrm>
            <a:off x="548640" y="15819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508760"/>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Estimate cost before answering</a:t>
            </a:r>
            <a:endParaRPr lang="en-US" sz="1500" dirty="0"/>
          </a:p>
        </p:txBody>
      </p:sp>
      <p:sp>
        <p:nvSpPr>
          <p:cNvPr id="10" name="Text 7"/>
          <p:cNvSpPr txBox="1"/>
          <p:nvPr/>
        </p:nvSpPr>
        <p:spPr>
          <a:xfrm>
            <a:off x="1143000" y="1856232"/>
            <a:ext cx="6355080" cy="566928"/>
          </a:xfrm>
          <a:prstGeom prst="rect">
            <a:avLst/>
          </a:prstGeom>
          <a:noFill/>
          <a:ln/>
        </p:spPr>
        <p:txBody>
          <a:bodyPr wrap="square" lIns="0" tIns="0" rIns="0" bIns="0" rtlCol="0" anchor="ctr"/>
          <a:lstStyle/>
          <a:p>
            <a:pPr indent="0" marL="0">
              <a:buNone/>
            </a:pPr>
            <a:r>
              <a:rPr lang="en-US" sz="1450" dirty="0">
                <a:solidFill>
                  <a:srgbClr val="14213D"/>
                </a:solidFill>
                <a:latin typeface="Cambria Math" pitchFamily="34" charset="0"/>
                <a:ea typeface="Cambria Math" pitchFamily="34" charset="-122"/>
                <a:cs typeface="Cambria Math" pitchFamily="34" charset="-120"/>
              </a:rPr>
              <a:t>ĉ</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50" dirty="0">
                <a:solidFill>
                  <a:srgbClr val="14213D"/>
                </a:solidFill>
                <a:latin typeface="Cambria Math" pitchFamily="34" charset="0"/>
                <a:ea typeface="Cambria Math" pitchFamily="34" charset="-122"/>
                <a:cs typeface="Cambria Math" pitchFamily="34" charset="-120"/>
              </a:rPr>
              <a:t>(a) = input tokens × price</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in</a:t>
            </a:r>
            <a:pPr indent="0" marL="0">
              <a:buNone/>
            </a:pPr>
            <a:r>
              <a:rPr lang="en-US" sz="1450" dirty="0">
                <a:solidFill>
                  <a:srgbClr val="14213D"/>
                </a:solidFill>
                <a:latin typeface="Cambria Math" pitchFamily="34" charset="0"/>
                <a:ea typeface="Cambria Math" pitchFamily="34" charset="-122"/>
                <a:cs typeface="Cambria Math" pitchFamily="34" charset="-120"/>
              </a:rPr>
              <a:t> + mean output tokens</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tuning</a:t>
            </a:r>
            <a:pPr indent="0" marL="0">
              <a:buNone/>
            </a:pPr>
            <a:r>
              <a:rPr lang="en-US" sz="1450" dirty="0">
                <a:solidFill>
                  <a:srgbClr val="14213D"/>
                </a:solidFill>
                <a:latin typeface="Cambria Math" pitchFamily="34" charset="0"/>
                <a:ea typeface="Cambria Math" pitchFamily="34" charset="-122"/>
                <a:cs typeface="Cambria Math" pitchFamily="34" charset="-120"/>
              </a:rPr>
              <a:t> × price</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out</a:t>
            </a:r>
            <a:endParaRPr lang="en-US" sz="1450" dirty="0"/>
          </a:p>
        </p:txBody>
      </p:sp>
      <p:sp>
        <p:nvSpPr>
          <p:cNvPr id="11" name="Shape 8"/>
          <p:cNvSpPr/>
          <p:nvPr/>
        </p:nvSpPr>
        <p:spPr>
          <a:xfrm>
            <a:off x="548640" y="2660904"/>
            <a:ext cx="420624" cy="420624"/>
          </a:xfrm>
          <a:prstGeom prst="ellipse">
            <a:avLst/>
          </a:prstGeom>
          <a:solidFill>
            <a:srgbClr val="C77700"/>
          </a:solidFill>
          <a:ln w="9525">
            <a:solidFill>
              <a:srgbClr val="C77700"/>
            </a:solidFill>
            <a:prstDash val="solid"/>
          </a:ln>
        </p:spPr>
      </p:sp>
      <p:sp>
        <p:nvSpPr>
          <p:cNvPr id="12" name="Text 9"/>
          <p:cNvSpPr txBox="1"/>
          <p:nvPr/>
        </p:nvSpPr>
        <p:spPr>
          <a:xfrm>
            <a:off x="548640" y="26609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143000" y="2587752"/>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Eligibility shrinks as the bin fills</a:t>
            </a:r>
            <a:endParaRPr lang="en-US" sz="1500" dirty="0"/>
          </a:p>
        </p:txBody>
      </p:sp>
      <p:sp>
        <p:nvSpPr>
          <p:cNvPr id="14" name="Text 11"/>
          <p:cNvSpPr txBox="1"/>
          <p:nvPr/>
        </p:nvSpPr>
        <p:spPr>
          <a:xfrm>
            <a:off x="1143000" y="2935224"/>
            <a:ext cx="6355080" cy="566928"/>
          </a:xfrm>
          <a:prstGeom prst="rect">
            <a:avLst/>
          </a:prstGeom>
          <a:noFill/>
          <a:ln/>
        </p:spPr>
        <p:txBody>
          <a:bodyPr wrap="square" lIns="0" tIns="0" rIns="0" bIns="0" rtlCol="0" anchor="ctr"/>
          <a:lstStyle/>
          <a:p>
            <a:pPr indent="0" marL="0">
              <a:buNone/>
            </a:pPr>
            <a:r>
              <a:rPr lang="en-US" sz="1450" dirty="0">
                <a:solidFill>
                  <a:srgbClr val="14213D"/>
                </a:solidFill>
                <a:latin typeface="Cambria Math" pitchFamily="34" charset="0"/>
                <a:ea typeface="Cambria Math" pitchFamily="34" charset="-122"/>
                <a:cs typeface="Cambria Math" pitchFamily="34" charset="-120"/>
              </a:rPr>
              <a:t>ĉ</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50" dirty="0">
                <a:solidFill>
                  <a:srgbClr val="14213D"/>
                </a:solidFill>
                <a:latin typeface="Cambria Math" pitchFamily="34" charset="0"/>
                <a:ea typeface="Cambria Math" pitchFamily="34" charset="-122"/>
                <a:cs typeface="Cambria Math" pitchFamily="34" charset="-120"/>
              </a:rPr>
              <a:t>(a) ≤ cos(x</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50" dirty="0">
                <a:solidFill>
                  <a:srgbClr val="14213D"/>
                </a:solidFill>
                <a:latin typeface="Cambria Math" pitchFamily="34" charset="0"/>
                <a:ea typeface="Cambria Math" pitchFamily="34" charset="-122"/>
                <a:cs typeface="Cambria Math" pitchFamily="34" charset="-120"/>
              </a:rPr>
              <a:t>, θ̃</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a</a:t>
            </a:r>
            <a:pPr indent="0" marL="0">
              <a:buNone/>
            </a:pPr>
            <a:r>
              <a:rPr lang="en-US" sz="1450" dirty="0">
                <a:solidFill>
                  <a:srgbClr val="14213D"/>
                </a:solidFill>
                <a:latin typeface="Cambria Math" pitchFamily="34" charset="0"/>
                <a:ea typeface="Cambria Math" pitchFamily="34" charset="-122"/>
                <a:cs typeface="Cambria Math" pitchFamily="34" charset="-120"/>
              </a:rPr>
              <a:t>) / ((UB·e/LB)</a:t>
            </a:r>
            <a:pPr indent="0" marL="0">
              <a:buNone/>
            </a:pPr>
            <a:r>
              <a:rPr lang="en-US" sz="1450" baseline="30000" dirty="0">
                <a:solidFill>
                  <a:srgbClr val="14213D"/>
                </a:solidFill>
                <a:latin typeface="Cambria Math" pitchFamily="34" charset="0"/>
                <a:ea typeface="Cambria Math" pitchFamily="34" charset="-122"/>
                <a:cs typeface="Cambria Math" pitchFamily="34" charset="-120"/>
              </a:rPr>
              <a:t>z</a:t>
            </a:r>
            <a:pPr indent="0" marL="0">
              <a:buNone/>
            </a:pPr>
            <a:r>
              <a:rPr lang="en-US" sz="1450" dirty="0">
                <a:solidFill>
                  <a:srgbClr val="14213D"/>
                </a:solidFill>
                <a:latin typeface="Cambria Math" pitchFamily="34" charset="0"/>
                <a:ea typeface="Cambria Math" pitchFamily="34" charset="-122"/>
                <a:cs typeface="Cambria Math" pitchFamily="34" charset="-120"/>
              </a:rPr>
              <a:t> · (LB/e)),   z = spent / bin budget</a:t>
            </a:r>
            <a:endParaRPr lang="en-US" sz="1450" dirty="0"/>
          </a:p>
        </p:txBody>
      </p:sp>
      <p:sp>
        <p:nvSpPr>
          <p:cNvPr id="15" name="Shape 12"/>
          <p:cNvSpPr/>
          <p:nvPr/>
        </p:nvSpPr>
        <p:spPr>
          <a:xfrm>
            <a:off x="548640" y="3739896"/>
            <a:ext cx="420624" cy="420624"/>
          </a:xfrm>
          <a:prstGeom prst="ellipse">
            <a:avLst/>
          </a:prstGeom>
          <a:solidFill>
            <a:srgbClr val="C77700"/>
          </a:solidFill>
          <a:ln w="9525">
            <a:solidFill>
              <a:srgbClr val="C77700"/>
            </a:solidFill>
            <a:prstDash val="solid"/>
          </a:ln>
        </p:spPr>
      </p:sp>
      <p:sp>
        <p:nvSpPr>
          <p:cNvPr id="16" name="Text 13"/>
          <p:cNvSpPr txBox="1"/>
          <p:nvPr/>
        </p:nvSpPr>
        <p:spPr>
          <a:xfrm>
            <a:off x="548640" y="3739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143000" y="3666744"/>
            <a:ext cx="6035040" cy="310896"/>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Serve the best eligible arm, else fall back, else stop</a:t>
            </a:r>
            <a:endParaRPr lang="en-US" sz="1500" dirty="0"/>
          </a:p>
        </p:txBody>
      </p:sp>
      <p:sp>
        <p:nvSpPr>
          <p:cNvPr id="18" name="Text 15"/>
          <p:cNvSpPr txBox="1"/>
          <p:nvPr/>
        </p:nvSpPr>
        <p:spPr>
          <a:xfrm>
            <a:off x="1143000" y="4014216"/>
            <a:ext cx="6355080" cy="566928"/>
          </a:xfrm>
          <a:prstGeom prst="rect">
            <a:avLst/>
          </a:prstGeom>
          <a:noFill/>
          <a:ln/>
        </p:spPr>
        <p:txBody>
          <a:bodyPr wrap="square" lIns="0" tIns="0" rIns="0" bIns="0" rtlCol="0" anchor="ctr"/>
          <a:lstStyle/>
          <a:p>
            <a:pPr indent="0" marL="0">
              <a:buNone/>
            </a:pPr>
            <a:r>
              <a:rPr lang="en-US" sz="1450" dirty="0">
                <a:solidFill>
                  <a:srgbClr val="14213D"/>
                </a:solidFill>
                <a:latin typeface="Cambria Math" pitchFamily="34" charset="0"/>
                <a:ea typeface="Cambria Math" pitchFamily="34" charset="-122"/>
                <a:cs typeface="Cambria Math" pitchFamily="34" charset="-120"/>
              </a:rPr>
              <a:t>guard ĉ</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50" dirty="0">
                <a:solidFill>
                  <a:srgbClr val="14213D"/>
                </a:solidFill>
                <a:latin typeface="Cambria Math" pitchFamily="34" charset="0"/>
                <a:ea typeface="Cambria Math" pitchFamily="34" charset="-122"/>
                <a:cs typeface="Cambria Math" pitchFamily="34" charset="-120"/>
              </a:rPr>
              <a:t>(a) ≤ money in bin · fallback ĉ</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50" dirty="0">
                <a:solidFill>
                  <a:srgbClr val="14213D"/>
                </a:solidFill>
                <a:latin typeface="Cambria Math" pitchFamily="34" charset="0"/>
                <a:ea typeface="Cambria Math" pitchFamily="34" charset="-122"/>
                <a:cs typeface="Cambria Math" pitchFamily="34" charset="-120"/>
              </a:rPr>
              <a:t>(a) ≤ B</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left</a:t>
            </a:r>
            <a:pPr indent="0" marL="0">
              <a:buNone/>
            </a:pPr>
            <a:r>
              <a:rPr lang="en-US" sz="1450" dirty="0">
                <a:solidFill>
                  <a:srgbClr val="14213D"/>
                </a:solidFill>
                <a:latin typeface="Cambria Math" pitchFamily="34" charset="0"/>
                <a:ea typeface="Cambria Math" pitchFamily="34" charset="-122"/>
                <a:cs typeface="Cambria Math" pitchFamily="34" charset="-120"/>
              </a:rPr>
              <a:t> / Q</a:t>
            </a:r>
            <a:pPr indent="0" marL="0">
              <a:buNone/>
            </a:pPr>
            <a:r>
              <a:rPr lang="en-US" sz="1450" baseline="-40000" dirty="0">
                <a:solidFill>
                  <a:srgbClr val="14213D"/>
                </a:solidFill>
                <a:latin typeface="Cambria Math" pitchFamily="34" charset="0"/>
                <a:ea typeface="Cambria Math" pitchFamily="34" charset="-122"/>
                <a:cs typeface="Cambria Math" pitchFamily="34" charset="-120"/>
              </a:rPr>
              <a:t>left</a:t>
            </a:r>
            <a:pPr indent="0" marL="0">
              <a:buNone/>
            </a:pPr>
            <a:r>
              <a:rPr lang="en-US" sz="1450" dirty="0">
                <a:solidFill>
                  <a:srgbClr val="14213D"/>
                </a:solidFill>
                <a:latin typeface="Cambria Math" pitchFamily="34" charset="0"/>
                <a:ea typeface="Cambria Math" pitchFamily="34" charset="-122"/>
                <a:cs typeface="Cambria Math" pitchFamily="34" charset="-120"/>
              </a:rPr>
              <a:t> · none ⇒ stop</a:t>
            </a:r>
            <a:endParaRPr lang="en-US" sz="1450" dirty="0"/>
          </a:p>
        </p:txBody>
      </p:sp>
      <p:sp>
        <p:nvSpPr>
          <p:cNvPr id="19" name="Shape 16"/>
          <p:cNvSpPr/>
          <p:nvPr/>
        </p:nvSpPr>
        <p:spPr>
          <a:xfrm>
            <a:off x="548640" y="4846320"/>
            <a:ext cx="6949440" cy="1115568"/>
          </a:xfrm>
          <a:prstGeom prst="roundRect">
            <a:avLst>
              <a:gd name="adj" fmla="val 6557"/>
            </a:avLst>
          </a:prstGeom>
          <a:solidFill>
            <a:srgbClr val="FBF0DC"/>
          </a:solidFill>
          <a:ln w="9525">
            <a:solidFill>
              <a:srgbClr val="FBF0DC"/>
            </a:solidFill>
            <a:prstDash val="solid"/>
          </a:ln>
        </p:spPr>
      </p:sp>
      <p:sp>
        <p:nvSpPr>
          <p:cNvPr id="20" name="Text 17"/>
          <p:cNvSpPr txBox="1"/>
          <p:nvPr/>
        </p:nvSpPr>
        <p:spPr>
          <a:xfrm>
            <a:off x="731520" y="4901184"/>
            <a:ext cx="6583680" cy="1005840"/>
          </a:xfrm>
          <a:prstGeom prst="rect">
            <a:avLst/>
          </a:prstGeom>
          <a:noFill/>
          <a:ln/>
        </p:spPr>
        <p:txBody>
          <a:bodyPr wrap="square" lIns="0" tIns="0" rIns="0" bIns="0" rtlCol="0" anchor="ctr"/>
          <a:lstStyle/>
          <a:p>
            <a:pPr indent="0" marL="0">
              <a:buNone/>
            </a:pPr>
            <a:r>
              <a:rPr lang="en-US" sz="1250" b="1" dirty="0">
                <a:solidFill>
                  <a:srgbClr val="C77700"/>
                </a:solidFill>
                <a:latin typeface="Calibri" pitchFamily="34" charset="0"/>
                <a:ea typeface="Calibri" pitchFamily="34" charset="-122"/>
                <a:cs typeface="Calibri" pitchFamily="34" charset="-120"/>
              </a:rPr>
              <a:t>Guarantee and its scope  </a:t>
            </a:r>
            <a:pPr indent="0" marL="0">
              <a:buNone/>
            </a:pPr>
            <a:r>
              <a:rPr lang="en-US" sz="1250" dirty="0">
                <a:solidFill>
                  <a:srgbClr val="1F2933"/>
                </a:solidFill>
                <a:latin typeface="Calibri" pitchFamily="34" charset="0"/>
                <a:ea typeface="Calibri" pitchFamily="34" charset="-122"/>
                <a:cs typeface="Calibri" pitchFamily="34" charset="-120"/>
              </a:rPr>
              <a:t>ZCL is (ln(UB/LB) + 1)-competitive when value/weight ratios lie in [LB, UB] and items are small [6]. That covers estimated costs only. Binning, rollover and the cost estimator are heuristics.</a:t>
            </a:r>
            <a:endParaRPr lang="en-US" sz="1250" dirty="0"/>
          </a:p>
        </p:txBody>
      </p:sp>
      <p:sp>
        <p:nvSpPr>
          <p:cNvPr id="21" name="Text 18"/>
          <p:cNvSpPr txBox="1"/>
          <p:nvPr/>
        </p:nvSpPr>
        <p:spPr>
          <a:xfrm>
            <a:off x="7818120" y="1508760"/>
            <a:ext cx="3840480" cy="5486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4  Bins of S queries, budget B/N each, unused budget rolls over</a:t>
            </a:r>
            <a:endParaRPr lang="en-US" sz="1400" dirty="0"/>
          </a:p>
        </p:txBody>
      </p:sp>
      <p:sp>
        <p:nvSpPr>
          <p:cNvPr id="22" name="Shape 19"/>
          <p:cNvSpPr/>
          <p:nvPr/>
        </p:nvSpPr>
        <p:spPr>
          <a:xfrm>
            <a:off x="7863840" y="3031236"/>
            <a:ext cx="640080" cy="1632204"/>
          </a:xfrm>
          <a:prstGeom prst="rect">
            <a:avLst/>
          </a:prstGeom>
          <a:solidFill>
            <a:srgbClr val="FFFFFF"/>
          </a:solidFill>
          <a:ln w="15875">
            <a:solidFill>
              <a:srgbClr val="C77700"/>
            </a:solidFill>
            <a:prstDash val="solid"/>
          </a:ln>
        </p:spPr>
      </p:sp>
      <p:sp>
        <p:nvSpPr>
          <p:cNvPr id="23" name="Shape 20"/>
          <p:cNvSpPr/>
          <p:nvPr/>
        </p:nvSpPr>
        <p:spPr>
          <a:xfrm>
            <a:off x="7863840" y="3488253"/>
            <a:ext cx="640080" cy="1175187"/>
          </a:xfrm>
          <a:prstGeom prst="rect">
            <a:avLst/>
          </a:prstGeom>
          <a:solidFill>
            <a:srgbClr val="E8B860"/>
          </a:solidFill>
          <a:ln w="12700">
            <a:solidFill>
              <a:srgbClr val="C77700"/>
            </a:solidFill>
            <a:prstDash val="solid"/>
          </a:ln>
        </p:spPr>
      </p:sp>
      <p:sp>
        <p:nvSpPr>
          <p:cNvPr id="24" name="Text 21"/>
          <p:cNvSpPr txBox="1"/>
          <p:nvPr/>
        </p:nvSpPr>
        <p:spPr>
          <a:xfrm>
            <a:off x="7772400" y="4736592"/>
            <a:ext cx="822960" cy="256032"/>
          </a:xfrm>
          <a:prstGeom prst="rect">
            <a:avLst/>
          </a:prstGeom>
          <a:noFill/>
          <a:ln/>
        </p:spPr>
        <p:txBody>
          <a:bodyPr wrap="square" lIns="0" tIns="0" rIns="0" bIns="0" rtlCol="0" anchor="t"/>
          <a:lstStyle/>
          <a:p>
            <a:pPr algn="ctr" indent="0" marL="0">
              <a:buNone/>
            </a:pPr>
            <a:r>
              <a:rPr lang="en-US" sz="1100" dirty="0">
                <a:solidFill>
                  <a:srgbClr val="5B6676"/>
                </a:solidFill>
                <a:latin typeface="Calibri" pitchFamily="34" charset="0"/>
                <a:ea typeface="Calibri" pitchFamily="34" charset="-122"/>
                <a:cs typeface="Calibri" pitchFamily="34" charset="-120"/>
              </a:rPr>
              <a:t>bin 1</a:t>
            </a:r>
            <a:endParaRPr lang="en-US" sz="1100" dirty="0"/>
          </a:p>
        </p:txBody>
      </p:sp>
      <p:sp>
        <p:nvSpPr>
          <p:cNvPr id="25" name="Shape 22"/>
          <p:cNvSpPr/>
          <p:nvPr/>
        </p:nvSpPr>
        <p:spPr>
          <a:xfrm flipV="1">
            <a:off x="8522208" y="3076956"/>
            <a:ext cx="283464" cy="64008"/>
          </a:xfrm>
          <a:prstGeom prst="line">
            <a:avLst/>
          </a:prstGeom>
          <a:noFill/>
          <a:ln w="15875">
            <a:solidFill>
              <a:srgbClr val="C77700"/>
            </a:solidFill>
            <a:prstDash val="solid"/>
            <a:tailEnd type="triangle"/>
          </a:ln>
        </p:spPr>
      </p:sp>
      <p:sp>
        <p:nvSpPr>
          <p:cNvPr id="26" name="Shape 23"/>
          <p:cNvSpPr/>
          <p:nvPr/>
        </p:nvSpPr>
        <p:spPr>
          <a:xfrm>
            <a:off x="8823960" y="2802727"/>
            <a:ext cx="640080" cy="1860713"/>
          </a:xfrm>
          <a:prstGeom prst="rect">
            <a:avLst/>
          </a:prstGeom>
          <a:solidFill>
            <a:srgbClr val="FFFFFF"/>
          </a:solidFill>
          <a:ln w="15875">
            <a:solidFill>
              <a:srgbClr val="C77700"/>
            </a:solidFill>
            <a:prstDash val="solid"/>
          </a:ln>
        </p:spPr>
      </p:sp>
      <p:sp>
        <p:nvSpPr>
          <p:cNvPr id="27" name="Shape 24"/>
          <p:cNvSpPr/>
          <p:nvPr/>
        </p:nvSpPr>
        <p:spPr>
          <a:xfrm>
            <a:off x="8823960" y="2895763"/>
            <a:ext cx="640080" cy="1767677"/>
          </a:xfrm>
          <a:prstGeom prst="rect">
            <a:avLst/>
          </a:prstGeom>
          <a:solidFill>
            <a:srgbClr val="E8B860"/>
          </a:solidFill>
          <a:ln w="12700">
            <a:solidFill>
              <a:srgbClr val="C77700"/>
            </a:solidFill>
            <a:prstDash val="solid"/>
          </a:ln>
        </p:spPr>
      </p:sp>
      <p:sp>
        <p:nvSpPr>
          <p:cNvPr id="28" name="Text 25"/>
          <p:cNvSpPr txBox="1"/>
          <p:nvPr/>
        </p:nvSpPr>
        <p:spPr>
          <a:xfrm>
            <a:off x="8732520" y="4736592"/>
            <a:ext cx="822960" cy="256032"/>
          </a:xfrm>
          <a:prstGeom prst="rect">
            <a:avLst/>
          </a:prstGeom>
          <a:noFill/>
          <a:ln/>
        </p:spPr>
        <p:txBody>
          <a:bodyPr wrap="square" lIns="0" tIns="0" rIns="0" bIns="0" rtlCol="0" anchor="t"/>
          <a:lstStyle/>
          <a:p>
            <a:pPr algn="ctr" indent="0" marL="0">
              <a:buNone/>
            </a:pPr>
            <a:r>
              <a:rPr lang="en-US" sz="1100" dirty="0">
                <a:solidFill>
                  <a:srgbClr val="5B6676"/>
                </a:solidFill>
                <a:latin typeface="Calibri" pitchFamily="34" charset="0"/>
                <a:ea typeface="Calibri" pitchFamily="34" charset="-122"/>
                <a:cs typeface="Calibri" pitchFamily="34" charset="-120"/>
              </a:rPr>
              <a:t>bin 2</a:t>
            </a:r>
            <a:endParaRPr lang="en-US" sz="1100" dirty="0"/>
          </a:p>
        </p:txBody>
      </p:sp>
      <p:sp>
        <p:nvSpPr>
          <p:cNvPr id="29" name="Shape 26"/>
          <p:cNvSpPr/>
          <p:nvPr/>
        </p:nvSpPr>
        <p:spPr>
          <a:xfrm flipV="1">
            <a:off x="9482328" y="2848447"/>
            <a:ext cx="283464" cy="64008"/>
          </a:xfrm>
          <a:prstGeom prst="line">
            <a:avLst/>
          </a:prstGeom>
          <a:noFill/>
          <a:ln w="15875">
            <a:solidFill>
              <a:srgbClr val="C77700"/>
            </a:solidFill>
            <a:prstDash val="solid"/>
            <a:tailEnd type="triangle"/>
          </a:ln>
        </p:spPr>
      </p:sp>
      <p:sp>
        <p:nvSpPr>
          <p:cNvPr id="30" name="Shape 27"/>
          <p:cNvSpPr/>
          <p:nvPr/>
        </p:nvSpPr>
        <p:spPr>
          <a:xfrm>
            <a:off x="9784080" y="2761922"/>
            <a:ext cx="640080" cy="1901518"/>
          </a:xfrm>
          <a:prstGeom prst="rect">
            <a:avLst/>
          </a:prstGeom>
          <a:solidFill>
            <a:srgbClr val="FFFFFF"/>
          </a:solidFill>
          <a:ln w="15875">
            <a:solidFill>
              <a:srgbClr val="C77700"/>
            </a:solidFill>
            <a:prstDash val="solid"/>
          </a:ln>
        </p:spPr>
      </p:sp>
      <p:sp>
        <p:nvSpPr>
          <p:cNvPr id="31" name="Shape 28"/>
          <p:cNvSpPr/>
          <p:nvPr/>
        </p:nvSpPr>
        <p:spPr>
          <a:xfrm>
            <a:off x="9784080" y="3522529"/>
            <a:ext cx="640080" cy="1140911"/>
          </a:xfrm>
          <a:prstGeom prst="rect">
            <a:avLst/>
          </a:prstGeom>
          <a:solidFill>
            <a:srgbClr val="E8B860"/>
          </a:solidFill>
          <a:ln w="12700">
            <a:solidFill>
              <a:srgbClr val="C77700"/>
            </a:solidFill>
            <a:prstDash val="solid"/>
          </a:ln>
        </p:spPr>
      </p:sp>
      <p:sp>
        <p:nvSpPr>
          <p:cNvPr id="32" name="Text 29"/>
          <p:cNvSpPr txBox="1"/>
          <p:nvPr/>
        </p:nvSpPr>
        <p:spPr>
          <a:xfrm>
            <a:off x="9692640" y="4736592"/>
            <a:ext cx="822960" cy="256032"/>
          </a:xfrm>
          <a:prstGeom prst="rect">
            <a:avLst/>
          </a:prstGeom>
          <a:noFill/>
          <a:ln/>
        </p:spPr>
        <p:txBody>
          <a:bodyPr wrap="square" lIns="0" tIns="0" rIns="0" bIns="0" rtlCol="0" anchor="t"/>
          <a:lstStyle/>
          <a:p>
            <a:pPr algn="ctr" indent="0" marL="0">
              <a:buNone/>
            </a:pPr>
            <a:r>
              <a:rPr lang="en-US" sz="1100" dirty="0">
                <a:solidFill>
                  <a:srgbClr val="5B6676"/>
                </a:solidFill>
                <a:latin typeface="Calibri" pitchFamily="34" charset="0"/>
                <a:ea typeface="Calibri" pitchFamily="34" charset="-122"/>
                <a:cs typeface="Calibri" pitchFamily="34" charset="-120"/>
              </a:rPr>
              <a:t>bin 3</a:t>
            </a:r>
            <a:endParaRPr lang="en-US" sz="1100" dirty="0"/>
          </a:p>
        </p:txBody>
      </p:sp>
      <p:sp>
        <p:nvSpPr>
          <p:cNvPr id="33" name="Shape 30"/>
          <p:cNvSpPr/>
          <p:nvPr/>
        </p:nvSpPr>
        <p:spPr>
          <a:xfrm flipV="1">
            <a:off x="10442448" y="2807642"/>
            <a:ext cx="283464" cy="64008"/>
          </a:xfrm>
          <a:prstGeom prst="line">
            <a:avLst/>
          </a:prstGeom>
          <a:noFill/>
          <a:ln w="15875">
            <a:solidFill>
              <a:srgbClr val="C77700"/>
            </a:solidFill>
            <a:prstDash val="solid"/>
            <a:tailEnd type="triangle"/>
          </a:ln>
        </p:spPr>
      </p:sp>
      <p:sp>
        <p:nvSpPr>
          <p:cNvPr id="34" name="Shape 31"/>
          <p:cNvSpPr/>
          <p:nvPr/>
        </p:nvSpPr>
        <p:spPr>
          <a:xfrm>
            <a:off x="10744200" y="2435482"/>
            <a:ext cx="640080" cy="2227958"/>
          </a:xfrm>
          <a:prstGeom prst="rect">
            <a:avLst/>
          </a:prstGeom>
          <a:solidFill>
            <a:srgbClr val="FFFFFF"/>
          </a:solidFill>
          <a:ln w="15875">
            <a:solidFill>
              <a:srgbClr val="C77700"/>
            </a:solidFill>
            <a:prstDash val="solid"/>
          </a:ln>
        </p:spPr>
      </p:sp>
      <p:sp>
        <p:nvSpPr>
          <p:cNvPr id="35" name="Shape 32"/>
          <p:cNvSpPr/>
          <p:nvPr/>
        </p:nvSpPr>
        <p:spPr>
          <a:xfrm>
            <a:off x="10744200" y="2702837"/>
            <a:ext cx="640080" cy="1960603"/>
          </a:xfrm>
          <a:prstGeom prst="rect">
            <a:avLst/>
          </a:prstGeom>
          <a:solidFill>
            <a:srgbClr val="E8B860"/>
          </a:solidFill>
          <a:ln w="12700">
            <a:solidFill>
              <a:srgbClr val="C77700"/>
            </a:solidFill>
            <a:prstDash val="solid"/>
          </a:ln>
        </p:spPr>
      </p:sp>
      <p:sp>
        <p:nvSpPr>
          <p:cNvPr id="36" name="Text 33"/>
          <p:cNvSpPr txBox="1"/>
          <p:nvPr/>
        </p:nvSpPr>
        <p:spPr>
          <a:xfrm>
            <a:off x="10652760" y="4736592"/>
            <a:ext cx="822960" cy="256032"/>
          </a:xfrm>
          <a:prstGeom prst="rect">
            <a:avLst/>
          </a:prstGeom>
          <a:noFill/>
          <a:ln/>
        </p:spPr>
        <p:txBody>
          <a:bodyPr wrap="square" lIns="0" tIns="0" rIns="0" bIns="0" rtlCol="0" anchor="t"/>
          <a:lstStyle/>
          <a:p>
            <a:pPr algn="ctr" indent="0" marL="0">
              <a:buNone/>
            </a:pPr>
            <a:r>
              <a:rPr lang="en-US" sz="1100" dirty="0">
                <a:solidFill>
                  <a:srgbClr val="5B6676"/>
                </a:solidFill>
                <a:latin typeface="Calibri" pitchFamily="34" charset="0"/>
                <a:ea typeface="Calibri" pitchFamily="34" charset="-122"/>
                <a:cs typeface="Calibri" pitchFamily="34" charset="-120"/>
              </a:rPr>
              <a:t>bin 4</a:t>
            </a:r>
            <a:endParaRPr lang="en-US" sz="1100" dirty="0"/>
          </a:p>
        </p:txBody>
      </p:sp>
      <p:sp>
        <p:nvSpPr>
          <p:cNvPr id="37" name="Text 34"/>
          <p:cNvSpPr txBox="1"/>
          <p:nvPr/>
        </p:nvSpPr>
        <p:spPr>
          <a:xfrm>
            <a:off x="7818120" y="5074920"/>
            <a:ext cx="3840480" cy="457200"/>
          </a:xfrm>
          <a:prstGeom prst="rect">
            <a:avLst/>
          </a:prstGeom>
          <a:noFill/>
          <a:ln/>
        </p:spPr>
        <p:txBody>
          <a:bodyPr wrap="square" lIns="0" tIns="0" rIns="0" bIns="0" rtlCol="0" anchor="t"/>
          <a:lstStyle/>
          <a:p>
            <a:pPr indent="0" marL="0">
              <a:buNone/>
            </a:pPr>
            <a:r>
              <a:rPr lang="en-US" sz="1150" dirty="0">
                <a:solidFill>
                  <a:srgbClr val="5B6676"/>
                </a:solidFill>
                <a:latin typeface="Calibri" pitchFamily="34" charset="0"/>
                <a:ea typeface="Calibri" pitchFamily="34" charset="-122"/>
                <a:cs typeface="Calibri" pitchFamily="34" charset="-120"/>
              </a:rPr>
              <a:t>Filled = spent. Outline = bin budget plus rollover. Arrows = carried-over budget.</a:t>
            </a:r>
            <a:endParaRPr lang="en-US" sz="1150" dirty="0"/>
          </a:p>
        </p:txBody>
      </p:sp>
      <p:sp>
        <p:nvSpPr>
          <p:cNvPr id="38" name="Text 35"/>
          <p:cNvSpPr txBox="1"/>
          <p:nvPr/>
        </p:nvSpPr>
        <p:spPr>
          <a:xfrm>
            <a:off x="7818120" y="5532120"/>
            <a:ext cx="3840480" cy="457200"/>
          </a:xfrm>
          <a:prstGeom prst="rect">
            <a:avLst/>
          </a:prstGeom>
          <a:noFill/>
          <a:ln/>
        </p:spPr>
        <p:txBody>
          <a:bodyPr wrap="square" lIns="0" tIns="0" rIns="0" bIns="0" rtlCol="0" anchor="t"/>
          <a:lstStyle/>
          <a:p>
            <a:pPr indent="0" marL="0">
              <a:buNone/>
            </a:pPr>
            <a:r>
              <a:rPr lang="en-US" sz="1150" b="1" dirty="0">
                <a:solidFill>
                  <a:srgbClr val="1F2933"/>
                </a:solidFill>
                <a:latin typeface="Calibri" pitchFamily="34" charset="0"/>
                <a:ea typeface="Calibri" pitchFamily="34" charset="-122"/>
                <a:cs typeface="Calibri" pitchFamily="34" charset="-120"/>
              </a:rPr>
              <a:t>Ours: </a:t>
            </a:r>
            <a:pPr indent="0" marL="0">
              <a:buNone/>
            </a:pPr>
            <a:r>
              <a:rPr lang="en-US" sz="1150" dirty="0">
                <a:solidFill>
                  <a:srgbClr val="1F2933"/>
                </a:solidFill>
                <a:latin typeface="Calibri" pitchFamily="34" charset="0"/>
                <a:ea typeface="Calibri" pitchFamily="34" charset="-122"/>
                <a:cs typeface="Calibri" pitchFamily="34" charset="-120"/>
              </a:rPr>
              <a:t>S = 100 · LB = 0.5×min, UB = 2×max score/cost ratio on tuning data · affordability guard + explicit stop</a:t>
            </a:r>
            <a:endParaRPr lang="en-US" sz="11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4 OF 5 · THEORY</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A closer prior shrinks the regret bound, conditionally</a:t>
            </a:r>
            <a:endParaRPr lang="en-US" sz="3000" dirty="0"/>
          </a:p>
        </p:txBody>
      </p:sp>
      <p:sp>
        <p:nvSpPr>
          <p:cNvPr id="5" name="Text 3"/>
          <p:cNvSpPr txBox="1"/>
          <p:nvPr/>
        </p:nvSpPr>
        <p:spPr>
          <a:xfrm>
            <a:off x="548640" y="6318504"/>
            <a:ext cx="10561320" cy="356616"/>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proceedings.neurips.cc/paper/2011/hash/e1d5be1c7f2f456670de3d53c7b54f4a-Abstract.html" history="1" highlightClick="0" endSnd="0">
                  <a:extLst>
                    <a:ext uri="{A12FA001-AC4F-418D-AE19-62706E023703}">
                      <ahyp:hlinkClr xmlns:ahyp="http://schemas.microsoft.com/office/drawing/2018/hyperlinkcolor" val="tx"/>
                    </a:ext>
                  </a:extLst>
                </a:hlinkClick>
              </a:rPr>
              <a:t>[7] Y. Abbasi-Yadkori, D. Pál, and C. Szepesvári, “Improved algorithms for linear stochastic bandits,” in Adv. Neural Inf. Process. Syst., vol. 24, 2011, pp. 2312–2320.</a:t>
            </a:r>
            <a:endParaRPr lang="en-US" sz="950" dirty="0"/>
          </a:p>
        </p:txBody>
      </p:sp>
      <p:sp>
        <p:nvSpPr>
          <p:cNvPr id="7" name="Shape 4"/>
          <p:cNvSpPr/>
          <p:nvPr/>
        </p:nvSpPr>
        <p:spPr>
          <a:xfrm>
            <a:off x="548640" y="1481328"/>
            <a:ext cx="6812280" cy="3246120"/>
          </a:xfrm>
          <a:prstGeom prst="roundRect">
            <a:avLst>
              <a:gd name="adj" fmla="val 2254"/>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8" name="Text 5"/>
          <p:cNvSpPr txBox="1"/>
          <p:nvPr/>
        </p:nvSpPr>
        <p:spPr>
          <a:xfrm>
            <a:off x="777240" y="1645920"/>
            <a:ext cx="6400800" cy="2971800"/>
          </a:xfrm>
          <a:prstGeom prst="rect">
            <a:avLst/>
          </a:prstGeom>
          <a:noFill/>
          <a:ln/>
        </p:spPr>
        <p:txBody>
          <a:bodyPr wrap="square" lIns="0" tIns="0" rIns="0" bIns="0" rtlCol="0" anchor="t"/>
          <a:lstStyle/>
          <a:p>
            <a:pPr indent="0" marL="0">
              <a:spcAft>
                <a:spcPts val="1200"/>
              </a:spcAft>
              <a:buNone/>
            </a:pPr>
            <a:r>
              <a:rPr lang="en-US" sz="1400" b="1" dirty="0">
                <a:solidFill>
                  <a:srgbClr val="0E7C7B"/>
                </a:solidFill>
                <a:latin typeface="Calibri" pitchFamily="34" charset="0"/>
                <a:ea typeface="Calibri" pitchFamily="34" charset="-122"/>
                <a:cs typeface="Calibri" pitchFamily="34" charset="-120"/>
              </a:rPr>
              <a:t>Setting  </a:t>
            </a:r>
            <a:pPr indent="0" marL="0">
              <a:buNone/>
            </a:pPr>
            <a:r>
              <a:rPr lang="en-US" sz="1500" dirty="0">
                <a:solidFill>
                  <a:srgbClr val="14213D"/>
                </a:solidFill>
                <a:latin typeface="Cambria Math" pitchFamily="34" charset="0"/>
                <a:ea typeface="Cambria Math" pitchFamily="34" charset="-122"/>
                <a:cs typeface="Cambria Math" pitchFamily="34" charset="-120"/>
              </a:rPr>
              <a:t>r</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 = θ*·x</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 + ε</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   ε</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 is R-sub-Gaussian</a:t>
            </a:r>
            <a:endParaRPr lang="en-US" sz="1400" dirty="0"/>
          </a:p>
          <a:p>
            <a:pPr indent="0" marL="0">
              <a:spcAft>
                <a:spcPts val="1200"/>
              </a:spcAft>
              <a:buNone/>
            </a:pPr>
            <a:r>
              <a:rPr lang="en-US" sz="1400" b="1" dirty="0">
                <a:solidFill>
                  <a:srgbClr val="0E7C7B"/>
                </a:solidFill>
                <a:latin typeface="Calibri" pitchFamily="34" charset="0"/>
                <a:ea typeface="Calibri" pitchFamily="34" charset="-122"/>
                <a:cs typeface="Calibri" pitchFamily="34" charset="-120"/>
              </a:rPr>
              <a:t>OFUL bound  </a:t>
            </a:r>
            <a:pPr indent="0" marL="0">
              <a:buNone/>
            </a:pPr>
            <a:r>
              <a:rPr lang="en-US" sz="1500" dirty="0">
                <a:solidFill>
                  <a:srgbClr val="14213D"/>
                </a:solidFill>
                <a:latin typeface="Cambria Math" pitchFamily="34" charset="0"/>
                <a:ea typeface="Cambria Math" pitchFamily="34" charset="-122"/>
                <a:cs typeface="Cambria Math" pitchFamily="34" charset="-120"/>
              </a:rPr>
              <a:t>if ‖θ*‖ ≤ S:  R(T) ≤ U</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(S) w.p. ≥ 1 − δ</a:t>
            </a:r>
            <a:endParaRPr lang="en-US" sz="1400" dirty="0"/>
          </a:p>
          <a:p>
            <a:pPr indent="0" marL="0">
              <a:spcAft>
                <a:spcPts val="1200"/>
              </a:spcAft>
              <a:buNone/>
            </a:pPr>
            <a:r>
              <a:rPr lang="en-US" sz="1400" dirty="0">
                <a:solidFill>
                  <a:srgbClr val="14213D"/>
                </a:solidFill>
                <a:latin typeface="Cambria Math" pitchFamily="34" charset="0"/>
                <a:ea typeface="Cambria Math" pitchFamily="34" charset="-122"/>
                <a:cs typeface="Cambria Math" pitchFamily="34" charset="-120"/>
              </a:rPr>
              <a:t>U</a:t>
            </a:r>
            <a:pPr indent="0" marL="0">
              <a:buNone/>
            </a:pPr>
            <a:r>
              <a:rPr lang="en-US" sz="14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400" dirty="0">
                <a:solidFill>
                  <a:srgbClr val="14213D"/>
                </a:solidFill>
                <a:latin typeface="Cambria Math" pitchFamily="34" charset="0"/>
                <a:ea typeface="Cambria Math" pitchFamily="34" charset="-122"/>
                <a:cs typeface="Cambria Math" pitchFamily="34" charset="-120"/>
              </a:rPr>
              <a:t>(S) = 4</a:t>
            </a:r>
            <a:pPr indent="0" marL="0">
              <a:buNone/>
            </a:pPr>
            <a:r>
              <a:rPr lang="en-US" sz="1400" dirty="0">
                <a:solidFill>
                  <a:srgbClr val="14213D"/>
                </a:solidFill>
                <a:latin typeface="Cambria Math" pitchFamily="34" charset="0"/>
                <a:ea typeface="Cambria Math" pitchFamily="34" charset="-122"/>
                <a:cs typeface="Cambria Math" pitchFamily="34" charset="-120"/>
              </a:rPr>
              <a:t>√</a:t>
            </a:r>
            <a:pPr indent="0" marL="0">
              <a:buNone/>
            </a:pPr>
            <a:r>
              <a:rPr lang="en-US" sz="1400" dirty="0">
                <a:solidFill>
                  <a:srgbClr val="14213D"/>
                </a:solidFill>
                <a:latin typeface="Cambria Math" pitchFamily="34" charset="0"/>
                <a:ea typeface="Cambria Math" pitchFamily="34" charset="-122"/>
                <a:cs typeface="Cambria Math" pitchFamily="34" charset="-120"/>
              </a:rPr>
              <a:t>(T d log(λ + T/d)) · ( </a:t>
            </a:r>
            <a:pPr indent="0" marL="0">
              <a:buNone/>
            </a:pPr>
            <a:r>
              <a:rPr lang="en-US" sz="1400" dirty="0">
                <a:solidFill>
                  <a:srgbClr val="14213D"/>
                </a:solidFill>
                <a:latin typeface="Cambria Math" pitchFamily="34" charset="0"/>
                <a:ea typeface="Cambria Math" pitchFamily="34" charset="-122"/>
                <a:cs typeface="Cambria Math" pitchFamily="34" charset="-120"/>
              </a:rPr>
              <a:t>√</a:t>
            </a:r>
            <a:pPr indent="0" marL="0">
              <a:buNone/>
            </a:pPr>
            <a:r>
              <a:rPr lang="en-US" sz="1400" dirty="0">
                <a:solidFill>
                  <a:srgbClr val="14213D"/>
                </a:solidFill>
                <a:latin typeface="Cambria Math" pitchFamily="34" charset="0"/>
                <a:ea typeface="Cambria Math" pitchFamily="34" charset="-122"/>
                <a:cs typeface="Cambria Math" pitchFamily="34" charset="-120"/>
              </a:rPr>
              <a:t>λ S + R</a:t>
            </a:r>
            <a:pPr indent="0" marL="0">
              <a:buNone/>
            </a:pPr>
            <a:r>
              <a:rPr lang="en-US" sz="1400" dirty="0">
                <a:solidFill>
                  <a:srgbClr val="14213D"/>
                </a:solidFill>
                <a:latin typeface="Cambria Math" pitchFamily="34" charset="0"/>
                <a:ea typeface="Cambria Math" pitchFamily="34" charset="-122"/>
                <a:cs typeface="Cambria Math" pitchFamily="34" charset="-120"/>
              </a:rPr>
              <a:t>√</a:t>
            </a:r>
            <a:pPr indent="0" marL="0">
              <a:buNone/>
            </a:pPr>
            <a:r>
              <a:rPr lang="en-US" sz="1400" dirty="0">
                <a:solidFill>
                  <a:srgbClr val="14213D"/>
                </a:solidFill>
                <a:latin typeface="Cambria Math" pitchFamily="34" charset="0"/>
                <a:ea typeface="Cambria Math" pitchFamily="34" charset="-122"/>
                <a:cs typeface="Cambria Math" pitchFamily="34" charset="-120"/>
              </a:rPr>
              <a:t>(2 log(1/δ) + d log(1 + T/(λd))) )</a:t>
            </a:r>
            <a:endParaRPr lang="en-US" sz="1400" dirty="0"/>
          </a:p>
          <a:p>
            <a:pPr indent="0" marL="0">
              <a:spcAft>
                <a:spcPts val="1200"/>
              </a:spcAft>
              <a:buNone/>
            </a:pPr>
            <a:r>
              <a:rPr lang="en-US" sz="1400" b="1" dirty="0">
                <a:solidFill>
                  <a:srgbClr val="0E7C7B"/>
                </a:solidFill>
                <a:latin typeface="Calibri" pitchFamily="34" charset="0"/>
                <a:ea typeface="Calibri" pitchFamily="34" charset="-122"/>
                <a:cs typeface="Calibri" pitchFamily="34" charset="-120"/>
              </a:rPr>
              <a:t>PI-OFUL  </a:t>
            </a:r>
            <a:pPr indent="0" marL="0">
              <a:buNone/>
            </a:pPr>
            <a:r>
              <a:rPr lang="en-US" sz="1500" dirty="0">
                <a:solidFill>
                  <a:srgbClr val="14213D"/>
                </a:solidFill>
                <a:latin typeface="Cambria Math" pitchFamily="34" charset="0"/>
                <a:ea typeface="Cambria Math" pitchFamily="34" charset="-122"/>
                <a:cs typeface="Cambria Math" pitchFamily="34" charset="-120"/>
              </a:rPr>
              <a:t>start at θ</a:t>
            </a:r>
            <a:pPr indent="0" marL="0">
              <a:buNone/>
            </a:pPr>
            <a:r>
              <a:rPr lang="en-US" sz="1500"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500" dirty="0">
                <a:solidFill>
                  <a:srgbClr val="14213D"/>
                </a:solidFill>
                <a:latin typeface="Cambria Math" pitchFamily="34" charset="0"/>
                <a:ea typeface="Cambria Math" pitchFamily="34" charset="-122"/>
                <a:cs typeface="Cambria Math" pitchFamily="34" charset="-120"/>
              </a:rPr>
              <a:t>; bound U</a:t>
            </a:r>
            <a:pPr indent="0" marL="0">
              <a:buNone/>
            </a:pPr>
            <a:r>
              <a:rPr lang="en-US" sz="15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dirty="0">
                <a:solidFill>
                  <a:srgbClr val="14213D"/>
                </a:solidFill>
                <a:latin typeface="Cambria Math" pitchFamily="34" charset="0"/>
                <a:ea typeface="Cambria Math" pitchFamily="34" charset="-122"/>
                <a:cs typeface="Cambria Math" pitchFamily="34" charset="-120"/>
              </a:rPr>
              <a:t>(S′) with S′ ≥ ‖θ* − θ</a:t>
            </a:r>
            <a:pPr indent="0" marL="0">
              <a:buNone/>
            </a:pPr>
            <a:r>
              <a:rPr lang="en-US" sz="1500"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500" dirty="0">
                <a:solidFill>
                  <a:srgbClr val="14213D"/>
                </a:solidFill>
                <a:latin typeface="Cambria Math" pitchFamily="34" charset="0"/>
                <a:ea typeface="Cambria Math" pitchFamily="34" charset="-122"/>
                <a:cs typeface="Cambria Math" pitchFamily="34" charset="-120"/>
              </a:rPr>
              <a:t>‖</a:t>
            </a:r>
            <a:endParaRPr lang="en-US" sz="1400" dirty="0"/>
          </a:p>
          <a:p>
            <a:pPr indent="0" marL="0">
              <a:spcAft>
                <a:spcPts val="1200"/>
              </a:spcAft>
              <a:buNone/>
            </a:pPr>
            <a:r>
              <a:rPr lang="en-US" sz="1400" b="1" dirty="0">
                <a:solidFill>
                  <a:srgbClr val="C2452D"/>
                </a:solidFill>
                <a:latin typeface="Calibri" pitchFamily="34" charset="0"/>
                <a:ea typeface="Calibri" pitchFamily="34" charset="-122"/>
                <a:cs typeface="Calibri" pitchFamily="34" charset="-120"/>
              </a:rPr>
              <a:t>Result  </a:t>
            </a:r>
            <a:pPr indent="0" marL="0">
              <a:buNone/>
            </a:pPr>
            <a:r>
              <a:rPr lang="en-US" sz="1500" b="1" dirty="0">
                <a:solidFill>
                  <a:srgbClr val="14213D"/>
                </a:solidFill>
                <a:latin typeface="Cambria Math" pitchFamily="34" charset="0"/>
                <a:ea typeface="Cambria Math" pitchFamily="34" charset="-122"/>
                <a:cs typeface="Cambria Math" pitchFamily="34" charset="-120"/>
              </a:rPr>
              <a:t>‖θ* − θ</a:t>
            </a:r>
            <a:pPr indent="0" marL="0">
              <a:buNone/>
            </a:pPr>
            <a:r>
              <a:rPr lang="en-US" sz="1500" b="1"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500" b="1" dirty="0">
                <a:solidFill>
                  <a:srgbClr val="14213D"/>
                </a:solidFill>
                <a:latin typeface="Cambria Math" pitchFamily="34" charset="0"/>
                <a:ea typeface="Cambria Math" pitchFamily="34" charset="-122"/>
                <a:cs typeface="Cambria Math" pitchFamily="34" charset="-120"/>
              </a:rPr>
              <a:t>‖ ≤ ‖θ*‖  ⇒  U</a:t>
            </a:r>
            <a:pPr indent="0" marL="0">
              <a:buNone/>
            </a:pPr>
            <a:r>
              <a:rPr lang="en-US" sz="1500" b="1"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b="1" dirty="0">
                <a:solidFill>
                  <a:srgbClr val="14213D"/>
                </a:solidFill>
                <a:latin typeface="Cambria Math" pitchFamily="34" charset="0"/>
                <a:ea typeface="Cambria Math" pitchFamily="34" charset="-122"/>
                <a:cs typeface="Cambria Math" pitchFamily="34" charset="-120"/>
              </a:rPr>
              <a:t>(PI-OFUL) ≤ U</a:t>
            </a:r>
            <a:pPr indent="0" marL="0">
              <a:buNone/>
            </a:pPr>
            <a:r>
              <a:rPr lang="en-US" sz="1500" b="1"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500" b="1" dirty="0">
                <a:solidFill>
                  <a:srgbClr val="14213D"/>
                </a:solidFill>
                <a:latin typeface="Cambria Math" pitchFamily="34" charset="0"/>
                <a:ea typeface="Cambria Math" pitchFamily="34" charset="-122"/>
                <a:cs typeface="Cambria Math" pitchFamily="34" charset="-120"/>
              </a:rPr>
              <a:t>(OFUL)</a:t>
            </a:r>
            <a:endParaRPr lang="en-US" sz="1400" dirty="0"/>
          </a:p>
          <a:p>
            <a:pPr indent="0" marL="0">
              <a:spcAft>
                <a:spcPts val="1200"/>
              </a:spcAft>
              <a:buNone/>
            </a:pPr>
            <a:r>
              <a:rPr lang="en-US" sz="1400" b="1" dirty="0">
                <a:solidFill>
                  <a:srgbClr val="0E7C7B"/>
                </a:solidFill>
                <a:latin typeface="Calibri" pitchFamily="34" charset="0"/>
                <a:ea typeface="Calibri" pitchFamily="34" charset="-122"/>
                <a:cs typeface="Calibri" pitchFamily="34" charset="-120"/>
              </a:rPr>
              <a:t>Intuition  </a:t>
            </a:r>
            <a:pPr indent="0" marL="0">
              <a:buNone/>
            </a:pPr>
            <a:r>
              <a:rPr lang="en-US" sz="1400" dirty="0">
                <a:solidFill>
                  <a:srgbClr val="1F2933"/>
                </a:solidFill>
                <a:latin typeface="Calibri" pitchFamily="34" charset="0"/>
                <a:ea typeface="Calibri" pitchFamily="34" charset="-122"/>
                <a:cs typeface="Calibri" pitchFamily="34" charset="-120"/>
              </a:rPr>
              <a:t>a good prior moves the centre of the confidence ball next to θ*, so the algorithm pays for less exploration.</a:t>
            </a:r>
            <a:endParaRPr lang="en-US" sz="1400" dirty="0"/>
          </a:p>
        </p:txBody>
      </p:sp>
      <p:sp>
        <p:nvSpPr>
          <p:cNvPr id="9" name="Shape 6"/>
          <p:cNvSpPr/>
          <p:nvPr/>
        </p:nvSpPr>
        <p:spPr>
          <a:xfrm>
            <a:off x="8229600" y="1554480"/>
            <a:ext cx="2743200" cy="2743200"/>
          </a:xfrm>
          <a:prstGeom prst="ellipse">
            <a:avLst/>
          </a:prstGeom>
          <a:solidFill>
            <a:srgbClr val="FFFFFF">
              <a:alpha val="0"/>
            </a:srgbClr>
          </a:solidFill>
          <a:ln w="15875">
            <a:solidFill>
              <a:srgbClr val="8D99AE"/>
            </a:solidFill>
            <a:prstDash val="dash"/>
          </a:ln>
        </p:spPr>
      </p:sp>
      <p:sp>
        <p:nvSpPr>
          <p:cNvPr id="10" name="Shape 7"/>
          <p:cNvSpPr/>
          <p:nvPr/>
        </p:nvSpPr>
        <p:spPr>
          <a:xfrm>
            <a:off x="9573291" y="1746027"/>
            <a:ext cx="1262826" cy="1262826"/>
          </a:xfrm>
          <a:prstGeom prst="ellipse">
            <a:avLst/>
          </a:prstGeom>
          <a:solidFill>
            <a:srgbClr val="0E7C7B">
              <a:alpha val="20000"/>
            </a:srgbClr>
          </a:solidFill>
          <a:ln w="19050">
            <a:solidFill>
              <a:srgbClr val="0E7C7B"/>
            </a:solidFill>
            <a:prstDash val="solid"/>
          </a:ln>
        </p:spPr>
      </p:sp>
      <p:sp>
        <p:nvSpPr>
          <p:cNvPr id="11" name="Shape 8"/>
          <p:cNvSpPr/>
          <p:nvPr/>
        </p:nvSpPr>
        <p:spPr>
          <a:xfrm flipV="1">
            <a:off x="9601200" y="2011076"/>
            <a:ext cx="915004" cy="915004"/>
          </a:xfrm>
          <a:prstGeom prst="line">
            <a:avLst/>
          </a:prstGeom>
          <a:noFill/>
          <a:ln w="12700">
            <a:solidFill>
              <a:srgbClr val="8D99AE"/>
            </a:solidFill>
            <a:prstDash val="sysDot"/>
          </a:ln>
        </p:spPr>
      </p:sp>
      <p:sp>
        <p:nvSpPr>
          <p:cNvPr id="12" name="Shape 9"/>
          <p:cNvSpPr/>
          <p:nvPr/>
        </p:nvSpPr>
        <p:spPr>
          <a:xfrm>
            <a:off x="9537192" y="2862072"/>
            <a:ext cx="128016" cy="128016"/>
          </a:xfrm>
          <a:prstGeom prst="ellipse">
            <a:avLst/>
          </a:prstGeom>
          <a:solidFill>
            <a:srgbClr val="14213D"/>
          </a:solidFill>
          <a:ln w="9525">
            <a:solidFill>
              <a:srgbClr val="14213D"/>
            </a:solidFill>
            <a:prstDash val="solid"/>
          </a:ln>
        </p:spPr>
      </p:sp>
      <p:sp>
        <p:nvSpPr>
          <p:cNvPr id="13" name="Text 10"/>
          <p:cNvSpPr txBox="1"/>
          <p:nvPr/>
        </p:nvSpPr>
        <p:spPr>
          <a:xfrm>
            <a:off x="9281160" y="2971800"/>
            <a:ext cx="274320" cy="27432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0</a:t>
            </a:r>
            <a:endParaRPr lang="en-US" sz="1300" dirty="0"/>
          </a:p>
        </p:txBody>
      </p:sp>
      <p:sp>
        <p:nvSpPr>
          <p:cNvPr id="14" name="Shape 11"/>
          <p:cNvSpPr/>
          <p:nvPr/>
        </p:nvSpPr>
        <p:spPr>
          <a:xfrm>
            <a:off x="10497916" y="1883060"/>
            <a:ext cx="146304" cy="146304"/>
          </a:xfrm>
          <a:prstGeom prst="ellipse">
            <a:avLst/>
          </a:prstGeom>
          <a:solidFill>
            <a:srgbClr val="C2452D"/>
          </a:solidFill>
          <a:ln w="9525">
            <a:solidFill>
              <a:srgbClr val="C2452D"/>
            </a:solidFill>
            <a:prstDash val="solid"/>
          </a:ln>
        </p:spPr>
      </p:sp>
      <p:sp>
        <p:nvSpPr>
          <p:cNvPr id="15" name="Text 12"/>
          <p:cNvSpPr txBox="1"/>
          <p:nvPr/>
        </p:nvSpPr>
        <p:spPr>
          <a:xfrm>
            <a:off x="10680796" y="1627028"/>
            <a:ext cx="457200" cy="274320"/>
          </a:xfrm>
          <a:prstGeom prst="rect">
            <a:avLst/>
          </a:prstGeom>
          <a:noFill/>
          <a:ln/>
        </p:spPr>
        <p:txBody>
          <a:bodyPr wrap="square" lIns="0" tIns="0" rIns="0" bIns="0" rtlCol="0" anchor="t"/>
          <a:lstStyle/>
          <a:p>
            <a:pPr indent="0" marL="0">
              <a:buNone/>
            </a:pPr>
            <a:r>
              <a:rPr lang="en-US" sz="1400" b="1" dirty="0">
                <a:solidFill>
                  <a:srgbClr val="C2452D"/>
                </a:solidFill>
                <a:latin typeface="Cambria Math" pitchFamily="34" charset="0"/>
                <a:ea typeface="Cambria Math" pitchFamily="34" charset="-122"/>
                <a:cs typeface="Cambria Math" pitchFamily="34" charset="-120"/>
              </a:rPr>
              <a:t>θ*</a:t>
            </a:r>
            <a:endParaRPr lang="en-US" sz="1400" dirty="0"/>
          </a:p>
        </p:txBody>
      </p:sp>
      <p:sp>
        <p:nvSpPr>
          <p:cNvPr id="16" name="Shape 13"/>
          <p:cNvSpPr/>
          <p:nvPr/>
        </p:nvSpPr>
        <p:spPr>
          <a:xfrm>
            <a:off x="10131552" y="2304288"/>
            <a:ext cx="146304" cy="146304"/>
          </a:xfrm>
          <a:prstGeom prst="ellipse">
            <a:avLst/>
          </a:prstGeom>
          <a:solidFill>
            <a:srgbClr val="0E7C7B"/>
          </a:solidFill>
          <a:ln w="9525">
            <a:solidFill>
              <a:srgbClr val="0E7C7B"/>
            </a:solidFill>
            <a:prstDash val="solid"/>
          </a:ln>
        </p:spPr>
      </p:sp>
      <p:sp>
        <p:nvSpPr>
          <p:cNvPr id="17" name="Text 14"/>
          <p:cNvSpPr txBox="1"/>
          <p:nvPr/>
        </p:nvSpPr>
        <p:spPr>
          <a:xfrm>
            <a:off x="8704611" y="2231136"/>
            <a:ext cx="777240" cy="292608"/>
          </a:xfrm>
          <a:prstGeom prst="rect">
            <a:avLst/>
          </a:prstGeom>
          <a:noFill/>
          <a:ln/>
        </p:spPr>
        <p:txBody>
          <a:bodyPr wrap="square" lIns="0" tIns="0" rIns="0" bIns="0" rtlCol="0" anchor="ctr"/>
          <a:lstStyle/>
          <a:p>
            <a:pPr algn="r" indent="0" marL="0">
              <a:buNone/>
            </a:pPr>
            <a:r>
              <a:rPr lang="en-US" sz="1400" b="1" dirty="0">
                <a:solidFill>
                  <a:srgbClr val="0E7C7B"/>
                </a:solidFill>
                <a:latin typeface="Cambria Math" pitchFamily="34" charset="0"/>
                <a:ea typeface="Cambria Math" pitchFamily="34" charset="-122"/>
                <a:cs typeface="Cambria Math" pitchFamily="34" charset="-120"/>
              </a:rPr>
              <a:t>θ</a:t>
            </a:r>
            <a:pPr algn="r" indent="0" marL="0">
              <a:buNone/>
            </a:pPr>
            <a:r>
              <a:rPr lang="en-US" sz="1400" b="1" baseline="30000" dirty="0">
                <a:solidFill>
                  <a:srgbClr val="0E7C7B"/>
                </a:solidFill>
                <a:latin typeface="Cambria Math" pitchFamily="34" charset="0"/>
                <a:ea typeface="Cambria Math" pitchFamily="34" charset="-122"/>
                <a:cs typeface="Cambria Math" pitchFamily="34" charset="-120"/>
              </a:rPr>
              <a:t>pref</a:t>
            </a:r>
            <a:endParaRPr lang="en-US" sz="1400" dirty="0"/>
          </a:p>
        </p:txBody>
      </p:sp>
      <p:sp>
        <p:nvSpPr>
          <p:cNvPr id="18" name="Text 15"/>
          <p:cNvSpPr txBox="1"/>
          <p:nvPr/>
        </p:nvSpPr>
        <p:spPr>
          <a:xfrm>
            <a:off x="7726680" y="4389120"/>
            <a:ext cx="3931920" cy="457200"/>
          </a:xfrm>
          <a:prstGeom prst="rect">
            <a:avLst/>
          </a:prstGeom>
          <a:noFill/>
          <a:ln/>
        </p:spPr>
        <p:txBody>
          <a:bodyPr wrap="square" lIns="0" tIns="0" rIns="0" bIns="0" rtlCol="0" anchor="ctr"/>
          <a:lstStyle/>
          <a:p>
            <a:pPr algn="ctr" indent="0" marL="0">
              <a:buNone/>
            </a:pPr>
            <a:r>
              <a:rPr lang="en-US" sz="1150" dirty="0">
                <a:solidFill>
                  <a:srgbClr val="5B6676"/>
                </a:solidFill>
                <a:latin typeface="Calibri" pitchFamily="34" charset="0"/>
                <a:ea typeface="Calibri" pitchFamily="34" charset="-122"/>
                <a:cs typeface="Calibri" pitchFamily="34" charset="-120"/>
              </a:rPr>
              <a:t>Grey ball: radius ‖θ*‖ around 0. Teal ball: radius ‖θ* − θ</a:t>
            </a:r>
            <a:pPr algn="ctr" indent="0" marL="0">
              <a:buNone/>
            </a:pPr>
            <a:r>
              <a:rPr lang="en-US" sz="1150" baseline="30000" dirty="0">
                <a:solidFill>
                  <a:srgbClr val="5B6676"/>
                </a:solidFill>
                <a:latin typeface="Calibri" pitchFamily="34" charset="0"/>
                <a:ea typeface="Calibri" pitchFamily="34" charset="-122"/>
                <a:cs typeface="Calibri" pitchFamily="34" charset="-120"/>
              </a:rPr>
              <a:t>pref</a:t>
            </a:r>
            <a:pPr algn="ctr" indent="0" marL="0">
              <a:buNone/>
            </a:pPr>
            <a:r>
              <a:rPr lang="en-US" sz="1150" dirty="0">
                <a:solidFill>
                  <a:srgbClr val="5B6676"/>
                </a:solidFill>
                <a:latin typeface="Calibri" pitchFamily="34" charset="0"/>
                <a:ea typeface="Calibri" pitchFamily="34" charset="-122"/>
                <a:cs typeface="Calibri" pitchFamily="34" charset="-120"/>
              </a:rPr>
              <a:t>‖ around the prior.</a:t>
            </a:r>
            <a:endParaRPr lang="en-US" sz="1150" dirty="0"/>
          </a:p>
        </p:txBody>
      </p:sp>
      <p:sp>
        <p:nvSpPr>
          <p:cNvPr id="19" name="Shape 16"/>
          <p:cNvSpPr/>
          <p:nvPr/>
        </p:nvSpPr>
        <p:spPr>
          <a:xfrm>
            <a:off x="548640" y="4956048"/>
            <a:ext cx="2633472" cy="1005840"/>
          </a:xfrm>
          <a:prstGeom prst="roundRect">
            <a:avLst>
              <a:gd name="adj" fmla="val 7273"/>
            </a:avLst>
          </a:prstGeom>
          <a:solidFill>
            <a:srgbClr val="F8E5E0"/>
          </a:solidFill>
          <a:ln w="9525">
            <a:solidFill>
              <a:srgbClr val="F8E5E0"/>
            </a:solidFill>
            <a:prstDash val="solid"/>
          </a:ln>
        </p:spPr>
      </p:sp>
      <p:sp>
        <p:nvSpPr>
          <p:cNvPr id="20" name="Text 17"/>
          <p:cNvSpPr txBox="1"/>
          <p:nvPr/>
        </p:nvSpPr>
        <p:spPr>
          <a:xfrm>
            <a:off x="685800" y="4983480"/>
            <a:ext cx="2377440" cy="950976"/>
          </a:xfrm>
          <a:prstGeom prst="rect">
            <a:avLst/>
          </a:prstGeom>
          <a:noFill/>
          <a:ln/>
        </p:spPr>
        <p:txBody>
          <a:bodyPr wrap="square" lIns="0" tIns="0" rIns="0" bIns="0" rtlCol="0" anchor="ctr"/>
          <a:lstStyle/>
          <a:p>
            <a:pPr indent="0" marL="0">
              <a:buNone/>
            </a:pPr>
            <a:r>
              <a:rPr lang="en-US" sz="1250" b="1" dirty="0">
                <a:solidFill>
                  <a:srgbClr val="C2452D"/>
                </a:solidFill>
                <a:latin typeface="Calibri" pitchFamily="34" charset="0"/>
                <a:ea typeface="Calibri" pitchFamily="34" charset="-122"/>
                <a:cs typeface="Calibri" pitchFamily="34" charset="-120"/>
              </a:rPr>
              <a:t>Limit 1  </a:t>
            </a:r>
            <a:pPr indent="0" marL="0">
              <a:buNone/>
            </a:pPr>
            <a:r>
              <a:rPr lang="en-US" sz="1250" dirty="0">
                <a:solidFill>
                  <a:srgbClr val="1F2933"/>
                </a:solidFill>
                <a:latin typeface="Calibri" pitchFamily="34" charset="0"/>
                <a:ea typeface="Calibri" pitchFamily="34" charset="-122"/>
                <a:cs typeface="Calibri" pitchFamily="34" charset="-120"/>
              </a:rPr>
              <a:t>Same d</a:t>
            </a:r>
            <a:pPr indent="0" marL="0">
              <a:buNone/>
            </a:pPr>
            <a:r>
              <a:rPr lang="en-US" sz="1250" dirty="0">
                <a:solidFill>
                  <a:srgbClr val="1F2933"/>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T rate. Only the </a:t>
            </a:r>
            <a:pPr indent="0" marL="0">
              <a:buNone/>
            </a:pPr>
            <a:r>
              <a:rPr lang="en-US" sz="1250" dirty="0">
                <a:solidFill>
                  <a:srgbClr val="1F2933"/>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λ·S constant shrinks.</a:t>
            </a:r>
            <a:endParaRPr lang="en-US" sz="1250" dirty="0"/>
          </a:p>
        </p:txBody>
      </p:sp>
      <p:sp>
        <p:nvSpPr>
          <p:cNvPr id="21" name="Shape 18"/>
          <p:cNvSpPr/>
          <p:nvPr/>
        </p:nvSpPr>
        <p:spPr>
          <a:xfrm>
            <a:off x="3337560" y="4956048"/>
            <a:ext cx="2633472" cy="1005840"/>
          </a:xfrm>
          <a:prstGeom prst="roundRect">
            <a:avLst>
              <a:gd name="adj" fmla="val 7273"/>
            </a:avLst>
          </a:prstGeom>
          <a:solidFill>
            <a:srgbClr val="F8E5E0"/>
          </a:solidFill>
          <a:ln w="9525">
            <a:solidFill>
              <a:srgbClr val="F8E5E0"/>
            </a:solidFill>
            <a:prstDash val="solid"/>
          </a:ln>
        </p:spPr>
      </p:sp>
      <p:sp>
        <p:nvSpPr>
          <p:cNvPr id="22" name="Text 19"/>
          <p:cNvSpPr txBox="1"/>
          <p:nvPr/>
        </p:nvSpPr>
        <p:spPr>
          <a:xfrm>
            <a:off x="3474720" y="4983480"/>
            <a:ext cx="2377440" cy="950976"/>
          </a:xfrm>
          <a:prstGeom prst="rect">
            <a:avLst/>
          </a:prstGeom>
          <a:noFill/>
          <a:ln/>
        </p:spPr>
        <p:txBody>
          <a:bodyPr wrap="square" lIns="0" tIns="0" rIns="0" bIns="0" rtlCol="0" anchor="ctr"/>
          <a:lstStyle/>
          <a:p>
            <a:pPr indent="0" marL="0">
              <a:buNone/>
            </a:pPr>
            <a:r>
              <a:rPr lang="en-US" sz="1250" b="1" dirty="0">
                <a:solidFill>
                  <a:srgbClr val="C2452D"/>
                </a:solidFill>
                <a:latin typeface="Calibri" pitchFamily="34" charset="0"/>
                <a:ea typeface="Calibri" pitchFamily="34" charset="-122"/>
                <a:cs typeface="Calibri" pitchFamily="34" charset="-120"/>
              </a:rPr>
              <a:t>Limit 2  </a:t>
            </a:r>
            <a:pPr indent="0" marL="0">
              <a:buNone/>
            </a:pPr>
            <a:r>
              <a:rPr lang="en-US" sz="1250" dirty="0">
                <a:solidFill>
                  <a:srgbClr val="1F2933"/>
                </a:solidFill>
                <a:latin typeface="Calibri" pitchFamily="34" charset="0"/>
                <a:ea typeface="Calibri" pitchFamily="34" charset="-122"/>
                <a:cs typeface="Calibri" pitchFamily="34" charset="-120"/>
              </a:rPr>
              <a:t>S′ must be known. PILOT substitutes heuristics.</a:t>
            </a:r>
            <a:endParaRPr lang="en-US" sz="1250" dirty="0"/>
          </a:p>
        </p:txBody>
      </p:sp>
      <p:sp>
        <p:nvSpPr>
          <p:cNvPr id="23" name="Shape 20"/>
          <p:cNvSpPr/>
          <p:nvPr/>
        </p:nvSpPr>
        <p:spPr>
          <a:xfrm>
            <a:off x="6126480" y="4956048"/>
            <a:ext cx="2633472" cy="1005840"/>
          </a:xfrm>
          <a:prstGeom prst="roundRect">
            <a:avLst>
              <a:gd name="adj" fmla="val 7273"/>
            </a:avLst>
          </a:prstGeom>
          <a:solidFill>
            <a:srgbClr val="F8E5E0"/>
          </a:solidFill>
          <a:ln w="9525">
            <a:solidFill>
              <a:srgbClr val="F8E5E0"/>
            </a:solidFill>
            <a:prstDash val="solid"/>
          </a:ln>
        </p:spPr>
      </p:sp>
      <p:sp>
        <p:nvSpPr>
          <p:cNvPr id="24" name="Text 21"/>
          <p:cNvSpPr txBox="1"/>
          <p:nvPr/>
        </p:nvSpPr>
        <p:spPr>
          <a:xfrm>
            <a:off x="6263640" y="4983480"/>
            <a:ext cx="2377440" cy="950976"/>
          </a:xfrm>
          <a:prstGeom prst="rect">
            <a:avLst/>
          </a:prstGeom>
          <a:noFill/>
          <a:ln/>
        </p:spPr>
        <p:txBody>
          <a:bodyPr wrap="square" lIns="0" tIns="0" rIns="0" bIns="0" rtlCol="0" anchor="ctr"/>
          <a:lstStyle/>
          <a:p>
            <a:pPr indent="0" marL="0">
              <a:buNone/>
            </a:pPr>
            <a:r>
              <a:rPr lang="en-US" sz="1250" b="1" dirty="0">
                <a:solidFill>
                  <a:srgbClr val="C2452D"/>
                </a:solidFill>
                <a:latin typeface="Calibri" pitchFamily="34" charset="0"/>
                <a:ea typeface="Calibri" pitchFamily="34" charset="-122"/>
                <a:cs typeface="Calibri" pitchFamily="34" charset="-120"/>
              </a:rPr>
              <a:t>Limit 3  </a:t>
            </a:r>
            <a:pPr indent="0" marL="0">
              <a:buNone/>
            </a:pPr>
            <a:r>
              <a:rPr lang="en-US" sz="1250" dirty="0">
                <a:solidFill>
                  <a:srgbClr val="1F2933"/>
                </a:solidFill>
                <a:latin typeface="Calibri" pitchFamily="34" charset="0"/>
                <a:ea typeface="Calibri" pitchFamily="34" charset="-122"/>
                <a:cs typeface="Calibri" pitchFamily="34" charset="-120"/>
              </a:rPr>
              <a:t>Proven for linear OFUL, not cosine-scored LinUCB.</a:t>
            </a:r>
            <a:endParaRPr lang="en-US" sz="1250" dirty="0"/>
          </a:p>
        </p:txBody>
      </p:sp>
      <p:sp>
        <p:nvSpPr>
          <p:cNvPr id="25" name="Shape 22"/>
          <p:cNvSpPr/>
          <p:nvPr/>
        </p:nvSpPr>
        <p:spPr>
          <a:xfrm>
            <a:off x="8915400" y="4956048"/>
            <a:ext cx="2633472" cy="1005840"/>
          </a:xfrm>
          <a:prstGeom prst="roundRect">
            <a:avLst>
              <a:gd name="adj" fmla="val 7273"/>
            </a:avLst>
          </a:prstGeom>
          <a:solidFill>
            <a:srgbClr val="F8E5E0"/>
          </a:solidFill>
          <a:ln w="9525">
            <a:solidFill>
              <a:srgbClr val="F8E5E0"/>
            </a:solidFill>
            <a:prstDash val="solid"/>
          </a:ln>
        </p:spPr>
      </p:sp>
      <p:sp>
        <p:nvSpPr>
          <p:cNvPr id="26" name="Text 23"/>
          <p:cNvSpPr txBox="1"/>
          <p:nvPr/>
        </p:nvSpPr>
        <p:spPr>
          <a:xfrm>
            <a:off x="9052560" y="4983480"/>
            <a:ext cx="2377440" cy="950976"/>
          </a:xfrm>
          <a:prstGeom prst="rect">
            <a:avLst/>
          </a:prstGeom>
          <a:noFill/>
          <a:ln/>
        </p:spPr>
        <p:txBody>
          <a:bodyPr wrap="square" lIns="0" tIns="0" rIns="0" bIns="0" rtlCol="0" anchor="ctr"/>
          <a:lstStyle/>
          <a:p>
            <a:pPr indent="0" marL="0">
              <a:buNone/>
            </a:pPr>
            <a:r>
              <a:rPr lang="en-US" sz="1250" b="1" dirty="0">
                <a:solidFill>
                  <a:srgbClr val="C2452D"/>
                </a:solidFill>
                <a:latin typeface="Calibri" pitchFamily="34" charset="0"/>
                <a:ea typeface="Calibri" pitchFamily="34" charset="-122"/>
                <a:cs typeface="Calibri" pitchFamily="34" charset="-120"/>
              </a:rPr>
              <a:t>Limit 4  </a:t>
            </a:r>
            <a:pPr indent="0" marL="0">
              <a:buNone/>
            </a:pPr>
            <a:r>
              <a:rPr lang="en-US" sz="1250" dirty="0">
                <a:solidFill>
                  <a:srgbClr val="1F2933"/>
                </a:solidFill>
                <a:latin typeface="Calibri" pitchFamily="34" charset="0"/>
                <a:ea typeface="Calibri" pitchFamily="34" charset="-122"/>
                <a:cs typeface="Calibri" pitchFamily="34" charset="-120"/>
              </a:rPr>
              <a:t>Compares upper bounds, not realized regret.</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4 OF 5 · PROOF IDEA</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Proof sketch, and two printing slips in the final PDF</a:t>
            </a:r>
            <a:endParaRPr lang="en-US" sz="3000" dirty="0"/>
          </a:p>
        </p:txBody>
      </p:sp>
      <p:sp>
        <p:nvSpPr>
          <p:cNvPr id="5" name="Text 3"/>
          <p:cNvSpPr txBox="1"/>
          <p:nvPr/>
        </p:nvSpPr>
        <p:spPr>
          <a:xfrm>
            <a:off x="548640" y="6318504"/>
            <a:ext cx="10561320" cy="356616"/>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proceedings.neurips.cc/paper/2011/hash/e1d5be1c7f2f456670de3d53c7b54f4a-Abstract.html" history="1" highlightClick="0" endSnd="0">
                  <a:extLst>
                    <a:ext uri="{A12FA001-AC4F-418D-AE19-62706E023703}">
                      <ahyp:hlinkClr xmlns:ahyp="http://schemas.microsoft.com/office/drawing/2018/hyperlinkcolor" val="tx"/>
                    </a:ext>
                  </a:extLst>
                </a:hlinkClick>
              </a:rPr>
              <a:t>[7] Y. Abbasi-Yadkori, D. Pál, and C. Szepesvári, “Improved algorithms for linear stochastic bandits,” in Adv. Neural Inf. Process. Syst., vol. 24, 2011, pp. 2312–2320.</a:t>
            </a:r>
            <a:endParaRPr lang="en-US" sz="950" dirty="0"/>
          </a:p>
        </p:txBody>
      </p:sp>
      <p:sp>
        <p:nvSpPr>
          <p:cNvPr id="7" name="Shape 4"/>
          <p:cNvSpPr/>
          <p:nvPr/>
        </p:nvSpPr>
        <p:spPr>
          <a:xfrm>
            <a:off x="548640" y="1508760"/>
            <a:ext cx="2606040" cy="1965960"/>
          </a:xfrm>
          <a:prstGeom prst="roundRect">
            <a:avLst>
              <a:gd name="adj" fmla="val 3721"/>
            </a:avLst>
          </a:prstGeom>
          <a:solidFill>
            <a:srgbClr val="F2F4F7"/>
          </a:solidFill>
          <a:ln w="9525">
            <a:solidFill>
              <a:srgbClr val="F2F4F7"/>
            </a:solidFill>
            <a:prstDash val="solid"/>
          </a:ln>
        </p:spPr>
      </p:sp>
      <p:sp>
        <p:nvSpPr>
          <p:cNvPr id="8" name="Text 5"/>
          <p:cNvSpPr txBox="1"/>
          <p:nvPr/>
        </p:nvSpPr>
        <p:spPr>
          <a:xfrm>
            <a:off x="685800" y="1600200"/>
            <a:ext cx="233172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1 · Ridge with a prior</a:t>
            </a:r>
            <a:endParaRPr lang="en-US" sz="1400" dirty="0"/>
          </a:p>
        </p:txBody>
      </p:sp>
      <p:sp>
        <p:nvSpPr>
          <p:cNvPr id="9" name="Text 6"/>
          <p:cNvSpPr txBox="1"/>
          <p:nvPr/>
        </p:nvSpPr>
        <p:spPr>
          <a:xfrm>
            <a:off x="685800" y="2011680"/>
            <a:ext cx="2331720" cy="1371600"/>
          </a:xfrm>
          <a:prstGeom prst="rect">
            <a:avLst/>
          </a:prstGeom>
          <a:noFill/>
          <a:ln/>
        </p:spPr>
        <p:txBody>
          <a:bodyPr wrap="square" lIns="0" tIns="0" rIns="0" bIns="0" rtlCol="0" anchor="t"/>
          <a:lstStyle/>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A = X</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300" dirty="0">
                <a:solidFill>
                  <a:srgbClr val="14213D"/>
                </a:solidFill>
                <a:latin typeface="Cambria Math" pitchFamily="34" charset="0"/>
                <a:ea typeface="Cambria Math" pitchFamily="34" charset="-122"/>
                <a:cs typeface="Cambria Math" pitchFamily="34" charset="-120"/>
              </a:rPr>
              <a:t>X + λI</a:t>
            </a:r>
            <a:endParaRPr lang="en-US" sz="1300" dirty="0"/>
          </a:p>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b = X</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300" dirty="0">
                <a:solidFill>
                  <a:srgbClr val="14213D"/>
                </a:solidFill>
                <a:latin typeface="Cambria Math" pitchFamily="34" charset="0"/>
                <a:ea typeface="Cambria Math" pitchFamily="34" charset="-122"/>
                <a:cs typeface="Cambria Math" pitchFamily="34" charset="-120"/>
              </a:rPr>
              <a:t>y + λθ</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pref</a:t>
            </a:r>
            <a:endParaRPr lang="en-US" sz="1300" dirty="0"/>
          </a:p>
        </p:txBody>
      </p:sp>
      <p:sp>
        <p:nvSpPr>
          <p:cNvPr id="10" name="Shape 7"/>
          <p:cNvSpPr/>
          <p:nvPr/>
        </p:nvSpPr>
        <p:spPr>
          <a:xfrm>
            <a:off x="3172968" y="2487168"/>
            <a:ext cx="173736" cy="914"/>
          </a:xfrm>
          <a:prstGeom prst="line">
            <a:avLst/>
          </a:prstGeom>
          <a:noFill/>
          <a:ln w="19050">
            <a:solidFill>
              <a:srgbClr val="5B6676"/>
            </a:solidFill>
            <a:prstDash val="solid"/>
            <a:tailEnd type="triangle"/>
          </a:ln>
        </p:spPr>
      </p:sp>
      <p:sp>
        <p:nvSpPr>
          <p:cNvPr id="11" name="Shape 8"/>
          <p:cNvSpPr/>
          <p:nvPr/>
        </p:nvSpPr>
        <p:spPr>
          <a:xfrm>
            <a:off x="3364992" y="1508760"/>
            <a:ext cx="2606040" cy="1965960"/>
          </a:xfrm>
          <a:prstGeom prst="roundRect">
            <a:avLst>
              <a:gd name="adj" fmla="val 3721"/>
            </a:avLst>
          </a:prstGeom>
          <a:solidFill>
            <a:srgbClr val="E2F1F0"/>
          </a:solidFill>
          <a:ln w="9525">
            <a:solidFill>
              <a:srgbClr val="0E7C7B"/>
            </a:solidFill>
            <a:prstDash val="solid"/>
          </a:ln>
        </p:spPr>
      </p:sp>
      <p:sp>
        <p:nvSpPr>
          <p:cNvPr id="12" name="Text 9"/>
          <p:cNvSpPr txBox="1"/>
          <p:nvPr/>
        </p:nvSpPr>
        <p:spPr>
          <a:xfrm>
            <a:off x="3502152" y="1600200"/>
            <a:ext cx="233172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2 · Split the error</a:t>
            </a:r>
            <a:endParaRPr lang="en-US" sz="1400" dirty="0"/>
          </a:p>
        </p:txBody>
      </p:sp>
      <p:sp>
        <p:nvSpPr>
          <p:cNvPr id="13" name="Text 10"/>
          <p:cNvSpPr txBox="1"/>
          <p:nvPr/>
        </p:nvSpPr>
        <p:spPr>
          <a:xfrm>
            <a:off x="3502152" y="2011680"/>
            <a:ext cx="2331720" cy="1371600"/>
          </a:xfrm>
          <a:prstGeom prst="rect">
            <a:avLst/>
          </a:prstGeom>
          <a:noFill/>
          <a:ln/>
        </p:spPr>
        <p:txBody>
          <a:bodyPr wrap="square" lIns="0" tIns="0" rIns="0" bIns="0" rtlCol="0" anchor="t"/>
          <a:lstStyle/>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θ̃ − θ* = A</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-1</a:t>
            </a:r>
            <a:pPr indent="0" marL="0">
              <a:buNone/>
            </a:pPr>
            <a:r>
              <a:rPr lang="en-US" sz="1300" dirty="0">
                <a:solidFill>
                  <a:srgbClr val="14213D"/>
                </a:solidFill>
                <a:latin typeface="Cambria Math" pitchFamily="34" charset="0"/>
                <a:ea typeface="Cambria Math" pitchFamily="34" charset="-122"/>
                <a:cs typeface="Cambria Math" pitchFamily="34" charset="-120"/>
              </a:rPr>
              <a:t>X</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a:t>
            </a:r>
            <a:pPr indent="0" marL="0">
              <a:buNone/>
            </a:pPr>
            <a:r>
              <a:rPr lang="en-US" sz="1300" dirty="0">
                <a:solidFill>
                  <a:srgbClr val="14213D"/>
                </a:solidFill>
                <a:latin typeface="Cambria Math" pitchFamily="34" charset="0"/>
                <a:ea typeface="Cambria Math" pitchFamily="34" charset="-122"/>
                <a:cs typeface="Cambria Math" pitchFamily="34" charset="-120"/>
              </a:rPr>
              <a:t>ε</a:t>
            </a:r>
            <a:endParaRPr lang="en-US" sz="1300" dirty="0"/>
          </a:p>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        − λA</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-1</a:t>
            </a:r>
            <a:pPr indent="0" marL="0">
              <a:buNone/>
            </a:pPr>
            <a:r>
              <a:rPr lang="en-US" sz="1300" dirty="0">
                <a:solidFill>
                  <a:srgbClr val="14213D"/>
                </a:solidFill>
                <a:latin typeface="Cambria Math" pitchFamily="34" charset="0"/>
                <a:ea typeface="Cambria Math" pitchFamily="34" charset="-122"/>
                <a:cs typeface="Cambria Math" pitchFamily="34" charset="-120"/>
              </a:rPr>
              <a:t>(θ* − θ</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300" dirty="0">
                <a:solidFill>
                  <a:srgbClr val="14213D"/>
                </a:solidFill>
                <a:latin typeface="Cambria Math" pitchFamily="34" charset="0"/>
                <a:ea typeface="Cambria Math" pitchFamily="34" charset="-122"/>
                <a:cs typeface="Cambria Math" pitchFamily="34" charset="-120"/>
              </a:rPr>
              <a:t>)</a:t>
            </a:r>
            <a:endParaRPr lang="en-US" sz="1300" dirty="0"/>
          </a:p>
        </p:txBody>
      </p:sp>
      <p:sp>
        <p:nvSpPr>
          <p:cNvPr id="14" name="Shape 11"/>
          <p:cNvSpPr/>
          <p:nvPr/>
        </p:nvSpPr>
        <p:spPr>
          <a:xfrm>
            <a:off x="5989320" y="2487168"/>
            <a:ext cx="173736" cy="914"/>
          </a:xfrm>
          <a:prstGeom prst="line">
            <a:avLst/>
          </a:prstGeom>
          <a:noFill/>
          <a:ln w="19050">
            <a:solidFill>
              <a:srgbClr val="5B6676"/>
            </a:solidFill>
            <a:prstDash val="solid"/>
            <a:tailEnd type="triangle"/>
          </a:ln>
        </p:spPr>
      </p:sp>
      <p:sp>
        <p:nvSpPr>
          <p:cNvPr id="15" name="Shape 12"/>
          <p:cNvSpPr/>
          <p:nvPr/>
        </p:nvSpPr>
        <p:spPr>
          <a:xfrm>
            <a:off x="6181344" y="1508760"/>
            <a:ext cx="2606040" cy="1965960"/>
          </a:xfrm>
          <a:prstGeom prst="roundRect">
            <a:avLst>
              <a:gd name="adj" fmla="val 3721"/>
            </a:avLst>
          </a:prstGeom>
          <a:solidFill>
            <a:srgbClr val="F2F4F7"/>
          </a:solidFill>
          <a:ln w="9525">
            <a:solidFill>
              <a:srgbClr val="F2F4F7"/>
            </a:solidFill>
            <a:prstDash val="solid"/>
          </a:ln>
        </p:spPr>
      </p:sp>
      <p:sp>
        <p:nvSpPr>
          <p:cNvPr id="16" name="Text 13"/>
          <p:cNvSpPr txBox="1"/>
          <p:nvPr/>
        </p:nvSpPr>
        <p:spPr>
          <a:xfrm>
            <a:off x="6318504" y="1600200"/>
            <a:ext cx="233172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3 · Confidence width</a:t>
            </a:r>
            <a:endParaRPr lang="en-US" sz="1400" dirty="0"/>
          </a:p>
        </p:txBody>
      </p:sp>
      <p:sp>
        <p:nvSpPr>
          <p:cNvPr id="17" name="Text 14"/>
          <p:cNvSpPr txBox="1"/>
          <p:nvPr/>
        </p:nvSpPr>
        <p:spPr>
          <a:xfrm>
            <a:off x="6318504" y="2011680"/>
            <a:ext cx="2331720" cy="1371600"/>
          </a:xfrm>
          <a:prstGeom prst="rect">
            <a:avLst/>
          </a:prstGeom>
          <a:noFill/>
          <a:ln/>
        </p:spPr>
        <p:txBody>
          <a:bodyPr wrap="square" lIns="0" tIns="0" rIns="0" bIns="0" rtlCol="0" anchor="t"/>
          <a:lstStyle/>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|x·(θ̃ − θ*)| ≤ ‖x‖</a:t>
            </a:r>
            <a:pPr indent="0" marL="0">
              <a:buNone/>
            </a:pPr>
            <a:r>
              <a:rPr lang="en-US" sz="1300" baseline="-40000" dirty="0">
                <a:solidFill>
                  <a:srgbClr val="14213D"/>
                </a:solidFill>
                <a:latin typeface="Cambria Math" pitchFamily="34" charset="0"/>
                <a:ea typeface="Cambria Math" pitchFamily="34" charset="-122"/>
                <a:cs typeface="Cambria Math" pitchFamily="34" charset="-120"/>
              </a:rPr>
              <a:t>A⁻¹</a:t>
            </a:r>
            <a:pPr indent="0" marL="0">
              <a:buNone/>
            </a:pPr>
            <a:r>
              <a:rPr lang="en-US" sz="1300" dirty="0">
                <a:solidFill>
                  <a:srgbClr val="14213D"/>
                </a:solidFill>
                <a:latin typeface="Cambria Math" pitchFamily="34" charset="0"/>
                <a:ea typeface="Cambria Math" pitchFamily="34" charset="-122"/>
                <a:cs typeface="Cambria Math" pitchFamily="34" charset="-120"/>
              </a:rPr>
              <a:t> ×</a:t>
            </a:r>
            <a:endParaRPr lang="en-US" sz="1300" dirty="0"/>
          </a:p>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 R</a:t>
            </a:r>
            <a:pPr indent="0" marL="0">
              <a:buNone/>
            </a:pPr>
            <a:r>
              <a:rPr lang="en-US" sz="1300" dirty="0">
                <a:solidFill>
                  <a:srgbClr val="14213D"/>
                </a:solidFill>
                <a:latin typeface="Cambria Math" pitchFamily="34" charset="0"/>
                <a:ea typeface="Cambria Math" pitchFamily="34" charset="-122"/>
                <a:cs typeface="Cambria Math" pitchFamily="34" charset="-120"/>
              </a:rPr>
              <a:t>√</a:t>
            </a:r>
            <a:pPr indent="0" marL="0">
              <a:buNone/>
            </a:pPr>
            <a:r>
              <a:rPr lang="en-US" sz="1300" dirty="0">
                <a:solidFill>
                  <a:srgbClr val="14213D"/>
                </a:solidFill>
                <a:latin typeface="Cambria Math" pitchFamily="34" charset="0"/>
                <a:ea typeface="Cambria Math" pitchFamily="34" charset="-122"/>
                <a:cs typeface="Cambria Math" pitchFamily="34" charset="-120"/>
              </a:rPr>
              <a:t>(2 log(…/δ))</a:t>
            </a:r>
            <a:endParaRPr lang="en-US" sz="1300" dirty="0"/>
          </a:p>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  + </a:t>
            </a:r>
            <a:pPr indent="0" marL="0">
              <a:buNone/>
            </a:pPr>
            <a:r>
              <a:rPr lang="en-US" sz="1300" dirty="0">
                <a:solidFill>
                  <a:srgbClr val="14213D"/>
                </a:solidFill>
                <a:latin typeface="Cambria Math" pitchFamily="34" charset="0"/>
                <a:ea typeface="Cambria Math" pitchFamily="34" charset="-122"/>
                <a:cs typeface="Cambria Math" pitchFamily="34" charset="-120"/>
              </a:rPr>
              <a:t>√</a:t>
            </a:r>
            <a:pPr indent="0" marL="0">
              <a:buNone/>
            </a:pPr>
            <a:r>
              <a:rPr lang="en-US" sz="1300" dirty="0">
                <a:solidFill>
                  <a:srgbClr val="14213D"/>
                </a:solidFill>
                <a:latin typeface="Cambria Math" pitchFamily="34" charset="0"/>
                <a:ea typeface="Cambria Math" pitchFamily="34" charset="-122"/>
                <a:cs typeface="Cambria Math" pitchFamily="34" charset="-120"/>
              </a:rPr>
              <a:t>λ‖θ* − θ</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pref</a:t>
            </a:r>
            <a:pPr indent="0" marL="0">
              <a:buNone/>
            </a:pPr>
            <a:r>
              <a:rPr lang="en-US" sz="1300" dirty="0">
                <a:solidFill>
                  <a:srgbClr val="14213D"/>
                </a:solidFill>
                <a:latin typeface="Cambria Math" pitchFamily="34" charset="0"/>
                <a:ea typeface="Cambria Math" pitchFamily="34" charset="-122"/>
                <a:cs typeface="Cambria Math" pitchFamily="34" charset="-120"/>
              </a:rPr>
              <a:t>‖ )</a:t>
            </a:r>
            <a:endParaRPr lang="en-US" sz="1300" dirty="0"/>
          </a:p>
        </p:txBody>
      </p:sp>
      <p:sp>
        <p:nvSpPr>
          <p:cNvPr id="18" name="Shape 15"/>
          <p:cNvSpPr/>
          <p:nvPr/>
        </p:nvSpPr>
        <p:spPr>
          <a:xfrm>
            <a:off x="8805672" y="2487168"/>
            <a:ext cx="173736" cy="914"/>
          </a:xfrm>
          <a:prstGeom prst="line">
            <a:avLst/>
          </a:prstGeom>
          <a:noFill/>
          <a:ln w="19050">
            <a:solidFill>
              <a:srgbClr val="5B6676"/>
            </a:solidFill>
            <a:prstDash val="solid"/>
            <a:tailEnd type="triangle"/>
          </a:ln>
        </p:spPr>
      </p:sp>
      <p:sp>
        <p:nvSpPr>
          <p:cNvPr id="19" name="Shape 16"/>
          <p:cNvSpPr/>
          <p:nvPr/>
        </p:nvSpPr>
        <p:spPr>
          <a:xfrm>
            <a:off x="8997696" y="1508760"/>
            <a:ext cx="2606040" cy="1965960"/>
          </a:xfrm>
          <a:prstGeom prst="roundRect">
            <a:avLst>
              <a:gd name="adj" fmla="val 3721"/>
            </a:avLst>
          </a:prstGeom>
          <a:solidFill>
            <a:srgbClr val="F2F4F7"/>
          </a:solidFill>
          <a:ln w="9525">
            <a:solidFill>
              <a:srgbClr val="F2F4F7"/>
            </a:solidFill>
            <a:prstDash val="solid"/>
          </a:ln>
        </p:spPr>
      </p:sp>
      <p:sp>
        <p:nvSpPr>
          <p:cNvPr id="20" name="Text 17"/>
          <p:cNvSpPr txBox="1"/>
          <p:nvPr/>
        </p:nvSpPr>
        <p:spPr>
          <a:xfrm>
            <a:off x="9134856" y="1600200"/>
            <a:ext cx="233172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4 · OFUL argument</a:t>
            </a:r>
            <a:endParaRPr lang="en-US" sz="1400" dirty="0"/>
          </a:p>
        </p:txBody>
      </p:sp>
      <p:sp>
        <p:nvSpPr>
          <p:cNvPr id="21" name="Text 18"/>
          <p:cNvSpPr txBox="1"/>
          <p:nvPr/>
        </p:nvSpPr>
        <p:spPr>
          <a:xfrm>
            <a:off x="9134856" y="2011680"/>
            <a:ext cx="2331720" cy="1371600"/>
          </a:xfrm>
          <a:prstGeom prst="rect">
            <a:avLst/>
          </a:prstGeom>
          <a:noFill/>
          <a:ln/>
        </p:spPr>
        <p:txBody>
          <a:bodyPr wrap="square" lIns="0" tIns="0" rIns="0" bIns="0" rtlCol="0" anchor="t"/>
          <a:lstStyle/>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same proof as OFUL</a:t>
            </a:r>
            <a:endParaRPr lang="en-US" sz="1300" dirty="0"/>
          </a:p>
          <a:p>
            <a:pPr indent="0" marL="0">
              <a:spcAft>
                <a:spcPts val="400"/>
              </a:spcAft>
              <a:buNone/>
            </a:pPr>
            <a:r>
              <a:rPr lang="en-US" sz="1300" dirty="0">
                <a:solidFill>
                  <a:srgbClr val="14213D"/>
                </a:solidFill>
                <a:latin typeface="Cambria Math" pitchFamily="34" charset="0"/>
                <a:ea typeface="Cambria Math" pitchFamily="34" charset="-122"/>
                <a:cs typeface="Cambria Math" pitchFamily="34" charset="-120"/>
              </a:rPr>
              <a:t>with S′ in place of S ⇒ U</a:t>
            </a:r>
            <a:pPr indent="0" marL="0">
              <a:buNone/>
            </a:pPr>
            <a:r>
              <a:rPr lang="en-US" sz="1300" baseline="-40000" dirty="0">
                <a:solidFill>
                  <a:srgbClr val="14213D"/>
                </a:solidFill>
                <a:latin typeface="Cambria Math" pitchFamily="34" charset="0"/>
                <a:ea typeface="Cambria Math" pitchFamily="34" charset="-122"/>
                <a:cs typeface="Cambria Math" pitchFamily="34" charset="-120"/>
              </a:rPr>
              <a:t>T</a:t>
            </a:r>
            <a:pPr indent="0" marL="0">
              <a:buNone/>
            </a:pPr>
            <a:r>
              <a:rPr lang="en-US" sz="1300" dirty="0">
                <a:solidFill>
                  <a:srgbClr val="14213D"/>
                </a:solidFill>
                <a:latin typeface="Cambria Math" pitchFamily="34" charset="0"/>
                <a:ea typeface="Cambria Math" pitchFamily="34" charset="-122"/>
                <a:cs typeface="Cambria Math" pitchFamily="34" charset="-120"/>
              </a:rPr>
              <a:t>(S′)</a:t>
            </a:r>
            <a:endParaRPr lang="en-US" sz="1300" dirty="0"/>
          </a:p>
        </p:txBody>
      </p:sp>
      <p:sp>
        <p:nvSpPr>
          <p:cNvPr id="22" name="Shape 19"/>
          <p:cNvSpPr/>
          <p:nvPr/>
        </p:nvSpPr>
        <p:spPr>
          <a:xfrm>
            <a:off x="548640" y="3703320"/>
            <a:ext cx="6675120" cy="2240280"/>
          </a:xfrm>
          <a:prstGeom prst="roundRect">
            <a:avLst>
              <a:gd name="adj" fmla="val 3265"/>
            </a:avLst>
          </a:prstGeom>
          <a:solidFill>
            <a:srgbClr val="FFFFFF"/>
          </a:solidFill>
          <a:ln w="15875">
            <a:solidFill>
              <a:srgbClr val="C2452D"/>
            </a:solidFill>
            <a:prstDash val="solid"/>
          </a:ln>
        </p:spPr>
      </p:sp>
      <p:sp>
        <p:nvSpPr>
          <p:cNvPr id="23" name="Text 20"/>
          <p:cNvSpPr txBox="1"/>
          <p:nvPr/>
        </p:nvSpPr>
        <p:spPr>
          <a:xfrm>
            <a:off x="731520" y="3794760"/>
            <a:ext cx="6309360" cy="320040"/>
          </a:xfrm>
          <a:prstGeom prst="rect">
            <a:avLst/>
          </a:prstGeom>
          <a:noFill/>
          <a:ln/>
        </p:spPr>
        <p:txBody>
          <a:bodyPr wrap="square" lIns="0" tIns="0" rIns="0" bIns="0" rtlCol="0" anchor="t"/>
          <a:lstStyle/>
          <a:p>
            <a:pPr indent="0" marL="0">
              <a:buNone/>
            </a:pPr>
            <a:r>
              <a:rPr lang="en-US" sz="1500" b="1" dirty="0">
                <a:solidFill>
                  <a:srgbClr val="C2452D"/>
                </a:solidFill>
                <a:latin typeface="Calibri" pitchFamily="34" charset="0"/>
                <a:ea typeface="Calibri" pitchFamily="34" charset="-122"/>
                <a:cs typeface="Calibri" pitchFamily="34" charset="-120"/>
              </a:rPr>
              <a:t>Two printing slips (final ACL PDF)</a:t>
            </a:r>
            <a:endParaRPr lang="en-US" sz="1500" dirty="0"/>
          </a:p>
        </p:txBody>
      </p:sp>
      <p:sp>
        <p:nvSpPr>
          <p:cNvPr id="24" name="Text 21"/>
          <p:cNvSpPr txBox="1"/>
          <p:nvPr/>
        </p:nvSpPr>
        <p:spPr>
          <a:xfrm>
            <a:off x="731520" y="4187952"/>
            <a:ext cx="6309360" cy="1691640"/>
          </a:xfrm>
          <a:prstGeom prst="rect">
            <a:avLst/>
          </a:prstGeom>
          <a:noFill/>
          <a:ln/>
        </p:spPr>
        <p:txBody>
          <a:bodyPr wrap="square" lIns="0" tIns="0" rIns="0" bIns="0" rtlCol="0" anchor="t"/>
          <a:lstStyle/>
          <a:p>
            <a:pPr indent="0" marL="0">
              <a:spcAft>
                <a:spcPts val="800"/>
              </a:spcAft>
              <a:buNone/>
            </a:pPr>
            <a:r>
              <a:rPr lang="en-US" sz="1350" b="1" dirty="0">
                <a:solidFill>
                  <a:srgbClr val="1F2933"/>
                </a:solidFill>
                <a:latin typeface="Calibri" pitchFamily="34" charset="0"/>
                <a:ea typeface="Calibri" pitchFamily="34" charset="-122"/>
                <a:cs typeface="Calibri" pitchFamily="34" charset="-120"/>
              </a:rPr>
              <a:t>p. 23945  </a:t>
            </a:r>
            <a:pPr indent="0" marL="0">
              <a:buNone/>
            </a:pPr>
            <a:r>
              <a:rPr lang="en-US" sz="1350" dirty="0">
                <a:solidFill>
                  <a:srgbClr val="1F2933"/>
                </a:solidFill>
                <a:latin typeface="Calibri" pitchFamily="34" charset="0"/>
                <a:ea typeface="Calibri" pitchFamily="34" charset="-122"/>
                <a:cs typeface="Calibri" pitchFamily="34" charset="-120"/>
              </a:rPr>
              <a:t>b</a:t>
            </a:r>
            <a:pPr indent="0" marL="0">
              <a:buNone/>
            </a:pPr>
            <a:r>
              <a:rPr lang="en-US" sz="1350" baseline="-40000" dirty="0">
                <a:solidFill>
                  <a:srgbClr val="1F2933"/>
                </a:solidFill>
                <a:latin typeface="Calibri" pitchFamily="34" charset="0"/>
                <a:ea typeface="Calibri" pitchFamily="34" charset="-122"/>
                <a:cs typeface="Calibri" pitchFamily="34" charset="-120"/>
              </a:rPr>
              <a:t>t</a:t>
            </a:r>
            <a:pPr indent="0" marL="0">
              <a:buNone/>
            </a:pPr>
            <a:r>
              <a:rPr lang="en-US" sz="1350" dirty="0">
                <a:solidFill>
                  <a:srgbClr val="1F2933"/>
                </a:solidFill>
                <a:latin typeface="Calibri" pitchFamily="34" charset="0"/>
                <a:ea typeface="Calibri" pitchFamily="34" charset="-122"/>
                <a:cs typeface="Calibri" pitchFamily="34" charset="-120"/>
              </a:rPr>
              <a:t> printed as </a:t>
            </a:r>
            <a:pPr indent="0" marL="0">
              <a:buNone/>
            </a:pPr>
            <a:r>
              <a:rPr lang="en-US" sz="1350" dirty="0">
                <a:solidFill>
                  <a:srgbClr val="1F2933"/>
                </a:solidFill>
                <a:latin typeface="Cambria Math" pitchFamily="34" charset="0"/>
                <a:ea typeface="Cambria Math" pitchFamily="34" charset="-122"/>
                <a:cs typeface="Cambria Math" pitchFamily="34" charset="-120"/>
              </a:rPr>
              <a:t>λθ</a:t>
            </a:r>
            <a:pPr indent="0" marL="0">
              <a:buNone/>
            </a:pPr>
            <a:r>
              <a:rPr lang="en-US" sz="1350" baseline="30000" dirty="0">
                <a:solidFill>
                  <a:srgbClr val="1F2933"/>
                </a:solidFill>
                <a:latin typeface="Cambria Math" pitchFamily="34" charset="0"/>
                <a:ea typeface="Cambria Math" pitchFamily="34" charset="-122"/>
                <a:cs typeface="Cambria Math" pitchFamily="34" charset="-120"/>
              </a:rPr>
              <a:t>pref</a:t>
            </a:r>
            <a:pPr indent="0" marL="0">
              <a:buNone/>
            </a:pPr>
            <a:r>
              <a:rPr lang="en-US" sz="1350" dirty="0">
                <a:solidFill>
                  <a:srgbClr val="1F2933"/>
                </a:solidFill>
                <a:latin typeface="Cambria Math" pitchFamily="34" charset="0"/>
                <a:ea typeface="Cambria Math" pitchFamily="34" charset="-122"/>
                <a:cs typeface="Cambria Math" pitchFamily="34" charset="-120"/>
              </a:rPr>
              <a:t> + Σ</a:t>
            </a:r>
            <a:pPr indent="0" marL="0">
              <a:buNone/>
            </a:pPr>
            <a:r>
              <a:rPr lang="en-US" sz="1350" baseline="-40000" dirty="0">
                <a:solidFill>
                  <a:srgbClr val="1F2933"/>
                </a:solidFill>
                <a:latin typeface="Cambria Math" pitchFamily="34" charset="0"/>
                <a:ea typeface="Cambria Math" pitchFamily="34" charset="-122"/>
                <a:cs typeface="Cambria Math" pitchFamily="34" charset="-120"/>
              </a:rPr>
              <a:t>s</a:t>
            </a:r>
            <a:pPr indent="0" marL="0">
              <a:buNone/>
            </a:pPr>
            <a:r>
              <a:rPr lang="en-US" sz="1350" dirty="0">
                <a:solidFill>
                  <a:srgbClr val="1F2933"/>
                </a:solidFill>
                <a:latin typeface="Cambria Math" pitchFamily="34" charset="0"/>
                <a:ea typeface="Cambria Math" pitchFamily="34" charset="-122"/>
                <a:cs typeface="Cambria Math" pitchFamily="34" charset="-120"/>
              </a:rPr>
              <a:t> x</a:t>
            </a:r>
            <a:pPr indent="0" marL="0">
              <a:buNone/>
            </a:pPr>
            <a:r>
              <a:rPr lang="en-US" sz="1350" baseline="-40000" dirty="0">
                <a:solidFill>
                  <a:srgbClr val="1F2933"/>
                </a:solidFill>
                <a:latin typeface="Cambria Math" pitchFamily="34" charset="0"/>
                <a:ea typeface="Cambria Math" pitchFamily="34" charset="-122"/>
                <a:cs typeface="Cambria Math" pitchFamily="34" charset="-120"/>
              </a:rPr>
              <a:t>s</a:t>
            </a:r>
            <a:pPr indent="0" marL="0">
              <a:buNone/>
            </a:pPr>
            <a:r>
              <a:rPr lang="en-US" sz="1350" dirty="0">
                <a:solidFill>
                  <a:srgbClr val="1F2933"/>
                </a:solidFill>
                <a:latin typeface="Calibri" pitchFamily="34" charset="0"/>
                <a:ea typeface="Calibri" pitchFamily="34" charset="-122"/>
                <a:cs typeface="Calibri" pitchFamily="34" charset="-120"/>
              </a:rPr>
              <a:t> — the reward </a:t>
            </a:r>
            <a:pPr indent="0" marL="0">
              <a:buNone/>
            </a:pPr>
            <a:r>
              <a:rPr lang="en-US" sz="1350" dirty="0">
                <a:solidFill>
                  <a:srgbClr val="1F2933"/>
                </a:solidFill>
                <a:latin typeface="Cambria Math" pitchFamily="34" charset="0"/>
                <a:ea typeface="Cambria Math" pitchFamily="34" charset="-122"/>
                <a:cs typeface="Cambria Math" pitchFamily="34" charset="-120"/>
              </a:rPr>
              <a:t>r</a:t>
            </a:r>
            <a:pPr indent="0" marL="0">
              <a:buNone/>
            </a:pPr>
            <a:r>
              <a:rPr lang="en-US" sz="1350" baseline="-40000" dirty="0">
                <a:solidFill>
                  <a:srgbClr val="1F2933"/>
                </a:solidFill>
                <a:latin typeface="Cambria Math" pitchFamily="34" charset="0"/>
                <a:ea typeface="Cambria Math" pitchFamily="34" charset="-122"/>
                <a:cs typeface="Cambria Math" pitchFamily="34" charset="-120"/>
              </a:rPr>
              <a:t>s</a:t>
            </a:r>
            <a:pPr indent="0" marL="0">
              <a:buNone/>
            </a:pPr>
            <a:r>
              <a:rPr lang="en-US" sz="1350" dirty="0">
                <a:solidFill>
                  <a:srgbClr val="1F2933"/>
                </a:solidFill>
                <a:latin typeface="Calibri" pitchFamily="34" charset="0"/>
                <a:ea typeface="Calibri" pitchFamily="34" charset="-122"/>
                <a:cs typeface="Calibri" pitchFamily="34" charset="-120"/>
              </a:rPr>
              <a:t> is missing.</a:t>
            </a:r>
            <a:endParaRPr lang="en-US" sz="1350" dirty="0"/>
          </a:p>
          <a:p>
            <a:pPr indent="0" marL="0">
              <a:spcAft>
                <a:spcPts val="800"/>
              </a:spcAft>
              <a:buNone/>
            </a:pPr>
            <a:r>
              <a:rPr lang="en-US" sz="1350" b="1" dirty="0">
                <a:solidFill>
                  <a:srgbClr val="1F2933"/>
                </a:solidFill>
                <a:latin typeface="Calibri" pitchFamily="34" charset="0"/>
                <a:ea typeface="Calibri" pitchFamily="34" charset="-122"/>
                <a:cs typeface="Calibri" pitchFamily="34" charset="-120"/>
              </a:rPr>
              <a:t>p. 23946  </a:t>
            </a:r>
            <a:pPr indent="0" marL="0">
              <a:buNone/>
            </a:pPr>
            <a:r>
              <a:rPr lang="en-US" sz="1350" dirty="0">
                <a:solidFill>
                  <a:srgbClr val="1F2933"/>
                </a:solidFill>
                <a:latin typeface="Calibri" pitchFamily="34" charset="0"/>
                <a:ea typeface="Calibri" pitchFamily="34" charset="-122"/>
                <a:cs typeface="Calibri" pitchFamily="34" charset="-120"/>
              </a:rPr>
              <a:t>bias printed as </a:t>
            </a:r>
            <a:pPr indent="0" marL="0">
              <a:buNone/>
            </a:pPr>
            <a:r>
              <a:rPr lang="en-US" sz="1350" dirty="0">
                <a:solidFill>
                  <a:srgbClr val="1F2933"/>
                </a:solidFill>
                <a:latin typeface="Cambria Math" pitchFamily="34" charset="0"/>
                <a:ea typeface="Cambria Math" pitchFamily="34" charset="-122"/>
                <a:cs typeface="Cambria Math" pitchFamily="34" charset="-120"/>
              </a:rPr>
              <a:t>λ(X</a:t>
            </a:r>
            <a:pPr indent="0" marL="0">
              <a:buNone/>
            </a:pPr>
            <a:r>
              <a:rPr lang="en-US" sz="1350" baseline="30000" dirty="0">
                <a:solidFill>
                  <a:srgbClr val="1F2933"/>
                </a:solidFill>
                <a:latin typeface="Cambria Math" pitchFamily="34" charset="0"/>
                <a:ea typeface="Cambria Math" pitchFamily="34" charset="-122"/>
                <a:cs typeface="Cambria Math" pitchFamily="34" charset="-120"/>
              </a:rPr>
              <a:t>⊤</a:t>
            </a:r>
            <a:pPr indent="0" marL="0">
              <a:buNone/>
            </a:pPr>
            <a:r>
              <a:rPr lang="en-US" sz="1350" dirty="0">
                <a:solidFill>
                  <a:srgbClr val="1F2933"/>
                </a:solidFill>
                <a:latin typeface="Cambria Math" pitchFamily="34" charset="0"/>
                <a:ea typeface="Cambria Math" pitchFamily="34" charset="-122"/>
                <a:cs typeface="Cambria Math" pitchFamily="34" charset="-120"/>
              </a:rPr>
              <a:t>X + λI)(θ* − θ</a:t>
            </a:r>
            <a:pPr indent="0" marL="0">
              <a:buNone/>
            </a:pPr>
            <a:r>
              <a:rPr lang="en-US" sz="1350" baseline="30000" dirty="0">
                <a:solidFill>
                  <a:srgbClr val="1F2933"/>
                </a:solidFill>
                <a:latin typeface="Cambria Math" pitchFamily="34" charset="0"/>
                <a:ea typeface="Cambria Math" pitchFamily="34" charset="-122"/>
                <a:cs typeface="Cambria Math" pitchFamily="34" charset="-120"/>
              </a:rPr>
              <a:t>pref</a:t>
            </a:r>
            <a:pPr indent="0" marL="0">
              <a:buNone/>
            </a:pPr>
            <a:r>
              <a:rPr lang="en-US" sz="1350" dirty="0">
                <a:solidFill>
                  <a:srgbClr val="1F2933"/>
                </a:solidFill>
                <a:latin typeface="Cambria Math" pitchFamily="34" charset="0"/>
                <a:ea typeface="Cambria Math" pitchFamily="34" charset="-122"/>
                <a:cs typeface="Cambria Math" pitchFamily="34" charset="-120"/>
              </a:rPr>
              <a:t>)</a:t>
            </a:r>
            <a:pPr indent="0" marL="0">
              <a:buNone/>
            </a:pPr>
            <a:r>
              <a:rPr lang="en-US" sz="1350" dirty="0">
                <a:solidFill>
                  <a:srgbClr val="1F2933"/>
                </a:solidFill>
                <a:latin typeface="Calibri" pitchFamily="34" charset="0"/>
                <a:ea typeface="Calibri" pitchFamily="34" charset="-122"/>
                <a:cs typeface="Calibri" pitchFamily="34" charset="-120"/>
              </a:rPr>
              <a:t> — the inverse is missing.</a:t>
            </a:r>
            <a:endParaRPr lang="en-US" sz="1350" dirty="0"/>
          </a:p>
          <a:p>
            <a:pPr indent="0" marL="0">
              <a:spcAft>
                <a:spcPts val="800"/>
              </a:spcAft>
              <a:buNone/>
            </a:pPr>
            <a:r>
              <a:rPr lang="en-US" sz="1350" dirty="0">
                <a:solidFill>
                  <a:srgbClr val="5B6676"/>
                </a:solidFill>
                <a:latin typeface="Calibri" pitchFamily="34" charset="0"/>
                <a:ea typeface="Calibri" pitchFamily="34" charset="-122"/>
                <a:cs typeface="Calibri" pitchFamily="34" charset="-120"/>
              </a:rPr>
              <a:t>With both restored, the ridge identity in step 2 holds. These are typographical slips, not a broken theorem.</a:t>
            </a:r>
            <a:endParaRPr lang="en-US" sz="1350" dirty="0"/>
          </a:p>
        </p:txBody>
      </p:sp>
      <p:sp>
        <p:nvSpPr>
          <p:cNvPr id="25" name="Shape 22"/>
          <p:cNvSpPr/>
          <p:nvPr/>
        </p:nvSpPr>
        <p:spPr>
          <a:xfrm>
            <a:off x="7406640" y="3703320"/>
            <a:ext cx="4233672" cy="2240280"/>
          </a:xfrm>
          <a:prstGeom prst="roundRect">
            <a:avLst>
              <a:gd name="adj" fmla="val 3265"/>
            </a:avLst>
          </a:prstGeom>
          <a:solidFill>
            <a:srgbClr val="14213D"/>
          </a:solidFill>
          <a:ln w="9525">
            <a:solidFill>
              <a:srgbClr val="14213D"/>
            </a:solidFill>
            <a:prstDash val="solid"/>
          </a:ln>
        </p:spPr>
      </p:sp>
      <p:sp>
        <p:nvSpPr>
          <p:cNvPr id="26" name="Text 23"/>
          <p:cNvSpPr txBox="1"/>
          <p:nvPr/>
        </p:nvSpPr>
        <p:spPr>
          <a:xfrm>
            <a:off x="7589520" y="3794760"/>
            <a:ext cx="3840480" cy="320040"/>
          </a:xfrm>
          <a:prstGeom prst="rect">
            <a:avLst/>
          </a:prstGeom>
          <a:noFill/>
          <a:ln/>
        </p:spPr>
        <p:txBody>
          <a:bodyPr wrap="square" lIns="0" tIns="0" rIns="0" bIns="0" rtlCol="0" anchor="t"/>
          <a:lstStyle/>
          <a:p>
            <a:pPr indent="0" marL="0">
              <a:buNone/>
            </a:pPr>
            <a:r>
              <a:rPr lang="en-US" sz="1500" b="1" dirty="0">
                <a:solidFill>
                  <a:srgbClr val="6CC3BA"/>
                </a:solidFill>
                <a:latin typeface="Calibri" pitchFamily="34" charset="0"/>
                <a:ea typeface="Calibri" pitchFamily="34" charset="-122"/>
                <a:cs typeface="Calibri" pitchFamily="34" charset="-120"/>
              </a:rPr>
              <a:t>Not covered by the proof</a:t>
            </a:r>
            <a:endParaRPr lang="en-US" sz="1500" dirty="0"/>
          </a:p>
        </p:txBody>
      </p:sp>
      <p:sp>
        <p:nvSpPr>
          <p:cNvPr id="27" name="Text 24"/>
          <p:cNvSpPr txBox="1"/>
          <p:nvPr/>
        </p:nvSpPr>
        <p:spPr>
          <a:xfrm>
            <a:off x="7589520" y="4206240"/>
            <a:ext cx="3886200" cy="16459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Cosine normalization used by PILOT</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λ</a:t>
            </a:r>
            <a:pPr indent="0" marL="0">
              <a:buNone/>
            </a:pPr>
            <a:r>
              <a:rPr lang="en-US" sz="1350" baseline="-40000" dirty="0">
                <a:solidFill>
                  <a:srgbClr val="FFFFFF"/>
                </a:solidFill>
                <a:latin typeface="Calibri" pitchFamily="34" charset="0"/>
                <a:ea typeface="Calibri" pitchFamily="34" charset="-122"/>
                <a:cs typeface="Calibri" pitchFamily="34" charset="-120"/>
              </a:rPr>
              <a:t>a</a:t>
            </a:r>
            <a:pPr indent="0" marL="0">
              <a:buNone/>
            </a:pPr>
            <a:r>
              <a:rPr lang="en-US" sz="1350" dirty="0">
                <a:solidFill>
                  <a:srgbClr val="FFFFFF"/>
                </a:solidFill>
                <a:latin typeface="Calibri" pitchFamily="34" charset="0"/>
                <a:ea typeface="Calibri" pitchFamily="34" charset="-122"/>
                <a:cs typeface="Calibri" pitchFamily="34" charset="-120"/>
              </a:rPr>
              <a:t> = 1/accuracy (accuracy is not a distance to θ*)</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Cost policy, bins and rollover</a:t>
            </a:r>
            <a:endParaRPr lang="en-US" sz="13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METHOD · LAYER 5 OF 5 · COMPLEXITY</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Complexity against the predecessors</a:t>
            </a:r>
            <a:endParaRPr lang="en-US" sz="3000" dirty="0"/>
          </a:p>
        </p:txBody>
      </p:sp>
      <p:sp>
        <p:nvSpPr>
          <p:cNvPr id="5" name="Text 3"/>
          <p:cNvSpPr txBox="1"/>
          <p:nvPr/>
        </p:nvSpPr>
        <p:spPr>
          <a:xfrm>
            <a:off x="548640" y="6129909"/>
            <a:ext cx="10561320" cy="54521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1003.0146" history="1" highlightClick="0" endSnd="0">
                  <a:extLst>
                    <a:ext uri="{A12FA001-AC4F-418D-AE19-62706E023703}">
                      <ahyp:hlinkClr xmlns:ahyp="http://schemas.microsoft.com/office/drawing/2018/hyperlinkcolor" val="tx"/>
                    </a:ext>
                  </a:extLst>
                </a:hlinkClick>
              </a:rPr>
              <a:t>[2] L. Li, W. Chu, J. Langford, and R. E. Schapire, “A contextual-bandit approach to personalized news article recommendation,” in Proc. 19th Int. Conf. World Wide Web, 2010, pp. 661–670.</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openreview.net/pdf?id=02f3mUtqnM" history="1" highlightClick="0" endSnd="0">
                  <a:extLst>
                    <a:ext uri="{A12FA001-AC4F-418D-AE19-62706E023703}">
                      <ahyp:hlinkClr xmlns:ahyp="http://schemas.microsoft.com/office/drawing/2018/hyperlinkcolor" val="tx"/>
                    </a:ext>
                  </a:extLst>
                </a:hlinkClick>
              </a:rPr>
              <a:t>[3] D. Ding et al., “Hybrid LLM: Cost-efficient and quality-aware query routing,” in Proc. Int. Conf. Learn. Represent. (ICLR), 2024.</a:t>
            </a:r>
            <a:endParaRPr lang="en-US" sz="950" dirty="0"/>
          </a:p>
        </p:txBody>
      </p:sp>
      <p:graphicFrame>
        <p:nvGraphicFramePr>
          <p:cNvPr id="13" name="complexity-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828800"/>
                <a:gridCol w="2606040"/>
                <a:gridCol w="2514600"/>
                <a:gridCol w="1856232"/>
                <a:gridCol w="22860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Supervision needed</a:t>
                      </a:r>
                      <a:endParaRPr lang="en-US" sz="13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Routing time / query</a:t>
                      </a:r>
                      <a:endParaRPr lang="en-US" sz="13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Learning guarantee</a:t>
                      </a:r>
                      <a:endParaRPr lang="en-US" sz="13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r>
              <a:tr h="777240">
                <a:tc>
                  <a:txBody>
                    <a:bodyPr/>
                    <a:lstStyle/>
                    <a:p>
                      <a:pPr indent="0" marL="0">
                        <a:buNone/>
                      </a:pPr>
                      <a:r>
                        <a:rPr lang="en-US" sz="1250" b="1" dirty="0">
                          <a:solidFill>
                            <a:srgbClr val="3D5A80"/>
                          </a:solidFill>
                          <a:latin typeface="Calibri" pitchFamily="34" charset="0"/>
                          <a:ea typeface="Calibri" pitchFamily="34" charset="-122"/>
                          <a:cs typeface="Calibri" pitchFamily="34" charset="-120"/>
                        </a:rPr>
                        <a:t>LinUCB [2]</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Reward of the chosen arm</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2</a:t>
                      </a:r>
                      <a:pPr indent="0" marL="0">
                        <a:buNone/>
                      </a:pPr>
                      <a:r>
                        <a:rPr lang="en-US" sz="1300" dirty="0">
                          <a:solidFill>
                            <a:srgbClr val="14213D"/>
                          </a:solidFill>
                          <a:latin typeface="Cambria Math" pitchFamily="34" charset="0"/>
                          <a:ea typeface="Cambria Math" pitchFamily="34" charset="-122"/>
                          <a:cs typeface="Cambria Math" pitchFamily="34" charset="-120"/>
                        </a:rPr>
                        <a:t>) with kept inverses</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2</a:t>
                      </a:r>
                      <a:pPr indent="0" marL="0">
                        <a:buNone/>
                      </a:pPr>
                      <a:r>
                        <a:rPr lang="en-US" sz="1300" dirty="0">
                          <a:solidFill>
                            <a:srgbClr val="14213D"/>
                          </a:solidFill>
                          <a:latin typeface="Cambria Math" pitchFamily="34" charset="0"/>
                          <a:ea typeface="Cambria Math" pitchFamily="34" charset="-122"/>
                          <a:cs typeface="Cambria Math"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None for LinUCB itself. OFUL: ≈ d</a:t>
                      </a:r>
                      <a:pPr indent="0" marL="0">
                        <a:buNone/>
                      </a:pPr>
                      <a:r>
                        <a:rPr lang="en-US" sz="1250" dirty="0">
                          <a:solidFill>
                            <a:srgbClr val="1F2933"/>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T</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777240">
                <a:tc>
                  <a:txBody>
                    <a:bodyPr/>
                    <a:lstStyle/>
                    <a:p>
                      <a:pPr indent="0" marL="0">
                        <a:buNone/>
                      </a:pPr>
                      <a:r>
                        <a:rPr lang="en-US" sz="1250" b="1" dirty="0">
                          <a:solidFill>
                            <a:srgbClr val="3D5A80"/>
                          </a:solidFill>
                          <a:latin typeface="Calibri" pitchFamily="34" charset="0"/>
                          <a:ea typeface="Calibri" pitchFamily="34" charset="-122"/>
                          <a:cs typeface="Calibri" pitchFamily="34" charset="-120"/>
                        </a:rPr>
                        <a:t>Hybrid LLM [3]</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Both models’ answers + quality scores, every training query</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One transformer forward pass</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Classifier weights</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Supervised, no regret notion</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868680">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PILOT, paper [1]</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Chosen-arm reward + offline preference pairs</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embed + O(dD) + 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2</a:t>
                      </a:r>
                      <a:pPr indent="0" marL="0">
                        <a:buNone/>
                      </a:pPr>
                      <a:r>
                        <a:rPr lang="en-US" sz="1300" dirty="0">
                          <a:solidFill>
                            <a:srgbClr val="14213D"/>
                          </a:solidFill>
                          <a:latin typeface="Cambria Math" pitchFamily="34" charset="0"/>
                          <a:ea typeface="Cambria Math" pitchFamily="34" charset="-122"/>
                          <a:cs typeface="Cambria Math" pitchFamily="34" charset="-120"/>
                        </a:rPr>
                        <a:t>) + O(K)</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2</a:t>
                      </a:r>
                      <a:pPr indent="0" marL="0">
                        <a:buNone/>
                      </a:pPr>
                      <a:r>
                        <a:rPr lang="en-US" sz="1300" dirty="0">
                          <a:solidFill>
                            <a:srgbClr val="14213D"/>
                          </a:solidFill>
                          <a:latin typeface="Cambria Math" pitchFamily="34" charset="0"/>
                          <a:ea typeface="Cambria Math" pitchFamily="34" charset="-122"/>
                          <a:cs typeface="Cambria Math" pitchFamily="34" charset="-120"/>
                        </a:rPr>
                        <a:t> + dD)</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PI-OFUL: same d</a:t>
                      </a:r>
                      <a:pPr indent="0" marL="0">
                        <a:buNone/>
                      </a:pPr>
                      <a:r>
                        <a:rPr lang="en-US" sz="1250" dirty="0">
                          <a:solidFill>
                            <a:srgbClr val="1F2933"/>
                          </a:solidFill>
                          <a:latin typeface="Cambria Math" pitchFamily="34" charset="0"/>
                          <a:ea typeface="Cambria Math" pitchFamily="34" charset="-122"/>
                          <a:cs typeface="Cambria Math" pitchFamily="34" charset="-120"/>
                        </a:rPr>
                        <a:t>√</a:t>
                      </a:r>
                      <a:pPr indent="0" marL="0">
                        <a:buNone/>
                      </a:pPr>
                      <a:r>
                        <a:rPr lang="en-US" sz="1250" dirty="0">
                          <a:solidFill>
                            <a:srgbClr val="1F2933"/>
                          </a:solidFill>
                          <a:latin typeface="Calibri" pitchFamily="34" charset="0"/>
                          <a:ea typeface="Calibri" pitchFamily="34" charset="-122"/>
                          <a:cs typeface="Calibri" pitchFamily="34" charset="-120"/>
                        </a:rPr>
                        <a:t>T rate, smaller constant if prior is close</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685800">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Our implementation</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Same as paper</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3</a:t>
                      </a:r>
                      <a:pPr indent="0" marL="0">
                        <a:buNone/>
                      </a:pPr>
                      <a:r>
                        <a:rPr lang="en-US" sz="1300" dirty="0">
                          <a:solidFill>
                            <a:srgbClr val="14213D"/>
                          </a:solidFill>
                          <a:latin typeface="Cambria Math" pitchFamily="34" charset="0"/>
                          <a:ea typeface="Cambria Math" pitchFamily="34" charset="-122"/>
                          <a:cs typeface="Cambria Math" pitchFamily="34" charset="-120"/>
                        </a:rPr>
                        <a:t>) dense solves</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rgbClr val="14213D"/>
                          </a:solidFill>
                          <a:latin typeface="Cambria Math" pitchFamily="34" charset="0"/>
                          <a:ea typeface="Cambria Math" pitchFamily="34" charset="-122"/>
                          <a:cs typeface="Cambria Math" pitchFamily="34" charset="-120"/>
                        </a:rPr>
                        <a:t>O(K d</a:t>
                      </a:r>
                      <a:pPr indent="0" marL="0">
                        <a:buNone/>
                      </a:pPr>
                      <a:r>
                        <a:rPr lang="en-US" sz="1300" baseline="30000" dirty="0">
                          <a:solidFill>
                            <a:srgbClr val="14213D"/>
                          </a:solidFill>
                          <a:latin typeface="Cambria Math" pitchFamily="34" charset="0"/>
                          <a:ea typeface="Cambria Math" pitchFamily="34" charset="-122"/>
                          <a:cs typeface="Cambria Math" pitchFamily="34" charset="-120"/>
                        </a:rPr>
                        <a:t>2</a:t>
                      </a:r>
                      <a:pPr indent="0" marL="0">
                        <a:buNone/>
                      </a:pPr>
                      <a:r>
                        <a:rPr lang="en-US" sz="1300" dirty="0">
                          <a:solidFill>
                            <a:srgbClr val="14213D"/>
                          </a:solidFill>
                          <a:latin typeface="Cambria Math" pitchFamily="34" charset="0"/>
                          <a:ea typeface="Cambria Math" pitchFamily="34" charset="-122"/>
                          <a:cs typeface="Cambria Math" pitchFamily="34" charset="-120"/>
                        </a:rPr>
                        <a:t>): ≈ 260 KiB at K = 8, d = 64</a:t>
                      </a:r>
                      <a:endParaRPr lang="en-US" sz="120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Same as paper</a:t>
                      </a:r>
                      <a:endParaRPr lang="en-US" sz="1250" dirty="0">
                        <a:latin typeface="Calibri" charset="0"/>
                        <a:ea typeface="Calibri" charset="0"/>
                        <a:cs typeface="Calibri" charset="0"/>
                      </a:endParaRPr>
                    </a:p>
                  </a:txBody>
                  <a:tcPr marL="91440" marR="91440" marT="45720" marB="4572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8" name="Shape 4"/>
          <p:cNvSpPr/>
          <p:nvPr/>
        </p:nvSpPr>
        <p:spPr>
          <a:xfrm>
            <a:off x="548640" y="5166360"/>
            <a:ext cx="3575304" cy="841248"/>
          </a:xfrm>
          <a:prstGeom prst="roundRect">
            <a:avLst>
              <a:gd name="adj" fmla="val 8696"/>
            </a:avLst>
          </a:prstGeom>
          <a:solidFill>
            <a:srgbClr val="F2F4F7"/>
          </a:solidFill>
          <a:ln w="9525">
            <a:solidFill>
              <a:srgbClr val="F2F4F7"/>
            </a:solidFill>
            <a:prstDash val="solid"/>
          </a:ln>
        </p:spPr>
      </p:sp>
      <p:sp>
        <p:nvSpPr>
          <p:cNvPr id="9" name="Text 5"/>
          <p:cNvSpPr txBox="1"/>
          <p:nvPr/>
        </p:nvSpPr>
        <p:spPr>
          <a:xfrm>
            <a:off x="731520" y="5193792"/>
            <a:ext cx="1783080" cy="786384"/>
          </a:xfrm>
          <a:prstGeom prst="rect">
            <a:avLst/>
          </a:prstGeom>
          <a:noFill/>
          <a:ln/>
        </p:spPr>
        <p:txBody>
          <a:bodyPr wrap="square" lIns="0" tIns="0" rIns="0" bIns="0" rtlCol="0" anchor="ctr"/>
          <a:lstStyle/>
          <a:p>
            <a:pPr indent="0" marL="0">
              <a:buNone/>
            </a:pPr>
            <a:r>
              <a:rPr lang="en-US" sz="2000" b="1" dirty="0">
                <a:solidFill>
                  <a:srgbClr val="0E7C7B"/>
                </a:solidFill>
                <a:latin typeface="Cambria" pitchFamily="34" charset="0"/>
                <a:ea typeface="Cambria" pitchFamily="34" charset="-122"/>
                <a:cs typeface="Cambria" pitchFamily="34" charset="-120"/>
              </a:rPr>
              <a:t>0.07–0.24 s</a:t>
            </a:r>
            <a:endParaRPr lang="en-US" sz="2000" dirty="0"/>
          </a:p>
        </p:txBody>
      </p:sp>
      <p:sp>
        <p:nvSpPr>
          <p:cNvPr id="10" name="Text 6"/>
          <p:cNvSpPr txBox="1"/>
          <p:nvPr/>
        </p:nvSpPr>
        <p:spPr>
          <a:xfrm>
            <a:off x="2560320" y="5193792"/>
            <a:ext cx="1463040" cy="7863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PILOT routing time per query in the paper</a:t>
            </a:r>
            <a:endParaRPr lang="en-US" sz="1200" dirty="0"/>
          </a:p>
        </p:txBody>
      </p:sp>
      <p:sp>
        <p:nvSpPr>
          <p:cNvPr id="11" name="Shape 7"/>
          <p:cNvSpPr/>
          <p:nvPr/>
        </p:nvSpPr>
        <p:spPr>
          <a:xfrm>
            <a:off x="4306824" y="5166360"/>
            <a:ext cx="3575304" cy="841248"/>
          </a:xfrm>
          <a:prstGeom prst="roundRect">
            <a:avLst>
              <a:gd name="adj" fmla="val 8696"/>
            </a:avLst>
          </a:prstGeom>
          <a:solidFill>
            <a:srgbClr val="F2F4F7"/>
          </a:solidFill>
          <a:ln w="9525">
            <a:solidFill>
              <a:srgbClr val="F2F4F7"/>
            </a:solidFill>
            <a:prstDash val="solid"/>
          </a:ln>
        </p:spPr>
      </p:sp>
      <p:sp>
        <p:nvSpPr>
          <p:cNvPr id="12" name="Text 8"/>
          <p:cNvSpPr txBox="1"/>
          <p:nvPr/>
        </p:nvSpPr>
        <p:spPr>
          <a:xfrm>
            <a:off x="4489704" y="5193792"/>
            <a:ext cx="1783080" cy="786384"/>
          </a:xfrm>
          <a:prstGeom prst="rect">
            <a:avLst/>
          </a:prstGeom>
          <a:noFill/>
          <a:ln/>
        </p:spPr>
        <p:txBody>
          <a:bodyPr wrap="square" lIns="0" tIns="0" rIns="0" bIns="0" rtlCol="0" anchor="ctr"/>
          <a:lstStyle/>
          <a:p>
            <a:pPr indent="0" marL="0">
              <a:buNone/>
            </a:pPr>
            <a:r>
              <a:rPr lang="en-US" sz="2000" b="1" dirty="0">
                <a:solidFill>
                  <a:srgbClr val="0E7C7B"/>
                </a:solidFill>
                <a:latin typeface="Cambria" pitchFamily="34" charset="0"/>
                <a:ea typeface="Cambria" pitchFamily="34" charset="-122"/>
                <a:cs typeface="Cambria" pitchFamily="34" charset="-120"/>
              </a:rPr>
              <a:t>≈ 2.5 s</a:t>
            </a:r>
            <a:endParaRPr lang="en-US" sz="2000" dirty="0"/>
          </a:p>
        </p:txBody>
      </p:sp>
      <p:sp>
        <p:nvSpPr>
          <p:cNvPr id="13" name="Text 9"/>
          <p:cNvSpPr txBox="1"/>
          <p:nvPr/>
        </p:nvSpPr>
        <p:spPr>
          <a:xfrm>
            <a:off x="6318504" y="5193792"/>
            <a:ext cx="1463040" cy="7863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one GPT-4 answer on MMLU, same paper</a:t>
            </a:r>
            <a:endParaRPr lang="en-US" sz="1200" dirty="0"/>
          </a:p>
        </p:txBody>
      </p:sp>
      <p:sp>
        <p:nvSpPr>
          <p:cNvPr id="14" name="Shape 10"/>
          <p:cNvSpPr/>
          <p:nvPr/>
        </p:nvSpPr>
        <p:spPr>
          <a:xfrm>
            <a:off x="8065008" y="5166360"/>
            <a:ext cx="3575304" cy="841248"/>
          </a:xfrm>
          <a:prstGeom prst="roundRect">
            <a:avLst>
              <a:gd name="adj" fmla="val 8696"/>
            </a:avLst>
          </a:prstGeom>
          <a:solidFill>
            <a:srgbClr val="F2F4F7"/>
          </a:solidFill>
          <a:ln w="9525">
            <a:solidFill>
              <a:srgbClr val="F2F4F7"/>
            </a:solidFill>
            <a:prstDash val="solid"/>
          </a:ln>
        </p:spPr>
      </p:sp>
      <p:sp>
        <p:nvSpPr>
          <p:cNvPr id="15" name="Text 11"/>
          <p:cNvSpPr txBox="1"/>
          <p:nvPr/>
        </p:nvSpPr>
        <p:spPr>
          <a:xfrm>
            <a:off x="8247888" y="5193792"/>
            <a:ext cx="1783080" cy="786384"/>
          </a:xfrm>
          <a:prstGeom prst="rect">
            <a:avLst/>
          </a:prstGeom>
          <a:noFill/>
          <a:ln/>
        </p:spPr>
        <p:txBody>
          <a:bodyPr wrap="square" lIns="0" tIns="0" rIns="0" bIns="0" rtlCol="0" anchor="ctr"/>
          <a:lstStyle/>
          <a:p>
            <a:pPr indent="0" marL="0">
              <a:buNone/>
            </a:pPr>
            <a:r>
              <a:rPr lang="en-US" sz="2000" b="1" dirty="0">
                <a:solidFill>
                  <a:srgbClr val="0E7C7B"/>
                </a:solidFill>
                <a:latin typeface="Cambria" pitchFamily="34" charset="0"/>
                <a:ea typeface="Cambria" pitchFamily="34" charset="-122"/>
                <a:cs typeface="Cambria" pitchFamily="34" charset="-120"/>
              </a:rPr>
              <a:t>10–38×</a:t>
            </a:r>
            <a:endParaRPr lang="en-US" sz="2000" dirty="0"/>
          </a:p>
        </p:txBody>
      </p:sp>
      <p:sp>
        <p:nvSpPr>
          <p:cNvPr id="16" name="Text 12"/>
          <p:cNvSpPr txBox="1"/>
          <p:nvPr/>
        </p:nvSpPr>
        <p:spPr>
          <a:xfrm>
            <a:off x="10076688" y="5193792"/>
            <a:ext cx="1463040" cy="786384"/>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routing is that much faster than answering</a:t>
            </a:r>
            <a:endParaRPr lang="en-US" sz="12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REPRODUCTION · SCOPE</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Core scope on a declared local variant</a:t>
            </a:r>
            <a:endParaRPr lang="en-US" sz="3000" dirty="0"/>
          </a:p>
        </p:txBody>
      </p:sp>
      <p:sp>
        <p:nvSpPr>
          <p:cNvPr id="5" name="Text 3"/>
          <p:cNvSpPr txBox="1"/>
          <p:nvPr/>
        </p:nvSpPr>
        <p:spPr>
          <a:xfrm>
            <a:off x="548640" y="6129909"/>
            <a:ext cx="10561320" cy="54521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2403.12031" history="1" highlightClick="0" endSnd="0">
                  <a:extLst>
                    <a:ext uri="{A12FA001-AC4F-418D-AE19-62706E023703}">
                      <ahyp:hlinkClr xmlns:ahyp="http://schemas.microsoft.com/office/drawing/2018/hyperlinkcolor" val="tx"/>
                    </a:ext>
                  </a:extLst>
                </a:hlinkClick>
              </a:rPr>
              <a:t>[8] Q. J. Hu et al., “RouterBench: A benchmark for multi-LLM routing system,” arXiv:2403.12031,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arxiv.org/abs/2402.03216" history="1" highlightClick="0" endSnd="0">
                  <a:extLst>
                    <a:ext uri="{A12FA001-AC4F-418D-AE19-62706E023703}">
                      <ahyp:hlinkClr xmlns:ahyp="http://schemas.microsoft.com/office/drawing/2018/hyperlinkcolor" val="tx"/>
                    </a:ext>
                  </a:extLst>
                </a:hlinkClick>
              </a:rPr>
              <a:t>[9] J. Chen et al., “BGE M3-Embedding: Multi-lingual, multi-functionality, multi-granularity text embeddings through self-knowledge distillation,” arXiv:2402.03216, 2024.</a:t>
            </a:r>
            <a:endParaRPr lang="en-US" sz="950" dirty="0"/>
          </a:p>
        </p:txBody>
      </p:sp>
      <p:sp>
        <p:nvSpPr>
          <p:cNvPr id="7" name="Shape 4"/>
          <p:cNvSpPr/>
          <p:nvPr/>
        </p:nvSpPr>
        <p:spPr>
          <a:xfrm>
            <a:off x="548640" y="1481328"/>
            <a:ext cx="4206240" cy="4498848"/>
          </a:xfrm>
          <a:prstGeom prst="roundRect">
            <a:avLst>
              <a:gd name="adj" fmla="val 1739"/>
            </a:avLst>
          </a:prstGeom>
          <a:solidFill>
            <a:srgbClr val="14213D"/>
          </a:solidFill>
          <a:ln w="9525">
            <a:solidFill>
              <a:srgbClr val="14213D"/>
            </a:solidFill>
            <a:prstDash val="solid"/>
          </a:ln>
        </p:spPr>
      </p:sp>
      <p:sp>
        <p:nvSpPr>
          <p:cNvPr id="8" name="Text 5"/>
          <p:cNvSpPr txBox="1"/>
          <p:nvPr/>
        </p:nvSpPr>
        <p:spPr>
          <a:xfrm>
            <a:off x="777240" y="1627632"/>
            <a:ext cx="3749040" cy="365760"/>
          </a:xfrm>
          <a:prstGeom prst="rect">
            <a:avLst/>
          </a:prstGeom>
          <a:noFill/>
          <a:ln/>
        </p:spPr>
        <p:txBody>
          <a:bodyPr wrap="square" lIns="0" tIns="0" rIns="0" bIns="0" rtlCol="0" anchor="t"/>
          <a:lstStyle/>
          <a:p>
            <a:pPr indent="0" marL="0">
              <a:buNone/>
            </a:pPr>
            <a:r>
              <a:rPr lang="en-US" sz="1700" b="1" dirty="0">
                <a:solidFill>
                  <a:srgbClr val="6CC3BA"/>
                </a:solidFill>
                <a:latin typeface="Cambria" pitchFamily="34" charset="0"/>
                <a:ea typeface="Cambria" pitchFamily="34" charset="-122"/>
                <a:cs typeface="Cambria" pitchFamily="34" charset="-120"/>
              </a:rPr>
              <a:t>Our choice: core scope</a:t>
            </a:r>
            <a:endParaRPr lang="en-US" sz="1700" dirty="0"/>
          </a:p>
        </p:txBody>
      </p:sp>
      <p:sp>
        <p:nvSpPr>
          <p:cNvPr id="9" name="Text 6"/>
          <p:cNvSpPr txBox="1"/>
          <p:nvPr/>
        </p:nvSpPr>
        <p:spPr>
          <a:xfrm>
            <a:off x="777240" y="2057400"/>
            <a:ext cx="3794760" cy="2834640"/>
          </a:xfrm>
          <a:prstGeom prst="rect">
            <a:avLst/>
          </a:prstGeom>
          <a:noFill/>
          <a:ln/>
        </p:spPr>
        <p:txBody>
          <a:bodyPr wrap="square" lIns="0" tIns="0" rIns="0" bIns="0" rtlCol="0" anchor="t"/>
          <a:lstStyle/>
          <a:p>
            <a:pPr indent="0" marL="0">
              <a:spcAft>
                <a:spcPts val="700"/>
              </a:spcAft>
              <a:buNone/>
            </a:pPr>
            <a:r>
              <a:rPr lang="en-US" sz="1300" b="1" dirty="0">
                <a:solidFill>
                  <a:srgbClr val="F2C46D"/>
                </a:solidFill>
                <a:latin typeface="Calibri" pitchFamily="34" charset="0"/>
                <a:ea typeface="Calibri" pitchFamily="34" charset="-122"/>
                <a:cs typeface="Calibri" pitchFamily="34" charset="-120"/>
              </a:rPr>
              <a:t>E1  </a:t>
            </a:r>
            <a:pPr indent="0" marL="0">
              <a:buNone/>
            </a:pPr>
            <a:r>
              <a:rPr lang="en-US" sz="1300" dirty="0">
                <a:solidFill>
                  <a:srgbClr val="FFFFFF"/>
                </a:solidFill>
                <a:latin typeface="Calibri" pitchFamily="34" charset="0"/>
                <a:ea typeface="Calibri" pitchFamily="34" charset="-122"/>
                <a:cs typeface="Calibri" pitchFamily="34" charset="-120"/>
              </a:rPr>
              <a:t>Performance vs budget, with the headline comparison</a:t>
            </a:r>
            <a:endParaRPr lang="en-US" sz="1300" dirty="0"/>
          </a:p>
          <a:p>
            <a:pPr indent="0" marL="0">
              <a:spcAft>
                <a:spcPts val="700"/>
              </a:spcAft>
              <a:buNone/>
            </a:pPr>
            <a:r>
              <a:rPr lang="en-US" sz="1300" b="1" dirty="0">
                <a:solidFill>
                  <a:srgbClr val="F2C46D"/>
                </a:solidFill>
                <a:latin typeface="Calibri" pitchFamily="34" charset="0"/>
                <a:ea typeface="Calibri" pitchFamily="34" charset="-122"/>
                <a:cs typeface="Calibri" pitchFamily="34" charset="-120"/>
              </a:rPr>
              <a:t>E2  </a:t>
            </a:r>
            <a:pPr indent="0" marL="0">
              <a:buNone/>
            </a:pPr>
            <a:r>
              <a:rPr lang="en-US" sz="1300" dirty="0">
                <a:solidFill>
                  <a:srgbClr val="FFFFFF"/>
                </a:solidFill>
                <a:latin typeface="Calibri" pitchFamily="34" charset="0"/>
                <a:ea typeface="Calibri" pitchFamily="34" charset="-122"/>
                <a:cs typeface="Calibri" pitchFamily="34" charset="-120"/>
              </a:rPr>
              <a:t>Learning size and cumulative regret</a:t>
            </a:r>
            <a:endParaRPr lang="en-US" sz="1300" dirty="0"/>
          </a:p>
          <a:p>
            <a:pPr indent="0" marL="0">
              <a:spcAft>
                <a:spcPts val="700"/>
              </a:spcAft>
              <a:buNone/>
            </a:pPr>
            <a:r>
              <a:rPr lang="en-US" sz="1300" b="1" dirty="0">
                <a:solidFill>
                  <a:srgbClr val="F2C46D"/>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Team-designed: 5 ablations, a budget-controller diagnosis, 2 critique tests on the poster</a:t>
            </a:r>
            <a:endParaRPr lang="en-US" sz="1300" dirty="0"/>
          </a:p>
          <a:p>
            <a:pPr indent="0" marL="0">
              <a:spcAft>
                <a:spcPts val="700"/>
              </a:spcAft>
              <a:buNone/>
            </a:pPr>
            <a:r>
              <a:rPr lang="en-US" sz="1300" b="1" dirty="0">
                <a:solidFill>
                  <a:srgbClr val="F2C46D"/>
                </a:solidFill>
                <a:latin typeface="Calibri" pitchFamily="34" charset="0"/>
                <a:ea typeface="Calibri" pitchFamily="34" charset="-122"/>
                <a:cs typeface="Calibri" pitchFamily="34" charset="-120"/>
              </a:rPr>
              <a:t>Supplement  </a:t>
            </a:r>
            <a:pPr indent="0" marL="0">
              <a:buNone/>
            </a:pPr>
            <a:r>
              <a:rPr lang="en-US" sz="1300" dirty="0">
                <a:solidFill>
                  <a:srgbClr val="FFFFFF"/>
                </a:solidFill>
                <a:latin typeface="Calibri" pitchFamily="34" charset="0"/>
                <a:ea typeface="Calibri" pitchFamily="34" charset="-122"/>
                <a:cs typeface="Calibri" pitchFamily="34" charset="-120"/>
              </a:rPr>
              <a:t>Local versions of six extra studies, labelled as such</a:t>
            </a:r>
            <a:endParaRPr lang="en-US" sz="1300" dirty="0"/>
          </a:p>
          <a:p>
            <a:pPr indent="0" marL="0">
              <a:spcAft>
                <a:spcPts val="700"/>
              </a:spcAft>
              <a:buNone/>
            </a:pPr>
            <a:r>
              <a:rPr lang="en-US" sz="1300" b="1" dirty="0">
                <a:solidFill>
                  <a:srgbClr val="6CC3BA"/>
                </a:solidFill>
                <a:latin typeface="Calibri" pitchFamily="34" charset="0"/>
                <a:ea typeface="Calibri" pitchFamily="34" charset="-122"/>
                <a:cs typeface="Calibri" pitchFamily="34" charset="-120"/>
              </a:rPr>
              <a:t>Not full scope  </a:t>
            </a:r>
            <a:pPr indent="0" marL="0">
              <a:buNone/>
            </a:pPr>
            <a:r>
              <a:rPr lang="en-US" sz="1300" dirty="0">
                <a:solidFill>
                  <a:srgbClr val="FFFFFF"/>
                </a:solidFill>
                <a:latin typeface="Calibri" pitchFamily="34" charset="0"/>
                <a:ea typeface="Calibri" pitchFamily="34" charset="-122"/>
                <a:cs typeface="Calibri" pitchFamily="34" charset="-120"/>
              </a:rPr>
              <a:t>3 of 11 models cannot be matched to RouterBench entries with evidence. No official code was found.</a:t>
            </a:r>
            <a:endParaRPr lang="en-US" sz="1300" dirty="0"/>
          </a:p>
        </p:txBody>
      </p:sp>
      <p:sp>
        <p:nvSpPr>
          <p:cNvPr id="10" name="Text 7"/>
          <p:cNvSpPr txBox="1"/>
          <p:nvPr/>
        </p:nvSpPr>
        <p:spPr>
          <a:xfrm>
            <a:off x="777240" y="4983480"/>
            <a:ext cx="1234440" cy="457200"/>
          </a:xfrm>
          <a:prstGeom prst="rect">
            <a:avLst/>
          </a:prstGeom>
          <a:noFill/>
          <a:ln/>
        </p:spPr>
        <p:txBody>
          <a:bodyPr wrap="square" lIns="0" tIns="0" rIns="0" bIns="0" rtlCol="0" anchor="t"/>
          <a:lstStyle/>
          <a:p>
            <a:pPr indent="0" marL="0">
              <a:buNone/>
            </a:pPr>
            <a:r>
              <a:rPr lang="en-US" sz="2400" b="1" dirty="0">
                <a:solidFill>
                  <a:srgbClr val="F2C46D"/>
                </a:solidFill>
                <a:latin typeface="Cambria" pitchFamily="34" charset="0"/>
                <a:ea typeface="Cambria" pitchFamily="34" charset="-122"/>
                <a:cs typeface="Cambria" pitchFamily="34" charset="-120"/>
              </a:rPr>
              <a:t>1,098</a:t>
            </a:r>
            <a:endParaRPr lang="en-US" sz="2400" dirty="0"/>
          </a:p>
        </p:txBody>
      </p:sp>
      <p:sp>
        <p:nvSpPr>
          <p:cNvPr id="11" name="Text 8"/>
          <p:cNvSpPr txBox="1"/>
          <p:nvPr/>
        </p:nvSpPr>
        <p:spPr>
          <a:xfrm>
            <a:off x="777240" y="5440680"/>
            <a:ext cx="1234440" cy="411480"/>
          </a:xfrm>
          <a:prstGeom prst="rect">
            <a:avLst/>
          </a:prstGeom>
          <a:noFill/>
          <a:ln/>
        </p:spPr>
        <p:txBody>
          <a:bodyPr wrap="square" lIns="0" tIns="0" rIns="0" bIns="0" rtlCol="0" anchor="t"/>
          <a:lstStyle/>
          <a:p>
            <a:pPr indent="0" marL="0">
              <a:buNone/>
            </a:pPr>
            <a:r>
              <a:rPr lang="en-US" sz="1150" dirty="0">
                <a:solidFill>
                  <a:srgbClr val="C9D3E3"/>
                </a:solidFill>
                <a:latin typeface="Calibri" pitchFamily="34" charset="0"/>
                <a:ea typeface="Calibri" pitchFamily="34" charset="-122"/>
                <a:cs typeface="Calibri" pitchFamily="34" charset="-120"/>
              </a:rPr>
              <a:t>OpenAI conditions (858 + 240)</a:t>
            </a:r>
            <a:endParaRPr lang="en-US" sz="1150" dirty="0"/>
          </a:p>
        </p:txBody>
      </p:sp>
      <p:sp>
        <p:nvSpPr>
          <p:cNvPr id="12" name="Text 9"/>
          <p:cNvSpPr txBox="1"/>
          <p:nvPr/>
        </p:nvSpPr>
        <p:spPr>
          <a:xfrm>
            <a:off x="2075688" y="4983480"/>
            <a:ext cx="1234440" cy="457200"/>
          </a:xfrm>
          <a:prstGeom prst="rect">
            <a:avLst/>
          </a:prstGeom>
          <a:noFill/>
          <a:ln/>
        </p:spPr>
        <p:txBody>
          <a:bodyPr wrap="square" lIns="0" tIns="0" rIns="0" bIns="0" rtlCol="0" anchor="t"/>
          <a:lstStyle/>
          <a:p>
            <a:pPr indent="0" marL="0">
              <a:buNone/>
            </a:pPr>
            <a:r>
              <a:rPr lang="en-US" sz="2400" b="1" dirty="0">
                <a:solidFill>
                  <a:srgbClr val="F2C46D"/>
                </a:solidFill>
                <a:latin typeface="Cambria" pitchFamily="34" charset="0"/>
                <a:ea typeface="Cambria" pitchFamily="34" charset="-122"/>
                <a:cs typeface="Cambria" pitchFamily="34" charset="-120"/>
              </a:rPr>
              <a:t>3</a:t>
            </a:r>
            <a:endParaRPr lang="en-US" sz="2400" dirty="0"/>
          </a:p>
        </p:txBody>
      </p:sp>
      <p:sp>
        <p:nvSpPr>
          <p:cNvPr id="13" name="Text 10"/>
          <p:cNvSpPr txBox="1"/>
          <p:nvPr/>
        </p:nvSpPr>
        <p:spPr>
          <a:xfrm>
            <a:off x="2075688" y="5440680"/>
            <a:ext cx="1234440" cy="411480"/>
          </a:xfrm>
          <a:prstGeom prst="rect">
            <a:avLst/>
          </a:prstGeom>
          <a:noFill/>
          <a:ln/>
        </p:spPr>
        <p:txBody>
          <a:bodyPr wrap="square" lIns="0" tIns="0" rIns="0" bIns="0" rtlCol="0" anchor="t"/>
          <a:lstStyle/>
          <a:p>
            <a:pPr indent="0" marL="0">
              <a:buNone/>
            </a:pPr>
            <a:r>
              <a:rPr lang="en-US" sz="1150" dirty="0">
                <a:solidFill>
                  <a:srgbClr val="C9D3E3"/>
                </a:solidFill>
                <a:latin typeface="Calibri" pitchFamily="34" charset="0"/>
                <a:ea typeface="Calibri" pitchFamily="34" charset="-122"/>
                <a:cs typeface="Calibri" pitchFamily="34" charset="-120"/>
              </a:rPr>
              <a:t>seeds</a:t>
            </a:r>
            <a:endParaRPr lang="en-US" sz="1150" dirty="0"/>
          </a:p>
        </p:txBody>
      </p:sp>
      <p:sp>
        <p:nvSpPr>
          <p:cNvPr id="14" name="Text 11"/>
          <p:cNvSpPr txBox="1"/>
          <p:nvPr/>
        </p:nvSpPr>
        <p:spPr>
          <a:xfrm>
            <a:off x="3374136" y="4983480"/>
            <a:ext cx="1234440" cy="457200"/>
          </a:xfrm>
          <a:prstGeom prst="rect">
            <a:avLst/>
          </a:prstGeom>
          <a:noFill/>
          <a:ln/>
        </p:spPr>
        <p:txBody>
          <a:bodyPr wrap="square" lIns="0" tIns="0" rIns="0" bIns="0" rtlCol="0" anchor="t"/>
          <a:lstStyle/>
          <a:p>
            <a:pPr indent="0" marL="0">
              <a:buNone/>
            </a:pPr>
            <a:r>
              <a:rPr lang="en-US" sz="2400" b="1" dirty="0">
                <a:solidFill>
                  <a:srgbClr val="F2C46D"/>
                </a:solidFill>
                <a:latin typeface="Cambria" pitchFamily="34" charset="0"/>
                <a:ea typeface="Cambria" pitchFamily="34" charset="-122"/>
                <a:cs typeface="Cambria" pitchFamily="34" charset="-120"/>
              </a:rPr>
              <a:t>0</a:t>
            </a:r>
            <a:endParaRPr lang="en-US" sz="2400" dirty="0"/>
          </a:p>
        </p:txBody>
      </p:sp>
      <p:sp>
        <p:nvSpPr>
          <p:cNvPr id="15" name="Text 12"/>
          <p:cNvSpPr txBox="1"/>
          <p:nvPr/>
        </p:nvSpPr>
        <p:spPr>
          <a:xfrm>
            <a:off x="3374136" y="5440680"/>
            <a:ext cx="1234440" cy="411480"/>
          </a:xfrm>
          <a:prstGeom prst="rect">
            <a:avLst/>
          </a:prstGeom>
          <a:noFill/>
          <a:ln/>
        </p:spPr>
        <p:txBody>
          <a:bodyPr wrap="square" lIns="0" tIns="0" rIns="0" bIns="0" rtlCol="0" anchor="t"/>
          <a:lstStyle/>
          <a:p>
            <a:pPr indent="0" marL="0">
              <a:buNone/>
            </a:pPr>
            <a:r>
              <a:rPr lang="en-US" sz="1150" dirty="0">
                <a:solidFill>
                  <a:srgbClr val="C9D3E3"/>
                </a:solidFill>
                <a:latin typeface="Calibri" pitchFamily="34" charset="0"/>
                <a:ea typeface="Calibri" pitchFamily="34" charset="-122"/>
                <a:cs typeface="Calibri" pitchFamily="34" charset="-120"/>
              </a:rPr>
              <a:t>new paid requests</a:t>
            </a:r>
            <a:endParaRPr lang="en-US" sz="1150" dirty="0"/>
          </a:p>
        </p:txBody>
      </p:sp>
      <p:graphicFrame>
        <p:nvGraphicFramePr>
          <p:cNvPr id="14" name="scope-table"/>
          <p:cNvGraphicFramePr>
            <a:graphicFrameLocks noGrp="1"/>
          </p:cNvGraphicFramePr>
          <p:nvPr>
            <p:extLst>
              <p:ext uri="{D42A27DB-BD31-4B8C-83A1-F6EECF244321}">
                <p14:modId xmlns:p14="http://schemas.microsoft.com/office/powerpoint/2010/main" val="1579011935"/>
              </p:ext>
            </p:extLst>
          </p:nvPr>
        </p:nvGraphicFramePr>
        <p:xfrm>
          <a:off x="4983480" y="1481328"/>
          <a:ext cx="6656832" cy="914400"/>
        </p:xfrm>
        <a:graphic>
          <a:graphicData uri="http://schemas.openxmlformats.org/drawingml/2006/table">
            <a:tbl>
              <a:tblPr/>
              <a:tblGrid>
                <a:gridCol w="1234440"/>
                <a:gridCol w="2514600"/>
                <a:gridCol w="2907792"/>
              </a:tblGrid>
              <a:tr h="384048">
                <a:tc>
                  <a:txBody>
                    <a:bodyPr/>
                    <a:lstStyle/>
                    <a:p>
                      <a:pPr indent="0" marL="0">
                        <a:buNone/>
                      </a:pPr>
                      <a:endParaRPr lang="en-US" sz="1300" dirty="0">
                        <a:latin typeface="Calibri" charset="0"/>
                        <a:ea typeface="Calibri" charset="0"/>
                        <a:cs typeface="Calibri" charset="0"/>
                      </a:endParaRPr>
                    </a:p>
                  </a:txBody>
                  <a:tcPr marL="73152" marR="73152" marT="36576" marB="36576">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Paper [1]</a:t>
                      </a:r>
                      <a:endParaRPr lang="en-US" sz="1300" dirty="0">
                        <a:latin typeface="Calibri" charset="0"/>
                        <a:ea typeface="Calibri" charset="0"/>
                        <a:cs typeface="Calibri" charset="0"/>
                      </a:endParaRPr>
                    </a:p>
                  </a:txBody>
                  <a:tcPr marL="73152" marR="73152" marT="36576" marB="36576">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3D5A8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Ours</a:t>
                      </a:r>
                      <a:endParaRPr lang="en-US" sz="1300" dirty="0">
                        <a:latin typeface="Calibri" charset="0"/>
                        <a:ea typeface="Calibri" charset="0"/>
                        <a:cs typeface="Calibri" charset="0"/>
                      </a:endParaRPr>
                    </a:p>
                  </a:txBody>
                  <a:tcPr marL="73152" marR="73152" marT="36576" marB="36576">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3D5A80"/>
                    </a:solidFill>
                  </a:tcPr>
                </a:tc>
              </a:tr>
              <a:tr h="603504">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Model pool</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11 RouterBench models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8 admitted. Claude-v2, Mistral-7B and Mixtral are unmatched.</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Embedder</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text-embedding-3-small (API)</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Same model, real 1,536-d vectors → 64-d. Historical: BGE-M3 [9]</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548640">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RouterBench [8]: 36,497 queries, 64 tasks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Same 36,497 queries; 86 raw task labels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Splits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1,000 tuning; learning:deployment = 10:1</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1,000 / 32,270 / 3,227 (MMLU 398 / 12,369 / 1,275)</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Preferences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Arena subset; 500-pair test</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1,245 train / 313 calibration (+ separate 847 / 211 / 500 supplement)</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57200">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Seeds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not stated</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7, 42, 2026: mean with min–max</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58368">
                <a:tc>
                  <a:txBody>
                    <a:bodyPr/>
                    <a:lstStyle/>
                    <a:p>
                      <a:pPr indent="0" marL="0">
                        <a:buNone/>
                      </a:pPr>
                      <a:r>
                        <a:rPr lang="en-US" sz="1250" b="1" dirty="0">
                          <a:solidFill>
                            <a:srgbClr val="1F2933"/>
                          </a:solidFill>
                          <a:latin typeface="Calibri" pitchFamily="34" charset="0"/>
                          <a:ea typeface="Calibri" pitchFamily="34" charset="-122"/>
                          <a:cs typeface="Calibri" pitchFamily="34" charset="-120"/>
                        </a:rPr>
                        <a:t>Budget axis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fraction of GPT-4’s cost</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50" dirty="0">
                          <a:solidFill>
                            <a:srgbClr val="1F2933"/>
                          </a:solidFill>
                          <a:latin typeface="Calibri" pitchFamily="34" charset="0"/>
                          <a:ea typeface="Calibri" pitchFamily="34" charset="-122"/>
                          <a:cs typeface="Calibri" pitchFamily="34" charset="-120"/>
                        </a:rPr>
                        <a:t>allocation of tuning-estimated GPT-4 cost; quality and cost ÷ same-query GPT-4</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REPRODUCTION · PROTOCOL</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What the learner may see, and how we score it</a:t>
            </a:r>
            <a:endParaRPr lang="en-US" sz="3000" dirty="0"/>
          </a:p>
        </p:txBody>
      </p:sp>
      <p:sp>
        <p:nvSpPr>
          <p:cNvPr id="5" name="Text 3"/>
          <p:cNvSpPr txBox="1"/>
          <p:nvPr/>
        </p:nvSpPr>
        <p:spPr>
          <a:xfrm>
            <a:off x="548640" y="6469380"/>
            <a:ext cx="10561320" cy="205740"/>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p:txBody>
      </p:sp>
      <p:sp>
        <p:nvSpPr>
          <p:cNvPr id="7" name="Text 4"/>
          <p:cNvSpPr txBox="1"/>
          <p:nvPr/>
        </p:nvSpPr>
        <p:spPr>
          <a:xfrm>
            <a:off x="548640" y="1481328"/>
            <a:ext cx="548640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RouterBench stream (to scale)</a:t>
            </a:r>
            <a:endParaRPr lang="en-US" sz="1300" dirty="0"/>
          </a:p>
        </p:txBody>
      </p:sp>
      <p:sp>
        <p:nvSpPr>
          <p:cNvPr id="8" name="Shape 5"/>
          <p:cNvSpPr/>
          <p:nvPr/>
        </p:nvSpPr>
        <p:spPr>
          <a:xfrm>
            <a:off x="548640" y="1810512"/>
            <a:ext cx="201168" cy="438912"/>
          </a:xfrm>
          <a:prstGeom prst="rect">
            <a:avLst/>
          </a:prstGeom>
          <a:solidFill>
            <a:srgbClr val="8D99AE"/>
          </a:solidFill>
          <a:ln w="19050">
            <a:solidFill>
              <a:srgbClr val="FFFFFF"/>
            </a:solidFill>
            <a:prstDash val="solid"/>
          </a:ln>
        </p:spPr>
      </p:sp>
      <p:sp>
        <p:nvSpPr>
          <p:cNvPr id="9" name="Shape 6"/>
          <p:cNvSpPr/>
          <p:nvPr/>
        </p:nvSpPr>
        <p:spPr>
          <a:xfrm>
            <a:off x="749808" y="1810512"/>
            <a:ext cx="5578624" cy="438912"/>
          </a:xfrm>
          <a:prstGeom prst="rect">
            <a:avLst/>
          </a:prstGeom>
          <a:solidFill>
            <a:srgbClr val="0E7C7B"/>
          </a:solidFill>
          <a:ln w="19050">
            <a:solidFill>
              <a:srgbClr val="FFFFFF"/>
            </a:solidFill>
            <a:prstDash val="solid"/>
          </a:ln>
        </p:spPr>
      </p:sp>
      <p:sp>
        <p:nvSpPr>
          <p:cNvPr id="10" name="Shape 7"/>
          <p:cNvSpPr/>
          <p:nvPr/>
        </p:nvSpPr>
        <p:spPr>
          <a:xfrm>
            <a:off x="6328432" y="1810512"/>
            <a:ext cx="557862" cy="438912"/>
          </a:xfrm>
          <a:prstGeom prst="rect">
            <a:avLst/>
          </a:prstGeom>
          <a:solidFill>
            <a:srgbClr val="C77700"/>
          </a:solidFill>
          <a:ln w="19050">
            <a:solidFill>
              <a:srgbClr val="FFFFFF"/>
            </a:solidFill>
            <a:prstDash val="solid"/>
          </a:ln>
        </p:spPr>
      </p:sp>
      <p:sp>
        <p:nvSpPr>
          <p:cNvPr id="11" name="Text 8"/>
          <p:cNvSpPr txBox="1"/>
          <p:nvPr/>
        </p:nvSpPr>
        <p:spPr>
          <a:xfrm>
            <a:off x="548640" y="2304288"/>
            <a:ext cx="6400800" cy="274320"/>
          </a:xfrm>
          <a:prstGeom prst="rect">
            <a:avLst/>
          </a:prstGeom>
          <a:noFill/>
          <a:ln/>
        </p:spPr>
        <p:txBody>
          <a:bodyPr wrap="square" lIns="0" tIns="0" rIns="0" bIns="0" rtlCol="0" anchor="t"/>
          <a:lstStyle/>
          <a:p>
            <a:pPr indent="0" marL="0">
              <a:buNone/>
            </a:pPr>
            <a:r>
              <a:rPr lang="en-US" sz="1250" b="1" dirty="0">
                <a:solidFill>
                  <a:srgbClr val="5B6676"/>
                </a:solidFill>
                <a:latin typeface="Calibri" pitchFamily="34" charset="0"/>
                <a:ea typeface="Calibri" pitchFamily="34" charset="-122"/>
                <a:cs typeface="Calibri" pitchFamily="34" charset="-120"/>
              </a:rPr>
              <a:t>tuning 1,000</a:t>
            </a:r>
            <a:pPr indent="0" marL="0">
              <a:buNone/>
            </a:pPr>
            <a:r>
              <a:rPr lang="en-US" sz="1250" dirty="0">
                <a:solidFill>
                  <a:srgbClr val="1F2933"/>
                </a:solidFill>
                <a:latin typeface="Calibri" pitchFamily="34" charset="0"/>
                <a:ea typeface="Calibri" pitchFamily="34" charset="-122"/>
                <a:cs typeface="Calibri" pitchFamily="34" charset="-120"/>
              </a:rPr>
              <a:t>   </a:t>
            </a:r>
            <a:pPr indent="0" marL="0">
              <a:buNone/>
            </a:pPr>
            <a:r>
              <a:rPr lang="en-US" sz="1250" b="1" dirty="0">
                <a:solidFill>
                  <a:srgbClr val="0E7C7B"/>
                </a:solidFill>
                <a:latin typeface="Calibri" pitchFamily="34" charset="0"/>
                <a:ea typeface="Calibri" pitchFamily="34" charset="-122"/>
                <a:cs typeface="Calibri" pitchFamily="34" charset="-120"/>
              </a:rPr>
              <a:t>learning 32,270</a:t>
            </a:r>
            <a:pPr indent="0" marL="0">
              <a:buNone/>
            </a:pPr>
            <a:r>
              <a:rPr lang="en-US" sz="1250" dirty="0">
                <a:solidFill>
                  <a:srgbClr val="1F2933"/>
                </a:solidFill>
                <a:latin typeface="Calibri" pitchFamily="34" charset="0"/>
                <a:ea typeface="Calibri" pitchFamily="34" charset="-122"/>
                <a:cs typeface="Calibri" pitchFamily="34" charset="-120"/>
              </a:rPr>
              <a:t>   </a:t>
            </a:r>
            <a:pPr indent="0" marL="0">
              <a:buNone/>
            </a:pPr>
            <a:r>
              <a:rPr lang="en-US" sz="1250" b="1" dirty="0">
                <a:solidFill>
                  <a:srgbClr val="C77700"/>
                </a:solidFill>
                <a:latin typeface="Calibri" pitchFamily="34" charset="0"/>
                <a:ea typeface="Calibri" pitchFamily="34" charset="-122"/>
                <a:cs typeface="Calibri" pitchFamily="34" charset="-120"/>
              </a:rPr>
              <a:t>deployment 3,227</a:t>
            </a:r>
            <a:endParaRPr lang="en-US" sz="1250" dirty="0"/>
          </a:p>
        </p:txBody>
      </p:sp>
      <p:graphicFrame>
        <p:nvGraphicFramePr>
          <p:cNvPr id="15" name="visibility-table"/>
          <p:cNvGraphicFramePr>
            <a:graphicFrameLocks noGrp="1"/>
          </p:cNvGraphicFramePr>
          <p:nvPr>
            <p:extLst>
              <p:ext uri="{D42A27DB-BD31-4B8C-83A1-F6EECF244321}">
                <p14:modId xmlns:p14="http://schemas.microsoft.com/office/powerpoint/2010/main" val="1579011935"/>
              </p:ext>
            </p:extLst>
          </p:nvPr>
        </p:nvGraphicFramePr>
        <p:xfrm>
          <a:off x="548640" y="2788920"/>
          <a:ext cx="6400800" cy="914400"/>
        </p:xfrm>
        <a:graphic>
          <a:graphicData uri="http://schemas.openxmlformats.org/drawingml/2006/table">
            <a:tbl>
              <a:tblPr/>
              <a:tblGrid>
                <a:gridCol w="1371600"/>
                <a:gridCol w="1325880"/>
                <a:gridCol w="1234440"/>
                <a:gridCol w="1234440"/>
                <a:gridCol w="1234440"/>
              </a:tblGrid>
              <a:tr h="5029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Sets hyper-parameters</a:t>
                      </a:r>
                      <a:endParaRPr lang="en-US" sz="120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Sees chosen reward</a:t>
                      </a:r>
                      <a:endParaRPr lang="en-US" sz="120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Sees all rewards</a:t>
                      </a:r>
                      <a:endParaRPr lang="en-US" sz="120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Router updates</a:t>
                      </a:r>
                      <a:endParaRPr lang="en-US" sz="120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r>
              <a:tr h="457200">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Tuning</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α, window, cost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57200">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Learning</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chosen arm</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457200">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Deployment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C77700"/>
                          </a:solidFill>
                          <a:latin typeface="Calibri" pitchFamily="34" charset="0"/>
                          <a:ea typeface="Calibri" pitchFamily="34" charset="-122"/>
                          <a:cs typeface="Calibri" pitchFamily="34" charset="-120"/>
                        </a:rPr>
                        <a:t>frozen</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BF0DC"/>
                    </a:solidFill>
                  </a:tcPr>
                </a:tc>
              </a:tr>
              <a:tr h="457200">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Evaluator only</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regret + quality</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c>
                  <a:txBody>
                    <a:bodyPr/>
                    <a:lstStyle/>
                    <a:p>
                      <a:pPr algn="ctr" indent="0" marL="0">
                        <a:buNone/>
                      </a:pPr>
                      <a:r>
                        <a:rPr lang="en-US" sz="1250" dirty="0">
                          <a:solidFill>
                            <a:srgbClr val="8D99AE"/>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27432" marB="27432"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3" name="Text 9"/>
          <p:cNvSpPr txBox="1"/>
          <p:nvPr/>
        </p:nvSpPr>
        <p:spPr>
          <a:xfrm>
            <a:off x="548640" y="5212080"/>
            <a:ext cx="6400800" cy="502920"/>
          </a:xfrm>
          <a:prstGeom prst="rect">
            <a:avLst/>
          </a:prstGeom>
          <a:noFill/>
          <a:ln/>
        </p:spPr>
        <p:txBody>
          <a:bodyPr wrap="square" lIns="0" tIns="0" rIns="0" bIns="0" rtlCol="0" anchor="t"/>
          <a:lstStyle/>
          <a:p>
            <a:pPr indent="0" marL="0">
              <a:buNone/>
            </a:pPr>
            <a:r>
              <a:rPr lang="en-US" sz="1250" dirty="0">
                <a:solidFill>
                  <a:srgbClr val="5B6676"/>
                </a:solidFill>
                <a:latin typeface="Calibri" pitchFamily="34" charset="0"/>
                <a:ea typeface="Calibri" pitchFamily="34" charset="-122"/>
                <a:cs typeface="Calibri" pitchFamily="34" charset="-120"/>
              </a:rPr>
              <a:t>Same cost policy for every method. Tuned on OpenAI vectors: PILOT α = 1, LinUCB α = 5, EpochGreedy window 10. Seeds 7 / 42 / 2026.</a:t>
            </a:r>
            <a:endParaRPr lang="en-US" sz="1250" dirty="0"/>
          </a:p>
        </p:txBody>
      </p:sp>
      <p:sp>
        <p:nvSpPr>
          <p:cNvPr id="14" name="Shape 10"/>
          <p:cNvSpPr/>
          <p:nvPr/>
        </p:nvSpPr>
        <p:spPr>
          <a:xfrm>
            <a:off x="7269480" y="1481328"/>
            <a:ext cx="4370832" cy="4480560"/>
          </a:xfrm>
          <a:prstGeom prst="roundRect">
            <a:avLst>
              <a:gd name="adj" fmla="val 1674"/>
            </a:avLst>
          </a:prstGeom>
          <a:solidFill>
            <a:srgbClr val="F2F4F7"/>
          </a:solidFill>
          <a:ln w="9525">
            <a:solidFill>
              <a:srgbClr val="F2F4F7"/>
            </a:solidFill>
            <a:prstDash val="solid"/>
          </a:ln>
        </p:spPr>
      </p:sp>
      <p:sp>
        <p:nvSpPr>
          <p:cNvPr id="15" name="Text 11"/>
          <p:cNvSpPr txBox="1"/>
          <p:nvPr/>
        </p:nvSpPr>
        <p:spPr>
          <a:xfrm>
            <a:off x="7452360" y="1572768"/>
            <a:ext cx="365760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Metrics</a:t>
            </a:r>
            <a:endParaRPr lang="en-US" sz="1500" dirty="0"/>
          </a:p>
        </p:txBody>
      </p:sp>
      <p:sp>
        <p:nvSpPr>
          <p:cNvPr id="16" name="Text 12"/>
          <p:cNvSpPr txBox="1"/>
          <p:nvPr/>
        </p:nvSpPr>
        <p:spPr>
          <a:xfrm>
            <a:off x="7452360" y="1938528"/>
            <a:ext cx="4023360" cy="3931920"/>
          </a:xfrm>
          <a:prstGeom prst="rect">
            <a:avLst/>
          </a:prstGeom>
          <a:noFill/>
          <a:ln/>
        </p:spPr>
        <p:txBody>
          <a:bodyPr wrap="square" lIns="0" tIns="0" rIns="0" bIns="0" rtlCol="0" anchor="t"/>
          <a:lstStyle/>
          <a:p>
            <a:pPr indent="0" marL="0">
              <a:spcAft>
                <a:spcPts val="800"/>
              </a:spcAft>
              <a:buNone/>
            </a:pPr>
            <a:r>
              <a:rPr lang="en-US" sz="1350" b="1" dirty="0">
                <a:solidFill>
                  <a:srgbClr val="0E7C7B"/>
                </a:solidFill>
                <a:latin typeface="Calibri" pitchFamily="34" charset="0"/>
                <a:ea typeface="Calibri" pitchFamily="34" charset="-122"/>
                <a:cs typeface="Calibri" pitchFamily="34" charset="-120"/>
              </a:rPr>
              <a:t>Quality / GPT-4
</a:t>
            </a:r>
            <a:pPr indent="0" marL="0">
              <a:buNone/>
            </a:pPr>
            <a:r>
              <a:rPr lang="en-US" sz="1250" dirty="0">
                <a:solidFill>
                  <a:srgbClr val="1F2933"/>
                </a:solidFill>
                <a:latin typeface="Calibri" pitchFamily="34" charset="0"/>
                <a:ea typeface="Calibri" pitchFamily="34" charset="-122"/>
                <a:cs typeface="Calibri" pitchFamily="34" charset="-120"/>
              </a:rPr>
              <a:t>Σ reward ÷ GPT-4’s Σ reward on the same requested queries. Unserved = 0.</a:t>
            </a:r>
            <a:endParaRPr lang="en-US" sz="1350" dirty="0"/>
          </a:p>
          <a:p>
            <a:pPr indent="0" marL="0">
              <a:spcAft>
                <a:spcPts val="800"/>
              </a:spcAft>
              <a:buNone/>
            </a:pPr>
            <a:r>
              <a:rPr lang="en-US" sz="1350" b="1" dirty="0">
                <a:solidFill>
                  <a:srgbClr val="0E7C7B"/>
                </a:solidFill>
                <a:latin typeface="Calibri" pitchFamily="34" charset="0"/>
                <a:ea typeface="Calibri" pitchFamily="34" charset="-122"/>
                <a:cs typeface="Calibri" pitchFamily="34" charset="-120"/>
              </a:rPr>
              <a:t>Recorded cost / GPT-4
</a:t>
            </a:r>
            <a:pPr indent="0" marL="0">
              <a:buNone/>
            </a:pPr>
            <a:r>
              <a:rPr lang="en-US" sz="1250" dirty="0">
                <a:solidFill>
                  <a:srgbClr val="1F2933"/>
                </a:solidFill>
                <a:latin typeface="Calibri" pitchFamily="34" charset="0"/>
                <a:ea typeface="Calibri" pitchFamily="34" charset="-122"/>
                <a:cs typeface="Calibri" pitchFamily="34" charset="-120"/>
              </a:rPr>
              <a:t>historical cost of the chosen answers ÷ GPT-4’s cost on the same queries</a:t>
            </a:r>
            <a:endParaRPr lang="en-US" sz="1350" dirty="0"/>
          </a:p>
          <a:p>
            <a:pPr indent="0" marL="0">
              <a:spcAft>
                <a:spcPts val="800"/>
              </a:spcAft>
              <a:buNone/>
            </a:pPr>
            <a:r>
              <a:rPr lang="en-US" sz="1350" b="1" dirty="0">
                <a:solidFill>
                  <a:srgbClr val="0E7C7B"/>
                </a:solidFill>
                <a:latin typeface="Calibri" pitchFamily="34" charset="0"/>
                <a:ea typeface="Calibri" pitchFamily="34" charset="-122"/>
                <a:cs typeface="Calibri" pitchFamily="34" charset="-120"/>
              </a:rPr>
              <a:t>Allocation
</a:t>
            </a:r>
            <a:pPr indent="0" marL="0">
              <a:buNone/>
            </a:pPr>
            <a:r>
              <a:rPr lang="en-US" sz="1250" dirty="0">
                <a:solidFill>
                  <a:srgbClr val="1F2933"/>
                </a:solidFill>
                <a:latin typeface="Calibri" pitchFamily="34" charset="0"/>
                <a:ea typeface="Calibri" pitchFamily="34" charset="-122"/>
                <a:cs typeface="Calibri" pitchFamily="34" charset="-120"/>
              </a:rPr>
              <a:t>budget as a share of the tuning-estimated GPT-4 cost (50% ≈ 49% of GPT-4’s recorded cost)</a:t>
            </a:r>
            <a:endParaRPr lang="en-US" sz="1350" dirty="0"/>
          </a:p>
          <a:p>
            <a:pPr indent="0" marL="0">
              <a:spcAft>
                <a:spcPts val="800"/>
              </a:spcAft>
              <a:buNone/>
            </a:pPr>
            <a:r>
              <a:rPr lang="en-US" sz="1350" b="1" dirty="0">
                <a:solidFill>
                  <a:srgbClr val="0E7C7B"/>
                </a:solidFill>
                <a:latin typeface="Calibri" pitchFamily="34" charset="0"/>
                <a:ea typeface="Calibri" pitchFamily="34" charset="-122"/>
                <a:cs typeface="Calibri" pitchFamily="34" charset="-120"/>
              </a:rPr>
              <a:t>Coverage
</a:t>
            </a:r>
            <a:pPr indent="0" marL="0">
              <a:buNone/>
            </a:pPr>
            <a:r>
              <a:rPr lang="en-US" sz="1250" dirty="0">
                <a:solidFill>
                  <a:srgbClr val="1F2933"/>
                </a:solidFill>
                <a:latin typeface="Calibri" pitchFamily="34" charset="0"/>
                <a:ea typeface="Calibri" pitchFamily="34" charset="-122"/>
                <a:cs typeface="Calibri" pitchFamily="34" charset="-120"/>
              </a:rPr>
              <a:t>served ÷ requested queries</a:t>
            </a:r>
            <a:endParaRPr lang="en-US" sz="1350" dirty="0"/>
          </a:p>
          <a:p>
            <a:pPr indent="0" marL="0">
              <a:spcAft>
                <a:spcPts val="800"/>
              </a:spcAft>
              <a:buNone/>
            </a:pPr>
            <a:r>
              <a:rPr lang="en-US" sz="1350" b="1" dirty="0">
                <a:solidFill>
                  <a:srgbClr val="0E7C7B"/>
                </a:solidFill>
                <a:latin typeface="Calibri" pitchFamily="34" charset="0"/>
                <a:ea typeface="Calibri" pitchFamily="34" charset="-122"/>
                <a:cs typeface="Calibri" pitchFamily="34" charset="-120"/>
              </a:rPr>
              <a:t>Oracle regret
</a:t>
            </a:r>
            <a:pPr indent="0" marL="0">
              <a:buNone/>
            </a:pPr>
            <a:r>
              <a:rPr lang="en-US" sz="1250" dirty="0">
                <a:solidFill>
                  <a:srgbClr val="1F2933"/>
                </a:solidFill>
                <a:latin typeface="Calibri" pitchFamily="34" charset="0"/>
                <a:ea typeface="Calibri" pitchFamily="34" charset="-122"/>
                <a:cs typeface="Calibri" pitchFamily="34" charset="-120"/>
              </a:rPr>
              <a:t>Σ over learning (best arm reward − chosen reward)</a:t>
            </a:r>
            <a:endParaRPr lang="en-US" sz="13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E1 PERFORMANCE VS BUDGET</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PILOT trails at half allocation, leads only when money is loose</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7" name="e1-routerbench" descr=""/>
          <p:cNvGraphicFramePr/>
          <p:nvPr/>
        </p:nvGraphicFramePr>
        <p:xfrm>
          <a:off x="548640" y="1463040"/>
          <a:ext cx="5486400" cy="33375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e1-mmlu" descr=""/>
          <p:cNvGraphicFramePr/>
          <p:nvPr/>
        </p:nvGraphicFramePr>
        <p:xfrm>
          <a:off x="6153912" y="1463040"/>
          <a:ext cx="5486400" cy="3337560"/>
        </p:xfrm>
        <a:graphic xmlns:a="http://schemas.openxmlformats.org/drawingml/2006/main">
          <a:graphicData uri="http://schemas.openxmlformats.org/drawingml/2006/chart">
            <c:chart xmlns:c="http://schemas.openxmlformats.org/drawingml/2006/chart" r:id="rId4"/>
          </a:graphicData>
        </a:graphic>
      </p:graphicFrame>
      <p:sp>
        <p:nvSpPr>
          <p:cNvPr id="9" name="Shape 4"/>
          <p:cNvSpPr/>
          <p:nvPr/>
        </p:nvSpPr>
        <p:spPr>
          <a:xfrm>
            <a:off x="548640" y="4892040"/>
            <a:ext cx="5486400" cy="987552"/>
          </a:xfrm>
          <a:prstGeom prst="roundRect">
            <a:avLst>
              <a:gd name="adj" fmla="val 7407"/>
            </a:avLst>
          </a:prstGeom>
          <a:solidFill>
            <a:srgbClr val="F2F4F7"/>
          </a:solidFill>
          <a:ln w="9525">
            <a:solidFill>
              <a:srgbClr val="F2F4F7"/>
            </a:solidFill>
            <a:prstDash val="solid"/>
          </a:ln>
        </p:spPr>
      </p:sp>
      <p:sp>
        <p:nvSpPr>
          <p:cNvPr id="10" name="Text 5"/>
          <p:cNvSpPr txBox="1"/>
          <p:nvPr/>
        </p:nvSpPr>
        <p:spPr>
          <a:xfrm>
            <a:off x="713232" y="4919472"/>
            <a:ext cx="5212080" cy="932688"/>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50%  </a:t>
            </a:r>
            <a:pPr indent="0" marL="0">
              <a:buNone/>
            </a:pPr>
            <a:r>
              <a:rPr lang="en-US" sz="1250" b="1" dirty="0">
                <a:solidFill>
                  <a:srgbClr val="0E7C7B"/>
                </a:solidFill>
                <a:latin typeface="Calibri" pitchFamily="34" charset="0"/>
                <a:ea typeface="Calibri" pitchFamily="34" charset="-122"/>
                <a:cs typeface="Calibri" pitchFamily="34" charset="-120"/>
              </a:rPr>
              <a:t>PILOT 86.60%</a:t>
            </a:r>
            <a:pPr indent="0" marL="0">
              <a:buNone/>
            </a:pPr>
            <a:r>
              <a:rPr lang="en-US" sz="1250" dirty="0">
                <a:solidFill>
                  <a:srgbClr val="1F2933"/>
                </a:solidFill>
                <a:latin typeface="Calibri" pitchFamily="34" charset="0"/>
                <a:ea typeface="Calibri" pitchFamily="34" charset="-122"/>
                <a:cs typeface="Calibri" pitchFamily="34" charset="-120"/>
              </a:rPr>
              <a:t> at 46.23% cost · LinUCB 91.28% at 29.62%</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100%  </a:t>
            </a:r>
            <a:pPr indent="0" marL="0">
              <a:buNone/>
            </a:pPr>
            <a:r>
              <a:rPr lang="en-US" sz="1250" b="1" dirty="0">
                <a:solidFill>
                  <a:srgbClr val="0E7C7B"/>
                </a:solidFill>
                <a:latin typeface="Calibri" pitchFamily="34" charset="0"/>
                <a:ea typeface="Calibri" pitchFamily="34" charset="-122"/>
                <a:cs typeface="Calibri" pitchFamily="34" charset="-120"/>
              </a:rPr>
              <a:t>PILOT 97.94%</a:t>
            </a:r>
            <a:pPr indent="0" marL="0">
              <a:buNone/>
            </a:pPr>
            <a:r>
              <a:rPr lang="en-US" sz="1250" dirty="0">
                <a:solidFill>
                  <a:srgbClr val="1F2933"/>
                </a:solidFill>
                <a:latin typeface="Calibri" pitchFamily="34" charset="0"/>
                <a:ea typeface="Calibri" pitchFamily="34" charset="-122"/>
                <a:cs typeface="Calibri" pitchFamily="34" charset="-120"/>
              </a:rPr>
              <a:t> at 91.57% cost · LinUCB 96.59% at 49.44%</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W&amp;B PILOT 50%: </a:t>
            </a:r>
            <a:pPr indent="0" marL="0">
              <a:buNone/>
            </a:pPr>
            <a:r>
              <a:rPr lang="en-US" sz="1250" u="sng" dirty="0">
                <a:solidFill>
                  <a:srgbClr val="0E7C7B"/>
                </a:solidFill>
                <a:latin typeface="Calibri" pitchFamily="34" charset="0"/>
                <a:ea typeface="Calibri" pitchFamily="34" charset="-122"/>
                <a:cs typeface="Calibri" pitchFamily="34" charset="-120"/>
                <a:hlinkClick r:id="rId5" invalidUrl="" action="" tgtFrame="" tooltip="W&amp;B run p2-7d78b1693ceca1bae751be80 (openai/core/routerbench/seed-7/main/pilot/learn-1/budget-0.5)" history="1" highlightClick="0" endSnd="0">
                  <a:extLst>
                    <a:ext uri="{A12FA001-AC4F-418D-AE19-62706E023703}">
                      <ahyp:hlinkClr xmlns:ahyp="http://schemas.microsoft.com/office/drawing/2018/hyperlinkcolor" val="tx"/>
                    </a:ext>
                  </a:extLst>
                </a:hlinkClick>
              </a:rPr>
              <a:t>s7</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6" invalidUrl="" action="" tgtFrame="" tooltip="W&amp;B run p2-7e458ecb9aa6bc27b76bcaf3 (openai/core/routerbench/seed-42/main/pilot/learn-1/budget-0.5)" history="1" highlightClick="0" endSnd="0">
                  <a:extLst>
                    <a:ext uri="{A12FA001-AC4F-418D-AE19-62706E023703}">
                      <ahyp:hlinkClr xmlns:ahyp="http://schemas.microsoft.com/office/drawing/2018/hyperlinkcolor" val="tx"/>
                    </a:ext>
                  </a:extLst>
                </a:hlinkClick>
              </a:rPr>
              <a:t>s42</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7" invalidUrl="" action="" tgtFrame="" tooltip="W&amp;B run p2-7325190ce97dc5c4a1d986fa (openai/core/routerbench/seed-2026/main/pilot/learn-1/budget-0.5)" history="1" highlightClick="0" endSnd="0">
                  <a:extLst>
                    <a:ext uri="{A12FA001-AC4F-418D-AE19-62706E023703}">
                      <ahyp:hlinkClr xmlns:ahyp="http://schemas.microsoft.com/office/drawing/2018/hyperlinkcolor" val="tx"/>
                    </a:ext>
                  </a:extLst>
                </a:hlinkClick>
              </a:rPr>
              <a:t>s2026</a:t>
            </a:r>
            <a:pPr indent="0" marL="0">
              <a:buNone/>
            </a:pPr>
            <a:r>
              <a:rPr lang="en-US" sz="1250" dirty="0">
                <a:solidFill>
                  <a:srgbClr val="1F2933"/>
                </a:solidFill>
                <a:latin typeface="Calibri" pitchFamily="34" charset="0"/>
                <a:ea typeface="Calibri" pitchFamily="34" charset="-122"/>
                <a:cs typeface="Calibri" pitchFamily="34" charset="-120"/>
              </a:rPr>
              <a:t>   </a:t>
            </a:r>
            <a:pPr indent="0" marL="0">
              <a:buNone/>
            </a:pPr>
            <a:r>
              <a:rPr lang="en-US" sz="1250" dirty="0">
                <a:solidFill>
                  <a:srgbClr val="5B6676"/>
                </a:solidFill>
                <a:latin typeface="Calibri" pitchFamily="34" charset="0"/>
                <a:ea typeface="Calibri" pitchFamily="34" charset="-122"/>
                <a:cs typeface="Calibri" pitchFamily="34" charset="-120"/>
              </a:rPr>
              <a:t>LinUCB 50%: </a:t>
            </a:r>
            <a:pPr indent="0" marL="0">
              <a:buNone/>
            </a:pPr>
            <a:r>
              <a:rPr lang="en-US" sz="1250" u="sng" dirty="0">
                <a:solidFill>
                  <a:srgbClr val="0E7C7B"/>
                </a:solidFill>
                <a:latin typeface="Calibri" pitchFamily="34" charset="0"/>
                <a:ea typeface="Calibri" pitchFamily="34" charset="-122"/>
                <a:cs typeface="Calibri" pitchFamily="34" charset="-120"/>
                <a:hlinkClick r:id="rId8" invalidUrl="" action="" tgtFrame="" tooltip="W&amp;B run p2-77db5e01f61381e958f9e169 (openai/core/routerbench/seed-7/main/linucb/learn-1/budget-0.5)" history="1" highlightClick="0" endSnd="0">
                  <a:extLst>
                    <a:ext uri="{A12FA001-AC4F-418D-AE19-62706E023703}">
                      <ahyp:hlinkClr xmlns:ahyp="http://schemas.microsoft.com/office/drawing/2018/hyperlinkcolor" val="tx"/>
                    </a:ext>
                  </a:extLst>
                </a:hlinkClick>
              </a:rPr>
              <a:t>s7</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9" invalidUrl="" action="" tgtFrame="" tooltip="W&amp;B run p2-282b745642832ebb59f3d263 (openai/core/routerbench/seed-42/main/linucb/learn-1/budget-0.5)" history="1" highlightClick="0" endSnd="0">
                  <a:extLst>
                    <a:ext uri="{A12FA001-AC4F-418D-AE19-62706E023703}">
                      <ahyp:hlinkClr xmlns:ahyp="http://schemas.microsoft.com/office/drawing/2018/hyperlinkcolor" val="tx"/>
                    </a:ext>
                  </a:extLst>
                </a:hlinkClick>
              </a:rPr>
              <a:t>s42</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10" invalidUrl="" action="" tgtFrame="" tooltip="W&amp;B run p2-1bc691d8055130960ac58419 (openai/core/routerbench/seed-2026/main/linucb/learn-1/budget-0.5)" history="1" highlightClick="0" endSnd="0">
                  <a:extLst>
                    <a:ext uri="{A12FA001-AC4F-418D-AE19-62706E023703}">
                      <ahyp:hlinkClr xmlns:ahyp="http://schemas.microsoft.com/office/drawing/2018/hyperlinkcolor" val="tx"/>
                    </a:ext>
                  </a:extLst>
                </a:hlinkClick>
              </a:rPr>
              <a:t>s2026</a:t>
            </a:r>
            <a:endParaRPr lang="en-US" sz="1250" dirty="0"/>
          </a:p>
        </p:txBody>
      </p:sp>
      <p:sp>
        <p:nvSpPr>
          <p:cNvPr id="11" name="Shape 6"/>
          <p:cNvSpPr/>
          <p:nvPr/>
        </p:nvSpPr>
        <p:spPr>
          <a:xfrm>
            <a:off x="6153912" y="4892040"/>
            <a:ext cx="5486400" cy="987552"/>
          </a:xfrm>
          <a:prstGeom prst="roundRect">
            <a:avLst>
              <a:gd name="adj" fmla="val 7407"/>
            </a:avLst>
          </a:prstGeom>
          <a:solidFill>
            <a:srgbClr val="F2F4F7"/>
          </a:solidFill>
          <a:ln w="9525">
            <a:solidFill>
              <a:srgbClr val="F2F4F7"/>
            </a:solidFill>
            <a:prstDash val="solid"/>
          </a:ln>
        </p:spPr>
      </p:sp>
      <p:sp>
        <p:nvSpPr>
          <p:cNvPr id="12" name="Text 7"/>
          <p:cNvSpPr txBox="1"/>
          <p:nvPr/>
        </p:nvSpPr>
        <p:spPr>
          <a:xfrm>
            <a:off x="6318504" y="4919472"/>
            <a:ext cx="5212080" cy="932688"/>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50%  </a:t>
            </a:r>
            <a:pPr indent="0" marL="0">
              <a:buNone/>
            </a:pPr>
            <a:r>
              <a:rPr lang="en-US" sz="1250" b="1" dirty="0">
                <a:solidFill>
                  <a:srgbClr val="0E7C7B"/>
                </a:solidFill>
                <a:latin typeface="Calibri" pitchFamily="34" charset="0"/>
                <a:ea typeface="Calibri" pitchFamily="34" charset="-122"/>
                <a:cs typeface="Calibri" pitchFamily="34" charset="-120"/>
              </a:rPr>
              <a:t>PILOT 83.53%</a:t>
            </a:r>
            <a:pPr indent="0" marL="0">
              <a:buNone/>
            </a:pPr>
            <a:r>
              <a:rPr lang="en-US" sz="1250" dirty="0">
                <a:solidFill>
                  <a:srgbClr val="1F2933"/>
                </a:solidFill>
                <a:latin typeface="Calibri" pitchFamily="34" charset="0"/>
                <a:ea typeface="Calibri" pitchFamily="34" charset="-122"/>
                <a:cs typeface="Calibri" pitchFamily="34" charset="-120"/>
              </a:rPr>
              <a:t> at 47.53% cost · LinUCB 86.96% at 45.07%</a:t>
            </a:r>
            <a:endParaRPr lang="en-US" sz="1250" dirty="0"/>
          </a:p>
          <a:p>
            <a:pPr indent="0" marL="0">
              <a:buNone/>
            </a:pPr>
            <a:r>
              <a:rPr lang="en-US" sz="1250" b="1" dirty="0">
                <a:solidFill>
                  <a:srgbClr val="1F2933"/>
                </a:solidFill>
                <a:latin typeface="Calibri" pitchFamily="34" charset="0"/>
                <a:ea typeface="Calibri" pitchFamily="34" charset="-122"/>
                <a:cs typeface="Calibri" pitchFamily="34" charset="-120"/>
              </a:rPr>
              <a:t>100%  </a:t>
            </a:r>
            <a:pPr indent="0" marL="0">
              <a:buNone/>
            </a:pPr>
            <a:r>
              <a:rPr lang="en-US" sz="1250" b="1" dirty="0">
                <a:solidFill>
                  <a:srgbClr val="0E7C7B"/>
                </a:solidFill>
                <a:latin typeface="Calibri" pitchFamily="34" charset="0"/>
                <a:ea typeface="Calibri" pitchFamily="34" charset="-122"/>
                <a:cs typeface="Calibri" pitchFamily="34" charset="-120"/>
              </a:rPr>
              <a:t>PILOT 98.44%</a:t>
            </a:r>
            <a:pPr indent="0" marL="0">
              <a:buNone/>
            </a:pPr>
            <a:r>
              <a:rPr lang="en-US" sz="1250" dirty="0">
                <a:solidFill>
                  <a:srgbClr val="1F2933"/>
                </a:solidFill>
                <a:latin typeface="Calibri" pitchFamily="34" charset="0"/>
                <a:ea typeface="Calibri" pitchFamily="34" charset="-122"/>
                <a:cs typeface="Calibri" pitchFamily="34" charset="-120"/>
              </a:rPr>
              <a:t> at 91.81% cost · EpochGreedy 95.43% at 72.66%</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W&amp;B PILOT 50%: </a:t>
            </a:r>
            <a:pPr indent="0" marL="0">
              <a:buNone/>
            </a:pPr>
            <a:r>
              <a:rPr lang="en-US" sz="1250" u="sng" dirty="0">
                <a:solidFill>
                  <a:srgbClr val="0E7C7B"/>
                </a:solidFill>
                <a:latin typeface="Calibri" pitchFamily="34" charset="0"/>
                <a:ea typeface="Calibri" pitchFamily="34" charset="-122"/>
                <a:cs typeface="Calibri" pitchFamily="34" charset="-120"/>
                <a:hlinkClick r:id="rId11" invalidUrl="" action="" tgtFrame="" tooltip="W&amp;B run p2-e2a3a1f9474a22b0f9c5a31f (openai/core/mmlu/seed-7/main/pilot/learn-1/budget-0.5)" history="1" highlightClick="0" endSnd="0">
                  <a:extLst>
                    <a:ext uri="{A12FA001-AC4F-418D-AE19-62706E023703}">
                      <ahyp:hlinkClr xmlns:ahyp="http://schemas.microsoft.com/office/drawing/2018/hyperlinkcolor" val="tx"/>
                    </a:ext>
                  </a:extLst>
                </a:hlinkClick>
              </a:rPr>
              <a:t>s7</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12" invalidUrl="" action="" tgtFrame="" tooltip="W&amp;B run p2-7a1be896143dbf1dd1ea65cd (openai/core/mmlu/seed-42/main/pilot/learn-1/budget-0.5)" history="1" highlightClick="0" endSnd="0">
                  <a:extLst>
                    <a:ext uri="{A12FA001-AC4F-418D-AE19-62706E023703}">
                      <ahyp:hlinkClr xmlns:ahyp="http://schemas.microsoft.com/office/drawing/2018/hyperlinkcolor" val="tx"/>
                    </a:ext>
                  </a:extLst>
                </a:hlinkClick>
              </a:rPr>
              <a:t>s42</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13" invalidUrl="" action="" tgtFrame="" tooltip="W&amp;B run p2-ae43e5c37116d0d6205943b3 (openai/core/mmlu/seed-2026/main/pilot/learn-1/budget-0.5)" history="1" highlightClick="0" endSnd="0">
                  <a:extLst>
                    <a:ext uri="{A12FA001-AC4F-418D-AE19-62706E023703}">
                      <ahyp:hlinkClr xmlns:ahyp="http://schemas.microsoft.com/office/drawing/2018/hyperlinkcolor" val="tx"/>
                    </a:ext>
                  </a:extLst>
                </a:hlinkClick>
              </a:rPr>
              <a:t>s2026</a:t>
            </a:r>
            <a:pPr indent="0" marL="0">
              <a:buNone/>
            </a:pPr>
            <a:r>
              <a:rPr lang="en-US" sz="1250" dirty="0">
                <a:solidFill>
                  <a:srgbClr val="1F2933"/>
                </a:solidFill>
                <a:latin typeface="Calibri" pitchFamily="34" charset="0"/>
                <a:ea typeface="Calibri" pitchFamily="34" charset="-122"/>
                <a:cs typeface="Calibri" pitchFamily="34" charset="-120"/>
              </a:rPr>
              <a:t>   </a:t>
            </a:r>
            <a:pPr indent="0" marL="0">
              <a:buNone/>
            </a:pPr>
            <a:r>
              <a:rPr lang="en-US" sz="1250" dirty="0">
                <a:solidFill>
                  <a:srgbClr val="5B6676"/>
                </a:solidFill>
                <a:latin typeface="Calibri" pitchFamily="34" charset="0"/>
                <a:ea typeface="Calibri" pitchFamily="34" charset="-122"/>
                <a:cs typeface="Calibri" pitchFamily="34" charset="-120"/>
              </a:rPr>
              <a:t>LinUCB 50%: </a:t>
            </a:r>
            <a:pPr indent="0" marL="0">
              <a:buNone/>
            </a:pPr>
            <a:r>
              <a:rPr lang="en-US" sz="1250" u="sng" dirty="0">
                <a:solidFill>
                  <a:srgbClr val="0E7C7B"/>
                </a:solidFill>
                <a:latin typeface="Calibri" pitchFamily="34" charset="0"/>
                <a:ea typeface="Calibri" pitchFamily="34" charset="-122"/>
                <a:cs typeface="Calibri" pitchFamily="34" charset="-120"/>
                <a:hlinkClick r:id="rId14" invalidUrl="" action="" tgtFrame="" tooltip="W&amp;B run p2-e69603db58106be4ebffeb2e (openai/core/mmlu/seed-7/main/linucb/learn-1/budget-0.5)" history="1" highlightClick="0" endSnd="0">
                  <a:extLst>
                    <a:ext uri="{A12FA001-AC4F-418D-AE19-62706E023703}">
                      <ahyp:hlinkClr xmlns:ahyp="http://schemas.microsoft.com/office/drawing/2018/hyperlinkcolor" val="tx"/>
                    </a:ext>
                  </a:extLst>
                </a:hlinkClick>
              </a:rPr>
              <a:t>s7</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15" invalidUrl="" action="" tgtFrame="" tooltip="W&amp;B run p2-6e0469958272f93ee954d604 (openai/core/mmlu/seed-42/main/linucb/learn-1/budget-0.5)" history="1" highlightClick="0" endSnd="0">
                  <a:extLst>
                    <a:ext uri="{A12FA001-AC4F-418D-AE19-62706E023703}">
                      <ahyp:hlinkClr xmlns:ahyp="http://schemas.microsoft.com/office/drawing/2018/hyperlinkcolor" val="tx"/>
                    </a:ext>
                  </a:extLst>
                </a:hlinkClick>
              </a:rPr>
              <a:t>s42</a:t>
            </a:r>
            <a:pPr indent="0" marL="0">
              <a:buNone/>
            </a:pPr>
            <a:r>
              <a:rPr lang="en-US" sz="1250" dirty="0">
                <a:solidFill>
                  <a:srgbClr val="5B6676"/>
                </a:solidFill>
                <a:latin typeface="Calibri" pitchFamily="34" charset="0"/>
                <a:ea typeface="Calibri" pitchFamily="34" charset="-122"/>
                <a:cs typeface="Calibri" pitchFamily="34" charset="-120"/>
              </a:rPr>
              <a:t> · </a:t>
            </a:r>
            <a:pPr indent="0" marL="0">
              <a:buNone/>
            </a:pPr>
            <a:r>
              <a:rPr lang="en-US" sz="1250" u="sng" dirty="0">
                <a:solidFill>
                  <a:srgbClr val="0E7C7B"/>
                </a:solidFill>
                <a:latin typeface="Calibri" pitchFamily="34" charset="0"/>
                <a:ea typeface="Calibri" pitchFamily="34" charset="-122"/>
                <a:cs typeface="Calibri" pitchFamily="34" charset="-120"/>
                <a:hlinkClick r:id="rId16" invalidUrl="" action="" tgtFrame="" tooltip="W&amp;B run p2-647f1eb3313b84f07ae69543 (openai/core/mmlu/seed-2026/main/linucb/learn-1/budget-0.5)" history="1" highlightClick="0" endSnd="0">
                  <a:extLst>
                    <a:ext uri="{A12FA001-AC4F-418D-AE19-62706E023703}">
                      <ahyp:hlinkClr xmlns:ahyp="http://schemas.microsoft.com/office/drawing/2018/hyperlinkcolor" val="tx"/>
                    </a:ext>
                  </a:extLst>
                </a:hlinkClick>
              </a:rPr>
              <a:t>s2026</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E2 CUMULATIVE REGRET</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Among adaptive learners, PILOT loses the least reward</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7" name="e2-regret-routerbench" descr=""/>
          <p:cNvGraphicFramePr/>
          <p:nvPr/>
        </p:nvGraphicFramePr>
        <p:xfrm>
          <a:off x="548640" y="1463040"/>
          <a:ext cx="5486400" cy="342900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e2-regret-mmlu" descr=""/>
          <p:cNvGraphicFramePr/>
          <p:nvPr/>
        </p:nvGraphicFramePr>
        <p:xfrm>
          <a:off x="6153912" y="1463040"/>
          <a:ext cx="5486400" cy="3429000"/>
        </p:xfrm>
        <a:graphic xmlns:a="http://schemas.openxmlformats.org/drawingml/2006/main">
          <a:graphicData uri="http://schemas.openxmlformats.org/drawingml/2006/chart">
            <c:chart xmlns:c="http://schemas.openxmlformats.org/drawingml/2006/chart" r:id="rId4"/>
          </a:graphicData>
        </a:graphic>
      </p:graphicFrame>
      <p:sp>
        <p:nvSpPr>
          <p:cNvPr id="9" name="Shape 4"/>
          <p:cNvSpPr/>
          <p:nvPr/>
        </p:nvSpPr>
        <p:spPr>
          <a:xfrm>
            <a:off x="548640" y="4983480"/>
            <a:ext cx="5486400" cy="914400"/>
          </a:xfrm>
          <a:prstGeom prst="roundRect">
            <a:avLst>
              <a:gd name="adj" fmla="val 8000"/>
            </a:avLst>
          </a:prstGeom>
          <a:solidFill>
            <a:srgbClr val="E2F1F0"/>
          </a:solidFill>
          <a:ln w="9525">
            <a:solidFill>
              <a:srgbClr val="E2F1F0"/>
            </a:solidFill>
            <a:prstDash val="solid"/>
          </a:ln>
        </p:spPr>
      </p:sp>
      <p:sp>
        <p:nvSpPr>
          <p:cNvPr id="10" name="Text 5"/>
          <p:cNvSpPr txBox="1"/>
          <p:nvPr/>
        </p:nvSpPr>
        <p:spPr>
          <a:xfrm>
            <a:off x="731520" y="5001768"/>
            <a:ext cx="1463040" cy="877824"/>
          </a:xfrm>
          <a:prstGeom prst="rect">
            <a:avLst/>
          </a:prstGeom>
          <a:noFill/>
          <a:ln/>
        </p:spPr>
        <p:txBody>
          <a:bodyPr wrap="square" lIns="0" tIns="0" rIns="0" bIns="0" rtlCol="0" anchor="ctr"/>
          <a:lstStyle/>
          <a:p>
            <a:pPr indent="0" marL="0">
              <a:buNone/>
            </a:pPr>
            <a:r>
              <a:rPr lang="en-US" sz="2600" b="1" dirty="0">
                <a:solidFill>
                  <a:srgbClr val="0E7C7B"/>
                </a:solidFill>
                <a:latin typeface="Cambria" pitchFamily="34" charset="0"/>
                <a:ea typeface="Cambria" pitchFamily="34" charset="-122"/>
                <a:cs typeface="Cambria" pitchFamily="34" charset="-120"/>
              </a:rPr>
              <a:t>4,275</a:t>
            </a:r>
            <a:endParaRPr lang="en-US" sz="2600" dirty="0"/>
          </a:p>
        </p:txBody>
      </p:sp>
      <p:sp>
        <p:nvSpPr>
          <p:cNvPr id="11" name="Text 6"/>
          <p:cNvSpPr txBox="1"/>
          <p:nvPr/>
        </p:nvSpPr>
        <p:spPr>
          <a:xfrm>
            <a:off x="2240280" y="5001768"/>
            <a:ext cx="3657600" cy="877824"/>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vs 4,747 EpochGreedy, 6,826 LinUCB</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always-GPT-4: 3,675 (not a learner)</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Source: </a:t>
            </a:r>
            <a:pPr indent="0" marL="0">
              <a:buNone/>
            </a:pPr>
            <a:r>
              <a:rPr lang="en-US" sz="1250" u="sng" dirty="0">
                <a:solidFill>
                  <a:srgbClr val="0E7C7B"/>
                </a:solidFill>
                <a:latin typeface="Calibri" pitchFamily="34" charset="0"/>
                <a:ea typeface="Calibri" pitchFamily="34" charset="-122"/>
                <a:cs typeface="Calibri" pitchFamily="34" charset="-120"/>
                <a:hlinkClick r:id="rId5" invalidUrl="" action="" tgtFrame="" tooltip="https://github.com/kiettheis0702/pilot-llm-routing/blob/main/reports/openai-core-2026-10-31/learning-prefixes.csv" history="1" highlightClick="0" endSnd="0">
                  <a:extLst>
                    <a:ext uri="{A12FA001-AC4F-418D-AE19-62706E023703}">
                      <ahyp:hlinkClr xmlns:ahyp="http://schemas.microsoft.com/office/drawing/2018/hyperlinkcolor" val="tx"/>
                    </a:ext>
                  </a:extLst>
                </a:hlinkClick>
              </a:rPr>
              <a:t>learning-prefixes.csv</a:t>
            </a:r>
            <a:endParaRPr lang="en-US" sz="1250" dirty="0"/>
          </a:p>
        </p:txBody>
      </p:sp>
      <p:sp>
        <p:nvSpPr>
          <p:cNvPr id="12" name="Shape 7"/>
          <p:cNvSpPr/>
          <p:nvPr/>
        </p:nvSpPr>
        <p:spPr>
          <a:xfrm>
            <a:off x="6153912" y="4983480"/>
            <a:ext cx="5486400" cy="914400"/>
          </a:xfrm>
          <a:prstGeom prst="roundRect">
            <a:avLst>
              <a:gd name="adj" fmla="val 8000"/>
            </a:avLst>
          </a:prstGeom>
          <a:solidFill>
            <a:srgbClr val="E2F1F0"/>
          </a:solidFill>
          <a:ln w="9525">
            <a:solidFill>
              <a:srgbClr val="E2F1F0"/>
            </a:solidFill>
            <a:prstDash val="solid"/>
          </a:ln>
        </p:spPr>
      </p:sp>
      <p:sp>
        <p:nvSpPr>
          <p:cNvPr id="13" name="Text 8"/>
          <p:cNvSpPr txBox="1"/>
          <p:nvPr/>
        </p:nvSpPr>
        <p:spPr>
          <a:xfrm>
            <a:off x="6336792" y="5001768"/>
            <a:ext cx="1463040" cy="877824"/>
          </a:xfrm>
          <a:prstGeom prst="rect">
            <a:avLst/>
          </a:prstGeom>
          <a:noFill/>
          <a:ln/>
        </p:spPr>
        <p:txBody>
          <a:bodyPr wrap="square" lIns="0" tIns="0" rIns="0" bIns="0" rtlCol="0" anchor="ctr"/>
          <a:lstStyle/>
          <a:p>
            <a:pPr indent="0" marL="0">
              <a:buNone/>
            </a:pPr>
            <a:r>
              <a:rPr lang="en-US" sz="2600" b="1" dirty="0">
                <a:solidFill>
                  <a:srgbClr val="0E7C7B"/>
                </a:solidFill>
                <a:latin typeface="Cambria" pitchFamily="34" charset="0"/>
                <a:ea typeface="Cambria" pitchFamily="34" charset="-122"/>
                <a:cs typeface="Cambria" pitchFamily="34" charset="-120"/>
              </a:rPr>
              <a:t>1,758</a:t>
            </a:r>
            <a:endParaRPr lang="en-US" sz="2600" dirty="0"/>
          </a:p>
        </p:txBody>
      </p:sp>
      <p:sp>
        <p:nvSpPr>
          <p:cNvPr id="14" name="Text 9"/>
          <p:cNvSpPr txBox="1"/>
          <p:nvPr/>
        </p:nvSpPr>
        <p:spPr>
          <a:xfrm>
            <a:off x="7845552" y="5001768"/>
            <a:ext cx="3657600" cy="877824"/>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vs 2,274 EpochGreedy, 2,749 LinUCB</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always-GPT-4: 1,416 (not a learner)</a:t>
            </a:r>
            <a:endParaRPr lang="en-US" sz="1250" dirty="0"/>
          </a:p>
          <a:p>
            <a:pPr indent="0" marL="0">
              <a:buNone/>
            </a:pPr>
            <a:r>
              <a:rPr lang="en-US" sz="1250" dirty="0">
                <a:solidFill>
                  <a:srgbClr val="5B6676"/>
                </a:solidFill>
                <a:latin typeface="Calibri" pitchFamily="34" charset="0"/>
                <a:ea typeface="Calibri" pitchFamily="34" charset="-122"/>
                <a:cs typeface="Calibri" pitchFamily="34" charset="-120"/>
              </a:rPr>
              <a:t>Source: </a:t>
            </a:r>
            <a:pPr indent="0" marL="0">
              <a:buNone/>
            </a:pPr>
            <a:r>
              <a:rPr lang="en-US" sz="1250" u="sng" dirty="0">
                <a:solidFill>
                  <a:srgbClr val="0E7C7B"/>
                </a:solidFill>
                <a:latin typeface="Calibri" pitchFamily="34" charset="0"/>
                <a:ea typeface="Calibri" pitchFamily="34" charset="-122"/>
                <a:cs typeface="Calibri" pitchFamily="34" charset="-120"/>
                <a:hlinkClick r:id="rId6" invalidUrl="" action="" tgtFrame="" tooltip="https://github.com/kiettheis0702/pilot-llm-routing/blob/main/reports/openai-core-2026-10-31/learning-prefixes.csv" history="1" highlightClick="0" endSnd="0">
                  <a:extLst>
                    <a:ext uri="{A12FA001-AC4F-418D-AE19-62706E023703}">
                      <ahyp:hlinkClr xmlns:ahyp="http://schemas.microsoft.com/office/drawing/2018/hyperlinkcolor" val="tx"/>
                    </a:ext>
                  </a:extLst>
                </a:hlinkClick>
              </a:rPr>
              <a:t>learning-prefixes.csv</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E2 LEARNING SIZE</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More learning barely moves PILOT at half allocation</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7" name="e2-size-routerbench" descr=""/>
          <p:cNvGraphicFramePr/>
          <p:nvPr/>
        </p:nvGraphicFramePr>
        <p:xfrm>
          <a:off x="548640" y="1463040"/>
          <a:ext cx="5486400" cy="342900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e2-size-mmlu" descr=""/>
          <p:cNvGraphicFramePr/>
          <p:nvPr/>
        </p:nvGraphicFramePr>
        <p:xfrm>
          <a:off x="6153912" y="1463040"/>
          <a:ext cx="5486400" cy="3429000"/>
        </p:xfrm>
        <a:graphic xmlns:a="http://schemas.openxmlformats.org/drawingml/2006/main">
          <a:graphicData uri="http://schemas.openxmlformats.org/drawingml/2006/chart">
            <c:chart xmlns:c="http://schemas.openxmlformats.org/drawingml/2006/chart" r:id="rId4"/>
          </a:graphicData>
        </a:graphic>
      </p:graphicFrame>
      <p:sp>
        <p:nvSpPr>
          <p:cNvPr id="9" name="Shape 4"/>
          <p:cNvSpPr/>
          <p:nvPr/>
        </p:nvSpPr>
        <p:spPr>
          <a:xfrm>
            <a:off x="548640" y="4983480"/>
            <a:ext cx="11094415" cy="914400"/>
          </a:xfrm>
          <a:prstGeom prst="roundRect">
            <a:avLst>
              <a:gd name="adj" fmla="val 8000"/>
            </a:avLst>
          </a:prstGeom>
          <a:solidFill>
            <a:srgbClr val="FBF0DC"/>
          </a:solidFill>
          <a:ln w="9525">
            <a:solidFill>
              <a:srgbClr val="FBF0DC"/>
            </a:solidFill>
            <a:prstDash val="solid"/>
          </a:ln>
        </p:spPr>
      </p:sp>
      <p:sp>
        <p:nvSpPr>
          <p:cNvPr id="10" name="Text 5"/>
          <p:cNvSpPr txBox="1"/>
          <p:nvPr/>
        </p:nvSpPr>
        <p:spPr>
          <a:xfrm>
            <a:off x="731520" y="5001768"/>
            <a:ext cx="10728655" cy="877824"/>
          </a:xfrm>
          <a:prstGeom prst="rect">
            <a:avLst/>
          </a:prstGeom>
          <a:noFill/>
          <a:ln/>
        </p:spPr>
        <p:txBody>
          <a:bodyPr wrap="square" lIns="0" tIns="0" rIns="0" bIns="0" rtlCol="0" anchor="ctr"/>
          <a:lstStyle/>
          <a:p>
            <a:pPr indent="0" marL="0">
              <a:buNone/>
            </a:pPr>
            <a:r>
              <a:rPr lang="en-US" sz="1350" b="1" dirty="0">
                <a:solidFill>
                  <a:srgbClr val="C77700"/>
                </a:solidFill>
                <a:latin typeface="Calibri" pitchFamily="34" charset="0"/>
                <a:ea typeface="Calibri" pitchFamily="34" charset="-122"/>
                <a:cs typeface="Calibri" pitchFamily="34" charset="-120"/>
              </a:rPr>
              <a:t>Lower regret ≠ better budgeted deployment.  </a:t>
            </a:r>
            <a:pPr indent="0" marL="0">
              <a:buNone/>
            </a:pPr>
            <a:r>
              <a:rPr lang="en-US" sz="1350" dirty="0">
                <a:solidFill>
                  <a:srgbClr val="1F2933"/>
                </a:solidFill>
                <a:latin typeface="Calibri" pitchFamily="34" charset="0"/>
                <a:ea typeface="Calibri" pitchFamily="34" charset="-122"/>
                <a:cs typeface="Calibri" pitchFamily="34" charset="-120"/>
              </a:rPr>
              <a:t>From 10% to 100% of the stream PILOT changes by +0.49 pp / +1.52 pp (RouterBench / MMLU), EpochGreedy by +9.65 pp / +12.00 pp. LinUCB stays highest at every prefix.</a:t>
            </a:r>
            <a:endParaRPr lang="en-US" sz="13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TEAM-DESIGNED ABLATIONS</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Online updates matter most; prior effects are mixed</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7" name="ablation-deltas" descr=""/>
          <p:cNvGraphicFramePr/>
          <p:nvPr/>
        </p:nvGraphicFramePr>
        <p:xfrm>
          <a:off x="548640" y="1463040"/>
          <a:ext cx="6949440" cy="4526280"/>
        </p:xfrm>
        <a:graphic xmlns:a="http://schemas.openxmlformats.org/drawingml/2006/main">
          <a:graphicData uri="http://schemas.openxmlformats.org/drawingml/2006/chart">
            <c:chart xmlns:c="http://schemas.openxmlformats.org/drawingml/2006/chart" r:id="rId3"/>
          </a:graphicData>
        </a:graphic>
      </p:graphicFrame>
      <p:sp>
        <p:nvSpPr>
          <p:cNvPr id="8" name="Shape 4"/>
          <p:cNvSpPr/>
          <p:nvPr/>
        </p:nvSpPr>
        <p:spPr>
          <a:xfrm>
            <a:off x="7726680" y="1481328"/>
            <a:ext cx="3913632" cy="1005840"/>
          </a:xfrm>
          <a:prstGeom prst="roundRect">
            <a:avLst>
              <a:gd name="adj" fmla="val 7273"/>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9" name="Shape 5"/>
          <p:cNvSpPr/>
          <p:nvPr/>
        </p:nvSpPr>
        <p:spPr>
          <a:xfrm>
            <a:off x="7882128" y="1636776"/>
            <a:ext cx="256032" cy="256032"/>
          </a:xfrm>
          <a:prstGeom prst="ellipse">
            <a:avLst/>
          </a:prstGeom>
          <a:solidFill>
            <a:srgbClr val="C2452D"/>
          </a:solidFill>
          <a:ln w="9525">
            <a:solidFill>
              <a:srgbClr val="C2452D"/>
            </a:solidFill>
            <a:prstDash val="solid"/>
          </a:ln>
        </p:spPr>
      </p:sp>
      <p:sp>
        <p:nvSpPr>
          <p:cNvPr id="10" name="Text 6"/>
          <p:cNvSpPr txBox="1"/>
          <p:nvPr/>
        </p:nvSpPr>
        <p:spPr>
          <a:xfrm>
            <a:off x="8275320" y="1554480"/>
            <a:ext cx="3246120" cy="896112"/>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Prior only
</a:t>
            </a:r>
            <a:pPr indent="0" marL="0">
              <a:buNone/>
            </a:pPr>
            <a:r>
              <a:rPr lang="en-US" sz="1200" dirty="0">
                <a:solidFill>
                  <a:srgbClr val="1F2933"/>
                </a:solidFill>
                <a:latin typeface="Calibri" pitchFamily="34" charset="0"/>
                <a:ea typeface="Calibri" pitchFamily="34" charset="-122"/>
                <a:cs typeface="Calibri" pitchFamily="34" charset="-120"/>
              </a:rPr>
              <a:t>−6.70 pp / −13.88 pp: without online updates quality drops the most.</a:t>
            </a:r>
            <a:endParaRPr lang="en-US" sz="1350" dirty="0"/>
          </a:p>
        </p:txBody>
      </p:sp>
      <p:sp>
        <p:nvSpPr>
          <p:cNvPr id="11" name="Shape 7"/>
          <p:cNvSpPr/>
          <p:nvPr/>
        </p:nvSpPr>
        <p:spPr>
          <a:xfrm>
            <a:off x="7726680" y="2615184"/>
            <a:ext cx="3913632" cy="1005840"/>
          </a:xfrm>
          <a:prstGeom prst="roundRect">
            <a:avLst>
              <a:gd name="adj" fmla="val 7273"/>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2" name="Shape 8"/>
          <p:cNvSpPr/>
          <p:nvPr/>
        </p:nvSpPr>
        <p:spPr>
          <a:xfrm>
            <a:off x="7882128" y="2770632"/>
            <a:ext cx="256032" cy="256032"/>
          </a:xfrm>
          <a:prstGeom prst="ellipse">
            <a:avLst/>
          </a:prstGeom>
          <a:solidFill>
            <a:srgbClr val="3D5A80"/>
          </a:solidFill>
          <a:ln w="9525">
            <a:solidFill>
              <a:srgbClr val="3D5A80"/>
            </a:solidFill>
            <a:prstDash val="solid"/>
          </a:ln>
        </p:spPr>
      </p:sp>
      <p:sp>
        <p:nvSpPr>
          <p:cNvPr id="13" name="Text 9"/>
          <p:cNvSpPr txBox="1"/>
          <p:nvPr/>
        </p:nvSpPr>
        <p:spPr>
          <a:xfrm>
            <a:off x="8275320" y="2688336"/>
            <a:ext cx="3246120" cy="896112"/>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Zero prior directions
</a:t>
            </a:r>
            <a:pPr indent="0" marL="0">
              <a:buNone/>
            </a:pPr>
            <a:r>
              <a:rPr lang="en-US" sz="1200" dirty="0">
                <a:solidFill>
                  <a:srgbClr val="1F2933"/>
                </a:solidFill>
                <a:latin typeface="Calibri" pitchFamily="34" charset="0"/>
                <a:ea typeface="Calibri" pitchFamily="34" charset="-122"/>
                <a:cs typeface="Calibri" pitchFamily="34" charset="-120"/>
              </a:rPr>
              <a:t>+2.14 pp / −0.45 pp: mixed sign. Projection and λ still come from preferences.</a:t>
            </a:r>
            <a:endParaRPr lang="en-US" sz="1350" dirty="0"/>
          </a:p>
        </p:txBody>
      </p:sp>
      <p:sp>
        <p:nvSpPr>
          <p:cNvPr id="14" name="Shape 10"/>
          <p:cNvSpPr/>
          <p:nvPr/>
        </p:nvSpPr>
        <p:spPr>
          <a:xfrm>
            <a:off x="7726680" y="3749040"/>
            <a:ext cx="3913632" cy="1005840"/>
          </a:xfrm>
          <a:prstGeom prst="roundRect">
            <a:avLst>
              <a:gd name="adj" fmla="val 7273"/>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5" name="Shape 11"/>
          <p:cNvSpPr/>
          <p:nvPr/>
        </p:nvSpPr>
        <p:spPr>
          <a:xfrm>
            <a:off x="7882128" y="3904488"/>
            <a:ext cx="256032" cy="256032"/>
          </a:xfrm>
          <a:prstGeom prst="ellipse">
            <a:avLst/>
          </a:prstGeom>
          <a:solidFill>
            <a:srgbClr val="0E7C7B"/>
          </a:solidFill>
          <a:ln w="9525">
            <a:solidFill>
              <a:srgbClr val="0E7C7B"/>
            </a:solidFill>
            <a:prstDash val="solid"/>
          </a:ln>
        </p:spPr>
      </p:sp>
      <p:sp>
        <p:nvSpPr>
          <p:cNvPr id="16" name="Text 12"/>
          <p:cNvSpPr txBox="1"/>
          <p:nvPr/>
        </p:nvSpPr>
        <p:spPr>
          <a:xfrm>
            <a:off x="8275320" y="3822192"/>
            <a:ext cx="3246120" cy="896112"/>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Unit strength λ = 1
</a:t>
            </a:r>
            <a:pPr indent="0" marL="0">
              <a:buNone/>
            </a:pPr>
            <a:r>
              <a:rPr lang="en-US" sz="1200" dirty="0">
                <a:solidFill>
                  <a:srgbClr val="1F2933"/>
                </a:solidFill>
                <a:latin typeface="Calibri" pitchFamily="34" charset="0"/>
                <a:ea typeface="Calibri" pitchFamily="34" charset="-122"/>
                <a:cs typeface="Calibri" pitchFamily="34" charset="-120"/>
              </a:rPr>
              <a:t>+1.55 pp / +0.32 pp: the 1/accuracy heuristic is not supported here.</a:t>
            </a:r>
            <a:endParaRPr lang="en-US" sz="1350" dirty="0"/>
          </a:p>
        </p:txBody>
      </p:sp>
      <p:sp>
        <p:nvSpPr>
          <p:cNvPr id="17" name="Shape 13"/>
          <p:cNvSpPr/>
          <p:nvPr/>
        </p:nvSpPr>
        <p:spPr>
          <a:xfrm>
            <a:off x="7726680" y="4882896"/>
            <a:ext cx="3913632" cy="1005840"/>
          </a:xfrm>
          <a:prstGeom prst="roundRect">
            <a:avLst>
              <a:gd name="adj" fmla="val 7273"/>
            </a:avLst>
          </a:prstGeom>
          <a:solidFill>
            <a:srgbClr val="FFFFFF"/>
          </a:solidFill>
          <a:ln w="9525">
            <a:solidFill>
              <a:srgbClr val="D9DEE5"/>
            </a:solidFill>
            <a:prstDash val="solid"/>
          </a:ln>
          <a:effectLst>
            <a:outerShdw sx="100000" sy="100000" kx="0" ky="0" algn="bl" rotWithShape="0" blurRad="50800" dist="19050" dir="5400000">
              <a:srgbClr val="9AA5B4">
                <a:alpha val="25000"/>
              </a:srgbClr>
            </a:outerShdw>
          </a:effectLst>
        </p:spPr>
      </p:sp>
      <p:sp>
        <p:nvSpPr>
          <p:cNvPr id="18" name="Shape 14"/>
          <p:cNvSpPr/>
          <p:nvPr/>
        </p:nvSpPr>
        <p:spPr>
          <a:xfrm>
            <a:off x="7882128" y="5038344"/>
            <a:ext cx="256032" cy="256032"/>
          </a:xfrm>
          <a:prstGeom prst="ellipse">
            <a:avLst/>
          </a:prstGeom>
          <a:solidFill>
            <a:srgbClr val="8D99AE"/>
          </a:solidFill>
          <a:ln w="9525">
            <a:solidFill>
              <a:srgbClr val="8D99AE"/>
            </a:solidFill>
            <a:prstDash val="solid"/>
          </a:ln>
        </p:spPr>
      </p:sp>
      <p:sp>
        <p:nvSpPr>
          <p:cNvPr id="19" name="Text 15"/>
          <p:cNvSpPr txBox="1"/>
          <p:nvPr/>
        </p:nvSpPr>
        <p:spPr>
          <a:xfrm>
            <a:off x="8275320" y="4956048"/>
            <a:ext cx="3246120" cy="896112"/>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One bin, 8-d projection
</a:t>
            </a:r>
            <a:pPr indent="0" marL="0">
              <a:buNone/>
            </a:pPr>
            <a:r>
              <a:rPr lang="en-US" sz="1200" dirty="0">
                <a:solidFill>
                  <a:srgbClr val="1F2933"/>
                </a:solidFill>
                <a:latin typeface="Calibri" pitchFamily="34" charset="0"/>
                <a:ea typeface="Calibri" pitchFamily="34" charset="-122"/>
                <a:cs typeface="Calibri" pitchFamily="34" charset="-120"/>
              </a:rPr>
              <a:t>−0.35 pp / −0.62 pp; −0.90 pp / +1.65 pp: small or mixed. One bin does not fix early stopping.</a:t>
            </a:r>
            <a:endParaRPr lang="en-US" sz="13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LOCAL EXTENSION · BUDGET CONTROLLER</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At tight allocations the stream stops while money remains</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7" name="controller-policies" descr=""/>
          <p:cNvGraphicFramePr/>
          <p:nvPr/>
        </p:nvGraphicFramePr>
        <p:xfrm>
          <a:off x="548640" y="1463040"/>
          <a:ext cx="5897880" cy="3794760"/>
        </p:xfrm>
        <a:graphic xmlns:a="http://schemas.openxmlformats.org/drawingml/2006/main">
          <a:graphicData uri="http://schemas.openxmlformats.org/drawingml/2006/chart">
            <c:chart xmlns:c="http://schemas.openxmlformats.org/drawingml/2006/chart" r:id="rId3"/>
          </a:graphicData>
        </a:graphic>
      </p:graphicFrame>
      <p:sp>
        <p:nvSpPr>
          <p:cNvPr id="8" name="Text 4"/>
          <p:cNvSpPr txBox="1"/>
          <p:nvPr/>
        </p:nvSpPr>
        <p:spPr>
          <a:xfrm>
            <a:off x="6675120" y="1481328"/>
            <a:ext cx="4967935" cy="292608"/>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What happens at 20% on MMLU (all three seeds)</a:t>
            </a:r>
            <a:endParaRPr lang="en-US" sz="1400" dirty="0"/>
          </a:p>
        </p:txBody>
      </p:sp>
      <p:sp>
        <p:nvSpPr>
          <p:cNvPr id="9" name="Shape 5"/>
          <p:cNvSpPr/>
          <p:nvPr/>
        </p:nvSpPr>
        <p:spPr>
          <a:xfrm>
            <a:off x="6675120" y="1883664"/>
            <a:ext cx="292608" cy="292608"/>
          </a:xfrm>
          <a:prstGeom prst="ellipse">
            <a:avLst/>
          </a:prstGeom>
          <a:solidFill>
            <a:srgbClr val="C77700"/>
          </a:solidFill>
          <a:ln w="9525">
            <a:solidFill>
              <a:srgbClr val="C77700"/>
            </a:solidFill>
            <a:prstDash val="solid"/>
          </a:ln>
        </p:spPr>
      </p:sp>
      <p:sp>
        <p:nvSpPr>
          <p:cNvPr id="10" name="Text 6"/>
          <p:cNvSpPr txBox="1"/>
          <p:nvPr/>
        </p:nvSpPr>
        <p:spPr>
          <a:xfrm>
            <a:off x="6675120" y="18836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7"/>
          <p:cNvSpPr txBox="1"/>
          <p:nvPr/>
        </p:nvSpPr>
        <p:spPr>
          <a:xfrm>
            <a:off x="7086600" y="1847088"/>
            <a:ext cx="4556455"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The bin is nearly spent, so the threshold admits no arm.</a:t>
            </a:r>
            <a:endParaRPr lang="en-US" sz="1200" dirty="0"/>
          </a:p>
        </p:txBody>
      </p:sp>
      <p:sp>
        <p:nvSpPr>
          <p:cNvPr id="12" name="Shape 8"/>
          <p:cNvSpPr/>
          <p:nvPr/>
        </p:nvSpPr>
        <p:spPr>
          <a:xfrm>
            <a:off x="6675120" y="2359152"/>
            <a:ext cx="292608" cy="292608"/>
          </a:xfrm>
          <a:prstGeom prst="ellipse">
            <a:avLst/>
          </a:prstGeom>
          <a:solidFill>
            <a:srgbClr val="C77700"/>
          </a:solidFill>
          <a:ln w="9525">
            <a:solidFill>
              <a:srgbClr val="C77700"/>
            </a:solidFill>
            <a:prstDash val="solid"/>
          </a:ln>
        </p:spPr>
      </p:sp>
      <p:sp>
        <p:nvSpPr>
          <p:cNvPr id="13" name="Text 9"/>
          <p:cNvSpPr txBox="1"/>
          <p:nvPr/>
        </p:nvSpPr>
        <p:spPr>
          <a:xfrm>
            <a:off x="6675120" y="23591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0"/>
          <p:cNvSpPr txBox="1"/>
          <p:nvPr/>
        </p:nvSpPr>
        <p:spPr>
          <a:xfrm>
            <a:off x="7086600" y="2322576"/>
            <a:ext cx="4556455"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The fallback allowance (bin money ÷ queries left in the bin) is below the cheapest estimate.</a:t>
            </a:r>
            <a:endParaRPr lang="en-US" sz="1200" dirty="0"/>
          </a:p>
        </p:txBody>
      </p:sp>
      <p:sp>
        <p:nvSpPr>
          <p:cNvPr id="15" name="Shape 11"/>
          <p:cNvSpPr/>
          <p:nvPr/>
        </p:nvSpPr>
        <p:spPr>
          <a:xfrm>
            <a:off x="6675120" y="2834640"/>
            <a:ext cx="292608" cy="292608"/>
          </a:xfrm>
          <a:prstGeom prst="ellipse">
            <a:avLst/>
          </a:prstGeom>
          <a:solidFill>
            <a:srgbClr val="C2452D"/>
          </a:solidFill>
          <a:ln w="9525">
            <a:solidFill>
              <a:srgbClr val="C2452D"/>
            </a:solidFill>
            <a:prstDash val="solid"/>
          </a:ln>
        </p:spPr>
      </p:sp>
      <p:sp>
        <p:nvSpPr>
          <p:cNvPr id="16" name="Text 12"/>
          <p:cNvSpPr txBox="1"/>
          <p:nvPr/>
        </p:nvSpPr>
        <p:spPr>
          <a:xfrm>
            <a:off x="6675120" y="28346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3"/>
          <p:cNvSpPr txBox="1"/>
          <p:nvPr/>
        </p:nvSpPr>
        <p:spPr>
          <a:xfrm>
            <a:off x="7086600" y="2798064"/>
            <a:ext cx="4556455" cy="438912"/>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Algorithm 3 stops: 29 of 1,275 queries served, ≥ 94% of the estimated budget unspent.</a:t>
            </a:r>
            <a:endParaRPr lang="en-US" sz="1200" dirty="0"/>
          </a:p>
        </p:txBody>
      </p:sp>
      <p:graphicFrame>
        <p:nvGraphicFramePr>
          <p:cNvPr id="20" name="controller-table"/>
          <p:cNvGraphicFramePr>
            <a:graphicFrameLocks noGrp="1"/>
          </p:cNvGraphicFramePr>
          <p:nvPr>
            <p:extLst>
              <p:ext uri="{D42A27DB-BD31-4B8C-83A1-F6EECF244321}">
                <p14:modId xmlns:p14="http://schemas.microsoft.com/office/powerpoint/2010/main" val="1579011935"/>
              </p:ext>
            </p:extLst>
          </p:nvPr>
        </p:nvGraphicFramePr>
        <p:xfrm>
          <a:off x="6675120" y="3346704"/>
          <a:ext cx="4967935" cy="914400"/>
        </p:xfrm>
        <a:graphic>
          <a:graphicData uri="http://schemas.openxmlformats.org/drawingml/2006/table">
            <a:tbl>
              <a:tblPr/>
              <a:tblGrid>
                <a:gridCol w="640080"/>
                <a:gridCol w="1947672"/>
                <a:gridCol w="1280160"/>
                <a:gridCol w="1097280"/>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Alloc.</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Policy</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Quality / GPT-4</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Coverage</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r>
              <a:tr h="27432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Guarded stop (main)</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1.72%</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2.27%</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r>
              <a:tr h="27432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Guarded skip</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68.90%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97.31%</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27432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Fixed per query</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68.94%</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99.92%</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27432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Guarded stop (main)</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20.17%</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27.45%</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8E5E0"/>
                    </a:solidFill>
                  </a:tcPr>
                </a:tc>
              </a:tr>
              <a:tr h="274320">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Guarded skip</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75.29%</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F2933"/>
                          </a:solidFill>
                          <a:latin typeface="Calibri" pitchFamily="34" charset="0"/>
                          <a:ea typeface="Calibri" pitchFamily="34" charset="-122"/>
                          <a:cs typeface="Calibri" pitchFamily="34" charset="-120"/>
                        </a:rPr>
                        <a:t>99.87%</a:t>
                      </a:r>
                      <a:endParaRPr lang="en-US" sz="1150" dirty="0">
                        <a:latin typeface="Calibri" charset="0"/>
                        <a:ea typeface="Calibri" charset="0"/>
                        <a:cs typeface="Calibri" charset="0"/>
                      </a:endParaRPr>
                    </a:p>
                  </a:txBody>
                  <a:tcPr marL="73152" marR="73152" marT="18288" marB="18288"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19" name="Text 14"/>
          <p:cNvSpPr txBox="1"/>
          <p:nvPr/>
        </p:nvSpPr>
        <p:spPr>
          <a:xfrm>
            <a:off x="6675120" y="5029200"/>
            <a:ext cx="4967935" cy="274320"/>
          </a:xfrm>
          <a:prstGeom prst="rect">
            <a:avLst/>
          </a:prstGeom>
          <a:noFill/>
          <a:ln/>
        </p:spPr>
        <p:txBody>
          <a:bodyPr wrap="square" lIns="0" tIns="0" rIns="0" bIns="0" rtlCol="0" anchor="ctr"/>
          <a:lstStyle/>
          <a:p>
            <a:pPr indent="0" marL="0">
              <a:buNone/>
            </a:pPr>
            <a:r>
              <a:rPr lang="en-US" sz="1150" dirty="0">
                <a:solidFill>
                  <a:srgbClr val="5B6676"/>
                </a:solidFill>
                <a:latin typeface="Calibri" pitchFamily="34" charset="0"/>
                <a:ea typeface="Calibri" pitchFamily="34" charset="-122"/>
                <a:cs typeface="Calibri" pitchFamily="34" charset="-120"/>
              </a:rPr>
              <a:t>W&amp;B skip 20%: </a:t>
            </a:r>
            <a:pPr indent="0" marL="0">
              <a:buNone/>
            </a:pPr>
            <a:r>
              <a:rPr lang="en-US" sz="1150" u="sng" dirty="0">
                <a:solidFill>
                  <a:srgbClr val="0E7C7B"/>
                </a:solidFill>
                <a:latin typeface="Calibri" pitchFamily="34" charset="0"/>
                <a:ea typeface="Calibri" pitchFamily="34" charset="-122"/>
                <a:cs typeface="Calibri" pitchFamily="34" charset="-120"/>
                <a:hlinkClick r:id="rId4" invalidUrl="" action="" tgtFrame="" tooltip="W&amp;B run p2-6ed02bf687a1064979f762c4 (openai/budget/mmlu/seed-7/pilot/guarded-skip/budget-0.2)" history="1" highlightClick="0" endSnd="0">
                  <a:extLst>
                    <a:ext uri="{A12FA001-AC4F-418D-AE19-62706E023703}">
                      <ahyp:hlinkClr xmlns:ahyp="http://schemas.microsoft.com/office/drawing/2018/hyperlinkcolor" val="tx"/>
                    </a:ext>
                  </a:extLst>
                </a:hlinkClick>
              </a:rPr>
              <a:t>s7</a:t>
            </a:r>
            <a:pPr indent="0" marL="0">
              <a:buNone/>
            </a:pPr>
            <a:r>
              <a:rPr lang="en-US" sz="1150" dirty="0">
                <a:solidFill>
                  <a:srgbClr val="5B6676"/>
                </a:solidFill>
                <a:latin typeface="Calibri" pitchFamily="34" charset="0"/>
                <a:ea typeface="Calibri" pitchFamily="34" charset="-122"/>
                <a:cs typeface="Calibri" pitchFamily="34" charset="-120"/>
              </a:rPr>
              <a:t> · </a:t>
            </a:r>
            <a:pPr indent="0" marL="0">
              <a:buNone/>
            </a:pPr>
            <a:r>
              <a:rPr lang="en-US" sz="1150" u="sng" dirty="0">
                <a:solidFill>
                  <a:srgbClr val="0E7C7B"/>
                </a:solidFill>
                <a:latin typeface="Calibri" pitchFamily="34" charset="0"/>
                <a:ea typeface="Calibri" pitchFamily="34" charset="-122"/>
                <a:cs typeface="Calibri" pitchFamily="34" charset="-120"/>
                <a:hlinkClick r:id="rId5" invalidUrl="" action="" tgtFrame="" tooltip="W&amp;B run p2-7666a2a702589c674fae0994 (openai/budget/mmlu/seed-42/pilot/guarded-skip/budget-0.2)" history="1" highlightClick="0" endSnd="0">
                  <a:extLst>
                    <a:ext uri="{A12FA001-AC4F-418D-AE19-62706E023703}">
                      <ahyp:hlinkClr xmlns:ahyp="http://schemas.microsoft.com/office/drawing/2018/hyperlinkcolor" val="tx"/>
                    </a:ext>
                  </a:extLst>
                </a:hlinkClick>
              </a:rPr>
              <a:t>s42</a:t>
            </a:r>
            <a:pPr indent="0" marL="0">
              <a:buNone/>
            </a:pPr>
            <a:r>
              <a:rPr lang="en-US" sz="1150" dirty="0">
                <a:solidFill>
                  <a:srgbClr val="5B6676"/>
                </a:solidFill>
                <a:latin typeface="Calibri" pitchFamily="34" charset="0"/>
                <a:ea typeface="Calibri" pitchFamily="34" charset="-122"/>
                <a:cs typeface="Calibri" pitchFamily="34" charset="-120"/>
              </a:rPr>
              <a:t> · </a:t>
            </a:r>
            <a:pPr indent="0" marL="0">
              <a:buNone/>
            </a:pPr>
            <a:r>
              <a:rPr lang="en-US" sz="1150" u="sng" dirty="0">
                <a:solidFill>
                  <a:srgbClr val="0E7C7B"/>
                </a:solidFill>
                <a:latin typeface="Calibri" pitchFamily="34" charset="0"/>
                <a:ea typeface="Calibri" pitchFamily="34" charset="-122"/>
                <a:cs typeface="Calibri" pitchFamily="34" charset="-120"/>
                <a:hlinkClick r:id="rId6" invalidUrl="" action="" tgtFrame="" tooltip="W&amp;B run p2-15137dc59589c056f2aad8f2 (openai/budget/mmlu/seed-2026/pilot/guarded-skip/budget-0.2)" history="1" highlightClick="0" endSnd="0">
                  <a:extLst>
                    <a:ext uri="{A12FA001-AC4F-418D-AE19-62706E023703}">
                      <ahyp:hlinkClr xmlns:ahyp="http://schemas.microsoft.com/office/drawing/2018/hyperlinkcolor" val="tx"/>
                    </a:ext>
                  </a:extLst>
                </a:hlinkClick>
              </a:rPr>
              <a:t>s2026</a:t>
            </a:r>
            <a:endParaRPr lang="en-US" sz="1150" dirty="0"/>
          </a:p>
          <a:p>
            <a:pPr indent="0" marL="0">
              <a:buNone/>
            </a:pPr>
            <a:r>
              <a:rPr lang="en-US" sz="1150" dirty="0">
                <a:solidFill>
                  <a:srgbClr val="5B6676"/>
                </a:solidFill>
                <a:latin typeface="Calibri" pitchFamily="34" charset="0"/>
                <a:ea typeface="Calibri" pitchFamily="34" charset="-122"/>
                <a:cs typeface="Calibri" pitchFamily="34" charset="-120"/>
              </a:rPr>
              <a:t>main 20%: </a:t>
            </a:r>
            <a:pPr indent="0" marL="0">
              <a:buNone/>
            </a:pPr>
            <a:r>
              <a:rPr lang="en-US" sz="1150" u="sng" dirty="0">
                <a:solidFill>
                  <a:srgbClr val="0E7C7B"/>
                </a:solidFill>
                <a:latin typeface="Calibri" pitchFamily="34" charset="0"/>
                <a:ea typeface="Calibri" pitchFamily="34" charset="-122"/>
                <a:cs typeface="Calibri" pitchFamily="34" charset="-120"/>
                <a:hlinkClick r:id="rId7" invalidUrl="" action="" tgtFrame="" tooltip="W&amp;B run p2-cc401d949a35c50f6e524abc (openai/core/mmlu/seed-7/main/pilot/learn-1/budget-0.2)" history="1" highlightClick="0" endSnd="0">
                  <a:extLst>
                    <a:ext uri="{A12FA001-AC4F-418D-AE19-62706E023703}">
                      <ahyp:hlinkClr xmlns:ahyp="http://schemas.microsoft.com/office/drawing/2018/hyperlinkcolor" val="tx"/>
                    </a:ext>
                  </a:extLst>
                </a:hlinkClick>
              </a:rPr>
              <a:t>s7</a:t>
            </a:r>
            <a:pPr indent="0" marL="0">
              <a:buNone/>
            </a:pPr>
            <a:r>
              <a:rPr lang="en-US" sz="1150" dirty="0">
                <a:solidFill>
                  <a:srgbClr val="5B6676"/>
                </a:solidFill>
                <a:latin typeface="Calibri" pitchFamily="34" charset="0"/>
                <a:ea typeface="Calibri" pitchFamily="34" charset="-122"/>
                <a:cs typeface="Calibri" pitchFamily="34" charset="-120"/>
              </a:rPr>
              <a:t> · </a:t>
            </a:r>
            <a:pPr indent="0" marL="0">
              <a:buNone/>
            </a:pPr>
            <a:r>
              <a:rPr lang="en-US" sz="1150" u="sng" dirty="0">
                <a:solidFill>
                  <a:srgbClr val="0E7C7B"/>
                </a:solidFill>
                <a:latin typeface="Calibri" pitchFamily="34" charset="0"/>
                <a:ea typeface="Calibri" pitchFamily="34" charset="-122"/>
                <a:cs typeface="Calibri" pitchFamily="34" charset="-120"/>
                <a:hlinkClick r:id="rId8" invalidUrl="" action="" tgtFrame="" tooltip="W&amp;B run p2-ae604b1622a3b176be6a9cad (openai/core/mmlu/seed-42/main/pilot/learn-1/budget-0.2)" history="1" highlightClick="0" endSnd="0">
                  <a:extLst>
                    <a:ext uri="{A12FA001-AC4F-418D-AE19-62706E023703}">
                      <ahyp:hlinkClr xmlns:ahyp="http://schemas.microsoft.com/office/drawing/2018/hyperlinkcolor" val="tx"/>
                    </a:ext>
                  </a:extLst>
                </a:hlinkClick>
              </a:rPr>
              <a:t>s42</a:t>
            </a:r>
            <a:pPr indent="0" marL="0">
              <a:buNone/>
            </a:pPr>
            <a:r>
              <a:rPr lang="en-US" sz="1150" dirty="0">
                <a:solidFill>
                  <a:srgbClr val="5B6676"/>
                </a:solidFill>
                <a:latin typeface="Calibri" pitchFamily="34" charset="0"/>
                <a:ea typeface="Calibri" pitchFamily="34" charset="-122"/>
                <a:cs typeface="Calibri" pitchFamily="34" charset="-120"/>
              </a:rPr>
              <a:t> · </a:t>
            </a:r>
            <a:pPr indent="0" marL="0">
              <a:buNone/>
            </a:pPr>
            <a:r>
              <a:rPr lang="en-US" sz="1150" u="sng" dirty="0">
                <a:solidFill>
                  <a:srgbClr val="0E7C7B"/>
                </a:solidFill>
                <a:latin typeface="Calibri" pitchFamily="34" charset="0"/>
                <a:ea typeface="Calibri" pitchFamily="34" charset="-122"/>
                <a:cs typeface="Calibri" pitchFamily="34" charset="-120"/>
                <a:hlinkClick r:id="rId9" invalidUrl="" action="" tgtFrame="" tooltip="W&amp;B run p2-5fc406a2be78648e067103ea (openai/core/mmlu/seed-2026/main/pilot/learn-1/budget-0.2)" history="1" highlightClick="0" endSnd="0">
                  <a:extLst>
                    <a:ext uri="{A12FA001-AC4F-418D-AE19-62706E023703}">
                      <ahyp:hlinkClr xmlns:ahyp="http://schemas.microsoft.com/office/drawing/2018/hyperlinkcolor" val="tx"/>
                    </a:ext>
                  </a:extLst>
                </a:hlinkClick>
              </a:rPr>
              <a:t>s2026</a:t>
            </a:r>
            <a:endParaRPr lang="en-US" sz="1150" dirty="0"/>
          </a:p>
        </p:txBody>
      </p:sp>
      <p:sp>
        <p:nvSpPr>
          <p:cNvPr id="20" name="Shape 15"/>
          <p:cNvSpPr/>
          <p:nvPr/>
        </p:nvSpPr>
        <p:spPr>
          <a:xfrm>
            <a:off x="548640" y="5394960"/>
            <a:ext cx="11094415" cy="566928"/>
          </a:xfrm>
          <a:prstGeom prst="roundRect">
            <a:avLst>
              <a:gd name="adj" fmla="val 12903"/>
            </a:avLst>
          </a:prstGeom>
          <a:solidFill>
            <a:srgbClr val="FBF0DC"/>
          </a:solidFill>
          <a:ln w="9525">
            <a:solidFill>
              <a:srgbClr val="FBF0DC"/>
            </a:solidFill>
            <a:prstDash val="solid"/>
          </a:ln>
        </p:spPr>
      </p:sp>
      <p:sp>
        <p:nvSpPr>
          <p:cNvPr id="21" name="Text 16"/>
          <p:cNvSpPr txBox="1"/>
          <p:nvPr/>
        </p:nvSpPr>
        <p:spPr>
          <a:xfrm>
            <a:off x="731520" y="5413248"/>
            <a:ext cx="10728655" cy="530352"/>
          </a:xfrm>
          <a:prstGeom prst="rect">
            <a:avLst/>
          </a:prstGeom>
          <a:noFill/>
          <a:ln/>
        </p:spPr>
        <p:txBody>
          <a:bodyPr wrap="square" lIns="0" tIns="0" rIns="0" bIns="0" rtlCol="0" anchor="ctr"/>
          <a:lstStyle/>
          <a:p>
            <a:pPr indent="0" marL="0">
              <a:buNone/>
            </a:pPr>
            <a:r>
              <a:rPr lang="en-US" sz="1200" b="1" dirty="0">
                <a:solidFill>
                  <a:srgbClr val="C77700"/>
                </a:solidFill>
                <a:latin typeface="Calibri" pitchFamily="34" charset="0"/>
                <a:ea typeface="Calibri" pitchFamily="34" charset="-122"/>
                <a:cs typeface="Calibri" pitchFamily="34" charset="-120"/>
              </a:rPr>
              <a:t>Local extension, not a replacement.  </a:t>
            </a:r>
            <a:pPr indent="0" marL="0">
              <a:buNone/>
            </a:pPr>
            <a:r>
              <a:rPr lang="en-US" sz="1200" dirty="0">
                <a:solidFill>
                  <a:srgbClr val="1F2933"/>
                </a:solidFill>
                <a:latin typeface="Calibri" pitchFamily="34" charset="0"/>
                <a:ea typeface="Calibri" pitchFamily="34" charset="-122"/>
                <a:cs typeface="Calibri" pitchFamily="34" charset="-120"/>
              </a:rPr>
              <a:t>Same frozen scores, estimates and order; 240 replayed conditions. Paper-literal stop (no guard) equals the main controller everywhere; one bin is not a cure (15.18% at 20%). The retrospective comparator sees future predicted scores and estimated costs, not true rewards.</a:t>
            </a:r>
            <a:endParaRPr lang="en-US" sz="12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LOCAL ADAPTATIONS · SUPPLEMENTARY STUDIES</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Local versions of the paper’s extra studies give mixed results</a:t>
            </a:r>
            <a:endParaRPr lang="en-US" sz="3000" dirty="0"/>
          </a:p>
        </p:txBody>
      </p:sp>
      <p:sp>
        <p:nvSpPr>
          <p:cNvPr id="5" name="Text 3"/>
          <p:cNvSpPr txBox="1"/>
          <p:nvPr/>
        </p:nvSpPr>
        <p:spPr>
          <a:xfrm>
            <a:off x="548640" y="5790438"/>
            <a:ext cx="10561320" cy="884682"/>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openreview.net/pdf?id=02f3mUtqnM" history="1" highlightClick="0" endSnd="0">
                  <a:extLst>
                    <a:ext uri="{A12FA001-AC4F-418D-AE19-62706E023703}">
                      <ahyp:hlinkClr xmlns:ahyp="http://schemas.microsoft.com/office/drawing/2018/hyperlinkcolor" val="tx"/>
                    </a:ext>
                  </a:extLst>
                </a:hlinkClick>
              </a:rPr>
              <a:t>[3] D. Ding et al., “Hybrid LLM: Cost-efficient and quality-aware query routing,” in Proc. Int. Conf. Learn. Represent. (ICLR),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4" invalidUrl="" action="" tgtFrame="" tooltip="https://arxiv.org/abs/2406.18665" history="1" highlightClick="0" endSnd="0">
                  <a:extLst>
                    <a:ext uri="{A12FA001-AC4F-418D-AE19-62706E023703}">
                      <ahyp:hlinkClr xmlns:ahyp="http://schemas.microsoft.com/office/drawing/2018/hyperlinkcolor" val="tx"/>
                    </a:ext>
                  </a:extLst>
                </a:hlinkClick>
              </a:rPr>
              <a:t>[12] I. Ong et al., “RouteLLM: Learning to route LLMs with preference data,” arXiv:2406.18665,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5" invalidUrl="" action="" tgtFrame="" tooltip="https://aclanthology.org/2023.findings-acl.71/" history="1" highlightClick="0" endSnd="0">
                  <a:extLst>
                    <a:ext uri="{A12FA001-AC4F-418D-AE19-62706E023703}">
                      <ahyp:hlinkClr xmlns:ahyp="http://schemas.microsoft.com/office/drawing/2018/hyperlinkcolor" val="tx"/>
                    </a:ext>
                  </a:extLst>
                </a:hlinkClick>
              </a:rPr>
              <a:t>[13] H. Su et al., “One embedder, any task: Instruction-finetuned text embeddings,” in Findings Assoc. Comput. Linguistics: ACL 2023, 2023, pp. 1102–1121.</a:t>
            </a:r>
            <a:endParaRPr lang="en-US" sz="950" dirty="0"/>
          </a:p>
        </p:txBody>
      </p:sp>
      <p:graphicFrame>
        <p:nvGraphicFramePr>
          <p:cNvPr id="7" name="hybrid-vs-pilot" descr=""/>
          <p:cNvGraphicFramePr/>
          <p:nvPr/>
        </p:nvGraphicFramePr>
        <p:xfrm>
          <a:off x="548640" y="1463040"/>
          <a:ext cx="5074920" cy="3611880"/>
        </p:xfrm>
        <a:graphic xmlns:a="http://schemas.openxmlformats.org/drawingml/2006/main">
          <a:graphicData uri="http://schemas.openxmlformats.org/drawingml/2006/chart">
            <c:chart xmlns:c="http://schemas.openxmlformats.org/drawingml/2006/chart" r:id="rId6"/>
          </a:graphicData>
        </a:graphic>
      </p:graphicFrame>
      <p:sp>
        <p:nvSpPr>
          <p:cNvPr id="8" name="Text 4"/>
          <p:cNvSpPr txBox="1"/>
          <p:nvPr/>
        </p:nvSpPr>
        <p:spPr>
          <a:xfrm>
            <a:off x="548640" y="5120640"/>
            <a:ext cx="5074920" cy="64008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Hybrid LLM [3] at threshold 0.5: </a:t>
            </a:r>
            <a:pPr indent="0" marL="0">
              <a:buNone/>
            </a:pPr>
            <a:r>
              <a:rPr lang="en-US" sz="1150" b="1" dirty="0">
                <a:solidFill>
                  <a:srgbClr val="3D5A80"/>
                </a:solidFill>
                <a:latin typeface="Calibri" pitchFamily="34" charset="0"/>
                <a:ea typeface="Calibri" pitchFamily="34" charset="-122"/>
                <a:cs typeface="Calibri" pitchFamily="34" charset="-120"/>
              </a:rPr>
              <a:t>81.67% at 23.12% cost</a:t>
            </a:r>
            <a:pPr indent="0" marL="0">
              <a:buNone/>
            </a:pPr>
            <a:r>
              <a:rPr lang="en-US" sz="1150" dirty="0">
                <a:solidFill>
                  <a:srgbClr val="1F2933"/>
                </a:solidFill>
                <a:latin typeface="Calibri" pitchFamily="34" charset="0"/>
                <a:ea typeface="Calibri" pitchFamily="34" charset="-122"/>
                <a:cs typeface="Calibri" pitchFamily="34" charset="-120"/>
              </a:rPr>
              <a:t> · PILOT at 50% allocation: </a:t>
            </a:r>
            <a:pPr indent="0" marL="0">
              <a:buNone/>
            </a:pPr>
            <a:r>
              <a:rPr lang="en-US" sz="1150" b="1" dirty="0">
                <a:solidFill>
                  <a:srgbClr val="0E7C7B"/>
                </a:solidFill>
                <a:latin typeface="Calibri" pitchFamily="34" charset="0"/>
                <a:ea typeface="Calibri" pitchFamily="34" charset="-122"/>
                <a:cs typeface="Calibri" pitchFamily="34" charset="-120"/>
              </a:rPr>
              <a:t>72.49% at 46.16%</a:t>
            </a:r>
            <a:pPr indent="0" marL="0">
              <a:buNone/>
            </a:pPr>
            <a:r>
              <a:rPr lang="en-US" sz="1150" dirty="0">
                <a:solidFill>
                  <a:srgbClr val="5B6676"/>
                </a:solidFill>
                <a:latin typeface="Calibri" pitchFamily="34" charset="0"/>
                <a:ea typeface="Calibri" pitchFamily="34" charset="-122"/>
                <a:cs typeface="Calibri" pitchFamily="34" charset="-120"/>
              </a:rPr>
              <a:t>. Different controls, not a matched budget; Hybrid trains on both arms’ rewards.</a:t>
            </a:r>
            <a:endParaRPr lang="en-US" sz="1150" dirty="0"/>
          </a:p>
        </p:txBody>
      </p:sp>
      <p:graphicFrame>
        <p:nvGraphicFramePr>
          <p:cNvPr id="21" name="supplement-table"/>
          <p:cNvGraphicFramePr>
            <a:graphicFrameLocks noGrp="1"/>
          </p:cNvGraphicFramePr>
          <p:nvPr>
            <p:extLst>
              <p:ext uri="{D42A27DB-BD31-4B8C-83A1-F6EECF244321}">
                <p14:modId xmlns:p14="http://schemas.microsoft.com/office/powerpoint/2010/main" val="1579011935"/>
              </p:ext>
            </p:extLst>
          </p:nvPr>
        </p:nvGraphicFramePr>
        <p:xfrm>
          <a:off x="5852160" y="1481328"/>
          <a:ext cx="5788152" cy="914400"/>
        </p:xfrm>
        <a:graphic>
          <a:graphicData uri="http://schemas.openxmlformats.org/drawingml/2006/table">
            <a:tbl>
              <a:tblPr/>
              <a:tblGrid>
                <a:gridCol w="1600200"/>
                <a:gridCol w="2926080"/>
                <a:gridCol w="1261872"/>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Paper study [1]</a:t>
                      </a:r>
                      <a:endParaRPr lang="en-US" sz="115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Our local result</a:t>
                      </a:r>
                      <a:endParaRPr lang="en-US" sz="115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Reading</a:t>
                      </a:r>
                      <a:endParaRPr lang="en-US" sz="115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r>
              <a:tr h="713232">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Binary bandits</a:t>
                      </a:r>
                      <a:endParaRPr lang="en-US" sz="1100" dirty="0">
                        <a:latin typeface="Calibri" charset="0"/>
                        <a:ea typeface="Calibri" charset="0"/>
                        <a:cs typeface="Calibri" charset="0"/>
                      </a:endParaRPr>
                    </a:p>
                    <a:p>
                      <a:pPr indent="0" marL="0">
                        <a:buNone/>
                      </a:pPr>
                      <a:r>
                        <a:rPr lang="en-US" sz="1100" dirty="0">
                          <a:solidFill>
                            <a:srgbClr val="5B6676"/>
                          </a:solidFill>
                          <a:latin typeface="Calibri" pitchFamily="34" charset="0"/>
                          <a:ea typeface="Calibri" pitchFamily="34" charset="-122"/>
                          <a:cs typeface="Calibri" pitchFamily="34" charset="-120"/>
                        </a:rPr>
                        <a:t>App. D.4 · 3 seeds</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50% alloc.: PILOT 72.45%, LinUCB 72.09%, EpochGreedy 70.81%. Regret 879 vs 729 / 731 (two-arm oracle).</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b="1" dirty="0">
                          <a:solidFill>
                            <a:srgbClr val="C2452D"/>
                          </a:solidFill>
                          <a:latin typeface="Calibri" pitchFamily="34" charset="0"/>
                          <a:ea typeface="Calibri" pitchFamily="34" charset="-122"/>
                          <a:cs typeface="Calibri" pitchFamily="34" charset="-120"/>
                        </a:rPr>
                        <a:t>No universal PILOT win</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76656">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Task shift</a:t>
                      </a:r>
                      <a:endParaRPr lang="en-US" sz="1100" dirty="0">
                        <a:latin typeface="Calibri" charset="0"/>
                        <a:ea typeface="Calibri" charset="0"/>
                        <a:cs typeface="Calibri" charset="0"/>
                      </a:endParaRPr>
                    </a:p>
                    <a:p>
                      <a:pPr indent="0" marL="0">
                        <a:buNone/>
                      </a:pPr>
                      <a:r>
                        <a:rPr lang="en-US" sz="1100" dirty="0">
                          <a:solidFill>
                            <a:srgbClr val="5B6676"/>
                          </a:solidFill>
                          <a:latin typeface="Calibri" pitchFamily="34" charset="0"/>
                          <a:ea typeface="Calibri" pitchFamily="34" charset="-122"/>
                          <a:cs typeface="Calibri" pitchFamily="34" charset="-120"/>
                        </a:rPr>
                        <a:t>MMLU→GSM8K · seed 42</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Before: PILOT 80.52% vs static Hybrid 79.58%. After: 65.61% vs 65.81% reward/query.</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b="1" dirty="0">
                          <a:solidFill>
                            <a:srgbClr val="C2452D"/>
                          </a:solidFill>
                          <a:latin typeface="Calibri" pitchFamily="34" charset="0"/>
                          <a:ea typeface="Calibri" pitchFamily="34" charset="-122"/>
                          <a:cs typeface="Calibri" pitchFamily="34" charset="-120"/>
                        </a:rPr>
                        <a:t>No post-shift win</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76656">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Embedder [13]</a:t>
                      </a:r>
                      <a:endParaRPr lang="en-US" sz="1100" dirty="0">
                        <a:latin typeface="Calibri" charset="0"/>
                        <a:ea typeface="Calibri" charset="0"/>
                        <a:cs typeface="Calibri" charset="0"/>
                      </a:endParaRPr>
                    </a:p>
                    <a:p>
                      <a:pPr indent="0" marL="0">
                        <a:buNone/>
                      </a:pPr>
                      <a:r>
                        <a:rPr lang="en-US" sz="1100" dirty="0">
                          <a:solidFill>
                            <a:srgbClr val="5B6676"/>
                          </a:solidFill>
                          <a:latin typeface="Calibri" pitchFamily="34" charset="0"/>
                          <a:ea typeface="Calibri" pitchFamily="34" charset="-122"/>
                          <a:cs typeface="Calibri" pitchFamily="34" charset="-120"/>
                        </a:rPr>
                        <a:t>Sec. 5.4 · Instructor-XL</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vs OpenAI: +2.58 pp / +0.55 pp at 50%, −0.60 pp / −0.23 pp at 100% (RB / MMLU).</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b="1" dirty="0">
                          <a:solidFill>
                            <a:srgbClr val="3D5A80"/>
                          </a:solidFill>
                          <a:latin typeface="Calibri" pitchFamily="34" charset="0"/>
                          <a:ea typeface="Calibri" pitchFamily="34" charset="-122"/>
                          <a:cs typeface="Calibri" pitchFamily="34" charset="-120"/>
                        </a:rPr>
                        <a:t>Small; recipe-dependent</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0350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Preference prediction</a:t>
                      </a:r>
                      <a:endParaRPr lang="en-US" sz="1100" dirty="0">
                        <a:latin typeface="Calibri" charset="0"/>
                        <a:ea typeface="Calibri" charset="0"/>
                        <a:cs typeface="Calibri" charset="0"/>
                      </a:endParaRPr>
                    </a:p>
                    <a:p>
                      <a:pPr indent="0" marL="0">
                        <a:buNone/>
                      </a:pPr>
                      <a:r>
                        <a:rPr lang="en-US" sz="1100" dirty="0">
                          <a:solidFill>
                            <a:srgbClr val="5B6676"/>
                          </a:solidFill>
                          <a:latin typeface="Calibri" pitchFamily="34" charset="0"/>
                          <a:ea typeface="Calibri" pitchFamily="34" charset="-122"/>
                          <a:cs typeface="Calibri" pitchFamily="34" charset="-120"/>
                        </a:rPr>
                        <a:t>App. D.3 · local 500 pairs</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RouteLLM-MF [12] 68.07% vs PILOT 63.53% (3 seeds, same pairs).</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b="1" dirty="0">
                          <a:solidFill>
                            <a:srgbClr val="C2452D"/>
                          </a:solidFill>
                          <a:latin typeface="Calibri" pitchFamily="34" charset="0"/>
                          <a:ea typeface="Calibri" pitchFamily="34" charset="-122"/>
                          <a:cs typeface="Calibri" pitchFamily="34" charset="-120"/>
                        </a:rPr>
                        <a:t>Paper’s ranking reversed</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603504">
                <a:tc>
                  <a:txBody>
                    <a:bodyPr/>
                    <a:lstStyle/>
                    <a:p>
                      <a:pPr indent="0" marL="0">
                        <a:buNone/>
                      </a:pPr>
                      <a:r>
                        <a:rPr lang="en-US" sz="1100" b="1" dirty="0">
                          <a:solidFill>
                            <a:srgbClr val="14213D"/>
                          </a:solidFill>
                          <a:latin typeface="Calibri" pitchFamily="34" charset="0"/>
                          <a:ea typeface="Calibri" pitchFamily="34" charset="-122"/>
                          <a:cs typeface="Calibri" pitchFamily="34" charset="-120"/>
                        </a:rPr>
                        <a:t>Feedback noise</a:t>
                      </a:r>
                      <a:endParaRPr lang="en-US" sz="1100" dirty="0">
                        <a:latin typeface="Calibri" charset="0"/>
                        <a:ea typeface="Calibri" charset="0"/>
                        <a:cs typeface="Calibri" charset="0"/>
                      </a:endParaRPr>
                    </a:p>
                    <a:p>
                      <a:pPr indent="0" marL="0">
                        <a:buNone/>
                      </a:pPr>
                      <a:r>
                        <a:rPr lang="en-US" sz="1100" dirty="0">
                          <a:solidFill>
                            <a:srgbClr val="5B6676"/>
                          </a:solidFill>
                          <a:latin typeface="Calibri" pitchFamily="34" charset="0"/>
                          <a:ea typeface="Calibri" pitchFamily="34" charset="-122"/>
                          <a:cs typeface="Calibri" pitchFamily="34" charset="-120"/>
                        </a:rPr>
                        <a:t>App. D.5 · MMLU</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0 / 1 / 3 / 5% replaced: 68.86 / 68.76 / 68.47 / 68.55% reward, 100% coverage.</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indent="0" marL="0">
                        <a:buNone/>
                      </a:pPr>
                      <a:r>
                        <a:rPr lang="en-US" sz="1100" b="1" dirty="0">
                          <a:solidFill>
                            <a:srgbClr val="0E7C7B"/>
                          </a:solidFill>
                          <a:latin typeface="Calibri" pitchFamily="34" charset="0"/>
                          <a:ea typeface="Calibri" pitchFamily="34" charset="-122"/>
                          <a:cs typeface="Calibri" pitchFamily="34" charset="-120"/>
                        </a:rPr>
                        <a:t>Mild</a:t>
                      </a:r>
                      <a:endParaRPr lang="en-US" sz="1100" dirty="0">
                        <a:latin typeface="Calibri" charset="0"/>
                        <a:ea typeface="Calibri" charset="0"/>
                        <a:cs typeface="Calibri" charset="0"/>
                      </a:endParaRPr>
                    </a:p>
                  </a:txBody>
                  <a:tcPr marL="64008" marR="64008"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10" name="Text 5"/>
          <p:cNvSpPr txBox="1"/>
          <p:nvPr/>
        </p:nvSpPr>
        <p:spPr>
          <a:xfrm>
            <a:off x="5852160" y="5193792"/>
            <a:ext cx="5788152" cy="502920"/>
          </a:xfrm>
          <a:prstGeom prst="rect">
            <a:avLst/>
          </a:prstGeom>
          <a:noFill/>
          <a:ln/>
        </p:spPr>
        <p:txBody>
          <a:bodyPr wrap="square" lIns="0" tIns="0" rIns="0" bIns="0" rtlCol="0" anchor="t"/>
          <a:lstStyle/>
          <a:p>
            <a:pPr indent="0" marL="0">
              <a:buNone/>
            </a:pPr>
            <a:r>
              <a:rPr lang="en-US" sz="1150" dirty="0">
                <a:solidFill>
                  <a:srgbClr val="5B6676"/>
                </a:solidFill>
                <a:latin typeface="Calibri" pitchFamily="34" charset="0"/>
                <a:ea typeface="Calibri" pitchFamily="34" charset="-122"/>
                <a:cs typeface="Calibri" pitchFamily="34" charset="-120"/>
              </a:rPr>
              <a:t>Declared local adaptations: 8-arm or verified two-arm pools, our splits, one seed for neural baselines. Not exact author reproductions.</a:t>
            </a:r>
            <a:endParaRPr lang="en-US" sz="11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COMPARISON WITH THE PAPER</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Paper and reproduction side by side</a:t>
            </a:r>
            <a:endParaRPr lang="en-US" sz="3000" dirty="0"/>
          </a:p>
        </p:txBody>
      </p:sp>
      <p:sp>
        <p:nvSpPr>
          <p:cNvPr id="5" name="Text 3"/>
          <p:cNvSpPr txBox="1"/>
          <p:nvPr/>
        </p:nvSpPr>
        <p:spPr>
          <a:xfrm>
            <a:off x="548640" y="5752719"/>
            <a:ext cx="10561320" cy="922401"/>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4" invalidUrl="" action="" tgtFrame="" tooltip="https://arxiv.org/abs/2406.18665" history="1" highlightClick="0" endSnd="0">
                  <a:extLst>
                    <a:ext uri="{A12FA001-AC4F-418D-AE19-62706E023703}">
                      <ahyp:hlinkClr xmlns:ahyp="http://schemas.microsoft.com/office/drawing/2018/hyperlinkcolor" val="tx"/>
                    </a:ext>
                  </a:extLst>
                </a:hlinkClick>
              </a:rPr>
              <a:t>[12] I. Ong et al., “RouteLLM: Learning to route LLMs with preference data,” arXiv:2406.18665,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5" invalidUrl="" action="" tgtFrame="" tooltip="https://aclanthology.org/2023.findings-acl.71/" history="1" highlightClick="0" endSnd="0">
                  <a:extLst>
                    <a:ext uri="{A12FA001-AC4F-418D-AE19-62706E023703}">
                      <ahyp:hlinkClr xmlns:ahyp="http://schemas.microsoft.com/office/drawing/2018/hyperlinkcolor" val="tx"/>
                    </a:ext>
                  </a:extLst>
                </a:hlinkClick>
              </a:rPr>
              <a:t>[13] H. Su et al., “One embedder, any task: Instruction-finetuned text embeddings,” in Findings Assoc. Comput. Linguistics: ACL 2023, 2023, pp. 1102–1121.</a:t>
            </a:r>
            <a:endParaRPr lang="en-US" sz="950" dirty="0"/>
          </a:p>
        </p:txBody>
      </p:sp>
      <p:graphicFrame>
        <p:nvGraphicFramePr>
          <p:cNvPr id="22" name="paper-vs-ours"/>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148840"/>
                <a:gridCol w="2240280"/>
                <a:gridCol w="3291840"/>
                <a:gridCol w="2084832"/>
                <a:gridCol w="132588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Claim or number</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Paper [1]</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Ours [10]</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Deviation</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r>
              <a:tr h="548640">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RouterBench headline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93% of GPT-4 quality at 25% of its cost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77.81% at 19.23% cost (20% alloc.) · 80.68% at 28.57% cost (30%)</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not computed: no point at 25%, 8 vs 11 arms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5B6676"/>
                          </a:solidFill>
                          <a:latin typeface="Calibri" pitchFamily="34" charset="0"/>
                          <a:ea typeface="Calibri" pitchFamily="34" charset="-122"/>
                          <a:cs typeface="Calibri" pitchFamily="34" charset="-120"/>
                        </a:rPr>
                        <a:t>not matched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2F4F7"/>
                    </a:solidFill>
                  </a:tcPr>
                </a:tc>
              </a:tr>
              <a:tr h="548640">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MMLU headline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86% at 27%</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stops early at 20–30% (coverage 2.27% / 27.45%) · 83.53% at 47.53% cost (50%)</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not computed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5B6676"/>
                          </a:solidFill>
                          <a:latin typeface="Calibri" pitchFamily="34" charset="0"/>
                          <a:ea typeface="Calibri" pitchFamily="34" charset="-122"/>
                          <a:cs typeface="Calibri" pitchFamily="34" charset="-120"/>
                        </a:rPr>
                        <a:t>not matched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2F4F7"/>
                    </a:solidFill>
                  </a:tcPr>
                </a:tc>
              </a:tr>
              <a:tr h="548640">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PILOT vs best bandit baseline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best across budgets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50%: −4.68 pp RB, −3.44 pp MMLU · 100%: +1.35 pp RB, +3.02 pp MMLU</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ranking flips with allocation</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C77700"/>
                          </a:solidFill>
                          <a:latin typeface="Calibri" pitchFamily="34" charset="0"/>
                          <a:ea typeface="Calibri" pitchFamily="34" charset="-122"/>
                          <a:cs typeface="Calibri" pitchFamily="34" charset="-120"/>
                        </a:rPr>
                        <a:t>partial</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BF0DC"/>
                    </a:solidFill>
                  </a:tcPr>
                </a:tc>
              </a:tr>
              <a:tr h="566928">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Cumulative regret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lowest of all methods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lowest among learners: 4,275 vs 4,747 (RB), 1,758 vs 2,274 (MMLU); always-GPT-4 lower</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same order among learners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reproduced (learners)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51206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Preference prediction (App. D.3)</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PILOT 65.0%, RouteLLM 63.6% (500 pairs)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local 500 pairs: PILOT 63.53%, RouteLLM-MF [12] 68.07%</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different pairs and pool; no matched error</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C2452D"/>
                          </a:solidFill>
                          <a:latin typeface="Calibri" pitchFamily="34" charset="0"/>
                          <a:ea typeface="Calibri" pitchFamily="34" charset="-122"/>
                          <a:cs typeface="Calibri" pitchFamily="34" charset="-120"/>
                        </a:rPr>
                        <a:t>ranking reversed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8E5E0"/>
                    </a:solidFill>
                  </a:tcPr>
                </a:tc>
              </a:tr>
              <a:tr h="457200">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Embedder (Sec. 5.4)</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works with Instructor-XL</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Instructor-XL [13] vs OpenAI: +2.58 pp / +0.55 pp at 50%</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recipe comparison, retuned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consistent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42062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36,497 queries · 64 tasks · 11 models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36,497 queries · 86 raw labels · 8 models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pool −3 models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3D5A80"/>
                          </a:solidFill>
                          <a:latin typeface="Calibri" pitchFamily="34" charset="0"/>
                          <a:ea typeface="Calibri" pitchFamily="34" charset="-122"/>
                          <a:cs typeface="Calibri" pitchFamily="34" charset="-120"/>
                        </a:rPr>
                        <a:t>declared variant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7EDF4"/>
                    </a:solidFill>
                  </a:tcPr>
                </a:tc>
              </a:tr>
            </a:tbl>
          </a:graphicData>
        </a:graphic>
      </p:graphicFrame>
      <p:sp>
        <p:nvSpPr>
          <p:cNvPr id="8" name="Text 4"/>
          <p:cNvSpPr txBox="1"/>
          <p:nvPr/>
        </p:nvSpPr>
        <p:spPr>
          <a:xfrm>
            <a:off x="548640" y="5468112"/>
            <a:ext cx="11094415" cy="237744"/>
          </a:xfrm>
          <a:prstGeom prst="rect">
            <a:avLst/>
          </a:prstGeom>
          <a:noFill/>
          <a:ln/>
        </p:spPr>
        <p:txBody>
          <a:bodyPr wrap="square" lIns="0" tIns="0" rIns="0" bIns="0" rtlCol="0" anchor="t"/>
          <a:lstStyle/>
          <a:p>
            <a:pPr indent="0" marL="0">
              <a:buNone/>
            </a:pPr>
            <a:r>
              <a:rPr lang="en-US" sz="1150" dirty="0">
                <a:solidFill>
                  <a:srgbClr val="5B6676"/>
                </a:solidFill>
                <a:latin typeface="Calibri" pitchFamily="34" charset="0"/>
                <a:ea typeface="Calibri" pitchFamily="34" charset="-122"/>
                <a:cs typeface="Calibri" pitchFamily="34" charset="-120"/>
              </a:rPr>
              <a:t>Per-seed runs: Appendix and the follow-up </a:t>
            </a:r>
            <a:pPr indent="0" marL="0">
              <a:buNone/>
            </a:pPr>
            <a:r>
              <a:rPr lang="en-US" sz="1150" u="sng" dirty="0">
                <a:solidFill>
                  <a:srgbClr val="0E7C7B"/>
                </a:solidFill>
                <a:latin typeface="Calibri" pitchFamily="34" charset="0"/>
                <a:ea typeface="Calibri" pitchFamily="34" charset="-122"/>
                <a:cs typeface="Calibri" pitchFamily="34" charset="-120"/>
                <a:hlinkClick r:id="rId6" invalidUrl="" action="" tgtFrame="" tooltip="https://github.com/kiettheis0702/pilot-llm-routing/blob/main/reports/openai-publication-2026-10-31/experiment-map.csv" history="1" highlightClick="0" endSnd="0">
                  <a:extLst>
                    <a:ext uri="{A12FA001-AC4F-418D-AE19-62706E023703}">
                      <ahyp:hlinkClr xmlns:ahyp="http://schemas.microsoft.com/office/drawing/2018/hyperlinkcolor" val="tx"/>
                    </a:ext>
                  </a:extLst>
                </a:hlinkClick>
              </a:rPr>
              <a:t>experiment-map.csv</a:t>
            </a:r>
            <a:pPr indent="0" marL="0">
              <a:buNone/>
            </a:pPr>
            <a:r>
              <a:rPr lang="en-US" sz="1150" dirty="0">
                <a:solidFill>
                  <a:srgbClr val="5B6676"/>
                </a:solidFill>
                <a:latin typeface="Calibri" pitchFamily="34" charset="0"/>
                <a:ea typeface="Calibri" pitchFamily="34" charset="-122"/>
                <a:cs typeface="Calibri" pitchFamily="34" charset="-120"/>
              </a:rPr>
              <a:t>. Calibration priors: </a:t>
            </a:r>
            <a:pPr indent="0" marL="0">
              <a:buNone/>
            </a:pPr>
            <a:r>
              <a:rPr lang="en-US" sz="1150" u="sng" dirty="0">
                <a:solidFill>
                  <a:srgbClr val="0E7C7B"/>
                </a:solidFill>
                <a:latin typeface="Calibri" pitchFamily="34" charset="0"/>
                <a:ea typeface="Calibri" pitchFamily="34" charset="-122"/>
                <a:cs typeface="Calibri" pitchFamily="34" charset="-120"/>
                <a:hlinkClick r:id="rId7" invalidUrl="" action="" tgtFrame="" tooltip="https://github.com/kiettheis0702/pilot-llm-routing/tree/main/reports/openai-core-2026-10-31/evidence/priors" history="1" highlightClick="0" endSnd="0">
                  <a:extLst>
                    <a:ext uri="{A12FA001-AC4F-418D-AE19-62706E023703}">
                      <ahyp:hlinkClr xmlns:ahyp="http://schemas.microsoft.com/office/drawing/2018/hyperlinkcolor" val="tx"/>
                    </a:ext>
                  </a:extLst>
                </a:hlinkClick>
              </a:rPr>
              <a:t>evidence/priors</a:t>
            </a:r>
            <a:pPr indent="0" marL="0">
              <a:buNone/>
            </a:pPr>
            <a:r>
              <a:rPr lang="en-US" sz="1150" dirty="0">
                <a:solidFill>
                  <a:srgbClr val="5B6676"/>
                </a:solidFill>
                <a:latin typeface="Calibri" pitchFamily="34" charset="0"/>
                <a:ea typeface="Calibri" pitchFamily="34" charset="-122"/>
                <a:cs typeface="Calibri" pitchFamily="34" charset="-120"/>
              </a:rPr>
              <a:t>.</a:t>
            </a:r>
            <a:endParaRPr lang="en-US" sz="11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RESULT · DEVIATION ANALYSIS</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Why our numbers differ: causes and evidence</a:t>
            </a:r>
            <a:endParaRPr lang="en-US" sz="3000" dirty="0"/>
          </a:p>
        </p:txBody>
      </p:sp>
      <p:sp>
        <p:nvSpPr>
          <p:cNvPr id="5" name="Text 3"/>
          <p:cNvSpPr txBox="1"/>
          <p:nvPr/>
        </p:nvSpPr>
        <p:spPr>
          <a:xfrm>
            <a:off x="548640" y="6092190"/>
            <a:ext cx="10561320" cy="582930"/>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arxiv.org/abs/2402.03216" history="1" highlightClick="0" endSnd="0">
                  <a:extLst>
                    <a:ext uri="{A12FA001-AC4F-418D-AE19-62706E023703}">
                      <ahyp:hlinkClr xmlns:ahyp="http://schemas.microsoft.com/office/drawing/2018/hyperlinkcolor" val="tx"/>
                    </a:ext>
                  </a:extLst>
                </a:hlinkClick>
              </a:rPr>
              <a:t>[9] J. Chen et al., “BGE M3-Embedding: Multi-lingual, multi-functionality, multi-granularity text embeddings through self-knowledge distillation,” arXiv:2402.03216, 2024.</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3"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p:txBody>
      </p:sp>
      <p:graphicFrame>
        <p:nvGraphicFramePr>
          <p:cNvPr id="23" name="deviation-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286000"/>
                <a:gridCol w="3429000"/>
                <a:gridCol w="3730752"/>
                <a:gridCol w="164592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Gap</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Candidate causes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from our runs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13D"/>
                    </a:solidFill>
                  </a:tcPr>
                </a:tc>
              </a:tr>
              <a:tr h="60350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PILOT trails at 20–75% (RB)</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8-arm pool; 3 unverified version mappings; 86 vs 64 task labels; author split and settings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Gap persists with the paper’s embedder. OpenAI − BGE [9]: −0.33 pp RB / −2.76 pp MMLU</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C77700"/>
                          </a:solidFill>
                          <a:latin typeface="Calibri" pitchFamily="34" charset="0"/>
                          <a:ea typeface="Calibri" pitchFamily="34" charset="-122"/>
                          <a:cs typeface="Calibri" pitchFamily="34" charset="-120"/>
                        </a:rPr>
                        <a:t>embedder ruled out; rest untestable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BF0DC"/>
                    </a:solidFill>
                  </a:tcPr>
                </a:tc>
              </a:tr>
              <a:tr h="566928">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Preference 60.70% vs 65.0%</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313 calibration pairs vs a 500-pair test; different pairs and pool</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Local 500-pair test: 63.53%. Zero directions: +2.14 pp / −0.45 pp</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5B6676"/>
                          </a:solidFill>
                          <a:latin typeface="Calibri" pitchFamily="34" charset="0"/>
                          <a:ea typeface="Calibri" pitchFamily="34" charset="-122"/>
                          <a:cs typeface="Calibri" pitchFamily="34" charset="-120"/>
                        </a:rPr>
                        <a:t>not comparable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2F4F7"/>
                    </a:solidFill>
                  </a:tcPr>
                </a:tc>
              </a:tr>
              <a:tr h="42062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λ heuristic</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λ</a:t>
                      </a:r>
                      <a:pPr indent="0" marL="0">
                        <a:buNone/>
                      </a:pPr>
                      <a:r>
                        <a:rPr lang="en-US" sz="1150" baseline="-40000" dirty="0">
                          <a:solidFill>
                            <a:srgbClr val="1F2933"/>
                          </a:solidFill>
                          <a:latin typeface="Calibri" pitchFamily="34" charset="0"/>
                          <a:ea typeface="Calibri" pitchFamily="34" charset="-122"/>
                          <a:cs typeface="Calibri" pitchFamily="34" charset="-120"/>
                        </a:rPr>
                        <a:t>a</a:t>
                      </a:r>
                      <a:pPr indent="0" marL="0">
                        <a:buNone/>
                      </a:pPr>
                      <a:r>
                        <a:rPr lang="en-US" sz="1150" dirty="0">
                          <a:solidFill>
                            <a:srgbClr val="1F2933"/>
                          </a:solidFill>
                          <a:latin typeface="Calibri" pitchFamily="34" charset="0"/>
                          <a:ea typeface="Calibri" pitchFamily="34" charset="-122"/>
                          <a:cs typeface="Calibri" pitchFamily="34" charset="-120"/>
                        </a:rPr>
                        <a:t> = 1/accuracy vs constant</a:t>
                      </a:r>
                      <a:endParaRPr lang="en-US" sz="120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λ = 1: +1.55 pp / +0.32 pp</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tested: not supported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475488">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Collapse at low allocation</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Explicit stop rule under binning</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MMLU 20%: stop after 29 / 1,275; skip serves 97.31%</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explained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51206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Settings we fixed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S = 100, LB/UB, d = 64, margin, epochs, lr, guard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One bin −0.35 pp / −0.62 pp; d = 8 −0.90 pp / +1.65 pp; LB/UB untested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C77700"/>
                          </a:solidFill>
                          <a:latin typeface="Calibri" pitchFamily="34" charset="0"/>
                          <a:ea typeface="Calibri" pitchFamily="34" charset="-122"/>
                          <a:cs typeface="Calibri" pitchFamily="34" charset="-120"/>
                        </a:rPr>
                        <a:t>partly tested</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BF0DC"/>
                    </a:solidFill>
                  </a:tcPr>
                </a:tc>
              </a:tr>
              <a:tr h="438912">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Seed variation</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3 seeds</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50% RB: PILOT 84.98%–88.61% vs LinUCB 90.22%–91.93%</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0E7C7B"/>
                          </a:solidFill>
                          <a:latin typeface="Calibri" pitchFamily="34" charset="0"/>
                          <a:ea typeface="Calibri" pitchFamily="34" charset="-122"/>
                          <a:cs typeface="Calibri" pitchFamily="34" charset="-120"/>
                        </a:rPr>
                        <a:t>ruled out</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2F1F0"/>
                    </a:solidFill>
                  </a:tcPr>
                </a:tc>
              </a:tr>
              <a:tr h="420624">
                <a:tc>
                  <a:txBody>
                    <a:bodyPr/>
                    <a:lstStyle/>
                    <a:p>
                      <a:pPr indent="0" marL="0">
                        <a:buNone/>
                      </a:pPr>
                      <a:r>
                        <a:rPr lang="en-US" sz="1150" b="1" dirty="0">
                          <a:solidFill>
                            <a:srgbClr val="1F2933"/>
                          </a:solidFill>
                          <a:latin typeface="Calibri" pitchFamily="34" charset="0"/>
                          <a:ea typeface="Calibri" pitchFamily="34" charset="-122"/>
                          <a:cs typeface="Calibri" pitchFamily="34" charset="-120"/>
                        </a:rPr>
                        <a:t>Original code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No official implementation found (30 Oct 2026)</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F2933"/>
                          </a:solidFill>
                          <a:latin typeface="Calibri" pitchFamily="34" charset="0"/>
                          <a:ea typeface="Calibri" pitchFamily="34" charset="-122"/>
                          <a:cs typeface="Calibri" pitchFamily="34" charset="-120"/>
                        </a:rPr>
                        <a:t>No divergence check possible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50" b="1" dirty="0">
                          <a:solidFill>
                            <a:srgbClr val="5B6676"/>
                          </a:solidFill>
                          <a:latin typeface="Calibri" pitchFamily="34" charset="0"/>
                          <a:ea typeface="Calibri" pitchFamily="34" charset="-122"/>
                          <a:cs typeface="Calibri" pitchFamily="34" charset="-120"/>
                        </a:rPr>
                        <a:t>not testable</a:t>
                      </a:r>
                      <a:endParaRPr lang="en-US" sz="1150" dirty="0">
                        <a:latin typeface="Calibri" charset="0"/>
                        <a:ea typeface="Calibri" charset="0"/>
                        <a:cs typeface="Calibri" charset="0"/>
                      </a:endParaRPr>
                    </a:p>
                  </a:txBody>
                  <a:tcPr marL="73152" marR="73152" marT="36576" marB="36576"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2F4F7"/>
                    </a:solidFill>
                  </a:tcPr>
                </a:tc>
              </a:tr>
            </a:tbl>
          </a:graphicData>
        </a:graphic>
      </p:graphicFrame>
      <p:sp>
        <p:nvSpPr>
          <p:cNvPr id="8" name="Text 4"/>
          <p:cNvSpPr txBox="1"/>
          <p:nvPr/>
        </p:nvSpPr>
        <p:spPr>
          <a:xfrm>
            <a:off x="548640" y="5440680"/>
            <a:ext cx="11094415" cy="365760"/>
          </a:xfrm>
          <a:prstGeom prst="rect">
            <a:avLst/>
          </a:prstGeom>
          <a:noFill/>
          <a:ln/>
        </p:spPr>
        <p:txBody>
          <a:bodyPr wrap="square" lIns="0" tIns="0" rIns="0" bIns="0" rtlCol="0" anchor="t"/>
          <a:lstStyle/>
          <a:p>
            <a:pPr indent="0" marL="0">
              <a:buNone/>
            </a:pPr>
            <a:r>
              <a:rPr lang="en-US" sz="1200" dirty="0">
                <a:solidFill>
                  <a:srgbClr val="5B6676"/>
                </a:solidFill>
                <a:latin typeface="Calibri" pitchFamily="34" charset="0"/>
                <a:ea typeface="Calibri" pitchFamily="34" charset="-122"/>
                <a:cs typeface="Calibri" pitchFamily="34" charset="-120"/>
              </a:rPr>
              <a:t>Libraries and hardware: outcomes are replayed and independent replays reproduce every learning group exactly, so floating-point differences cannot create these gaps.</a:t>
            </a:r>
            <a:endParaRPr lang="en-US" sz="120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457200"/>
            <a:ext cx="5486400" cy="292608"/>
          </a:xfrm>
          <a:prstGeom prst="rect">
            <a:avLst/>
          </a:prstGeom>
          <a:noFill/>
          <a:ln/>
        </p:spPr>
        <p:txBody>
          <a:bodyPr wrap="square" lIns="0" tIns="0" rIns="0" bIns="0" rtlCol="0" anchor="t"/>
          <a:lstStyle/>
          <a:p>
            <a:pPr indent="0" marL="0">
              <a:buNone/>
            </a:pPr>
            <a:r>
              <a:rPr lang="en-US" sz="1300" b="1" spc="150" kern="0" dirty="0">
                <a:solidFill>
                  <a:srgbClr val="6CC3BA"/>
                </a:solidFill>
                <a:latin typeface="Calibri" pitchFamily="34" charset="0"/>
                <a:ea typeface="Calibri" pitchFamily="34" charset="-122"/>
                <a:cs typeface="Calibri" pitchFamily="34" charset="-120"/>
              </a:rPr>
              <a:t>TAKEAWAYS</a:t>
            </a:r>
            <a:endParaRPr lang="en-US" sz="1300" dirty="0"/>
          </a:p>
        </p:txBody>
      </p:sp>
      <p:sp>
        <p:nvSpPr>
          <p:cNvPr id="3" name="Text 1"/>
          <p:cNvSpPr txBox="1"/>
          <p:nvPr/>
        </p:nvSpPr>
        <p:spPr>
          <a:xfrm>
            <a:off x="640080" y="777240"/>
            <a:ext cx="1005840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we can and cannot claim</a:t>
            </a:r>
            <a:endParaRPr lang="en-US" sz="3200" dirty="0"/>
          </a:p>
        </p:txBody>
      </p:sp>
      <p:sp>
        <p:nvSpPr>
          <p:cNvPr id="4" name="Shape 2"/>
          <p:cNvSpPr/>
          <p:nvPr/>
        </p:nvSpPr>
        <p:spPr>
          <a:xfrm>
            <a:off x="640080" y="1691640"/>
            <a:ext cx="3127248" cy="3429000"/>
          </a:xfrm>
          <a:prstGeom prst="roundRect">
            <a:avLst>
              <a:gd name="adj" fmla="val 2339"/>
            </a:avLst>
          </a:prstGeom>
          <a:solidFill>
            <a:srgbClr val="1D2D4F"/>
          </a:solidFill>
          <a:ln w="9525">
            <a:solidFill>
              <a:srgbClr val="1D2D4F"/>
            </a:solidFill>
            <a:prstDash val="solid"/>
          </a:ln>
        </p:spPr>
      </p:sp>
      <p:sp>
        <p:nvSpPr>
          <p:cNvPr id="5" name="Text 3"/>
          <p:cNvSpPr txBox="1"/>
          <p:nvPr/>
        </p:nvSpPr>
        <p:spPr>
          <a:xfrm>
            <a:off x="822960" y="1810512"/>
            <a:ext cx="2743200" cy="384048"/>
          </a:xfrm>
          <a:prstGeom prst="rect">
            <a:avLst/>
          </a:prstGeom>
          <a:noFill/>
          <a:ln/>
        </p:spPr>
        <p:txBody>
          <a:bodyPr wrap="square" lIns="0" tIns="0" rIns="0" bIns="0" rtlCol="0" anchor="t"/>
          <a:lstStyle/>
          <a:p>
            <a:pPr indent="0" marL="0">
              <a:buNone/>
            </a:pPr>
            <a:r>
              <a:rPr lang="en-US" sz="1800" b="1" dirty="0">
                <a:solidFill>
                  <a:srgbClr val="6CC3BA"/>
                </a:solidFill>
                <a:latin typeface="Cambria" pitchFamily="34" charset="0"/>
                <a:ea typeface="Cambria" pitchFamily="34" charset="-122"/>
                <a:cs typeface="Cambria" pitchFamily="34" charset="-120"/>
              </a:rPr>
              <a:t>Reproduced, with limits</a:t>
            </a:r>
            <a:endParaRPr lang="en-US" sz="1800" dirty="0"/>
          </a:p>
        </p:txBody>
      </p:sp>
      <p:sp>
        <p:nvSpPr>
          <p:cNvPr id="6" name="Text 4"/>
          <p:cNvSpPr txBox="1"/>
          <p:nvPr/>
        </p:nvSpPr>
        <p:spPr>
          <a:xfrm>
            <a:off x="822960" y="2286000"/>
            <a:ext cx="278892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Among adaptive learners PILOT has the lowest learning regret on both populations; always-GPT-4 is lower.</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At loose allocations PILOT leads in quality (97.94% / 98.44% of GPT-4 at 100%) while spending about 92% of GPT-4’s cost.</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Method, theory and complexity retold in our own notation.</a:t>
            </a:r>
            <a:endParaRPr lang="en-US" sz="1300" dirty="0"/>
          </a:p>
        </p:txBody>
      </p:sp>
      <p:sp>
        <p:nvSpPr>
          <p:cNvPr id="7" name="Shape 5"/>
          <p:cNvSpPr/>
          <p:nvPr/>
        </p:nvSpPr>
        <p:spPr>
          <a:xfrm>
            <a:off x="3950208" y="1691640"/>
            <a:ext cx="3127248" cy="3429000"/>
          </a:xfrm>
          <a:prstGeom prst="roundRect">
            <a:avLst>
              <a:gd name="adj" fmla="val 2339"/>
            </a:avLst>
          </a:prstGeom>
          <a:solidFill>
            <a:srgbClr val="1D2D4F"/>
          </a:solidFill>
          <a:ln w="9525">
            <a:solidFill>
              <a:srgbClr val="1D2D4F"/>
            </a:solidFill>
            <a:prstDash val="solid"/>
          </a:ln>
        </p:spPr>
      </p:sp>
      <p:sp>
        <p:nvSpPr>
          <p:cNvPr id="8" name="Text 6"/>
          <p:cNvSpPr txBox="1"/>
          <p:nvPr/>
        </p:nvSpPr>
        <p:spPr>
          <a:xfrm>
            <a:off x="4133088" y="1810512"/>
            <a:ext cx="2743200" cy="384048"/>
          </a:xfrm>
          <a:prstGeom prst="rect">
            <a:avLst/>
          </a:prstGeom>
          <a:noFill/>
          <a:ln/>
        </p:spPr>
        <p:txBody>
          <a:bodyPr wrap="square" lIns="0" tIns="0" rIns="0" bIns="0" rtlCol="0" anchor="t"/>
          <a:lstStyle/>
          <a:p>
            <a:pPr indent="0" marL="0">
              <a:buNone/>
            </a:pPr>
            <a:r>
              <a:rPr lang="en-US" sz="1800" b="1" dirty="0">
                <a:solidFill>
                  <a:srgbClr val="F08C77"/>
                </a:solidFill>
                <a:latin typeface="Cambria" pitchFamily="34" charset="0"/>
                <a:ea typeface="Cambria" pitchFamily="34" charset="-122"/>
                <a:cs typeface="Cambria" pitchFamily="34" charset="-120"/>
              </a:rPr>
              <a:t>Not reproduced locally</a:t>
            </a:r>
            <a:endParaRPr lang="en-US" sz="1800" dirty="0"/>
          </a:p>
        </p:txBody>
      </p:sp>
      <p:sp>
        <p:nvSpPr>
          <p:cNvPr id="9" name="Text 7"/>
          <p:cNvSpPr txBox="1"/>
          <p:nvPr/>
        </p:nvSpPr>
        <p:spPr>
          <a:xfrm>
            <a:off x="4133088" y="2286000"/>
            <a:ext cx="278892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At 50% allocation PILOT trails LinUCB (86.60% vs 91.28% RB, 83.53% vs 86.96% MMLU) and spends more.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No matched 93%-at-25% point. The paper’s embedder did not close the gap: OpenAI is not uniformly better than BGE.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Locally RouteLLM-MF predicts preferences better (68.07% vs 63.53%).</a:t>
            </a:r>
            <a:endParaRPr lang="en-US" sz="1300" dirty="0"/>
          </a:p>
        </p:txBody>
      </p:sp>
      <p:sp>
        <p:nvSpPr>
          <p:cNvPr id="10" name="Shape 8"/>
          <p:cNvSpPr/>
          <p:nvPr/>
        </p:nvSpPr>
        <p:spPr>
          <a:xfrm>
            <a:off x="7260336" y="1691640"/>
            <a:ext cx="3127248" cy="3429000"/>
          </a:xfrm>
          <a:prstGeom prst="roundRect">
            <a:avLst>
              <a:gd name="adj" fmla="val 2339"/>
            </a:avLst>
          </a:prstGeom>
          <a:solidFill>
            <a:srgbClr val="1D2D4F"/>
          </a:solidFill>
          <a:ln w="9525">
            <a:solidFill>
              <a:srgbClr val="1D2D4F"/>
            </a:solidFill>
            <a:prstDash val="solid"/>
          </a:ln>
        </p:spPr>
      </p:sp>
      <p:sp>
        <p:nvSpPr>
          <p:cNvPr id="11" name="Text 9"/>
          <p:cNvSpPr txBox="1"/>
          <p:nvPr/>
        </p:nvSpPr>
        <p:spPr>
          <a:xfrm>
            <a:off x="7443216" y="1810512"/>
            <a:ext cx="2743200" cy="384048"/>
          </a:xfrm>
          <a:prstGeom prst="rect">
            <a:avLst/>
          </a:prstGeom>
          <a:noFill/>
          <a:ln/>
        </p:spPr>
        <p:txBody>
          <a:bodyPr wrap="square" lIns="0" tIns="0" rIns="0" bIns="0" rtlCol="0" anchor="t"/>
          <a:lstStyle/>
          <a:p>
            <a:pPr indent="0" marL="0">
              <a:buNone/>
            </a:pPr>
            <a:r>
              <a:rPr lang="en-US" sz="1800" b="1" dirty="0">
                <a:solidFill>
                  <a:srgbClr val="F2C46D"/>
                </a:solidFill>
                <a:latin typeface="Cambria" pitchFamily="34" charset="0"/>
                <a:ea typeface="Cambria" pitchFamily="34" charset="-122"/>
                <a:cs typeface="Cambria" pitchFamily="34" charset="-120"/>
              </a:rPr>
              <a:t>Tested next (poster)</a:t>
            </a:r>
            <a:endParaRPr lang="en-US" sz="1800" dirty="0"/>
          </a:p>
        </p:txBody>
      </p:sp>
      <p:sp>
        <p:nvSpPr>
          <p:cNvPr id="12" name="Text 10"/>
          <p:cNvSpPr txBox="1"/>
          <p:nvPr/>
        </p:nvSpPr>
        <p:spPr>
          <a:xfrm>
            <a:off x="7443216" y="2286000"/>
            <a:ext cx="278892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Cosine scoring discards reward magnitude.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Estimated-cost feasibility does not survive cost error.</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Both are argued theoretically and measured.</a:t>
            </a:r>
            <a:endParaRPr lang="en-US" sz="1300" dirty="0"/>
          </a:p>
        </p:txBody>
      </p:sp>
      <p:pic>
        <p:nvPicPr>
          <p:cNvPr id="13" name="Image 0" descr="QR code to the GitHub repository">    </p:cNvPr>
          <p:cNvPicPr>
            <a:picLocks noChangeAspect="1"/>
          </p:cNvPicPr>
          <p:nvPr/>
        </p:nvPicPr>
        <p:blipFill>
          <a:blip r:embed="rId1"/>
          <a:stretch>
            <a:fillRect/>
          </a:stretch>
        </p:blipFill>
        <p:spPr>
          <a:xfrm>
            <a:off x="10652760" y="1691640"/>
            <a:ext cx="1097280" cy="1097280"/>
          </a:xfrm>
          <a:prstGeom prst="rect">
            <a:avLst/>
          </a:prstGeom>
        </p:spPr>
      </p:pic>
      <p:sp>
        <p:nvSpPr>
          <p:cNvPr id="14" name="Text 11"/>
          <p:cNvSpPr txBox="1"/>
          <p:nvPr/>
        </p:nvSpPr>
        <p:spPr>
          <a:xfrm>
            <a:off x="10469880" y="2816352"/>
            <a:ext cx="1463040" cy="274320"/>
          </a:xfrm>
          <a:prstGeom prst="rect">
            <a:avLst/>
          </a:prstGeom>
          <a:noFill/>
          <a:ln/>
        </p:spPr>
        <p:txBody>
          <a:bodyPr wrap="square" lIns="0" tIns="0" rIns="0" bIns="0" rtlCol="0" anchor="t"/>
          <a:lstStyle/>
          <a:p>
            <a:pPr algn="ctr" indent="0" marL="0">
              <a:buNone/>
            </a:pPr>
            <a:r>
              <a:rPr lang="en-US" sz="110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repository</a:t>
            </a:r>
            <a:endParaRPr lang="en-US" sz="1100" dirty="0"/>
          </a:p>
        </p:txBody>
      </p:sp>
      <p:pic>
        <p:nvPicPr>
          <p:cNvPr id="15" name="Image 1" descr="QR code to the public W&amp;B project">    </p:cNvPr>
          <p:cNvPicPr>
            <a:picLocks noChangeAspect="1"/>
          </p:cNvPicPr>
          <p:nvPr/>
        </p:nvPicPr>
        <p:blipFill>
          <a:blip r:embed="rId3"/>
          <a:stretch>
            <a:fillRect/>
          </a:stretch>
        </p:blipFill>
        <p:spPr>
          <a:xfrm>
            <a:off x="10652760" y="3246120"/>
            <a:ext cx="1097280" cy="1097280"/>
          </a:xfrm>
          <a:prstGeom prst="rect">
            <a:avLst/>
          </a:prstGeom>
        </p:spPr>
      </p:pic>
      <p:sp>
        <p:nvSpPr>
          <p:cNvPr id="16" name="Text 12"/>
          <p:cNvSpPr txBox="1"/>
          <p:nvPr/>
        </p:nvSpPr>
        <p:spPr>
          <a:xfrm>
            <a:off x="10469880" y="4370832"/>
            <a:ext cx="1463040" cy="457200"/>
          </a:xfrm>
          <a:prstGeom prst="rect">
            <a:avLst/>
          </a:prstGeom>
          <a:noFill/>
          <a:ln/>
        </p:spPr>
        <p:txBody>
          <a:bodyPr wrap="square" lIns="0" tIns="0" rIns="0" bIns="0" rtlCol="0" anchor="t"/>
          <a:lstStyle/>
          <a:p>
            <a:pPr algn="ctr" indent="0" marL="0">
              <a:buNone/>
            </a:pPr>
            <a:r>
              <a:rPr lang="en-US" sz="1100" b="1" u="sng" dirty="0">
                <a:solidFill>
                  <a:srgbClr val="FFFF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W&amp;B project</a:t>
            </a:r>
            <a:pPr algn="ctr" indent="0" marL="0">
              <a:buNone/>
            </a:pPr>
            <a:endParaRPr lang="en-US" sz="1100" dirty="0"/>
          </a:p>
          <a:p>
            <a:pPr algn="ctr" indent="0" marL="0">
              <a:buNone/>
            </a:pPr>
            <a:r>
              <a:rPr lang="en-US" sz="1100" dirty="0">
                <a:solidFill>
                  <a:srgbClr val="AEB8C8"/>
                </a:solidFill>
                <a:latin typeface="Calibri" pitchFamily="34" charset="0"/>
                <a:ea typeface="Calibri" pitchFamily="34" charset="-122"/>
                <a:cs typeface="Calibri" pitchFamily="34" charset="-120"/>
              </a:rPr>
              <a:t>3,626 public runs</a:t>
            </a:r>
            <a:endParaRPr lang="en-US" sz="1100" dirty="0"/>
          </a:p>
        </p:txBody>
      </p:sp>
      <p:sp>
        <p:nvSpPr>
          <p:cNvPr id="17" name="Text 13"/>
          <p:cNvSpPr txBox="1"/>
          <p:nvPr/>
        </p:nvSpPr>
        <p:spPr>
          <a:xfrm>
            <a:off x="640080" y="5303520"/>
            <a:ext cx="9601200" cy="457200"/>
          </a:xfrm>
          <a:prstGeom prst="rect">
            <a:avLst/>
          </a:prstGeom>
          <a:noFill/>
          <a:ln/>
        </p:spPr>
        <p:txBody>
          <a:bodyPr wrap="square" lIns="0" tIns="0" rIns="0" bIns="0" rtlCol="0" anchor="t"/>
          <a:lstStyle/>
          <a:p>
            <a:pPr indent="0" marL="0">
              <a:buNone/>
            </a:pPr>
            <a:r>
              <a:rPr lang="en-US" sz="1300" dirty="0">
                <a:solidFill>
                  <a:srgbClr val="AEB8C8"/>
                </a:solidFill>
                <a:latin typeface="Calibri" pitchFamily="34" charset="0"/>
                <a:ea typeface="Calibri" pitchFamily="34" charset="-122"/>
                <a:cs typeface="Calibri" pitchFamily="34" charset="-120"/>
              </a:rPr>
              <a:t>Scope: 8 arms, the paper’s text-embedding-3-small (cached, no new paid request), three seeds, historical RouterBench outcomes. Not a matched replication of the 11-arm paper.</a:t>
            </a:r>
            <a:endParaRPr lang="en-US" sz="1300" dirty="0"/>
          </a:p>
        </p:txBody>
      </p:sp>
      <p:sp>
        <p:nvSpPr>
          <p:cNvPr id="18" name="Text 14"/>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AEB8C8"/>
                </a:solidFill>
                <a:latin typeface="Calibri" pitchFamily="34" charset="0"/>
                <a:ea typeface="Calibri" pitchFamily="34" charset="-122"/>
                <a:cs typeface="Calibri" pitchFamily="34" charset="-120"/>
                <a:hlinkClick r:id="rId5"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AEB8C8"/>
                </a:solidFill>
                <a:latin typeface="Calibri" pitchFamily="34" charset="0"/>
                <a:ea typeface="Calibri" pitchFamily="34" charset="-122"/>
                <a:cs typeface="Calibri" pitchFamily="34" charset="-120"/>
                <a:hlinkClick r:id="rId6"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02336"/>
            <a:ext cx="146304" cy="146304"/>
          </a:xfrm>
          <a:prstGeom prst="ellipse">
            <a:avLst/>
          </a:prstGeom>
          <a:solidFill>
            <a:srgbClr val="0E7C7B"/>
          </a:solidFill>
          <a:ln w="12700">
            <a:solidFill>
              <a:srgbClr val="0E7C7B"/>
            </a:solidFill>
            <a:prstDash val="solid"/>
          </a:ln>
        </p:spPr>
      </p:sp>
      <p:sp>
        <p:nvSpPr>
          <p:cNvPr id="3" name="Text 1"/>
          <p:cNvSpPr txBox="1"/>
          <p:nvPr/>
        </p:nvSpPr>
        <p:spPr>
          <a:xfrm>
            <a:off x="786384" y="329184"/>
            <a:ext cx="8229600" cy="292608"/>
          </a:xfrm>
          <a:prstGeom prst="rect">
            <a:avLst/>
          </a:prstGeom>
          <a:noFill/>
          <a:ln/>
        </p:spPr>
        <p:txBody>
          <a:bodyPr wrap="square" lIns="0" tIns="0" rIns="0" bIns="0" rtlCol="0" anchor="ctr"/>
          <a:lstStyle/>
          <a:p>
            <a:pPr indent="0" marL="0">
              <a:buNone/>
            </a:pPr>
            <a:r>
              <a:rPr lang="en-US" sz="1200" b="1" spc="150" kern="0" dirty="0">
                <a:solidFill>
                  <a:srgbClr val="0E7C7B"/>
                </a:solidFill>
                <a:latin typeface="Calibri" pitchFamily="34" charset="0"/>
                <a:ea typeface="Calibri" pitchFamily="34" charset="-122"/>
                <a:cs typeface="Calibri" pitchFamily="34" charset="-120"/>
              </a:rPr>
              <a:t>APPENDIX · TRACEABILITY</a:t>
            </a:r>
            <a:endParaRPr lang="en-US" sz="1200" dirty="0"/>
          </a:p>
        </p:txBody>
      </p:sp>
      <p:sp>
        <p:nvSpPr>
          <p:cNvPr id="4" name="Text 0"/>
          <p:cNvSpPr/>
          <p:nvPr>
            <p:ph idx="100" type="title" hasCustomPrompt="1"/>
          </p:nvPr>
        </p:nvSpPr>
        <p:spPr>
          <a:xfrm>
            <a:off x="548640" y="658368"/>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latin typeface="Cambria" pitchFamily="34" charset="0"/>
                <a:ea typeface="Cambria" pitchFamily="34" charset="-122"/>
                <a:cs typeface="Cambria" pitchFamily="34" charset="-120"/>
              </a:rPr>
              <a:t>W&amp;B runs behind every headline number</a:t>
            </a:r>
            <a:endParaRPr lang="en-US" sz="3000" dirty="0"/>
          </a:p>
        </p:txBody>
      </p:sp>
      <p:sp>
        <p:nvSpPr>
          <p:cNvPr id="5" name="Text 3"/>
          <p:cNvSpPr txBox="1"/>
          <p:nvPr/>
        </p:nvSpPr>
        <p:spPr>
          <a:xfrm>
            <a:off x="548640" y="6243066"/>
            <a:ext cx="10561320" cy="432054"/>
          </a:xfrm>
          <a:prstGeom prst="rect">
            <a:avLst/>
          </a:prstGeom>
          <a:noFill/>
          <a:ln/>
        </p:spPr>
        <p:txBody>
          <a:bodyPr wrap="square" lIns="0" tIns="0" rIns="0" bIns="0" rtlCol="0" anchor="b"/>
          <a:lstStyle/>
          <a:p>
            <a:pPr indent="0" marL="0">
              <a:buNone/>
            </a:pPr>
            <a:r>
              <a:rPr lang="en-US" sz="950" u="sng" dirty="0">
                <a:solidFill>
                  <a:srgbClr val="5B6676"/>
                </a:solidFill>
                <a:latin typeface="Calibri" pitchFamily="34" charset="0"/>
                <a:ea typeface="Calibri" pitchFamily="34" charset="-122"/>
                <a:cs typeface="Calibri" pitchFamily="34" charset="-120"/>
                <a:hlinkClick r:id="rId1"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[10] Team 8, “pilot-llm-routing-team8,” Weights &amp; Biases public project, 3,626 runs, Oct. 2026. [Online]. Available: forge.coreweave.com/wandb/kiettheis-university-of-science-vnu-hcm/pilot-llm-routing-team8</a:t>
            </a:r>
            <a:endParaRPr lang="en-US" sz="950" dirty="0"/>
          </a:p>
          <a:p>
            <a:pPr indent="0" marL="0">
              <a:buNone/>
            </a:pPr>
            <a:r>
              <a:rPr lang="en-US" sz="950" u="sng" dirty="0">
                <a:solidFill>
                  <a:srgbClr val="5B6676"/>
                </a:solidFill>
                <a:latin typeface="Calibri" pitchFamily="34" charset="0"/>
                <a:ea typeface="Calibri" pitchFamily="34" charset="-122"/>
                <a:cs typeface="Calibri" pitchFamily="34" charset="-120"/>
                <a:hlinkClick r:id="rId2" invalidUrl="" action="" tgtFrame="" tooltip="https://github.com/kiettheis0702/pilot-llm-routing" history="1" highlightClick="0" endSnd="0">
                  <a:extLst>
                    <a:ext uri="{A12FA001-AC4F-418D-AE19-62706E023703}">
                      <ahyp:hlinkClr xmlns:ahyp="http://schemas.microsoft.com/office/drawing/2018/hyperlinkcolor" val="tx"/>
                    </a:ext>
                  </a:extLst>
                </a:hlinkClick>
              </a:rPr>
              <a:t>[11] Team 8, “pilot-llm-routing,” GitHub repository, Oct. 2026. [Online]. Available: github.com/kiettheis0702/pilot-llm-routing</a:t>
            </a:r>
            <a:endParaRPr lang="en-US" sz="950" dirty="0"/>
          </a:p>
        </p:txBody>
      </p:sp>
      <p:graphicFrame>
        <p:nvGraphicFramePr>
          <p:cNvPr id="25" name="run-index"/>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017520"/>
                <a:gridCol w="868680"/>
                <a:gridCol w="2404872"/>
                <a:gridCol w="2404872"/>
                <a:gridCol w="2398471"/>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Number on the slides (quality / GPT-4)</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Seed 7</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Seed 42</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Seed 2026</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RouterBench PILOT 50%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86.60%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3" invalidUrl="" action="" tgtFrame="" tooltip="openai/core/routerbench/seed-7/main/pilot/learn-1/budget-0.5" history="1" highlightClick="0" endSnd="0">
                            <a:extLst>
                              <a:ext uri="{A12FA001-AC4F-418D-AE19-62706E023703}">
                                <ahyp:hlinkClr xmlns:ahyp="http://schemas.microsoft.com/office/drawing/2018/hyperlinkcolor" val="tx"/>
                              </a:ext>
                            </a:extLst>
                          </a:hlinkClick>
                        </a:rPr>
                        <a:t>p2-7d78b1693ceca1bae751be80</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4" invalidUrl="" action="" tgtFrame="" tooltip="openai/core/routerbench/seed-42/main/pilot/learn-1/budget-0.5" history="1" highlightClick="0" endSnd="0">
                            <a:extLst>
                              <a:ext uri="{A12FA001-AC4F-418D-AE19-62706E023703}">
                                <ahyp:hlinkClr xmlns:ahyp="http://schemas.microsoft.com/office/drawing/2018/hyperlinkcolor" val="tx"/>
                              </a:ext>
                            </a:extLst>
                          </a:hlinkClick>
                        </a:rPr>
                        <a:t>p2-7e458ecb9aa6bc27b76bcaf3</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5" invalidUrl="" action="" tgtFrame="" tooltip="openai/core/routerbench/seed-2026/main/pilot/learn-1/budget-0.5" history="1" highlightClick="0" endSnd="0">
                            <a:extLst>
                              <a:ext uri="{A12FA001-AC4F-418D-AE19-62706E023703}">
                                <ahyp:hlinkClr xmlns:ahyp="http://schemas.microsoft.com/office/drawing/2018/hyperlinkcolor" val="tx"/>
                              </a:ext>
                            </a:extLst>
                          </a:hlinkClick>
                        </a:rPr>
                        <a:t>p2-7325190ce97dc5c4a1d986fa</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RouterBench LinUCB 50%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91.28%</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6" invalidUrl="" action="" tgtFrame="" tooltip="openai/core/routerbench/seed-7/main/linucb/learn-1/budget-0.5" history="1" highlightClick="0" endSnd="0">
                            <a:extLst>
                              <a:ext uri="{A12FA001-AC4F-418D-AE19-62706E023703}">
                                <ahyp:hlinkClr xmlns:ahyp="http://schemas.microsoft.com/office/drawing/2018/hyperlinkcolor" val="tx"/>
                              </a:ext>
                            </a:extLst>
                          </a:hlinkClick>
                        </a:rPr>
                        <a:t>p2-77db5e01f61381e958f9e169</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7" invalidUrl="" action="" tgtFrame="" tooltip="openai/core/routerbench/seed-42/main/linucb/learn-1/budget-0.5" history="1" highlightClick="0" endSnd="0">
                            <a:extLst>
                              <a:ext uri="{A12FA001-AC4F-418D-AE19-62706E023703}">
                                <ahyp:hlinkClr xmlns:ahyp="http://schemas.microsoft.com/office/drawing/2018/hyperlinkcolor" val="tx"/>
                              </a:ext>
                            </a:extLst>
                          </a:hlinkClick>
                        </a:rPr>
                        <a:t>p2-282b745642832ebb59f3d263</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8" invalidUrl="" action="" tgtFrame="" tooltip="openai/core/routerbench/seed-2026/main/linucb/learn-1/budget-0.5" history="1" highlightClick="0" endSnd="0">
                            <a:extLst>
                              <a:ext uri="{A12FA001-AC4F-418D-AE19-62706E023703}">
                                <ahyp:hlinkClr xmlns:ahyp="http://schemas.microsoft.com/office/drawing/2018/hyperlinkcolor" val="tx"/>
                              </a:ext>
                            </a:extLst>
                          </a:hlinkClick>
                        </a:rPr>
                        <a:t>p2-1bc691d8055130960ac58419</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MMLU PILOT 50%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83.53%</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9" invalidUrl="" action="" tgtFrame="" tooltip="openai/core/mmlu/seed-7/main/pilot/learn-1/budget-0.5" history="1" highlightClick="0" endSnd="0">
                            <a:extLst>
                              <a:ext uri="{A12FA001-AC4F-418D-AE19-62706E023703}">
                                <ahyp:hlinkClr xmlns:ahyp="http://schemas.microsoft.com/office/drawing/2018/hyperlinkcolor" val="tx"/>
                              </a:ext>
                            </a:extLst>
                          </a:hlinkClick>
                        </a:rPr>
                        <a:t>p2-e2a3a1f9474a22b0f9c5a31f</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0" invalidUrl="" action="" tgtFrame="" tooltip="openai/core/mmlu/seed-42/main/pilot/learn-1/budget-0.5" history="1" highlightClick="0" endSnd="0">
                            <a:extLst>
                              <a:ext uri="{A12FA001-AC4F-418D-AE19-62706E023703}">
                                <ahyp:hlinkClr xmlns:ahyp="http://schemas.microsoft.com/office/drawing/2018/hyperlinkcolor" val="tx"/>
                              </a:ext>
                            </a:extLst>
                          </a:hlinkClick>
                        </a:rPr>
                        <a:t>p2-7a1be896143dbf1dd1ea65cd</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1" invalidUrl="" action="" tgtFrame="" tooltip="openai/core/mmlu/seed-2026/main/pilot/learn-1/budget-0.5" history="1" highlightClick="0" endSnd="0">
                            <a:extLst>
                              <a:ext uri="{A12FA001-AC4F-418D-AE19-62706E023703}">
                                <ahyp:hlinkClr xmlns:ahyp="http://schemas.microsoft.com/office/drawing/2018/hyperlinkcolor" val="tx"/>
                              </a:ext>
                            </a:extLst>
                          </a:hlinkClick>
                        </a:rPr>
                        <a:t>p2-ae43e5c37116d0d6205943b3</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MMLU LinUCB 50%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86.96%</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2" invalidUrl="" action="" tgtFrame="" tooltip="openai/core/mmlu/seed-7/main/linucb/learn-1/budget-0.5" history="1" highlightClick="0" endSnd="0">
                            <a:extLst>
                              <a:ext uri="{A12FA001-AC4F-418D-AE19-62706E023703}">
                                <ahyp:hlinkClr xmlns:ahyp="http://schemas.microsoft.com/office/drawing/2018/hyperlinkcolor" val="tx"/>
                              </a:ext>
                            </a:extLst>
                          </a:hlinkClick>
                        </a:rPr>
                        <a:t>p2-e69603db58106be4ebffeb2e</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3" invalidUrl="" action="" tgtFrame="" tooltip="openai/core/mmlu/seed-42/main/linucb/learn-1/budget-0.5" history="1" highlightClick="0" endSnd="0">
                            <a:extLst>
                              <a:ext uri="{A12FA001-AC4F-418D-AE19-62706E023703}">
                                <ahyp:hlinkClr xmlns:ahyp="http://schemas.microsoft.com/office/drawing/2018/hyperlinkcolor" val="tx"/>
                              </a:ext>
                            </a:extLst>
                          </a:hlinkClick>
                        </a:rPr>
                        <a:t>p2-6e0469958272f93ee954d604</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4" invalidUrl="" action="" tgtFrame="" tooltip="openai/core/mmlu/seed-2026/main/linucb/learn-1/budget-0.5" history="1" highlightClick="0" endSnd="0">
                            <a:extLst>
                              <a:ext uri="{A12FA001-AC4F-418D-AE19-62706E023703}">
                                <ahyp:hlinkClr xmlns:ahyp="http://schemas.microsoft.com/office/drawing/2018/hyperlinkcolor" val="tx"/>
                              </a:ext>
                            </a:extLst>
                          </a:hlinkClick>
                        </a:rPr>
                        <a:t>p2-647f1eb3313b84f07ae69543</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RouterBench PILOT 100%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97.94%</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5" invalidUrl="" action="" tgtFrame="" tooltip="openai/core/routerbench/seed-7/main/pilot/learn-1/budget-1" history="1" highlightClick="0" endSnd="0">
                            <a:extLst>
                              <a:ext uri="{A12FA001-AC4F-418D-AE19-62706E023703}">
                                <ahyp:hlinkClr xmlns:ahyp="http://schemas.microsoft.com/office/drawing/2018/hyperlinkcolor" val="tx"/>
                              </a:ext>
                            </a:extLst>
                          </a:hlinkClick>
                        </a:rPr>
                        <a:t>p2-35f07caca3046f857c9467ae</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6" invalidUrl="" action="" tgtFrame="" tooltip="openai/core/routerbench/seed-42/main/pilot/learn-1/budget-1" history="1" highlightClick="0" endSnd="0">
                            <a:extLst>
                              <a:ext uri="{A12FA001-AC4F-418D-AE19-62706E023703}">
                                <ahyp:hlinkClr xmlns:ahyp="http://schemas.microsoft.com/office/drawing/2018/hyperlinkcolor" val="tx"/>
                              </a:ext>
                            </a:extLst>
                          </a:hlinkClick>
                        </a:rPr>
                        <a:t>p2-87e55a3701060f2df0175522</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7" invalidUrl="" action="" tgtFrame="" tooltip="openai/core/routerbench/seed-2026/main/pilot/learn-1/budget-1" history="1" highlightClick="0" endSnd="0">
                            <a:extLst>
                              <a:ext uri="{A12FA001-AC4F-418D-AE19-62706E023703}">
                                <ahyp:hlinkClr xmlns:ahyp="http://schemas.microsoft.com/office/drawing/2018/hyperlinkcolor" val="tx"/>
                              </a:ext>
                            </a:extLst>
                          </a:hlinkClick>
                        </a:rPr>
                        <a:t>p2-3e032b4bce0bc6ad6f630001</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RouterBench LinUCB 100%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96.59%</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8" invalidUrl="" action="" tgtFrame="" tooltip="openai/core/routerbench/seed-7/main/linucb/learn-1/budget-1" history="1" highlightClick="0" endSnd="0">
                            <a:extLst>
                              <a:ext uri="{A12FA001-AC4F-418D-AE19-62706E023703}">
                                <ahyp:hlinkClr xmlns:ahyp="http://schemas.microsoft.com/office/drawing/2018/hyperlinkcolor" val="tx"/>
                              </a:ext>
                            </a:extLst>
                          </a:hlinkClick>
                        </a:rPr>
                        <a:t>p2-8f35be049a2b04de12ce98e5</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19" invalidUrl="" action="" tgtFrame="" tooltip="openai/core/routerbench/seed-42/main/linucb/learn-1/budget-1" history="1" highlightClick="0" endSnd="0">
                            <a:extLst>
                              <a:ext uri="{A12FA001-AC4F-418D-AE19-62706E023703}">
                                <ahyp:hlinkClr xmlns:ahyp="http://schemas.microsoft.com/office/drawing/2018/hyperlinkcolor" val="tx"/>
                              </a:ext>
                            </a:extLst>
                          </a:hlinkClick>
                        </a:rPr>
                        <a:t>p2-335b9f4915abe7d60d423a70</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0" invalidUrl="" action="" tgtFrame="" tooltip="openai/core/routerbench/seed-2026/main/linucb/learn-1/budget-1" history="1" highlightClick="0" endSnd="0">
                            <a:extLst>
                              <a:ext uri="{A12FA001-AC4F-418D-AE19-62706E023703}">
                                <ahyp:hlinkClr xmlns:ahyp="http://schemas.microsoft.com/office/drawing/2018/hyperlinkcolor" val="tx"/>
                              </a:ext>
                            </a:extLst>
                          </a:hlinkClick>
                        </a:rPr>
                        <a:t>p2-5b46026710d6ea299b560b94</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MMLU PILOT 100%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98.44%</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1" invalidUrl="" action="" tgtFrame="" tooltip="openai/core/mmlu/seed-7/main/pilot/learn-1/budget-1" history="1" highlightClick="0" endSnd="0">
                            <a:extLst>
                              <a:ext uri="{A12FA001-AC4F-418D-AE19-62706E023703}">
                                <ahyp:hlinkClr xmlns:ahyp="http://schemas.microsoft.com/office/drawing/2018/hyperlinkcolor" val="tx"/>
                              </a:ext>
                            </a:extLst>
                          </a:hlinkClick>
                        </a:rPr>
                        <a:t>p2-53e75de1be2c2df31cbbbfba</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2" invalidUrl="" action="" tgtFrame="" tooltip="openai/core/mmlu/seed-42/main/pilot/learn-1/budget-1" history="1" highlightClick="0" endSnd="0">
                            <a:extLst>
                              <a:ext uri="{A12FA001-AC4F-418D-AE19-62706E023703}">
                                <ahyp:hlinkClr xmlns:ahyp="http://schemas.microsoft.com/office/drawing/2018/hyperlinkcolor" val="tx"/>
                              </a:ext>
                            </a:extLst>
                          </a:hlinkClick>
                        </a:rPr>
                        <a:t>p2-f76972412daa2e9f9b982419</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3" invalidUrl="" action="" tgtFrame="" tooltip="openai/core/mmlu/seed-2026/main/pilot/learn-1/budget-1" history="1" highlightClick="0" endSnd="0">
                            <a:extLst>
                              <a:ext uri="{A12FA001-AC4F-418D-AE19-62706E023703}">
                                <ahyp:hlinkClr xmlns:ahyp="http://schemas.microsoft.com/office/drawing/2018/hyperlinkcolor" val="tx"/>
                              </a:ext>
                            </a:extLst>
                          </a:hlinkClick>
                        </a:rPr>
                        <a:t>p2-68cd995aaee7207a053c6910</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2F4F7"/>
                    </a:solidFill>
                  </a:tcPr>
                </a:tc>
              </a:tr>
              <a:tr h="429768">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MMLU EpochGreedy 100%</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E7C7B"/>
                          </a:solidFill>
                          <a:latin typeface="Calibri" pitchFamily="34" charset="0"/>
                          <a:ea typeface="Calibri" pitchFamily="34" charset="-122"/>
                          <a:cs typeface="Calibri" pitchFamily="34" charset="-120"/>
                        </a:rPr>
                        <a:t>95.43%</a:t>
                      </a:r>
                      <a:endParaRPr lang="en-US" sz="1250" dirty="0">
                        <a:latin typeface="Calibri" charset="0"/>
                        <a:ea typeface="Calibri" charset="0"/>
                        <a:cs typeface="Calibri"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4" invalidUrl="" action="" tgtFrame="" tooltip="openai/core/mmlu/seed-7/main/epoch-greedy/learn-1/budget-1" history="1" highlightClick="0" endSnd="0">
                            <a:extLst>
                              <a:ext uri="{A12FA001-AC4F-418D-AE19-62706E023703}">
                                <ahyp:hlinkClr xmlns:ahyp="http://schemas.microsoft.com/office/drawing/2018/hyperlinkcolor" val="tx"/>
                              </a:ext>
                            </a:extLst>
                          </a:hlinkClick>
                        </a:rPr>
                        <a:t>p2-c318cec42a6256b9e553a9c3</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5" invalidUrl="" action="" tgtFrame="" tooltip="openai/core/mmlu/seed-42/main/epoch-greedy/learn-1/budget-1" history="1" highlightClick="0" endSnd="0">
                            <a:extLst>
                              <a:ext uri="{A12FA001-AC4F-418D-AE19-62706E023703}">
                                <ahyp:hlinkClr xmlns:ahyp="http://schemas.microsoft.com/office/drawing/2018/hyperlinkcolor" val="tx"/>
                              </a:ext>
                            </a:extLst>
                          </a:hlinkClick>
                        </a:rPr>
                        <a:t>p2-8a63f502544b1bf9ba055237</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000" u="sng" dirty="0">
                          <a:solidFill>
                            <a:srgbClr val="0E7C7B"/>
                          </a:solidFill>
                          <a:latin typeface="Consolas" pitchFamily="34" charset="0"/>
                          <a:ea typeface="Consolas" pitchFamily="34" charset="-122"/>
                          <a:cs typeface="Consolas" pitchFamily="34" charset="-120"/>
                          <a:hlinkClick r:id="rId26" invalidUrl="" action="" tgtFrame="" tooltip="openai/core/mmlu/seed-2026/main/epoch-greedy/learn-1/budget-1" history="1" highlightClick="0" endSnd="0">
                            <a:extLst>
                              <a:ext uri="{A12FA001-AC4F-418D-AE19-62706E023703}">
                                <ahyp:hlinkClr xmlns:ahyp="http://schemas.microsoft.com/office/drawing/2018/hyperlinkcolor" val="tx"/>
                              </a:ext>
                            </a:extLst>
                          </a:hlinkClick>
                        </a:rPr>
                        <a:t>p2-e7411b1536a336cf3fb5c834</a:t>
                      </a:r>
                      <a:endParaRPr lang="en-US" sz="1000" dirty="0">
                        <a:latin typeface="Consolas" charset="0"/>
                        <a:ea typeface="Consolas" charset="0"/>
                        <a:cs typeface="Consolas" charset="0"/>
                      </a:endParaRPr>
                    </a:p>
                  </a:txBody>
                  <a:tcPr marL="73152" marR="73152" marT="27432" marB="27432"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486400"/>
            <a:ext cx="11094415" cy="365760"/>
          </a:xfrm>
          <a:prstGeom prst="rect">
            <a:avLst/>
          </a:prstGeom>
          <a:noFill/>
          <a:ln/>
        </p:spPr>
        <p:txBody>
          <a:bodyPr wrap="square" lIns="0" tIns="0" rIns="0" bIns="0" rtlCol="0" anchor="t"/>
          <a:lstStyle/>
          <a:p>
            <a:pPr indent="0" marL="0">
              <a:buNone/>
            </a:pPr>
            <a:r>
              <a:rPr lang="en-US" sz="1250" dirty="0">
                <a:solidFill>
                  <a:srgbClr val="5B6676"/>
                </a:solidFill>
                <a:latin typeface="Calibri" pitchFamily="34" charset="0"/>
                <a:ea typeface="Calibri" pitchFamily="34" charset="-122"/>
                <a:cs typeface="Calibri" pitchFamily="34" charset="-120"/>
              </a:rPr>
              <a:t>Every other point: the follow-up </a:t>
            </a:r>
            <a:pPr indent="0" marL="0">
              <a:buNone/>
            </a:pPr>
            <a:r>
              <a:rPr lang="en-US" sz="1250" u="sng" dirty="0">
                <a:solidFill>
                  <a:srgbClr val="0E7C7B"/>
                </a:solidFill>
                <a:latin typeface="Calibri" pitchFamily="34" charset="0"/>
                <a:ea typeface="Calibri" pitchFamily="34" charset="-122"/>
                <a:cs typeface="Calibri" pitchFamily="34" charset="-120"/>
                <a:hlinkClick r:id="rId27" invalidUrl="" action="" tgtFrame="" tooltip="https://github.com/kiettheis0702/pilot-llm-routing/blob/main/reports/openai-publication-2026-10-31/experiment-map.csv" history="1" highlightClick="0" endSnd="0">
                  <a:extLst>
                    <a:ext uri="{A12FA001-AC4F-418D-AE19-62706E023703}">
                      <ahyp:hlinkClr xmlns:ahyp="http://schemas.microsoft.com/office/drawing/2018/hyperlinkcolor" val="tx"/>
                    </a:ext>
                  </a:extLst>
                </a:hlinkClick>
              </a:rPr>
              <a:t>experiment-map.csv</a:t>
            </a:r>
            <a:pPr indent="0" marL="0">
              <a:buNone/>
            </a:pPr>
            <a:r>
              <a:rPr lang="en-US" sz="1250" dirty="0">
                <a:solidFill>
                  <a:srgbClr val="5B6676"/>
                </a:solidFill>
                <a:latin typeface="Calibri" pitchFamily="34" charset="0"/>
                <a:ea typeface="Calibri" pitchFamily="34" charset="-122"/>
                <a:cs typeface="Calibri" pitchFamily="34" charset="-120"/>
              </a:rPr>
              <a:t> (2,498 rows: condition → source CSV → public run URL). Historical BGE claims: </a:t>
            </a:r>
            <a:pPr indent="0" marL="0">
              <a:buNone/>
            </a:pPr>
            <a:r>
              <a:rPr lang="en-US" sz="1250" u="sng" dirty="0">
                <a:solidFill>
                  <a:srgbClr val="0E7C7B"/>
                </a:solidFill>
                <a:latin typeface="Calibri" pitchFamily="34" charset="0"/>
                <a:ea typeface="Calibri" pitchFamily="34" charset="-122"/>
                <a:cs typeface="Calibri" pitchFamily="34" charset="-120"/>
                <a:hlinkClick r:id="rId28" invalidUrl="" action="" tgtFrame="" tooltip="https://github.com/kiettheis0702/pilot-llm-routing/blob/main/reports/publication-2026-10-30/experiment-map.csv" history="1" highlightClick="0" endSnd="0">
                  <a:extLst>
                    <a:ext uri="{A12FA001-AC4F-418D-AE19-62706E023703}">
                      <ahyp:hlinkClr xmlns:ahyp="http://schemas.microsoft.com/office/drawing/2018/hyperlinkcolor" val="tx"/>
                    </a:ext>
                  </a:extLst>
                </a:hlinkClick>
              </a:rPr>
              <a:t>older map</a:t>
            </a:r>
            <a:pPr indent="0" marL="0">
              <a:buNone/>
            </a:pPr>
            <a:r>
              <a:rPr lang="en-US" sz="1250" dirty="0">
                <a:solidFill>
                  <a:srgbClr val="5B6676"/>
                </a:solidFill>
                <a:latin typeface="Calibri" pitchFamily="34" charset="0"/>
                <a:ea typeface="Calibri" pitchFamily="34" charset="-122"/>
                <a:cs typeface="Calibri" pitchFamily="34" charset="-120"/>
              </a:rPr>
              <a:t> (1,128 rows). Regret: </a:t>
            </a:r>
            <a:pPr indent="0" marL="0">
              <a:buNone/>
            </a:pPr>
            <a:r>
              <a:rPr lang="en-US" sz="1250" u="sng" dirty="0">
                <a:solidFill>
                  <a:srgbClr val="0E7C7B"/>
                </a:solidFill>
                <a:latin typeface="Calibri" pitchFamily="34" charset="0"/>
                <a:ea typeface="Calibri" pitchFamily="34" charset="-122"/>
                <a:cs typeface="Calibri" pitchFamily="34" charset="-120"/>
                <a:hlinkClick r:id="rId29" invalidUrl="" action="" tgtFrame="" tooltip="https://github.com/kiettheis0702/pilot-llm-routing/blob/main/reports/openai-core-2026-10-31/learning-prefixes.csv" history="1" highlightClick="0" endSnd="0">
                  <a:extLst>
                    <a:ext uri="{A12FA001-AC4F-418D-AE19-62706E023703}">
                      <ahyp:hlinkClr xmlns:ahyp="http://schemas.microsoft.com/office/drawing/2018/hyperlinkcolor" val="tx"/>
                    </a:ext>
                  </a:extLst>
                </a:hlinkClick>
              </a:rPr>
              <a:t>learning-prefixes.csv</a:t>
            </a:r>
            <a:pPr indent="0" marL="0">
              <a:buNone/>
            </a:pPr>
            <a:r>
              <a:rPr lang="en-US" sz="1250" dirty="0">
                <a:solidFill>
                  <a:srgbClr val="5B6676"/>
                </a:solidFill>
                <a:latin typeface="Calibri" pitchFamily="34" charset="0"/>
                <a:ea typeface="Calibri" pitchFamily="34" charset="-122"/>
                <a:cs typeface="Calibri" pitchFamily="34" charset="-120"/>
              </a:rPr>
              <a:t>.</a:t>
            </a:r>
            <a:endParaRPr lang="en-US" sz="1250" dirty="0"/>
          </a:p>
        </p:txBody>
      </p:sp>
      <p:sp>
        <p:nvSpPr>
          <p:cNvPr id="25" name="Slide Number Placeholder 0"/>
          <p:cNvSpPr>
            <a:spLocks noGrp="1"/>
          </p:cNvSpPr>
          <p:nvPr>
            <p:ph type="sldNum" sz="quarter" idx="4294967295"/>
          </p:nvPr>
        </p:nvSpPr>
        <p:spPr>
          <a:xfrm>
            <a:off x="11274552"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67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PILOT Team 8">
  <a:themeElements>
    <a:clrScheme name="PILOT Team 8">
      <a:dk1>
        <a:srgbClr val="1F2933"/>
      </a:dk1>
      <a:lt1>
        <a:srgbClr val="FFFFFF"/>
      </a:lt1>
      <a:dk2>
        <a:srgbClr val="14213D"/>
      </a:dk2>
      <a:lt2>
        <a:srgbClr val="F2F4F7"/>
      </a:lt2>
      <a:accent1>
        <a:srgbClr val="0E7C7B"/>
      </a:accent1>
      <a:accent2>
        <a:srgbClr val="C77700"/>
      </a:accent2>
      <a:accent3>
        <a:srgbClr val="C2452D"/>
      </a:accent3>
      <a:accent4>
        <a:srgbClr val="3D5A80"/>
      </a:accent4>
      <a:accent5>
        <a:srgbClr val="8D99AE"/>
      </a:accent5>
      <a:accent6>
        <a:srgbClr val="7A5195"/>
      </a:accent6>
      <a:hlink>
        <a:srgbClr val="0E7C7B"/>
      </a:hlink>
      <a:folHlink>
        <a:srgbClr val="3D5A80"/>
      </a:folHlink>
    </a:clrScheme>
    <a:fontScheme name="PILOT Team 8">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University of Science, VNU-HCM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PILOT: Adaptive LLM Routing under Budget Constraints — reading and reproduction</dc:title>
  <dc:subject>PptxGenJS Presentation</dc:subject>
  <dc:creator>Team 8 (Thái Kiệt, Trần Lê Hải)</dc:creator>
  <cp:lastModifiedBy>Team 8 (Thái Kiệt, Trần Lê Hải)</cp:lastModifiedBy>
  <cp:revision>1</cp:revision>
  <dcterms:created xsi:type="dcterms:W3CDTF">2026-10-31T10:50:58Z</dcterms:created>
  <dcterms:modified xsi:type="dcterms:W3CDTF">2026-10-31T10:50:58Z</dcterms:modified>
</cp:coreProperties>
</file>