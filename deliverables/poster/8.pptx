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43fdc9745642f8" /><Relationship Type="http://schemas.openxmlformats.org/officeDocument/2006/relationships/extended-properties" Target="/docProps/app.xml" Id="R3163a8c298b140e9" /><Relationship Type="http://schemas.openxmlformats.org/officeDocument/2006/relationships/officeDocument" Target="/ppt/presentation.xml" Id="R4a743cfadeed4f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c23b4bdfb54ceb"/>
  </p:sldMasterIdLst>
  <p:notesMasterIdLst>
    <p:notesMasterId xmlns:r="http://schemas.openxmlformats.org/officeDocument/2006/relationships" r:id="R6f584f7f7e3f4599"/>
  </p:notesMasterIdLst>
  <p:sldIdLst>
    <p:sldId xmlns:r="http://schemas.openxmlformats.org/officeDocument/2006/relationships" id="256" r:id="R2930077942b24684"/>
  </p:sldIdLst>
  <p:sldSz cx="15120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4a3393d0a34406" /><Relationship Type="http://schemas.openxmlformats.org/officeDocument/2006/relationships/slideMaster" Target="/ppt/slideMasters/slideMaster1.xml" Id="R5bc23b4bdfb54ceb" /><Relationship Type="http://schemas.openxmlformats.org/officeDocument/2006/relationships/notesMaster" Target="/ppt/notesMasters/notesMaster1.xml" Id="R6f584f7f7e3f4599" /><Relationship Type="http://schemas.openxmlformats.org/officeDocument/2006/relationships/presProps" Target="/ppt/presProps.xml" Id="Rca766516068b4af6" /><Relationship Type="http://schemas.openxmlformats.org/officeDocument/2006/relationships/tableStyles" Target="/ppt/tableStyles.xml" Id="Rec8221d620f0471b" /><Relationship Type="http://schemas.openxmlformats.org/officeDocument/2006/relationships/slide" Target="/ppt/slides/slide1.xml" Id="R2930077942b246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46b8de5c284a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ec4ee251464d35" /><Relationship Type="http://schemas.openxmlformats.org/officeDocument/2006/relationships/notesMaster" Target="/ppt/notesMasters/notesMaster1.xml" Id="Rf989c7c9e8474c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A2 portrait poster focuses on two demonstrated limitations. The magnitude test uses identical oracle priors and chosen feedback for cosine PILOT and a linear-prior control, not the zero-prior LinUCB baseline. It violates the unit-direction reward model, so it is not a counterexample to the conditional PI-OFUL theorem. At alpha=1 and 2,000 rounds, regrets are 600 and 1.2. The cost test holds choices fixed and multiplies recorded costs. Main full-learning PILOT goes from zero of 48 over-budget conditions at factor one to 25 at 1.10. The complete inventory has 12 of 1,098 overspends at factor one, a different population. Proposed magnitude calibration and cost reserves are future work. The local eight-arm BGE-M3 protocol differs from the paper. Public W&amp;B URLs await account setup and approved upload. Sources: https://aclanthology.org/2025.findings-emnlp.1301.pdf; reports/course-submission-2026-10-30/analysis/analysis.json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4f239e28a44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e43ba523348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64c9923684c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ce816998f46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4cece16b84e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dd7970cc745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6C2DBB-71B4-40F1-B885-7AA27D189E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000" y="8078400"/>
            <a:ext cx="12096000" cy="308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E4473A-DAEA-493B-BA76-B22FC3EB91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68000" y="11761200"/>
            <a:ext cx="10584000" cy="23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CAC0AD-6BC2-4A00-BC34-61A4C0FDB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000" y="8910000"/>
            <a:ext cx="12096000" cy="35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F25AAE-45F6-4CC3-9498-6BE328B8CC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1663200"/>
            <a:ext cx="13419000" cy="261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8976EC-4750-4796-9713-1C71B5D21A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5940000"/>
            <a:ext cx="13419000" cy="1330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1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9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7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5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73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51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9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07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E463F8-E421-4234-858D-7EFFCDEF2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1663200"/>
            <a:ext cx="13419000" cy="261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14EFF0-6A39-41BB-8015-E52706BD8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5940000"/>
            <a:ext cx="6237000" cy="1330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1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9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7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5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73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51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9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07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85A49B-741F-4556-987D-79530B9DF6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32500" y="5940000"/>
            <a:ext cx="6237000" cy="1330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1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9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7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5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73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51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9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07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A9030D-893A-42F5-8CC0-1B92582666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1663200"/>
            <a:ext cx="13419000" cy="261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B2F1A5-9E15-4B34-B3C8-6C423D0954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5940000"/>
            <a:ext cx="6237000" cy="1330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1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9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7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5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73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51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9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07500" indent="-283500" algn="l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76dc5ea23a42f3" /><Relationship Type="http://schemas.openxmlformats.org/officeDocument/2006/relationships/slideLayout" Target="/ppt/slideLayouts/slideLayout1.xml" Id="Re505dabd8645417d" /><Relationship Type="http://schemas.openxmlformats.org/officeDocument/2006/relationships/slideLayout" Target="/ppt/slideLayouts/slideLayout2.xml" Id="R7c5cd0bb45414ecf" /><Relationship Type="http://schemas.openxmlformats.org/officeDocument/2006/relationships/slideLayout" Target="/ppt/slideLayouts/slideLayout3.xml" Id="R10c02463158c4602" /><Relationship Type="http://schemas.openxmlformats.org/officeDocument/2006/relationships/slideLayout" Target="/ppt/slideLayouts/slideLayout4.xml" Id="R1128029d6ce44c8a" /><Relationship Type="http://schemas.openxmlformats.org/officeDocument/2006/relationships/slideLayout" Target="/ppt/slideLayouts/slideLayout5.xml" Id="R91467aba17c4498e" /><Relationship Type="http://schemas.openxmlformats.org/officeDocument/2006/relationships/slideLayout" Target="/ppt/slideLayouts/slideLayout6.xml" Id="Raf21c0c3a0be4d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05dabd8645417d"/>
    <p:sldLayoutId xmlns:r="http://schemas.openxmlformats.org/officeDocument/2006/relationships" id="2147483650" r:id="R7c5cd0bb45414ecf"/>
    <p:sldLayoutId xmlns:r="http://schemas.openxmlformats.org/officeDocument/2006/relationships" id="2147483651" r:id="R10c02463158c4602"/>
    <p:sldLayoutId xmlns:r="http://schemas.openxmlformats.org/officeDocument/2006/relationships" id="2147483652" r:id="R1128029d6ce44c8a"/>
    <p:sldLayoutId xmlns:r="http://schemas.openxmlformats.org/officeDocument/2006/relationships" id="2147483653" r:id="R91467aba17c4498e"/>
    <p:sldLayoutId xmlns:r="http://schemas.openxmlformats.org/officeDocument/2006/relationships" id="2147483654" r:id="Raf21c0c3a0be4d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23fdaa7583459f" /><Relationship Type="http://schemas.openxmlformats.org/officeDocument/2006/relationships/chart" Target="/ppt/slides/charts/chart1.xml" Id="R0f5e6e9269bb4ce3" /><Relationship Type="http://schemas.openxmlformats.org/officeDocument/2006/relationships/chart" Target="/ppt/slides/charts/chart2.xml" Id="R6cba79e09d8b4662" /><Relationship Type="http://schemas.openxmlformats.org/officeDocument/2006/relationships/notesSlide" Target="/ppt/notesSlides/notesSlide1.xml" Id="Rae5ba7f1ca1744a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pilot-cosine</c:v>
          </c:tx>
          <c:spPr>
            <a:ln xmlns:a="http://schemas.openxmlformats.org/drawingml/2006/main" w="28575">
              <a:solidFill>
                <a:srgbClr val="096C72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96C72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1</c:v>
                </c:pt>
                <c:pt idx="1">
                  <c:v>100</c:v>
                </c:pt>
                <c:pt idx="2">
                  <c:v>250</c:v>
                </c:pt>
                <c:pt idx="3">
                  <c:v>500</c:v>
                </c:pt>
                <c:pt idx="4">
                  <c:v>1000</c:v>
                </c:pt>
                <c:pt idx="5">
                  <c:v>1500</c:v>
                </c:pt>
                <c:pt idx="6">
                  <c:v>2000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0.6</c:v>
                </c:pt>
                <c:pt idx="1">
                  <c:v>30</c:v>
                </c:pt>
                <c:pt idx="2">
                  <c:v>75</c:v>
                </c:pt>
                <c:pt idx="3">
                  <c:v>150</c:v>
                </c:pt>
                <c:pt idx="4">
                  <c:v>300</c:v>
                </c:pt>
                <c:pt idx="5">
                  <c:v>450</c:v>
                </c:pt>
                <c:pt idx="6">
                  <c:v>600</c:v>
                </c:pt>
              </c:numCache>
            </c:numRef>
          </c:yVal>
        </c:ser>
        <c:ser>
          <c:idx val="1"/>
          <c:order val="1"/>
          <c:tx>
            <c:v>linear-prior-control</c:v>
          </c:tx>
          <c:spPr>
            <a:ln xmlns:a="http://schemas.openxmlformats.org/drawingml/2006/main" w="28575">
              <a:solidFill>
                <a:srgbClr val="B94C35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B94C35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1</c:v>
                </c:pt>
                <c:pt idx="1">
                  <c:v>100</c:v>
                </c:pt>
                <c:pt idx="2">
                  <c:v>250</c:v>
                </c:pt>
                <c:pt idx="3">
                  <c:v>500</c:v>
                </c:pt>
                <c:pt idx="4">
                  <c:v>1000</c:v>
                </c:pt>
                <c:pt idx="5">
                  <c:v>1500</c:v>
                </c:pt>
                <c:pt idx="6">
                  <c:v>2000</c:v>
                </c:pt>
              </c:numCache>
            </c:numRef>
          </c:xVal>
          <c:yVal>
            <c:numRef>
              <c:f>'Chart Data'!$D$2:$D$8</c:f>
              <c:numCache>
                <c:formatCode>0</c:formatCode>
                <c:ptCount val="7"/>
                <c:pt idx="0">
                  <c:v>0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D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72D35"/>
                    </a:solidFill>
                  </a:rPr>
                  <a:t>Cumulative regret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72D35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66D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72D35"/>
                    </a:solidFill>
                  </a:rPr>
                  <a:t>Learning rounds (synthetic)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72D3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66D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8FAF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72D3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AF8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Main PILOT; 48 conditions</c:v>
          </c:tx>
          <c:spPr>
            <a:ln xmlns:a="http://schemas.openxmlformats.org/drawingml/2006/main" w="28575">
              <a:solidFill>
                <a:srgbClr val="096C72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96C72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0.8</c:v>
                </c:pt>
                <c:pt idx="1">
                  <c:v>1</c:v>
                </c:pt>
                <c:pt idx="2">
                  <c:v>1.1</c:v>
                </c:pt>
                <c:pt idx="3">
                  <c:v>1.25</c:v>
                </c:pt>
                <c:pt idx="4">
                  <c:v>1.5</c:v>
                </c:pt>
                <c:pt idx="5">
                  <c:v>2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52.08333333</c:v>
                </c:pt>
                <c:pt idx="3">
                  <c:v>56.25</c:v>
                </c:pt>
                <c:pt idx="4">
                  <c:v>64.58333333</c:v>
                </c:pt>
                <c:pt idx="5">
                  <c:v>64.58333333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D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72D35"/>
                    </a:solidFill>
                  </a:rPr>
                  <a:t>Conditions over budget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2D35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66D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72D35"/>
                    </a:solidFill>
                  </a:rPr>
                  <a:t>Multiplier on recorded costs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2D3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66D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8FAF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72D3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AF8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AM 8  ·  HCMUS  ·  INTRODUCTION TO MACHINE LEARNING">
            <a:extLst xmlns:a="http://schemas.openxmlformats.org/drawingml/2006/main">
              <a:ext uri="{FF2B5EF4-FFF2-40B4-BE49-F238E27FC236}">
                <a16:creationId xmlns:a16="http://schemas.microsoft.com/office/drawing/2014/main" id="{FE650628-459E-426F-B5C8-4D456FA6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390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96C72"/>
                </a:solidFill>
                <a:latin typeface="Arial"/>
                <a:ea typeface="Arial"/>
                <a:cs typeface="Arial"/>
              </a:rPr>
              <a:t>TEAM 8  ·  HCMUS  ·  INTRODUCTION TO MACHINE LEARNING</a:t>
            </a:r>
          </a:p>
        </p:txBody>
      </p:sp>
      <p:sp>
        <p:nvSpPr>
          <p:cNvPr id="2" name="PILOT under a budget:&#10;what the assumptions leave open">
            <a:extLst xmlns:a="http://schemas.openxmlformats.org/drawingml/2006/main">
              <a:ext uri="{FF2B5EF4-FFF2-40B4-BE49-F238E27FC236}">
                <a16:creationId xmlns:a16="http://schemas.microsoft.com/office/drawing/2014/main" id="{27FEA05E-C35D-472F-9D73-FED10015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47750"/>
            <a:ext cx="1381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defPPr>
            <a:lvl1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1pPr>
            <a:lvl2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2pPr>
            <a:lvl3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3pPr>
            <a:lvl4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4pPr>
            <a:lvl5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5pPr>
            <a:lvl6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6pPr>
            <a:lvl7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7pPr>
            <a:lvl8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8pPr>
            <a:lvl9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72D35"/>
                </a:solidFill>
                <a:latin typeface="Arial"/>
                <a:ea typeface="Arial"/>
                <a:cs typeface="Arial"/>
              </a:rPr>
              <a:t>PILOT under a budget:</a:t>
            </a:r>
          </a:p>
          <a:p xmlns:a="http://schemas.openxmlformats.org/drawingml/2006/main">
            <a:pPr>
              <a:defRPr sz="50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72D35"/>
                </a:solidFill>
                <a:latin typeface="Arial"/>
                <a:ea typeface="Arial"/>
                <a:cs typeface="Arial"/>
              </a:rPr>
              <a:t>what the assumptions leave open</a:t>
            </a:r>
          </a:p>
        </p:txBody>
      </p:sp>
      <p:sp>
        <p:nvSpPr>
          <p:cNvPr id="3" name="Thái Kiệt • Trần Lê Hải  |  Core reproduction + critical ana">
            <a:extLst xmlns:a="http://schemas.openxmlformats.org/drawingml/2006/main">
              <a:ext uri="{FF2B5EF4-FFF2-40B4-BE49-F238E27FC236}">
                <a16:creationId xmlns:a16="http://schemas.microsoft.com/office/drawing/2014/main" id="{1A74E54B-5076-4694-A06A-08D657BC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366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Thái Kiệt • Trần Lê Hải  |  Core reproduction + critical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DD4D5-1747-4CC3-899B-B9658307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3858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D35"/>
          </a:solidFill>
          <a:ln xmlns:a="http://schemas.openxmlformats.org/drawingml/2006/main" w="0">
            <a:noFill/>
          </a:ln>
        </p:spPr>
      </p:sp>
      <p:sp>
        <p:nvSpPr>
          <p:cNvPr id="5" name="8 admitted arms  ·  1,098 conditions  ·  3 seeds">
            <a:extLst xmlns:a="http://schemas.openxmlformats.org/drawingml/2006/main">
              <a:ext uri="{FF2B5EF4-FFF2-40B4-BE49-F238E27FC236}">
                <a16:creationId xmlns:a16="http://schemas.microsoft.com/office/drawing/2014/main" id="{43207820-7968-4B5C-B9EA-ABCF6883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29075"/>
            <a:ext cx="1323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admitted arms  ·  1,098 conditions  ·  3 seeds</a:t>
            </a:r>
          </a:p>
        </p:txBody>
      </p:sp>
      <p:sp>
        <p:nvSpPr>
          <p:cNvPr id="6" name="Local BGE-M3; historical outcomes. Changed protocol: no matc">
            <a:extLst xmlns:a="http://schemas.openxmlformats.org/drawingml/2006/main">
              <a:ext uri="{FF2B5EF4-FFF2-40B4-BE49-F238E27FC236}">
                <a16:creationId xmlns:a16="http://schemas.microsoft.com/office/drawing/2014/main" id="{98FB4DE1-4AED-44F5-9675-7F618F3A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48200"/>
            <a:ext cx="1319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BGE-M3; historical outcomes. Changed protocol: no matched paper-equivalence claim.</a:t>
            </a:r>
          </a:p>
        </p:txBody>
      </p:sp>
      <p:sp>
        <p:nvSpPr>
          <p:cNvPr id="7" name="01  Direction alone can miss reward magnitude">
            <a:extLst xmlns:a="http://schemas.openxmlformats.org/drawingml/2006/main">
              <a:ext uri="{FF2B5EF4-FFF2-40B4-BE49-F238E27FC236}">
                <a16:creationId xmlns:a16="http://schemas.microsoft.com/office/drawing/2014/main" id="{72ABC3BA-D7B0-4FF7-A196-5EB4EA5F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24525"/>
            <a:ext cx="1385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96C72"/>
                </a:solidFill>
                <a:latin typeface="Arial"/>
                <a:ea typeface="Arial"/>
                <a:cs typeface="Arial"/>
              </a:rPr>
              <a:t>01  Direction alone can miss reward magnitude</a:t>
            </a:r>
          </a:p>
        </p:txBody>
      </p:sp>
      <p:sp>
        <p:nvSpPr>
          <p:cNvPr id="8" name="Theory / assumption">
            <a:extLst xmlns:a="http://schemas.openxmlformats.org/drawingml/2006/main">
              <a:ext uri="{FF2B5EF4-FFF2-40B4-BE49-F238E27FC236}">
                <a16:creationId xmlns:a16="http://schemas.microsoft.com/office/drawing/2014/main" id="{BB5DF38A-954E-422E-8D5E-6AB12F6C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15125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D35"/>
                </a:solidFill>
                <a:latin typeface="Arial"/>
                <a:ea typeface="Arial"/>
                <a:cs typeface="Arial"/>
              </a:rPr>
              <a:t>Theory / assumption</a:t>
            </a:r>
          </a:p>
        </p:txBody>
      </p:sp>
      <p:sp>
        <p:nvSpPr>
          <p:cNvPr id="9" name="Cosine normalizes arm estimates.&#10;Positive collinear reward v">
            <a:extLst xmlns:a="http://schemas.openxmlformats.org/drawingml/2006/main">
              <a:ext uri="{FF2B5EF4-FFF2-40B4-BE49-F238E27FC236}">
                <a16:creationId xmlns:a16="http://schemas.microsoft.com/office/drawing/2014/main" id="{9C826785-9D75-4D6C-B451-5566A006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10450"/>
            <a:ext cx="5429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Cosine normalizes arm estimates.</a:t>
            </a:r>
          </a:p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Positive collinear reward vectors</a:t>
            </a:r>
          </a:p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become indistinguishable.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The conditional PI-OFUL result</a:t>
            </a:r>
          </a:p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does not resolve this practical</a:t>
            </a:r>
          </a:p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reward-model misspecification.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E7B44950-465F-4824-9B9A-F4C80ED19CCD}"/>
              </a:ext>
            </a:extLst>
          </p:cNvPr>
          <p:cNvGraphicFramePr/>
          <p:nvPr/>
        </p:nvGraphicFramePr>
        <p:xfrm>
          <a:off xmlns:a="http://schemas.openxmlformats.org/drawingml/2006/main" x="6429375" y="6743700"/>
          <a:ext xmlns:a="http://schemas.openxmlformats.org/drawingml/2006/main" cx="7905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5e6e9269bb4ce3"/>
          </a:graphicData>
        </a:graphic>
      </p:graphicFrame>
      <p:sp>
        <p:nvSpPr>
          <p:cNvPr id="11" name="600 vs 1.2 cumulative regret">
            <a:extLst xmlns:a="http://schemas.openxmlformats.org/drawingml/2006/main">
              <a:ext uri="{FF2B5EF4-FFF2-40B4-BE49-F238E27FC236}">
                <a16:creationId xmlns:a16="http://schemas.microsoft.com/office/drawing/2014/main" id="{F6EEF511-1CDA-4E91-B7BA-F67F1155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1125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94C35"/>
                </a:solidFill>
                <a:latin typeface="Arial"/>
                <a:ea typeface="Arial"/>
                <a:cs typeface="Arial"/>
              </a:rPr>
              <a:t>600 vs 1.2 cumulative regret</a:t>
            </a:r>
          </a:p>
        </p:txBody>
      </p:sp>
      <p:sp>
        <p:nvSpPr>
          <p:cNvPr id="12" name="2,000 rounds; α=1; identical oracle priors and selected feed">
            <a:extLst xmlns:a="http://schemas.openxmlformats.org/drawingml/2006/main">
              <a:ext uri="{FF2B5EF4-FFF2-40B4-BE49-F238E27FC236}">
                <a16:creationId xmlns:a16="http://schemas.microsoft.com/office/drawing/2014/main" id="{E26F8B54-8EE1-41C4-B7B9-ACCF93F3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725275"/>
            <a:ext cx="790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2,000 rounds; α=1; identical oracle priors and selected feedback.</a:t>
            </a:r>
          </a:p>
          <a:p xmlns:a="http://schemas.openxmlformats.org/drawingml/2006/main">
            <a: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Synthetic assumption-violating case, not a theorem counterexample. [5]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C97EA-6707-4AFB-9AE5-9F4952E8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0"/>
            <a:ext cx="1385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14" name="02  Estimated cost is not a realized-cost bound">
            <a:extLst xmlns:a="http://schemas.openxmlformats.org/drawingml/2006/main">
              <a:ext uri="{FF2B5EF4-FFF2-40B4-BE49-F238E27FC236}">
                <a16:creationId xmlns:a16="http://schemas.microsoft.com/office/drawing/2014/main" id="{F8184689-DA33-46DB-8B6D-2B3878B0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68325"/>
            <a:ext cx="1385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96C72"/>
                </a:solidFill>
                <a:latin typeface="Arial"/>
                <a:ea typeface="Arial"/>
                <a:cs typeface="Arial"/>
              </a:rPr>
              <a:t>02  Estimated cost is not a realized-cost bound</a:t>
            </a:r>
          </a:p>
        </p:txBody>
      </p:sp>
      <p:sp>
        <p:nvSpPr>
          <p:cNvPr id="15" name="Theory / assumption">
            <a:extLst xmlns:a="http://schemas.openxmlformats.org/drawingml/2006/main">
              <a:ext uri="{FF2B5EF4-FFF2-40B4-BE49-F238E27FC236}">
                <a16:creationId xmlns:a16="http://schemas.microsoft.com/office/drawing/2014/main" id="{6F57DDBB-950B-4175-BC64-6A5F261D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303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D35"/>
                </a:solidFill>
                <a:latin typeface="Arial"/>
                <a:ea typeface="Arial"/>
                <a:cs typeface="Arial"/>
              </a:rPr>
              <a:t>Theory / assumption</a:t>
            </a:r>
          </a:p>
        </p:txBody>
      </p:sp>
      <p:sp>
        <p:nvSpPr>
          <p:cNvPr id="16" name="Mean output length is estimated&#10;on tuning data. Budget feasi">
            <a:extLst xmlns:a="http://schemas.openxmlformats.org/drawingml/2006/main">
              <a:ext uri="{FF2B5EF4-FFF2-40B4-BE49-F238E27FC236}">
                <a16:creationId xmlns:a16="http://schemas.microsoft.com/office/drawing/2014/main" id="{530541E0-1C74-4E18-B810-3E41CCB1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78050"/>
            <a:ext cx="5429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Mean output length is estimated</a:t>
            </a:r>
          </a:p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on tuning data. Budget feasibility</a:t>
            </a:r>
          </a:p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uses that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Higher realized costs can exceed</a:t>
            </a:r>
          </a:p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the budget even when estimated</a:t>
            </a:r>
          </a:p>
          <a:p xmlns:a="http://schemas.openxmlformats.org/drawingml/2006/main">
            <a:pPr>
              <a:defRPr sz="232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spending was feasible.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0ECDEC52-A702-4E97-9020-EE2EE1C8805D}"/>
              </a:ext>
            </a:extLst>
          </p:cNvPr>
          <p:cNvGraphicFramePr/>
          <p:nvPr/>
        </p:nvGraphicFramePr>
        <p:xfrm>
          <a:off xmlns:a="http://schemas.openxmlformats.org/drawingml/2006/main" x="6429375" y="14192250"/>
          <a:ext xmlns:a="http://schemas.openxmlformats.org/drawingml/2006/main" cx="7905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ba79e09d8b4662"/>
          </a:graphicData>
        </a:graphic>
      </p:graphicFrame>
      <p:sp>
        <p:nvSpPr>
          <p:cNvPr id="18" name="0/48 → 25/48 over budget">
            <a:extLst xmlns:a="http://schemas.openxmlformats.org/drawingml/2006/main">
              <a:ext uri="{FF2B5EF4-FFF2-40B4-BE49-F238E27FC236}">
                <a16:creationId xmlns:a16="http://schemas.microsoft.com/office/drawing/2014/main" id="{574627BD-7971-40EF-990C-A7F84534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8117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94C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94C35"/>
                </a:solidFill>
                <a:latin typeface="Arial"/>
                <a:ea typeface="Arial"/>
                <a:cs typeface="Arial"/>
              </a:rPr>
              <a:t>0/48 → 25/48 over budget</a:t>
            </a:r>
          </a:p>
        </p:txBody>
      </p:sp>
      <p:sp>
        <p:nvSpPr>
          <p:cNvPr id="19" name="At 1.00× → 1.10× recorded cost; main PILOT, full learning.&#10;F">
            <a:extLst xmlns:a="http://schemas.openxmlformats.org/drawingml/2006/main">
              <a:ext uri="{FF2B5EF4-FFF2-40B4-BE49-F238E27FC236}">
                <a16:creationId xmlns:a16="http://schemas.microsoft.com/office/drawing/2014/main" id="{B0AF2630-529A-4E38-85A7-6966E871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373725"/>
            <a:ext cx="7905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At 1.00× → 1.10× recorded cost; main PILOT, full learning.</a:t>
            </a:r>
          </a:p>
          <a:p xmlns:a="http://schemas.openxmlformats.org/drawingml/2006/main">
            <a:pPr>
              <a:defRPr sz="187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Fixed-choice accounting; not new routing or API spending. [5]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82521-9205-42E5-9F4D-B3C8DFBE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45275"/>
            <a:ext cx="1385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21" name="NEXT: calibrate reward magnitude; reserve for cost uncertain">
            <a:extLst xmlns:a="http://schemas.openxmlformats.org/drawingml/2006/main">
              <a:ext uri="{FF2B5EF4-FFF2-40B4-BE49-F238E27FC236}">
                <a16:creationId xmlns:a16="http://schemas.microsoft.com/office/drawing/2014/main" id="{6F7C26EC-7D8B-4E08-B9B2-88C0ECE5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11975"/>
            <a:ext cx="1381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96C7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C72"/>
                </a:solidFill>
                <a:latin typeface="Arial"/>
                <a:ea typeface="Arial"/>
                <a:cs typeface="Arial"/>
              </a:rPr>
              <a:t>NEXT: calibrate reward magnitude; reserve for cost uncertainty.</a:t>
            </a:r>
          </a:p>
        </p:txBody>
      </p:sp>
      <p:sp>
        <p:nvSpPr>
          <p:cNvPr id="22" name="Strengths: selected-only feedback · reusable preference sign">
            <a:extLst xmlns:a="http://schemas.openxmlformats.org/drawingml/2006/main">
              <a:ext uri="{FF2B5EF4-FFF2-40B4-BE49-F238E27FC236}">
                <a16:creationId xmlns:a16="http://schemas.microsoft.com/office/drawing/2014/main" id="{95F0FB3C-69B9-48A4-B57F-1DECA02D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0"/>
            <a:ext cx="1381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35"/>
                </a:solidFill>
                <a:latin typeface="Arial"/>
                <a:ea typeface="Arial"/>
                <a:cs typeface="Arial"/>
              </a:rPr>
              <a:t>Strengths: selected-only feedback · reusable preference signal · auditable frozen deployment.</a:t>
            </a:r>
          </a:p>
        </p:txBody>
      </p:sp>
      <p:sp>
        <p:nvSpPr>
          <p:cNvPr id="23" name="[1] Panda et al., Findings of EMNLP, pp. 23934–23949, 2025. ">
            <a:extLst xmlns:a="http://schemas.openxmlformats.org/drawingml/2006/main">
              <a:ext uri="{FF2B5EF4-FFF2-40B4-BE49-F238E27FC236}">
                <a16:creationId xmlns:a16="http://schemas.microsoft.com/office/drawing/2014/main" id="{46245EF2-3D46-4FC9-8C74-F77EF820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[1] Panda et al., Findings of EMNLP, pp. 23934–23949, 2025.  [4] Team 8, frozen study, 29 Oct. 2026.</a:t>
            </a:r>
          </a:p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[5] Team 8, course supplement, 30 Oct. 2026; experiment-map.csv. Public W&amp;B links pending account setup.</a:t>
            </a:r>
          </a:p>
        </p:txBody>
      </p:sp>
    </p:spTree>
    <p:extLst>
      <p:ext uri="{BB962C8B-B14F-4D97-AF65-F5344CB8AC3E}">
        <p14:creationId xmlns:p14="http://schemas.microsoft.com/office/powerpoint/2010/main" val="890742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2026-10-30T10:53:29.9890000Z</dcterms:created>
  <dcterms:modified xsi:type="dcterms:W3CDTF">2026-10-30T10:53:29.9890000Z</dcterms:modified>
</coreProperties>
</file>