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5.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6.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be8c70c3474fbd" /><Relationship Type="http://schemas.openxmlformats.org/officeDocument/2006/relationships/extended-properties" Target="/docProps/app.xml" Id="Rac82b0a182f74e99" /><Relationship Type="http://schemas.openxmlformats.org/officeDocument/2006/relationships/officeDocument" Target="/ppt/presentation.xml" Id="R8c9831acc1a64738" /></Relationships>
</file>

<file path=ppt/presentation.xml><?xml version="1.0" encoding="utf-8"?>
<p:presentation xmlns:p="http://schemas.openxmlformats.org/presentationml/2006/main">
  <p:sldMasterIdLst>
    <p:sldMasterId xmlns:r="http://schemas.openxmlformats.org/officeDocument/2006/relationships" id="2147483648" r:id="R7a45c2e7e9a844ff"/>
  </p:sldMasterIdLst>
  <p:notesMasterIdLst>
    <p:notesMasterId xmlns:r="http://schemas.openxmlformats.org/officeDocument/2006/relationships" r:id="Re09911c04ca44fcb"/>
  </p:notesMasterIdLst>
  <p:sldIdLst>
    <p:sldId xmlns:r="http://schemas.openxmlformats.org/officeDocument/2006/relationships" id="256" r:id="R82b7567a773b48dd"/>
    <p:sldId xmlns:r="http://schemas.openxmlformats.org/officeDocument/2006/relationships" id="257" r:id="Raf318998ffcd46a7"/>
    <p:sldId xmlns:r="http://schemas.openxmlformats.org/officeDocument/2006/relationships" id="258" r:id="Rb20906824ca74390"/>
    <p:sldId xmlns:r="http://schemas.openxmlformats.org/officeDocument/2006/relationships" id="259" r:id="Ra0b683f72e5e47c1"/>
    <p:sldId xmlns:r="http://schemas.openxmlformats.org/officeDocument/2006/relationships" id="260" r:id="Rd9f13442ff6c4bbd"/>
    <p:sldId xmlns:r="http://schemas.openxmlformats.org/officeDocument/2006/relationships" id="261" r:id="R4b4d39517be44925"/>
    <p:sldId xmlns:r="http://schemas.openxmlformats.org/officeDocument/2006/relationships" id="262" r:id="Rafa82e9005ab4899"/>
    <p:sldId xmlns:r="http://schemas.openxmlformats.org/officeDocument/2006/relationships" id="263" r:id="Rf02423de21354368"/>
    <p:sldId xmlns:r="http://schemas.openxmlformats.org/officeDocument/2006/relationships" id="264" r:id="R89f852c9dfae44e1"/>
    <p:sldId xmlns:r="http://schemas.openxmlformats.org/officeDocument/2006/relationships" id="265" r:id="R68d2d77e12cf43d5"/>
    <p:sldId xmlns:r="http://schemas.openxmlformats.org/officeDocument/2006/relationships" id="266" r:id="Rc344e87a32e94564"/>
    <p:sldId xmlns:r="http://schemas.openxmlformats.org/officeDocument/2006/relationships" id="267" r:id="R1e3abedaeaaf4ac3"/>
    <p:sldId xmlns:r="http://schemas.openxmlformats.org/officeDocument/2006/relationships" id="268" r:id="R88dd6ea121154627"/>
    <p:sldId xmlns:r="http://schemas.openxmlformats.org/officeDocument/2006/relationships" id="269" r:id="Rf321d36c7d7f4ef3"/>
    <p:sldId xmlns:r="http://schemas.openxmlformats.org/officeDocument/2006/relationships" id="270" r:id="Raccc155cf5c74bdc"/>
    <p:sldId xmlns:r="http://schemas.openxmlformats.org/officeDocument/2006/relationships" id="271" r:id="R7e9d36804f3c48d3"/>
    <p:sldId xmlns:r="http://schemas.openxmlformats.org/officeDocument/2006/relationships" id="272" r:id="Rbb432550719f411d"/>
    <p:sldId xmlns:r="http://schemas.openxmlformats.org/officeDocument/2006/relationships" id="273" r:id="R600343d9839141e6"/>
    <p:sldId xmlns:r="http://schemas.openxmlformats.org/officeDocument/2006/relationships" id="274" r:id="Rbaa65a281fe944c5"/>
    <p:sldId xmlns:r="http://schemas.openxmlformats.org/officeDocument/2006/relationships" id="275" r:id="R2f7687184bda4a81"/>
    <p:sldId xmlns:r="http://schemas.openxmlformats.org/officeDocument/2006/relationships" id="276" r:id="Rd2390b79384b486e"/>
    <p:sldId xmlns:r="http://schemas.openxmlformats.org/officeDocument/2006/relationships" id="277" r:id="R3f57885c1fac41a7"/>
    <p:sldId xmlns:r="http://schemas.openxmlformats.org/officeDocument/2006/relationships" id="278" r:id="Re1aa631197c240ef"/>
    <p:sldId xmlns:r="http://schemas.openxmlformats.org/officeDocument/2006/relationships" id="279" r:id="Rd86b43298d044aa2"/>
    <p:sldId xmlns:r="http://schemas.openxmlformats.org/officeDocument/2006/relationships" id="280" r:id="R59a6b496db454f71"/>
    <p:sldId xmlns:r="http://schemas.openxmlformats.org/officeDocument/2006/relationships" id="281" r:id="R303c6a8ecdad4d6c"/>
    <p:sldId xmlns:r="http://schemas.openxmlformats.org/officeDocument/2006/relationships" id="282" r:id="R3adffebfa8e944a5"/>
    <p:sldId xmlns:r="http://schemas.openxmlformats.org/officeDocument/2006/relationships" id="283" r:id="R6a683c9835c945fc"/>
    <p:sldId xmlns:r="http://schemas.openxmlformats.org/officeDocument/2006/relationships" id="284" r:id="Re43ee94abbd9450e"/>
    <p:sldId xmlns:r="http://schemas.openxmlformats.org/officeDocument/2006/relationships" id="285" r:id="R166a16ae7cee4e6e"/>
    <p:sldId xmlns:r="http://schemas.openxmlformats.org/officeDocument/2006/relationships" id="286" r:id="Rdaf5291ff79e4b29"/>
    <p:sldId xmlns:r="http://schemas.openxmlformats.org/officeDocument/2006/relationships" id="287" r:id="Rdccc83acb5794f4b"/>
    <p:sldId xmlns:r="http://schemas.openxmlformats.org/officeDocument/2006/relationships" id="288" r:id="R703ea87522c349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f69d14c62d4976" /><Relationship Type="http://schemas.openxmlformats.org/officeDocument/2006/relationships/slideMaster" Target="/ppt/slideMasters/slideMaster1.xml" Id="R7a45c2e7e9a844ff" /><Relationship Type="http://schemas.openxmlformats.org/officeDocument/2006/relationships/notesMaster" Target="/ppt/notesMasters/notesMaster1.xml" Id="Re09911c04ca44fcb" /><Relationship Type="http://schemas.openxmlformats.org/officeDocument/2006/relationships/presProps" Target="/ppt/presProps.xml" Id="Re206906adae844a9" /><Relationship Type="http://schemas.openxmlformats.org/officeDocument/2006/relationships/tableStyles" Target="/ppt/tableStyles.xml" Id="Rae5e0c1900344fc9" /><Relationship Type="http://schemas.openxmlformats.org/officeDocument/2006/relationships/slide" Target="/ppt/slides/slide1.xml" Id="R82b7567a773b48dd" /><Relationship Type="http://schemas.openxmlformats.org/officeDocument/2006/relationships/slide" Target="/ppt/slides/slide2.xml" Id="Raf318998ffcd46a7" /><Relationship Type="http://schemas.openxmlformats.org/officeDocument/2006/relationships/slide" Target="/ppt/slides/slide3.xml" Id="Rb20906824ca74390" /><Relationship Type="http://schemas.openxmlformats.org/officeDocument/2006/relationships/slide" Target="/ppt/slides/slide4.xml" Id="Ra0b683f72e5e47c1" /><Relationship Type="http://schemas.openxmlformats.org/officeDocument/2006/relationships/slide" Target="/ppt/slides/slide5.xml" Id="Rd9f13442ff6c4bbd" /><Relationship Type="http://schemas.openxmlformats.org/officeDocument/2006/relationships/slide" Target="/ppt/slides/slide6.xml" Id="R4b4d39517be44925" /><Relationship Type="http://schemas.openxmlformats.org/officeDocument/2006/relationships/slide" Target="/ppt/slides/slide7.xml" Id="Rafa82e9005ab4899" /><Relationship Type="http://schemas.openxmlformats.org/officeDocument/2006/relationships/slide" Target="/ppt/slides/slide8.xml" Id="Rf02423de21354368" /><Relationship Type="http://schemas.openxmlformats.org/officeDocument/2006/relationships/slide" Target="/ppt/slides/slide9.xml" Id="R89f852c9dfae44e1" /><Relationship Type="http://schemas.openxmlformats.org/officeDocument/2006/relationships/slide" Target="/ppt/slides/slide10.xml" Id="R68d2d77e12cf43d5" /><Relationship Type="http://schemas.openxmlformats.org/officeDocument/2006/relationships/slide" Target="/ppt/slides/slide11.xml" Id="Rc344e87a32e94564" /><Relationship Type="http://schemas.openxmlformats.org/officeDocument/2006/relationships/slide" Target="/ppt/slides/slide12.xml" Id="R1e3abedaeaaf4ac3" /><Relationship Type="http://schemas.openxmlformats.org/officeDocument/2006/relationships/slide" Target="/ppt/slides/slide13.xml" Id="R88dd6ea121154627" /><Relationship Type="http://schemas.openxmlformats.org/officeDocument/2006/relationships/slide" Target="/ppt/slides/slide14.xml" Id="Rf321d36c7d7f4ef3" /><Relationship Type="http://schemas.openxmlformats.org/officeDocument/2006/relationships/slide" Target="/ppt/slides/slide15.xml" Id="Raccc155cf5c74bdc" /><Relationship Type="http://schemas.openxmlformats.org/officeDocument/2006/relationships/slide" Target="/ppt/slides/slide16.xml" Id="R7e9d36804f3c48d3" /><Relationship Type="http://schemas.openxmlformats.org/officeDocument/2006/relationships/slide" Target="/ppt/slides/slide17.xml" Id="Rbb432550719f411d" /><Relationship Type="http://schemas.openxmlformats.org/officeDocument/2006/relationships/slide" Target="/ppt/slides/slide18.xml" Id="R600343d9839141e6" /><Relationship Type="http://schemas.openxmlformats.org/officeDocument/2006/relationships/slide" Target="/ppt/slides/slide19.xml" Id="Rbaa65a281fe944c5" /><Relationship Type="http://schemas.openxmlformats.org/officeDocument/2006/relationships/slide" Target="/ppt/slides/slide20.xml" Id="R2f7687184bda4a81" /><Relationship Type="http://schemas.openxmlformats.org/officeDocument/2006/relationships/slide" Target="/ppt/slides/slide21.xml" Id="Rd2390b79384b486e" /><Relationship Type="http://schemas.openxmlformats.org/officeDocument/2006/relationships/slide" Target="/ppt/slides/slide22.xml" Id="R3f57885c1fac41a7" /><Relationship Type="http://schemas.openxmlformats.org/officeDocument/2006/relationships/slide" Target="/ppt/slides/slide23.xml" Id="Re1aa631197c240ef" /><Relationship Type="http://schemas.openxmlformats.org/officeDocument/2006/relationships/slide" Target="/ppt/slides/slide24.xml" Id="Rd86b43298d044aa2" /><Relationship Type="http://schemas.openxmlformats.org/officeDocument/2006/relationships/slide" Target="/ppt/slides/slide25.xml" Id="R59a6b496db454f71" /><Relationship Type="http://schemas.openxmlformats.org/officeDocument/2006/relationships/slide" Target="/ppt/slides/slide26.xml" Id="R303c6a8ecdad4d6c" /><Relationship Type="http://schemas.openxmlformats.org/officeDocument/2006/relationships/slide" Target="/ppt/slides/slide27.xml" Id="R3adffebfa8e944a5" /><Relationship Type="http://schemas.openxmlformats.org/officeDocument/2006/relationships/slide" Target="/ppt/slides/slide28.xml" Id="R6a683c9835c945fc" /><Relationship Type="http://schemas.openxmlformats.org/officeDocument/2006/relationships/slide" Target="/ppt/slides/slide29.xml" Id="Re43ee94abbd9450e" /><Relationship Type="http://schemas.openxmlformats.org/officeDocument/2006/relationships/slide" Target="/ppt/slides/slide30.xml" Id="R166a16ae7cee4e6e" /><Relationship Type="http://schemas.openxmlformats.org/officeDocument/2006/relationships/slide" Target="/ppt/slides/slide31.xml" Id="Rdaf5291ff79e4b29" /><Relationship Type="http://schemas.openxmlformats.org/officeDocument/2006/relationships/slide" Target="/ppt/slides/slide32.xml" Id="Rdccc83acb5794f4b" /><Relationship Type="http://schemas.openxmlformats.org/officeDocument/2006/relationships/slide" Target="/ppt/slides/slide33.xml" Id="R703ea87522c349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4962ae0734f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b7795199db400b" /><Relationship Type="http://schemas.openxmlformats.org/officeDocument/2006/relationships/notesMaster" Target="/ppt/notesMasters/notesMaster1.xml" Id="Rc0eb949420dd4b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d6a990159d45c0" /><Relationship Type="http://schemas.openxmlformats.org/officeDocument/2006/relationships/notesMaster" Target="/ppt/notesMasters/notesMaster1.xml" Id="R6e471f0c1a3946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9c6b8d5f0c4e94" /><Relationship Type="http://schemas.openxmlformats.org/officeDocument/2006/relationships/notesMaster" Target="/ppt/notesMasters/notesMaster1.xml" Id="Re4f205a1ca7342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18eff934fc41fe" /><Relationship Type="http://schemas.openxmlformats.org/officeDocument/2006/relationships/notesMaster" Target="/ppt/notesMasters/notesMaster1.xml" Id="R58242c028e464d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d4267836e44223" /><Relationship Type="http://schemas.openxmlformats.org/officeDocument/2006/relationships/notesMaster" Target="/ppt/notesMasters/notesMaster1.xml" Id="R9e25a215f2a3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f9ddb0296d4447" /><Relationship Type="http://schemas.openxmlformats.org/officeDocument/2006/relationships/notesMaster" Target="/ppt/notesMasters/notesMaster1.xml" Id="R7b450807af0c4b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fd9eec32094c7a" /><Relationship Type="http://schemas.openxmlformats.org/officeDocument/2006/relationships/notesMaster" Target="/ppt/notesMasters/notesMaster1.xml" Id="R4c6406036f5341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765c3c9fe8400c" /><Relationship Type="http://schemas.openxmlformats.org/officeDocument/2006/relationships/notesMaster" Target="/ppt/notesMasters/notesMaster1.xml" Id="Rb50b2214819044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b45c8fc40b4429" /><Relationship Type="http://schemas.openxmlformats.org/officeDocument/2006/relationships/notesMaster" Target="/ppt/notesMasters/notesMaster1.xml" Id="R04805f85537e44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51b5023a6a4066" /><Relationship Type="http://schemas.openxmlformats.org/officeDocument/2006/relationships/notesMaster" Target="/ppt/notesMasters/notesMaster1.xml" Id="R100bcf3584e842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f5b395f638492c" /><Relationship Type="http://schemas.openxmlformats.org/officeDocument/2006/relationships/notesMaster" Target="/ppt/notesMasters/notesMaster1.xml" Id="Rfd916ed73d2c44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59d86927cf482e" /><Relationship Type="http://schemas.openxmlformats.org/officeDocument/2006/relationships/notesMaster" Target="/ppt/notesMasters/notesMaster1.xml" Id="R88ae2a19b2db4c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e1080381b44447" /><Relationship Type="http://schemas.openxmlformats.org/officeDocument/2006/relationships/notesMaster" Target="/ppt/notesMasters/notesMaster1.xml" Id="R0c8063c5641744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10f06a3297472d" /><Relationship Type="http://schemas.openxmlformats.org/officeDocument/2006/relationships/notesMaster" Target="/ppt/notesMasters/notesMaster1.xml" Id="R313a8eab77a247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fdd57a60314740" /><Relationship Type="http://schemas.openxmlformats.org/officeDocument/2006/relationships/notesMaster" Target="/ppt/notesMasters/notesMaster1.xml" Id="R07a185c9cf1945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c285ff35e04713" /><Relationship Type="http://schemas.openxmlformats.org/officeDocument/2006/relationships/notesMaster" Target="/ppt/notesMasters/notesMaster1.xml" Id="R8fadfa02a10f40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dbdc42b8cb48f5" /><Relationship Type="http://schemas.openxmlformats.org/officeDocument/2006/relationships/notesMaster" Target="/ppt/notesMasters/notesMaster1.xml" Id="R4ea8ed0134ea46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9ff23758b34007" /><Relationship Type="http://schemas.openxmlformats.org/officeDocument/2006/relationships/notesMaster" Target="/ppt/notesMasters/notesMaster1.xml" Id="R652286661d804d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1cd4ec18a14ed7" /><Relationship Type="http://schemas.openxmlformats.org/officeDocument/2006/relationships/notesMaster" Target="/ppt/notesMasters/notesMaster1.xml" Id="R7bb6245d72544f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c1fa15b7614948" /><Relationship Type="http://schemas.openxmlformats.org/officeDocument/2006/relationships/notesMaster" Target="/ppt/notesMasters/notesMaster1.xml" Id="Rfb48d11430e24f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bccc178ce448e6" /><Relationship Type="http://schemas.openxmlformats.org/officeDocument/2006/relationships/notesMaster" Target="/ppt/notesMasters/notesMaster1.xml" Id="Rf3eeaec3fcfe41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38e7f1cfad4733" /><Relationship Type="http://schemas.openxmlformats.org/officeDocument/2006/relationships/notesMaster" Target="/ppt/notesMasters/notesMaster1.xml" Id="R688d11038c184f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cdb36cb38d34a88" /><Relationship Type="http://schemas.openxmlformats.org/officeDocument/2006/relationships/notesMaster" Target="/ppt/notesMasters/notesMaster1.xml" Id="R4dcf8379da9e44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45f48667284aa5" /><Relationship Type="http://schemas.openxmlformats.org/officeDocument/2006/relationships/notesMaster" Target="/ppt/notesMasters/notesMaster1.xml" Id="Rc646297a0d9c46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7d334978c6741fa" /><Relationship Type="http://schemas.openxmlformats.org/officeDocument/2006/relationships/notesMaster" Target="/ppt/notesMasters/notesMaster1.xml" Id="R48171c5ec38948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b63973e5be4d5b" /><Relationship Type="http://schemas.openxmlformats.org/officeDocument/2006/relationships/notesMaster" Target="/ppt/notesMasters/notesMaster1.xml" Id="R7922ae35195649f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1730ee8ccce47ee" /><Relationship Type="http://schemas.openxmlformats.org/officeDocument/2006/relationships/notesMaster" Target="/ppt/notesMasters/notesMaster1.xml" Id="Rfc2516d62e954bc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173e4285499449e" /><Relationship Type="http://schemas.openxmlformats.org/officeDocument/2006/relationships/notesMaster" Target="/ppt/notesMasters/notesMaster1.xml" Id="Rd063f94d3d94475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46d0dedcf746b3" /><Relationship Type="http://schemas.openxmlformats.org/officeDocument/2006/relationships/notesMaster" Target="/ppt/notesMasters/notesMaster1.xml" Id="Rbb3878ec63e1486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4c9cbab51b94e8a" /><Relationship Type="http://schemas.openxmlformats.org/officeDocument/2006/relationships/notesMaster" Target="/ppt/notesMasters/notesMaster1.xml" Id="R8c3f11861e8748e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b0682efdbcf4b0b" /><Relationship Type="http://schemas.openxmlformats.org/officeDocument/2006/relationships/notesMaster" Target="/ppt/notesMasters/notesMaster1.xml" Id="R25003df5c79545c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5557d629c4422f" /><Relationship Type="http://schemas.openxmlformats.org/officeDocument/2006/relationships/notesMaster" Target="/ppt/notesMasters/notesMaster1.xml" Id="R38bf93825b6f44f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d7b6cc40dd749b3" /><Relationship Type="http://schemas.openxmlformats.org/officeDocument/2006/relationships/notesMaster" Target="/ppt/notesMasters/notesMaster1.xml" Id="R33f5285424b947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Thái Kiệt and Trần Lê Hải reproduce the method and evaluate a declared local variant. The key question is whether preference initialization plus bandit feedback can improve quality under a deployment budget. All LLM outcomes are historical benchmark records. BGE-M3 embeddings run locally; no paid provider calls were made. Our eight-arm study changes important paper conditions, so its negative results and supplementary stress tests must be interpreted within this scope.</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local PILOT implementation is functional but does not dominate the strongest baseline. At half the local reference budget its RouterBench utility is 0.6764, below LinUCB at 0.7056. We retain all declared conditions, not just favorable points. The supplement isolates two mechanisms: reward magnitude lost through cosine normalization and sensitivity of budget feasibility to realized costs. Neither exercise establishes a causal explanation of the real-data gap.</a:t>
            </a:r>
          </a:p>
          <a:p xmlns:a="http://schemas.openxmlformats.org/drawingml/2006/main">
            <a:r>
              <a:t/>
            </a:r>
          </a:p>
          <a:p xmlns:a="http://schemas.openxmlformats.org/drawingml/2006/main">
            <a:r>
              <a:t>Sources: reports/full-experiments-2026-10-29/aggregate/per-seed.csv; reports/course-submission-2026-10-30/analysis/analysis.json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stream containing short factual questions and difficult code tasks. A router observes the query context and chooses one model. Quality and cost vary by model and query. The learning objective accumulates selected rewards; deployment imposes an explicit budget on a frozen router. In this study the outcomes already exist in RouterBench. The router is not calling current Claude or GPT subscriptions, and switching to present-day models would define a different experiment.</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supervision observes the quality of every candidate model for the same query. A contextual bandit receives only the chosen model reward. The offline dataset contains all candidate outcomes, but the learning interface must reveal only one. Unchosen outcomes are used after selection to compute empirical oracle regret, never to update the policy. Independent replay and selected-feedback tests guard this distinction.</a:t>
            </a:r>
          </a:p>
          <a:p xmlns:a="http://schemas.openxmlformats.org/drawingml/2006/main">
            <a:r>
              <a:t/>
            </a:r>
          </a:p>
          <a:p xmlns:a="http://schemas.openxmlformats.org/drawingml/2006/main">
            <a:r>
              <a:t>Sources: https://aclanthology.org/2025.findings-emnlp.1301.pdf; https://arxiv.org/abs/1003.0146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and colleagues introduce contextual linear UCB for recommendation, combining linear reward estimation with an uncertainty bonus. Ding and colleagues study small/large LLM routing from estimates of the quality gap, including uncertainty from model outputs. PILOT brings preference-derived initialization into a multi-arm contextual-bandit router and separates online learning from budgeted deployment. HybridLLM is a source comparison here; we did not run a matched supervised HybridLLM baseline.</a:t>
            </a:r>
          </a:p>
          <a:p xmlns:a="http://schemas.openxmlformats.org/drawingml/2006/main">
            <a:r>
              <a:t/>
            </a:r>
          </a:p>
          <a:p xmlns:a="http://schemas.openxmlformats.org/drawingml/2006/main">
            <a:r>
              <a:t>Sources: https://arxiv.org/abs/1003.0146; https://openreview.net/pdf?id=02f3mUtqnM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theoretical component analyzes a prior-informed OFUL construction under linear assumptions. The algorithmic component uses two-stage preference pretraining and a cosine-based contextual UCB rule. The deployment component applies an online knapsack-style cost policy in bins with rollover. Keeping these layers separate prevents attributing the OFUL guarantee to every detail of the practical cosine router or to realized-cost accounting.</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K arms and d projected dimensions. Phi denotes the frozen query embedding; z is a learned projection and x its unit-normalized representation used by PILOT. Each arm maintains a ridge matrix A and reward vector b. A tilde theta denotes its current ridge estimate, theta-pref its preference prior and lambda the initialization strength. Alpha controls exploration. Budget B refers to deployment, not the cost of pretraining or a paid API bill.</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Preference data and routing data are distinct inputs. A two-stage fit first learns projection W and then arm directions. Online learning uses selected routing rewards to update ridge sufficient statistics. Frozen checkpoints at declared stream prefixes are then evaluated under the budget grid, with no deployment reward feedback. Tuning data determines hyperparameters and cost estimates before deployment. The separation is explicit in the artifacts and tests.</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stage constructs preference-derived triplets and optimizes a margin loss based on cosine distance. It learns W and the projection offset while the original embedding model is fixed. The projected context must be nonzero before normalization. Local data yields 1,193 triplets from 1,245 training pairs. Triplet construction also uses a declared model-cost ordering; its historical rate assumptions are recorded rather than silently inferred from deployment outcomes.</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Freeze the query projection. Each preference comparison supplies a winner and loser; a softmax over their cosine similarities defines a pairwise probability and binary cross-entropy objective. Held-out pairs estimate preference prediction accuracy. They do not measure downstream RouterBench reward directly. The local fit uses 40 epochs, with 313 held-out pairs; three 64-dimensional fits correctly classify 189, 188 and 193 pairs.</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Instead of beginning at a zero parameter estimate, initialize A with lambda times the identity and b with lambda times the preference vector. This yields the preference vector as the first ridge estimate. The paper chooses lambda from inverse held-out per-arm accuracy. That heuristic links preference validation to confidence and bias, but it is not a certificate that the prior is close to a target reward parameter. Validation support and zero accuracy must be checked before forming lambda.</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each round normalize the context, solve the ridge system for each arm and combine cosine exploitation with an uncertainty bonus. Select the maximum score with the declared deterministic tie behavior. After receiving the selected reward, add xx-transpose to that arm matrix and rx to its reward vector. Other arm statistics are unchanged. The magnitude stress later uses this exact implementation; it does not replace the policy with a hand-written approximation.</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larger lambda strengthens regularization toward the prior and reduces the initial uncertainty term. It may stabilize an accurate prior, but can slow correction of a misleading one. Since the inverse-accuracy heuristic gives lower preference accuracy a larger lambda, its behavior should be interpreted carefully rather than automatically described as more exploration for less accurate arms. The local unit-strength and zero-direction ablations help separate prior direction from strength, though they do not establish universal causality.</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analyzes PI-OFUL, a linear optimistic method. Its confidence radius can use distance from the prior to the true parameter instead of distance from zero. If that distance is smaller, the corresponding bound improves under the other assumptions. This monotonic substitution is the proof intuition. It does not prove that every human-preference prior helps, nor that the practical cosine-normalized PILOT inherits the identical bound. Our synthetic test violates its direction-only reward assumption and is not a theorem counterexample.</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NumPy implementation computes dense batched solves for estimates and variances rather than maintaining rank-one inverses. Selection therefore costs O(K d cubed); selected-arm positive-definite validation costs O(d cubed). State scales with K d squared. At K=8 and d=64, A and b alone occupy 266,240 bytes in float64; this excludes cached embeddings, projection parameters and process overhead. Sherman-Morrison-style maintenance could lower arithmetic, but has not been implemented or benchmarked here.</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length is known before routing; output length is not. The estimator combines known input tokens with mean per-arm output tokens estimated only on tuning data. A cost-reward threshold increases with budget utilization. Queries are processed in bins with rollover of unused budget, with fallback constraints based on remaining budget per remaining query. Feasibility is evaluated using estimates; actual recorded costs are accounted separately. This distinction motivates the second poster critique.</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routing table contains 36,497 queries and 401,467 outcomes across eleven raw models; eight are admitted to the local preference-matched pool. RouterBench uses 1,000 tuning, 32,270 learning and 3,227 deployment queries. The MMLU subset has 398, 12,369 and 1,275 respectively and is nested in the same split. Preference pairs are independently split into 1,245 training and 313 holdout. Similar counts do not establish equivalence to the authors release or task grouping.</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unresolved model bridges exclude Claude-v2, Mistral-7B and Mixtral-8x7B from the admitted pool. The remaining eight identity matches are documented. We use a free local BGE-M3 encoder rather than the paper main OpenAI embedding. The candidate data is pinned RouterBench zero-shot and a separately audited public Arena source; release and serving equivalence remain unconfirmed. Budget calibration and reference denominators also differ. These changes prevent computing a matched paper reproduction error from our headline values.</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course scope covers the main performance-budget question and learning behavior. The local main inventory includes 13 methods: five bandit or random methods and eight fixed arms. Five PILOT variants test prior direction, initialization strength, learning removal, budget binning and projection dimension. These yield 858 primary and 240 ablation conditions. The supplementary magnitude and cost analyses are tagged Lab 2 separately. All source-run IDs map to prepared W&amp;B identities, but public URLs remain pending account setup.</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Hyperparameters are chosen only on tuning data. The frozen choices are alpha=1 for PILOT, alpha=5 for LinUCB, and exploration window=10 for EpochGreedy in both domains. All baselines share the data selection, seed, evaluator, contexts and common deployment adapter. Prefix checkpoints come from one uninterrupted stream per method and seed. Three seeds give descriptive variation, not a justified confidence interval. Reusing tuning across learning prefixes is part of the declared protocol.</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utility divides total reward by requested queries. Coverage divides served queries by requests. Mean served reward conditions on service and can look high even when many requests are dropped, so it is not interchangeable with utility. Recorded-cost excess is computed separately from estimated spending. Learning regret is the sum of best available recorded reward minus chosen reward on each learning query. This is an empirical oracle comparator and not an expected theoretical regret estimate.</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reports RouterBench at 93 percent of GPT-4 performance for 25 percent cost and MMLU at 86 percent for 27 percent cost. Our displayed local point uses half a tuning-calibrated reference budget and an absolute service-utility metric. Both the protocol and denominators differ. Thus the slide reports values side by side with labels, not a relative reproduction error. Our result is still informative about the declared local system: PILOT is below the strongest local comparator at this point.</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averages seeds 7, 42 and 2026 at full learning. The x-axis is our local reference budget fraction, not the paper GPT-4 cost ratio. At half budget PILOT trails LinUCB. Higher budgets do not guarantee that this fixed budget controller spends more or improves utility monotonically; inspect the measured curve rather than assuming monotonicity. Source IDs and seed minima/maxima are retained in slide-content.json; the editable chart shows means only.</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uses the same eight arms and common deployment protocol on the nested MMLU subset. At half budget, ExploreOnly has mean utility 0.6899 compared with PILOT 0.6675. This is not an independent dataset replication because MMLU queries are part of RouterBench. The chart reports the complete declared budget grid. Different baseline rankings caution against treating a preference prior as universally beneficial.</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RouterBench comparison evaluates frozen routers after 10, 25, 50 and 100 percent of the learning stream under the same half-reference deployment budget. Points are snapshots from a continuous stream, not independent retraining. The three displayed methods are PILOT, LinUCB and ExploreOnly; all methods remain in the source aggregate. Inspect the measured changes without claiming a causal effect of sample size independent of stream order. MMLU counterpart data is also retained in the reproducible chart input.</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empirical oracle sees the best recorded reward among admitted arms for scoring only. The learner still observes selected rewards. These are cumulative values from four checkpoints of the RouterBench learning stream, averaged across three seeds. Straight segments connect observed endpoints and do not represent a recovered per-round trajectory. A theoretical sublinear-rate claim cannot be established from four finite checkpoints, especially under changed reward assumptions.</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are three-seed mean service utility at half reference budget and full learning, except prior-only deliberately performs no learning. The five controlled changes isolate implementation components within this local protocol: zero prior direction, unit initialization strength, no online learning, a single budget bin, and an eight-dimensional projection. Interpretation remains local; projection changes also change the fitted representation, and differences do not prove a general mechanism. Preference holdout mean is 60.70 percent versus a published 65.0 percent on a different set.</a:t>
            </a:r>
          </a:p>
          <a:p xmlns:a="http://schemas.openxmlformats.org/drawingml/2006/main">
            <a:r>
              <a:t/>
            </a:r>
          </a:p>
          <a:p xmlns:a="http://schemas.openxmlformats.org/drawingml/2006/main">
            <a:r>
              <a:t>Sources: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strengths are specific and evidence-linked. First, the partial-feedback contract is implemented and replayed. Second, the local preference model carries nonrandom held-out signal, although it does not ensure better routing. Third, separating learning from frozen deployment enables a controlled budget sweep with common comparators; main full-learning PILOT stays within recorded budget for all 48 conditions. These statements avoid calling the method universally superior or worst-case budget safe.</a:t>
            </a:r>
          </a:p>
          <a:p xmlns:a="http://schemas.openxmlformats.org/drawingml/2006/main">
            <a:r>
              <a:t/>
            </a:r>
          </a:p>
          <a:p xmlns:a="http://schemas.openxmlformats.org/drawingml/2006/main">
            <a:r>
              <a:t>Sources: https://aclanthology.org/2025.findings-emnlp.1301.pdf; reports/full-experiments-2026-10-29/aggregate/per-seed.csv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deterministic construction uses constant unit context, rewards 0.2 and 0.8, and collinear oracle priors. Both policies receive identical initial A and b and only chosen feedback. Cosine means become equal, so uncertainty alternates selection; regret reaches 600 after 2,000 rounds. A linear-mean control with the same prior has regret 1.2 at alpha=1. It is not zero-prior LinUCB. The test violates the direction-only reward assumption and demonstrates misspecification sensitivity, not invalidity of the conditional PI-OFUL theorem.</a:t>
            </a:r>
          </a:p>
          <a:p xmlns:a="http://schemas.openxmlformats.org/drawingml/2006/main">
            <a:r>
              <a:t/>
            </a:r>
          </a:p>
          <a:p xmlns:a="http://schemas.openxmlformats.org/drawingml/2006/main">
            <a:r>
              <a:t>Sources: reports/course-submission-2026-10-30/analysis/analysis.json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Hold all selected arms and rewards fixed and multiply recorded costs by a declared factor. In the main full-learning PILOT population, zero of 48 conditions exceed their budget at factor one; 25 of 48 do at 1.10. Across the complete inventory, 12 of 1,098 already overspend at factor one, but those are different conditions. This is counterfactual accounting, not a rerouted experiment or an estimated event probability. It tests the gap between estimated and realized cost guarantees.</a:t>
            </a:r>
          </a:p>
          <a:p xmlns:a="http://schemas.openxmlformats.org/drawingml/2006/main">
            <a:r>
              <a:t/>
            </a:r>
          </a:p>
          <a:p xmlns:a="http://schemas.openxmlformats.org/drawingml/2006/main">
            <a:r>
              <a:t>Sources: reports/course-submission-2026-10-30/analysis/analysis.json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magnitude, replace or calibrate the cosine reward head while keeping the prior, feedback and budget protocol fixed. Evaluate both synthetic sweeps and held-out routing to ensure lower stress regret does not sacrifice real utility. For costs, fit conservative output-length estimates on tuning data and reserve uncertainty budget, then evaluate tail overruns, coverage and utility. A quantile is a probabilistic device, not a deterministic bound. These modifications are proposed future work, not improvements already measured in this study.</a:t>
            </a:r>
          </a:p>
          <a:p xmlns:a="http://schemas.openxmlformats.org/drawingml/2006/main">
            <a:r>
              <a:t/>
            </a:r>
          </a:p>
          <a:p xmlns:a="http://schemas.openxmlformats.org/drawingml/2006/main">
            <a:r>
              <a:t>Sources: reports/course-submission-2026-10-30/analysis/analysis.json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inventory, independent replays and supplements are available with hashes. Hosted-data preparation reconstructs the expected normalized tables and input lists. Public W&amp;B links remain a course requirement and cannot be invented before account creation and approved upload. The historical full runner uses pinned dated caches and prior hashes; a new machine has not been tested end to end through GPU generation and a newly frozen grid. The main conclusion is therefore a transparent local reproduction plus critical analysis, with publication and fresh-machine verification explicitly outstanding.</a:t>
            </a:r>
          </a:p>
          <a:p xmlns:a="http://schemas.openxmlformats.org/drawingml/2006/main">
            <a:r>
              <a:t/>
            </a:r>
          </a:p>
          <a:p xmlns:a="http://schemas.openxmlformats.org/drawingml/2006/main">
            <a:r>
              <a:t>Sources: reports/full-experiments-2026-10-29/aggregate/per-seed.csv; reports/course-submission-2026-10-30/analysis/analysis.json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A=X-transpose-X plus lambda-I and b=X-transpose-y plus lambda-theta-pref, expand y=X-theta-star plus epsilon and multiply by the inverse to obtain this identity. The final ACL PDF omits rewards in one b definition on page 12 and an inverse in the bias term on page 13. These are printed algebraic discrepancies. Restoring the standard identity supports the conditional prior-distance argument; it does not establish the cosine implementation guarantee. Distinguish a typographical correction from disproving a theorem during defense.</a:t>
            </a:r>
          </a:p>
          <a:p xmlns:a="http://schemas.openxmlformats.org/drawingml/2006/main">
            <a:r>
              <a:t/>
            </a:r>
          </a:p>
          <a:p xmlns:a="http://schemas.openxmlformats.org/drawingml/2006/main">
            <a:r>
              <a:t>Sources: https://aclanthology.org/2025.findings-emnlp.1301.pdf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c1e806766c43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e0621f633648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52473f5cef44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d0d1f534bd44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44b9593e7448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62023da48547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BB311F-4DE7-460A-84C3-DC05320E03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A2B6E8-87FB-4C0F-BAF7-32A4D1ABC9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4321F7-EA97-445B-97FF-191B6DD41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968EB9-3466-4E56-B8E5-2D7BC0A314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E84298-9E11-4C98-9E2E-AAB4C99E5C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B8EB85-50E4-45F9-B6FA-BFE4159C86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9432DD-BB46-4795-9503-5CF930A5B2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948271-8892-4367-AACF-D7B7EB6711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B39049-09EB-4B4C-BE4A-44D335AB4D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99B40A-3C57-4E84-81E9-E0A73435BF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18ace4822d4c9a" /><Relationship Type="http://schemas.openxmlformats.org/officeDocument/2006/relationships/slideLayout" Target="/ppt/slideLayouts/slideLayout1.xml" Id="R80d2fb9156f04988" /><Relationship Type="http://schemas.openxmlformats.org/officeDocument/2006/relationships/slideLayout" Target="/ppt/slideLayouts/slideLayout2.xml" Id="Rda5ff54167224d73" /><Relationship Type="http://schemas.openxmlformats.org/officeDocument/2006/relationships/slideLayout" Target="/ppt/slideLayouts/slideLayout3.xml" Id="Rf43abd56967c4199" /><Relationship Type="http://schemas.openxmlformats.org/officeDocument/2006/relationships/slideLayout" Target="/ppt/slideLayouts/slideLayout4.xml" Id="Rff7d24cd1d544808" /><Relationship Type="http://schemas.openxmlformats.org/officeDocument/2006/relationships/slideLayout" Target="/ppt/slideLayouts/slideLayout5.xml" Id="Rfc9f835df5de472f" /><Relationship Type="http://schemas.openxmlformats.org/officeDocument/2006/relationships/slideLayout" Target="/ppt/slideLayouts/slideLayout6.xml" Id="Rd45a8418a9124e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2fb9156f04988"/>
    <p:sldLayoutId xmlns:r="http://schemas.openxmlformats.org/officeDocument/2006/relationships" id="2147483650" r:id="Rda5ff54167224d73"/>
    <p:sldLayoutId xmlns:r="http://schemas.openxmlformats.org/officeDocument/2006/relationships" id="2147483651" r:id="Rf43abd56967c4199"/>
    <p:sldLayoutId xmlns:r="http://schemas.openxmlformats.org/officeDocument/2006/relationships" id="2147483652" r:id="Rff7d24cd1d544808"/>
    <p:sldLayoutId xmlns:r="http://schemas.openxmlformats.org/officeDocument/2006/relationships" id="2147483653" r:id="Rfc9f835df5de472f"/>
    <p:sldLayoutId xmlns:r="http://schemas.openxmlformats.org/officeDocument/2006/relationships" id="2147483654" r:id="Rd45a8418a9124e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4e2d542cb44392" /><Relationship Type="http://schemas.openxmlformats.org/officeDocument/2006/relationships/notesSlide" Target="/ppt/notesSlides/notesSlide1.xml" Id="R9f3714e7b93d4f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fce1319030406d" /><Relationship Type="http://schemas.openxmlformats.org/officeDocument/2006/relationships/notesSlide" Target="/ppt/notesSlides/notesSlide2.xml" Id="R3d55dbc3424a48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ce5640eff44031" /><Relationship Type="http://schemas.openxmlformats.org/officeDocument/2006/relationships/notesSlide" Target="/ppt/notesSlides/notesSlide3.xml" Id="Rc0ab3510cb054f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d37aa6b01f4c91" /><Relationship Type="http://schemas.openxmlformats.org/officeDocument/2006/relationships/notesSlide" Target="/ppt/notesSlides/notesSlide4.xml" Id="R40aec0b9479044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70d6628de64076" /><Relationship Type="http://schemas.openxmlformats.org/officeDocument/2006/relationships/notesSlide" Target="/ppt/notesSlides/notesSlide5.xml" Id="R4a02ff4f1ad745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5074ce7314478b" /><Relationship Type="http://schemas.openxmlformats.org/officeDocument/2006/relationships/notesSlide" Target="/ppt/notesSlides/notesSlide6.xml" Id="R8f1b6fa5731549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273cfff5104b50" /><Relationship Type="http://schemas.openxmlformats.org/officeDocument/2006/relationships/notesSlide" Target="/ppt/notesSlides/notesSlide7.xml" Id="R5b91a4462e9e4c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35f1f7214dc4b73" /><Relationship Type="http://schemas.openxmlformats.org/officeDocument/2006/relationships/notesSlide" Target="/ppt/notesSlides/notesSlide8.xml" Id="R5cc7929393ec4b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72aab149ae411d" /><Relationship Type="http://schemas.openxmlformats.org/officeDocument/2006/relationships/notesSlide" Target="/ppt/notesSlides/notesSlide9.xml" Id="R055a5652157440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b4efd6f1954393" /><Relationship Type="http://schemas.openxmlformats.org/officeDocument/2006/relationships/notesSlide" Target="/ppt/notesSlides/notesSlide10.xml" Id="Rbaf8b3b46f9f4d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5816c54ca84da1" /><Relationship Type="http://schemas.openxmlformats.org/officeDocument/2006/relationships/notesSlide" Target="/ppt/notesSlides/notesSlide11.xml" Id="R5dd46689760046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63b82f48a54187" /><Relationship Type="http://schemas.openxmlformats.org/officeDocument/2006/relationships/notesSlide" Target="/ppt/notesSlides/notesSlide12.xml" Id="Ra378763153e64b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cf4ce54d9f34eb2" /><Relationship Type="http://schemas.openxmlformats.org/officeDocument/2006/relationships/notesSlide" Target="/ppt/notesSlides/notesSlide13.xml" Id="R8a3ffde935d748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91c465644646bb" /><Relationship Type="http://schemas.openxmlformats.org/officeDocument/2006/relationships/notesSlide" Target="/ppt/notesSlides/notesSlide14.xml" Id="Re96f93d2579040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03fbdef7fc84988" /><Relationship Type="http://schemas.openxmlformats.org/officeDocument/2006/relationships/notesSlide" Target="/ppt/notesSlides/notesSlide15.xml" Id="R6472f1ca15c04a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64f4f30ded4de4" /><Relationship Type="http://schemas.openxmlformats.org/officeDocument/2006/relationships/notesSlide" Target="/ppt/notesSlides/notesSlide16.xml" Id="R9be38d174caa41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0015fe2d3fd4fe6" /><Relationship Type="http://schemas.openxmlformats.org/officeDocument/2006/relationships/notesSlide" Target="/ppt/notesSlides/notesSlide17.xml" Id="Rd72cb2db78414e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ddc3d2a0637475c" /><Relationship Type="http://schemas.openxmlformats.org/officeDocument/2006/relationships/notesSlide" Target="/ppt/notesSlides/notesSlide18.xml" Id="Rd9bfc733e99c4e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1d129001b740bb" /><Relationship Type="http://schemas.openxmlformats.org/officeDocument/2006/relationships/notesSlide" Target="/ppt/notesSlides/notesSlide19.xml" Id="R3bb6569adb3948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ef9da9188e4629" /><Relationship Type="http://schemas.openxmlformats.org/officeDocument/2006/relationships/notesSlide" Target="/ppt/notesSlides/notesSlide20.xml" Id="Rb3d6bc2c13a44e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5c8bbfa07ff410e" /><Relationship Type="http://schemas.openxmlformats.org/officeDocument/2006/relationships/notesSlide" Target="/ppt/notesSlides/notesSlide21.xml" Id="Rbe11126c1fb54c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4aa5ba7d9234fbf" /><Relationship Type="http://schemas.openxmlformats.org/officeDocument/2006/relationships/notesSlide" Target="/ppt/notesSlides/notesSlide22.xml" Id="Rf32ae5c4785f41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384eb5f1184f10" /><Relationship Type="http://schemas.openxmlformats.org/officeDocument/2006/relationships/chart" Target="/ppt/slides/charts/chart1.xml" Id="R3d3fd4d181234a6f" /><Relationship Type="http://schemas.openxmlformats.org/officeDocument/2006/relationships/notesSlide" Target="/ppt/notesSlides/notesSlide23.xml" Id="Ra1c54bc2129b40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587e238c7694bde" /><Relationship Type="http://schemas.openxmlformats.org/officeDocument/2006/relationships/chart" Target="/ppt/slides/charts/chart2.xml" Id="Ree17b22b0b364b84" /><Relationship Type="http://schemas.openxmlformats.org/officeDocument/2006/relationships/notesSlide" Target="/ppt/notesSlides/notesSlide24.xml" Id="Rafda512ed7194a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210d15314e84733" /><Relationship Type="http://schemas.openxmlformats.org/officeDocument/2006/relationships/chart" Target="/ppt/slides/charts/chart3.xml" Id="R4ae690580f884300" /><Relationship Type="http://schemas.openxmlformats.org/officeDocument/2006/relationships/notesSlide" Target="/ppt/notesSlides/notesSlide25.xml" Id="Rc86aa83004e640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40afcede11e43bf" /><Relationship Type="http://schemas.openxmlformats.org/officeDocument/2006/relationships/chart" Target="/ppt/slides/charts/chart4.xml" Id="R1800f0f01bdf4690" /><Relationship Type="http://schemas.openxmlformats.org/officeDocument/2006/relationships/notesSlide" Target="/ppt/notesSlides/notesSlide26.xml" Id="R67de5c04af8d4a1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b1f85af0756400c" /><Relationship Type="http://schemas.openxmlformats.org/officeDocument/2006/relationships/notesSlide" Target="/ppt/notesSlides/notesSlide27.xml" Id="R9abea7a0120b4d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e94cf44873048d0" /><Relationship Type="http://schemas.openxmlformats.org/officeDocument/2006/relationships/notesSlide" Target="/ppt/notesSlides/notesSlide28.xml" Id="R9983d4a57f024c8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544e571a3ef41af" /><Relationship Type="http://schemas.openxmlformats.org/officeDocument/2006/relationships/chart" Target="/ppt/slides/charts/chart5.xml" Id="Rcd0b98f95f534a1e" /><Relationship Type="http://schemas.openxmlformats.org/officeDocument/2006/relationships/notesSlide" Target="/ppt/notesSlides/notesSlide29.xml" Id="R4b966f1da4f949f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191797b3bba41bb" /><Relationship Type="http://schemas.openxmlformats.org/officeDocument/2006/relationships/chart" Target="/ppt/slides/charts/chart6.xml" Id="R21049379bd6e458e" /><Relationship Type="http://schemas.openxmlformats.org/officeDocument/2006/relationships/notesSlide" Target="/ppt/notesSlides/notesSlide30.xml" Id="R3f2eb5f2581d4bd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668f299eee040c7" /><Relationship Type="http://schemas.openxmlformats.org/officeDocument/2006/relationships/notesSlide" Target="/ppt/notesSlides/notesSlide31.xml" Id="R0e16a335efc7416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c9b89f64b4640a8" /><Relationship Type="http://schemas.openxmlformats.org/officeDocument/2006/relationships/notesSlide" Target="/ppt/notesSlides/notesSlide32.xml" Id="R47b37af18781403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dfa225acedc46f4" /><Relationship Type="http://schemas.openxmlformats.org/officeDocument/2006/relationships/notesSlide" Target="/ppt/notesSlides/notesSlide33.xml" Id="R734fa6a70e7443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PILOT</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Data'!$A$2:$A$9</c:f>
              <c:numCache>
                <c:formatCode>General</c:formatCode>
                <c:ptCount val="8"/>
                <c:pt idx="0">
                  <c:v>0.05</c:v>
                </c:pt>
                <c:pt idx="1">
                  <c:v>0.1</c:v>
                </c:pt>
                <c:pt idx="2">
                  <c:v>0.2</c:v>
                </c:pt>
                <c:pt idx="3">
                  <c:v>0.3</c:v>
                </c:pt>
                <c:pt idx="4">
                  <c:v>0.5</c:v>
                </c:pt>
                <c:pt idx="5">
                  <c:v>0.75</c:v>
                </c:pt>
                <c:pt idx="6">
                  <c:v>1</c:v>
                </c:pt>
                <c:pt idx="7">
                  <c:v>1.25</c:v>
                </c:pt>
              </c:numCache>
            </c:numRef>
          </c:xVal>
          <c:yVal>
            <c:numRef>
              <c:f>'Chart Data'!$B$2:$B$9</c:f>
              <c:numCache>
                <c:formatCode>0.00</c:formatCode>
                <c:ptCount val="8"/>
                <c:pt idx="0">
                  <c:v>0.00092966</c:v>
                </c:pt>
                <c:pt idx="1">
                  <c:v>0.00446751</c:v>
                </c:pt>
                <c:pt idx="2">
                  <c:v>0.60484971</c:v>
                </c:pt>
                <c:pt idx="3">
                  <c:v>0.62708398</c:v>
                </c:pt>
                <c:pt idx="4">
                  <c:v>0.67638157</c:v>
                </c:pt>
                <c:pt idx="5">
                  <c:v>0.72580828</c:v>
                </c:pt>
                <c:pt idx="6">
                  <c:v>0.76669249</c:v>
                </c:pt>
                <c:pt idx="7">
                  <c:v>0.76743622</c:v>
                </c:pt>
              </c:numCache>
            </c:numRef>
          </c:yVal>
        </c:ser>
        <c:ser>
          <c:idx val="1"/>
          <c:order val="1"/>
          <c:tx>
            <c:v>LinUCB</c:v>
          </c:tx>
          <c:spPr>
            <a:ln xmlns:a="http://schemas.openxmlformats.org/drawingml/2006/main" w="28575">
              <a:solidFill>
                <a:srgbClr val="B94C35"/>
              </a:solidFill>
            </a:ln>
          </c:spPr>
          <c:marker>
            <c:symbol val="circle"/>
            <c:size val="6"/>
            <c:spPr>
              <a:solidFill xmlns:a="http://schemas.openxmlformats.org/drawingml/2006/main">
                <a:srgbClr val="B94C35"/>
              </a:solidFill>
            </c:spPr>
          </c:marker>
          <c:xVal>
            <c:numRef>
              <c:f>'Chart Data'!$C$2:$C$9</c:f>
              <c:numCache>
                <c:formatCode>General</c:formatCode>
                <c:ptCount val="8"/>
                <c:pt idx="0">
                  <c:v>0.05</c:v>
                </c:pt>
                <c:pt idx="1">
                  <c:v>0.1</c:v>
                </c:pt>
                <c:pt idx="2">
                  <c:v>0.2</c:v>
                </c:pt>
                <c:pt idx="3">
                  <c:v>0.3</c:v>
                </c:pt>
                <c:pt idx="4">
                  <c:v>0.5</c:v>
                </c:pt>
                <c:pt idx="5">
                  <c:v>0.75</c:v>
                </c:pt>
                <c:pt idx="6">
                  <c:v>1</c:v>
                </c:pt>
                <c:pt idx="7">
                  <c:v>1.25</c:v>
                </c:pt>
              </c:numCache>
            </c:numRef>
          </c:xVal>
          <c:yVal>
            <c:numRef>
              <c:f>'Chart Data'!$D$2:$D$9</c:f>
              <c:numCache>
                <c:formatCode>0.00</c:formatCode>
                <c:ptCount val="8"/>
                <c:pt idx="0">
                  <c:v>0.00330544</c:v>
                </c:pt>
                <c:pt idx="1">
                  <c:v>0.00583617</c:v>
                </c:pt>
                <c:pt idx="2">
                  <c:v>0.65902799</c:v>
                </c:pt>
                <c:pt idx="3">
                  <c:v>0.68035327</c:v>
                </c:pt>
                <c:pt idx="4">
                  <c:v>0.70563991</c:v>
                </c:pt>
                <c:pt idx="5">
                  <c:v>0.72663465</c:v>
                </c:pt>
                <c:pt idx="6">
                  <c:v>0.74303274</c:v>
                </c:pt>
                <c:pt idx="7">
                  <c:v>0.75062494</c:v>
                </c:pt>
              </c:numCache>
            </c:numRef>
          </c:yVal>
        </c:ser>
        <c:ser>
          <c:idx val="2"/>
          <c:order val="2"/>
          <c:tx>
            <c:v>ExploreOnly</c:v>
          </c:tx>
          <c:spPr>
            <a:ln xmlns:a="http://schemas.openxmlformats.org/drawingml/2006/main" w="28575">
              <a:solidFill>
                <a:srgbClr val="496BA4"/>
              </a:solidFill>
            </a:ln>
          </c:spPr>
          <c:marker>
            <c:symbol val="circle"/>
            <c:size val="6"/>
            <c:spPr>
              <a:solidFill xmlns:a="http://schemas.openxmlformats.org/drawingml/2006/main">
                <a:srgbClr val="496BA4"/>
              </a:solidFill>
            </c:spPr>
          </c:marker>
          <c:xVal>
            <c:numRef>
              <c:f>'Chart Data'!$E$2:$E$9</c:f>
              <c:numCache>
                <c:formatCode>General</c:formatCode>
                <c:ptCount val="8"/>
                <c:pt idx="0">
                  <c:v>0.05</c:v>
                </c:pt>
                <c:pt idx="1">
                  <c:v>0.1</c:v>
                </c:pt>
                <c:pt idx="2">
                  <c:v>0.2</c:v>
                </c:pt>
                <c:pt idx="3">
                  <c:v>0.3</c:v>
                </c:pt>
                <c:pt idx="4">
                  <c:v>0.5</c:v>
                </c:pt>
                <c:pt idx="5">
                  <c:v>0.75</c:v>
                </c:pt>
                <c:pt idx="6">
                  <c:v>1</c:v>
                </c:pt>
                <c:pt idx="7">
                  <c:v>1.25</c:v>
                </c:pt>
              </c:numCache>
            </c:numRef>
          </c:xVal>
          <c:yVal>
            <c:numRef>
              <c:f>'Chart Data'!$F$2:$F$9</c:f>
              <c:numCache>
                <c:formatCode>0.00</c:formatCode>
                <c:ptCount val="8"/>
                <c:pt idx="0">
                  <c:v>0.00291809</c:v>
                </c:pt>
                <c:pt idx="1">
                  <c:v>0.0064043</c:v>
                </c:pt>
                <c:pt idx="2">
                  <c:v>0.6584702</c:v>
                </c:pt>
                <c:pt idx="3">
                  <c:v>0.67492511</c:v>
                </c:pt>
                <c:pt idx="4">
                  <c:v>0.70314534</c:v>
                </c:pt>
                <c:pt idx="5">
                  <c:v>0.72339118</c:v>
                </c:pt>
                <c:pt idx="6">
                  <c:v>0.74562545</c:v>
                </c:pt>
                <c:pt idx="7">
                  <c:v>0.76117137</c:v>
                </c:pt>
              </c:numCache>
            </c:numRef>
          </c:yVal>
        </c:ser>
        <c:ser>
          <c:idx val="3"/>
          <c:order val="3"/>
          <c:tx>
            <c:v>EpochGreedy</c:v>
          </c:tx>
          <c:spPr>
            <a:ln xmlns:a="http://schemas.openxmlformats.org/drawingml/2006/main" w="28575">
              <a:solidFill>
                <a:srgbClr val="A67720"/>
              </a:solidFill>
            </a:ln>
          </c:spPr>
          <c:marker>
            <c:symbol val="circle"/>
            <c:size val="6"/>
            <c:spPr>
              <a:solidFill xmlns:a="http://schemas.openxmlformats.org/drawingml/2006/main">
                <a:srgbClr val="A67720"/>
              </a:solidFill>
            </c:spPr>
          </c:marker>
          <c:xVal>
            <c:numRef>
              <c:f>'Chart Data'!$G$2:$G$9</c:f>
              <c:numCache>
                <c:formatCode>General</c:formatCode>
                <c:ptCount val="8"/>
                <c:pt idx="0">
                  <c:v>0.05</c:v>
                </c:pt>
                <c:pt idx="1">
                  <c:v>0.1</c:v>
                </c:pt>
                <c:pt idx="2">
                  <c:v>0.2</c:v>
                </c:pt>
                <c:pt idx="3">
                  <c:v>0.3</c:v>
                </c:pt>
                <c:pt idx="4">
                  <c:v>0.5</c:v>
                </c:pt>
                <c:pt idx="5">
                  <c:v>0.75</c:v>
                </c:pt>
                <c:pt idx="6">
                  <c:v>1</c:v>
                </c:pt>
                <c:pt idx="7">
                  <c:v>1.25</c:v>
                </c:pt>
              </c:numCache>
            </c:numRef>
          </c:xVal>
          <c:yVal>
            <c:numRef>
              <c:f>'Chart Data'!$H$2:$H$9</c:f>
              <c:numCache>
                <c:formatCode>0.00</c:formatCode>
                <c:ptCount val="8"/>
                <c:pt idx="0">
                  <c:v>0.00353786</c:v>
                </c:pt>
                <c:pt idx="1">
                  <c:v>0.00619771</c:v>
                </c:pt>
                <c:pt idx="2">
                  <c:v>0.64687016</c:v>
                </c:pt>
                <c:pt idx="3">
                  <c:v>0.66322177</c:v>
                </c:pt>
                <c:pt idx="4">
                  <c:v>0.697304</c:v>
                </c:pt>
                <c:pt idx="5">
                  <c:v>0.71625865</c:v>
                </c:pt>
                <c:pt idx="6">
                  <c:v>0.73950005</c:v>
                </c:pt>
                <c:pt idx="7">
                  <c:v>0.75704473</c:v>
                </c:pt>
              </c:numCache>
            </c:numRef>
          </c:yVal>
        </c:ser>
        <c:ser>
          <c:idx val="4"/>
          <c:order val="4"/>
          <c:tx>
            <c:v>Random</c:v>
          </c:tx>
          <c:spPr>
            <a:ln xmlns:a="http://schemas.openxmlformats.org/drawingml/2006/main" w="28575">
              <a:solidFill>
                <a:srgbClr val="7B7D83"/>
              </a:solidFill>
            </a:ln>
          </c:spPr>
          <c:marker>
            <c:symbol val="circle"/>
            <c:size val="6"/>
            <c:spPr>
              <a:solidFill xmlns:a="http://schemas.openxmlformats.org/drawingml/2006/main">
                <a:srgbClr val="7B7D83"/>
              </a:solidFill>
            </c:spPr>
          </c:marker>
          <c:xVal>
            <c:numRef>
              <c:f>'Chart Data'!$I$2:$I$9</c:f>
              <c:numCache>
                <c:formatCode>General</c:formatCode>
                <c:ptCount val="8"/>
                <c:pt idx="0">
                  <c:v>0.05</c:v>
                </c:pt>
                <c:pt idx="1">
                  <c:v>0.1</c:v>
                </c:pt>
                <c:pt idx="2">
                  <c:v>0.2</c:v>
                </c:pt>
                <c:pt idx="3">
                  <c:v>0.3</c:v>
                </c:pt>
                <c:pt idx="4">
                  <c:v>0.5</c:v>
                </c:pt>
                <c:pt idx="5">
                  <c:v>0.75</c:v>
                </c:pt>
                <c:pt idx="6">
                  <c:v>1</c:v>
                </c:pt>
                <c:pt idx="7">
                  <c:v>1.25</c:v>
                </c:pt>
              </c:numCache>
            </c:numRef>
          </c:xVal>
          <c:yVal>
            <c:numRef>
              <c:f>'Chart Data'!$J$2:$J$9</c:f>
              <c:numCache>
                <c:formatCode>0.00</c:formatCode>
                <c:ptCount val="8"/>
                <c:pt idx="0">
                  <c:v>0.00395104</c:v>
                </c:pt>
                <c:pt idx="1">
                  <c:v>0.46821093</c:v>
                </c:pt>
                <c:pt idx="2">
                  <c:v>0.48471232</c:v>
                </c:pt>
                <c:pt idx="3">
                  <c:v>0.50454499</c:v>
                </c:pt>
                <c:pt idx="4">
                  <c:v>0.52074682</c:v>
                </c:pt>
                <c:pt idx="5">
                  <c:v>0.52281273</c:v>
                </c:pt>
                <c:pt idx="6">
                  <c:v>0.52281273</c:v>
                </c:pt>
                <c:pt idx="7">
                  <c:v>0.52281273</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Service utility</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Local reference budget fraction</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PILOT</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Data'!$A$2:$A$9</c:f>
              <c:numCache>
                <c:formatCode>General</c:formatCode>
                <c:ptCount val="8"/>
                <c:pt idx="0">
                  <c:v>0.05</c:v>
                </c:pt>
                <c:pt idx="1">
                  <c:v>0.1</c:v>
                </c:pt>
                <c:pt idx="2">
                  <c:v>0.2</c:v>
                </c:pt>
                <c:pt idx="3">
                  <c:v>0.3</c:v>
                </c:pt>
                <c:pt idx="4">
                  <c:v>0.5</c:v>
                </c:pt>
                <c:pt idx="5">
                  <c:v>0.75</c:v>
                </c:pt>
                <c:pt idx="6">
                  <c:v>1</c:v>
                </c:pt>
                <c:pt idx="7">
                  <c:v>1.25</c:v>
                </c:pt>
              </c:numCache>
            </c:numRef>
          </c:xVal>
          <c:yVal>
            <c:numRef>
              <c:f>'Chart Data'!$B$2:$B$9</c:f>
              <c:numCache>
                <c:formatCode>0.00</c:formatCode>
                <c:ptCount val="8"/>
                <c:pt idx="0">
                  <c:v>0.00235294</c:v>
                </c:pt>
                <c:pt idx="1">
                  <c:v>0.00444444</c:v>
                </c:pt>
                <c:pt idx="2">
                  <c:v>0.05490196</c:v>
                </c:pt>
                <c:pt idx="3">
                  <c:v>0.31215686</c:v>
                </c:pt>
                <c:pt idx="4">
                  <c:v>0.66745098</c:v>
                </c:pt>
                <c:pt idx="5">
                  <c:v>0.74352941</c:v>
                </c:pt>
                <c:pt idx="6">
                  <c:v>0.79267974</c:v>
                </c:pt>
                <c:pt idx="7">
                  <c:v>0.79660131</c:v>
                </c:pt>
              </c:numCache>
            </c:numRef>
          </c:yVal>
        </c:ser>
        <c:ser>
          <c:idx val="1"/>
          <c:order val="1"/>
          <c:tx>
            <c:v>LinUCB</c:v>
          </c:tx>
          <c:spPr>
            <a:ln xmlns:a="http://schemas.openxmlformats.org/drawingml/2006/main" w="28575">
              <a:solidFill>
                <a:srgbClr val="B94C35"/>
              </a:solidFill>
            </a:ln>
          </c:spPr>
          <c:marker>
            <c:symbol val="circle"/>
            <c:size val="6"/>
            <c:spPr>
              <a:solidFill xmlns:a="http://schemas.openxmlformats.org/drawingml/2006/main">
                <a:srgbClr val="B94C35"/>
              </a:solidFill>
            </c:spPr>
          </c:marker>
          <c:xVal>
            <c:numRef>
              <c:f>'Chart Data'!$C$2:$C$9</c:f>
              <c:numCache>
                <c:formatCode>General</c:formatCode>
                <c:ptCount val="8"/>
                <c:pt idx="0">
                  <c:v>0.05</c:v>
                </c:pt>
                <c:pt idx="1">
                  <c:v>0.1</c:v>
                </c:pt>
                <c:pt idx="2">
                  <c:v>0.2</c:v>
                </c:pt>
                <c:pt idx="3">
                  <c:v>0.3</c:v>
                </c:pt>
                <c:pt idx="4">
                  <c:v>0.5</c:v>
                </c:pt>
                <c:pt idx="5">
                  <c:v>0.75</c:v>
                </c:pt>
                <c:pt idx="6">
                  <c:v>1</c:v>
                </c:pt>
                <c:pt idx="7">
                  <c:v>1.25</c:v>
                </c:pt>
              </c:numCache>
            </c:numRef>
          </c:xVal>
          <c:yVal>
            <c:numRef>
              <c:f>'Chart Data'!$D$2:$D$9</c:f>
              <c:numCache>
                <c:formatCode>0.00</c:formatCode>
                <c:ptCount val="8"/>
                <c:pt idx="0">
                  <c:v>0.00392157</c:v>
                </c:pt>
                <c:pt idx="1">
                  <c:v>0.0075817</c:v>
                </c:pt>
                <c:pt idx="2">
                  <c:v>0.0779085</c:v>
                </c:pt>
                <c:pt idx="3">
                  <c:v>0.4854902</c:v>
                </c:pt>
                <c:pt idx="4">
                  <c:v>0.68784314</c:v>
                </c:pt>
                <c:pt idx="5">
                  <c:v>0.71372549</c:v>
                </c:pt>
                <c:pt idx="6">
                  <c:v>0.74875817</c:v>
                </c:pt>
                <c:pt idx="7">
                  <c:v>0.76444444</c:v>
                </c:pt>
              </c:numCache>
            </c:numRef>
          </c:yVal>
        </c:ser>
        <c:ser>
          <c:idx val="2"/>
          <c:order val="2"/>
          <c:tx>
            <c:v>ExploreOnly</c:v>
          </c:tx>
          <c:spPr>
            <a:ln xmlns:a="http://schemas.openxmlformats.org/drawingml/2006/main" w="28575">
              <a:solidFill>
                <a:srgbClr val="496BA4"/>
              </a:solidFill>
            </a:ln>
          </c:spPr>
          <c:marker>
            <c:symbol val="circle"/>
            <c:size val="6"/>
            <c:spPr>
              <a:solidFill xmlns:a="http://schemas.openxmlformats.org/drawingml/2006/main">
                <a:srgbClr val="496BA4"/>
              </a:solidFill>
            </c:spPr>
          </c:marker>
          <c:xVal>
            <c:numRef>
              <c:f>'Chart Data'!$E$2:$E$9</c:f>
              <c:numCache>
                <c:formatCode>General</c:formatCode>
                <c:ptCount val="8"/>
                <c:pt idx="0">
                  <c:v>0.05</c:v>
                </c:pt>
                <c:pt idx="1">
                  <c:v>0.1</c:v>
                </c:pt>
                <c:pt idx="2">
                  <c:v>0.2</c:v>
                </c:pt>
                <c:pt idx="3">
                  <c:v>0.3</c:v>
                </c:pt>
                <c:pt idx="4">
                  <c:v>0.5</c:v>
                </c:pt>
                <c:pt idx="5">
                  <c:v>0.75</c:v>
                </c:pt>
                <c:pt idx="6">
                  <c:v>1</c:v>
                </c:pt>
                <c:pt idx="7">
                  <c:v>1.25</c:v>
                </c:pt>
              </c:numCache>
            </c:numRef>
          </c:xVal>
          <c:yVal>
            <c:numRef>
              <c:f>'Chart Data'!$F$2:$F$9</c:f>
              <c:numCache>
                <c:formatCode>0.00</c:formatCode>
                <c:ptCount val="8"/>
                <c:pt idx="0">
                  <c:v>0.00575163</c:v>
                </c:pt>
                <c:pt idx="1">
                  <c:v>0.00705882</c:v>
                </c:pt>
                <c:pt idx="2">
                  <c:v>0.08052288</c:v>
                </c:pt>
                <c:pt idx="3">
                  <c:v>0.48418301</c:v>
                </c:pt>
                <c:pt idx="4">
                  <c:v>0.68993464</c:v>
                </c:pt>
                <c:pt idx="5">
                  <c:v>0.72052288</c:v>
                </c:pt>
                <c:pt idx="6">
                  <c:v>0.75764706</c:v>
                </c:pt>
                <c:pt idx="7">
                  <c:v>0.78169935</c:v>
                </c:pt>
              </c:numCache>
            </c:numRef>
          </c:yVal>
        </c:ser>
        <c:ser>
          <c:idx val="3"/>
          <c:order val="3"/>
          <c:tx>
            <c:v>EpochGreedy</c:v>
          </c:tx>
          <c:spPr>
            <a:ln xmlns:a="http://schemas.openxmlformats.org/drawingml/2006/main" w="28575">
              <a:solidFill>
                <a:srgbClr val="A67720"/>
              </a:solidFill>
            </a:ln>
          </c:spPr>
          <c:marker>
            <c:symbol val="circle"/>
            <c:size val="6"/>
            <c:spPr>
              <a:solidFill xmlns:a="http://schemas.openxmlformats.org/drawingml/2006/main">
                <a:srgbClr val="A67720"/>
              </a:solidFill>
            </c:spPr>
          </c:marker>
          <c:xVal>
            <c:numRef>
              <c:f>'Chart Data'!$G$2:$G$9</c:f>
              <c:numCache>
                <c:formatCode>General</c:formatCode>
                <c:ptCount val="8"/>
                <c:pt idx="0">
                  <c:v>0.05</c:v>
                </c:pt>
                <c:pt idx="1">
                  <c:v>0.1</c:v>
                </c:pt>
                <c:pt idx="2">
                  <c:v>0.2</c:v>
                </c:pt>
                <c:pt idx="3">
                  <c:v>0.3</c:v>
                </c:pt>
                <c:pt idx="4">
                  <c:v>0.5</c:v>
                </c:pt>
                <c:pt idx="5">
                  <c:v>0.75</c:v>
                </c:pt>
                <c:pt idx="6">
                  <c:v>1</c:v>
                </c:pt>
                <c:pt idx="7">
                  <c:v>1.25</c:v>
                </c:pt>
              </c:numCache>
            </c:numRef>
          </c:xVal>
          <c:yVal>
            <c:numRef>
              <c:f>'Chart Data'!$H$2:$H$9</c:f>
              <c:numCache>
                <c:formatCode>0.00</c:formatCode>
                <c:ptCount val="8"/>
                <c:pt idx="0">
                  <c:v>0.00392157</c:v>
                </c:pt>
                <c:pt idx="1">
                  <c:v>0.00732026</c:v>
                </c:pt>
                <c:pt idx="2">
                  <c:v>0.11084967</c:v>
                </c:pt>
                <c:pt idx="3">
                  <c:v>0.47764706</c:v>
                </c:pt>
                <c:pt idx="4">
                  <c:v>0.68183007</c:v>
                </c:pt>
                <c:pt idx="5">
                  <c:v>0.71424837</c:v>
                </c:pt>
                <c:pt idx="6">
                  <c:v>0.75294118</c:v>
                </c:pt>
                <c:pt idx="7">
                  <c:v>0.7751634</c:v>
                </c:pt>
              </c:numCache>
            </c:numRef>
          </c:yVal>
        </c:ser>
        <c:ser>
          <c:idx val="4"/>
          <c:order val="4"/>
          <c:tx>
            <c:v>Random</c:v>
          </c:tx>
          <c:spPr>
            <a:ln xmlns:a="http://schemas.openxmlformats.org/drawingml/2006/main" w="28575">
              <a:solidFill>
                <a:srgbClr val="7B7D83"/>
              </a:solidFill>
            </a:ln>
          </c:spPr>
          <c:marker>
            <c:symbol val="circle"/>
            <c:size val="6"/>
            <c:spPr>
              <a:solidFill xmlns:a="http://schemas.openxmlformats.org/drawingml/2006/main">
                <a:srgbClr val="7B7D83"/>
              </a:solidFill>
            </c:spPr>
          </c:marker>
          <c:xVal>
            <c:numRef>
              <c:f>'Chart Data'!$I$2:$I$9</c:f>
              <c:numCache>
                <c:formatCode>General</c:formatCode>
                <c:ptCount val="8"/>
                <c:pt idx="0">
                  <c:v>0.05</c:v>
                </c:pt>
                <c:pt idx="1">
                  <c:v>0.1</c:v>
                </c:pt>
                <c:pt idx="2">
                  <c:v>0.2</c:v>
                </c:pt>
                <c:pt idx="3">
                  <c:v>0.3</c:v>
                </c:pt>
                <c:pt idx="4">
                  <c:v>0.5</c:v>
                </c:pt>
                <c:pt idx="5">
                  <c:v>0.75</c:v>
                </c:pt>
                <c:pt idx="6">
                  <c:v>1</c:v>
                </c:pt>
                <c:pt idx="7">
                  <c:v>1.25</c:v>
                </c:pt>
              </c:numCache>
            </c:numRef>
          </c:xVal>
          <c:yVal>
            <c:numRef>
              <c:f>'Chart Data'!$J$2:$J$9</c:f>
              <c:numCache>
                <c:formatCode>0.00</c:formatCode>
                <c:ptCount val="8"/>
                <c:pt idx="0">
                  <c:v>0.00784314</c:v>
                </c:pt>
                <c:pt idx="1">
                  <c:v>0.01777778</c:v>
                </c:pt>
                <c:pt idx="2">
                  <c:v>0.42117647</c:v>
                </c:pt>
                <c:pt idx="3">
                  <c:v>0.43555556</c:v>
                </c:pt>
                <c:pt idx="4">
                  <c:v>0.46666667</c:v>
                </c:pt>
                <c:pt idx="5">
                  <c:v>0.4724183</c:v>
                </c:pt>
                <c:pt idx="6">
                  <c:v>0.47267974</c:v>
                </c:pt>
                <c:pt idx="7">
                  <c:v>0.47267974</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Service utility</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Local reference budget fraction</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PILOT</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Data'!$A$2:$A$5</c:f>
              <c:numCache>
                <c:formatCode>General</c:formatCode>
                <c:ptCount val="4"/>
                <c:pt idx="0">
                  <c:v>0.1</c:v>
                </c:pt>
                <c:pt idx="1">
                  <c:v>0.25</c:v>
                </c:pt>
                <c:pt idx="2">
                  <c:v>0.5</c:v>
                </c:pt>
                <c:pt idx="3">
                  <c:v>1</c:v>
                </c:pt>
              </c:numCache>
            </c:numRef>
          </c:xVal>
          <c:yVal>
            <c:numRef>
              <c:f>'Chart Data'!$B$2:$B$5</c:f>
              <c:numCache>
                <c:formatCode>0.00</c:formatCode>
                <c:ptCount val="4"/>
                <c:pt idx="0">
                  <c:v>0.65641979</c:v>
                </c:pt>
                <c:pt idx="1">
                  <c:v>0.66308233</c:v>
                </c:pt>
                <c:pt idx="2">
                  <c:v>0.66956409</c:v>
                </c:pt>
                <c:pt idx="3">
                  <c:v>0.67638157</c:v>
                </c:pt>
              </c:numCache>
            </c:numRef>
          </c:yVal>
        </c:ser>
        <c:ser>
          <c:idx val="1"/>
          <c:order val="1"/>
          <c:tx>
            <c:v>LinUCB</c:v>
          </c:tx>
          <c:spPr>
            <a:ln xmlns:a="http://schemas.openxmlformats.org/drawingml/2006/main" w="28575">
              <a:solidFill>
                <a:srgbClr val="B94C35"/>
              </a:solidFill>
            </a:ln>
          </c:spPr>
          <c:marker>
            <c:symbol val="circle"/>
            <c:size val="6"/>
            <c:spPr>
              <a:solidFill xmlns:a="http://schemas.openxmlformats.org/drawingml/2006/main">
                <a:srgbClr val="B94C35"/>
              </a:solidFill>
            </c:spPr>
          </c:marker>
          <c:xVal>
            <c:numRef>
              <c:f>'Chart Data'!$C$2:$C$5</c:f>
              <c:numCache>
                <c:formatCode>General</c:formatCode>
                <c:ptCount val="4"/>
                <c:pt idx="0">
                  <c:v>0.1</c:v>
                </c:pt>
                <c:pt idx="1">
                  <c:v>0.25</c:v>
                </c:pt>
                <c:pt idx="2">
                  <c:v>0.5</c:v>
                </c:pt>
                <c:pt idx="3">
                  <c:v>1</c:v>
                </c:pt>
              </c:numCache>
            </c:numRef>
          </c:xVal>
          <c:yVal>
            <c:numRef>
              <c:f>'Chart Data'!$D$2:$D$5</c:f>
              <c:numCache>
                <c:formatCode>0.00</c:formatCode>
                <c:ptCount val="4"/>
                <c:pt idx="0">
                  <c:v>0.69884309</c:v>
                </c:pt>
                <c:pt idx="1">
                  <c:v>0.69952484</c:v>
                </c:pt>
                <c:pt idx="2">
                  <c:v>0.70200393</c:v>
                </c:pt>
                <c:pt idx="3">
                  <c:v>0.70563991</c:v>
                </c:pt>
              </c:numCache>
            </c:numRef>
          </c:yVal>
        </c:ser>
        <c:ser>
          <c:idx val="2"/>
          <c:order val="2"/>
          <c:tx>
            <c:v>ExploreOnly</c:v>
          </c:tx>
          <c:spPr>
            <a:ln xmlns:a="http://schemas.openxmlformats.org/drawingml/2006/main" w="28575">
              <a:solidFill>
                <a:srgbClr val="496BA4"/>
              </a:solidFill>
            </a:ln>
          </c:spPr>
          <c:marker>
            <c:symbol val="circle"/>
            <c:size val="6"/>
            <c:spPr>
              <a:solidFill xmlns:a="http://schemas.openxmlformats.org/drawingml/2006/main">
                <a:srgbClr val="496BA4"/>
              </a:solidFill>
            </c:spPr>
          </c:marker>
          <c:xVal>
            <c:numRef>
              <c:f>'Chart Data'!$E$2:$E$5</c:f>
              <c:numCache>
                <c:formatCode>General</c:formatCode>
                <c:ptCount val="4"/>
                <c:pt idx="0">
                  <c:v>0.1</c:v>
                </c:pt>
                <c:pt idx="1">
                  <c:v>0.25</c:v>
                </c:pt>
                <c:pt idx="2">
                  <c:v>0.5</c:v>
                </c:pt>
                <c:pt idx="3">
                  <c:v>1</c:v>
                </c:pt>
              </c:numCache>
            </c:numRef>
          </c:xVal>
          <c:yVal>
            <c:numRef>
              <c:f>'Chart Data'!$F$2:$F$5</c:f>
              <c:numCache>
                <c:formatCode>0.00</c:formatCode>
                <c:ptCount val="4"/>
                <c:pt idx="0">
                  <c:v>0.69258858</c:v>
                </c:pt>
                <c:pt idx="1">
                  <c:v>0.69770168</c:v>
                </c:pt>
                <c:pt idx="2">
                  <c:v>0.70417312</c:v>
                </c:pt>
                <c:pt idx="3">
                  <c:v>0.70314534</c:v>
                </c:pt>
              </c:numCache>
            </c:numRef>
          </c:yVal>
        </c:ser>
        <c:axId val="48650112"/>
        <c:axId val="48672768"/>
      </c:scatterChart>
      <c:valAx>
        <c:axId val="48672768"/>
        <c:scaling>
          <c:orientation val="minMax"/>
          <c:max val="0.8"/>
          <c:min val="0.55"/>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Service utility at half budget</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Learning stream fraction</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PILOT</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Data'!$A$2:$A$5</c:f>
              <c:numCache>
                <c:formatCode>General</c:formatCode>
                <c:ptCount val="4"/>
                <c:pt idx="0">
                  <c:v>0.1</c:v>
                </c:pt>
                <c:pt idx="1">
                  <c:v>0.25</c:v>
                </c:pt>
                <c:pt idx="2">
                  <c:v>0.5</c:v>
                </c:pt>
                <c:pt idx="3">
                  <c:v>1</c:v>
                </c:pt>
              </c:numCache>
            </c:numRef>
          </c:xVal>
          <c:yVal>
            <c:numRef>
              <c:f>'Chart Data'!$B$2:$B$5</c:f>
              <c:numCache>
                <c:formatCode>0</c:formatCode>
                <c:ptCount val="4"/>
                <c:pt idx="0">
                  <c:v>514.4</c:v>
                </c:pt>
                <c:pt idx="1">
                  <c:v>1174.91666667</c:v>
                </c:pt>
                <c:pt idx="2">
                  <c:v>2218.8</c:v>
                </c:pt>
                <c:pt idx="3">
                  <c:v>4253.95</c:v>
                </c:pt>
              </c:numCache>
            </c:numRef>
          </c:yVal>
        </c:ser>
        <c:ser>
          <c:idx val="1"/>
          <c:order val="1"/>
          <c:tx>
            <c:v>LinUCB</c:v>
          </c:tx>
          <c:spPr>
            <a:ln xmlns:a="http://schemas.openxmlformats.org/drawingml/2006/main" w="28575">
              <a:solidFill>
                <a:srgbClr val="B94C35"/>
              </a:solidFill>
            </a:ln>
          </c:spPr>
          <c:marker>
            <c:symbol val="circle"/>
            <c:size val="6"/>
            <c:spPr>
              <a:solidFill xmlns:a="http://schemas.openxmlformats.org/drawingml/2006/main">
                <a:srgbClr val="B94C35"/>
              </a:solidFill>
            </c:spPr>
          </c:marker>
          <c:xVal>
            <c:numRef>
              <c:f>'Chart Data'!$C$2:$C$5</c:f>
              <c:numCache>
                <c:formatCode>General</c:formatCode>
                <c:ptCount val="4"/>
                <c:pt idx="0">
                  <c:v>0.1</c:v>
                </c:pt>
                <c:pt idx="1">
                  <c:v>0.25</c:v>
                </c:pt>
                <c:pt idx="2">
                  <c:v>0.5</c:v>
                </c:pt>
                <c:pt idx="3">
                  <c:v>1</c:v>
                </c:pt>
              </c:numCache>
            </c:numRef>
          </c:xVal>
          <c:yVal>
            <c:numRef>
              <c:f>'Chart Data'!$D$2:$D$5</c:f>
              <c:numCache>
                <c:formatCode>0</c:formatCode>
                <c:ptCount val="4"/>
                <c:pt idx="0">
                  <c:v>724.9</c:v>
                </c:pt>
                <c:pt idx="1">
                  <c:v>1862.6</c:v>
                </c:pt>
                <c:pt idx="2">
                  <c:v>3661.03333333</c:v>
                </c:pt>
                <c:pt idx="3">
                  <c:v>7234.36666667</c:v>
                </c:pt>
              </c:numCache>
            </c:numRef>
          </c:yVal>
        </c:ser>
        <c:ser>
          <c:idx val="2"/>
          <c:order val="2"/>
          <c:tx>
            <c:v>ExploreOnly</c:v>
          </c:tx>
          <c:spPr>
            <a:ln xmlns:a="http://schemas.openxmlformats.org/drawingml/2006/main" w="28575">
              <a:solidFill>
                <a:srgbClr val="496BA4"/>
              </a:solidFill>
            </a:ln>
          </c:spPr>
          <c:marker>
            <c:symbol val="circle"/>
            <c:size val="6"/>
            <c:spPr>
              <a:solidFill xmlns:a="http://schemas.openxmlformats.org/drawingml/2006/main">
                <a:srgbClr val="496BA4"/>
              </a:solidFill>
            </c:spPr>
          </c:marker>
          <c:xVal>
            <c:numRef>
              <c:f>'Chart Data'!$E$2:$E$5</c:f>
              <c:numCache>
                <c:formatCode>General</c:formatCode>
                <c:ptCount val="4"/>
                <c:pt idx="0">
                  <c:v>0.1</c:v>
                </c:pt>
                <c:pt idx="1">
                  <c:v>0.25</c:v>
                </c:pt>
                <c:pt idx="2">
                  <c:v>0.5</c:v>
                </c:pt>
                <c:pt idx="3">
                  <c:v>1</c:v>
                </c:pt>
              </c:numCache>
            </c:numRef>
          </c:xVal>
          <c:yVal>
            <c:numRef>
              <c:f>'Chart Data'!$F$2:$F$5</c:f>
              <c:numCache>
                <c:formatCode>0</c:formatCode>
                <c:ptCount val="4"/>
                <c:pt idx="0">
                  <c:v>1182.28333333</c:v>
                </c:pt>
                <c:pt idx="1">
                  <c:v>2913.06666667</c:v>
                </c:pt>
                <c:pt idx="2">
                  <c:v>5864.58333333</c:v>
                </c:pt>
                <c:pt idx="3">
                  <c:v>11793.7</c:v>
                </c:pt>
              </c:numCache>
            </c:numRef>
          </c:yVal>
        </c:ser>
        <c:axId val="48650112"/>
        <c:axId val="48672768"/>
      </c:scatterChart>
      <c:valAx>
        <c:axId val="48672768"/>
        <c:scaling>
          <c:orientation val="minMax"/>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Cumulative empirical oracle regret</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Learning stream fraction</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pilot-cosine</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Data'!$A$2:$A$8</c:f>
              <c:numCache>
                <c:formatCode>General</c:formatCode>
                <c:ptCount val="7"/>
                <c:pt idx="0">
                  <c:v>1</c:v>
                </c:pt>
                <c:pt idx="1">
                  <c:v>100</c:v>
                </c:pt>
                <c:pt idx="2">
                  <c:v>250</c:v>
                </c:pt>
                <c:pt idx="3">
                  <c:v>500</c:v>
                </c:pt>
                <c:pt idx="4">
                  <c:v>1000</c:v>
                </c:pt>
                <c:pt idx="5">
                  <c:v>1500</c:v>
                </c:pt>
                <c:pt idx="6">
                  <c:v>2000</c:v>
                </c:pt>
              </c:numCache>
            </c:numRef>
          </c:xVal>
          <c:yVal>
            <c:numRef>
              <c:f>'Chart Data'!$B$2:$B$8</c:f>
              <c:numCache>
                <c:formatCode>0</c:formatCode>
                <c:ptCount val="7"/>
                <c:pt idx="0">
                  <c:v>0.6</c:v>
                </c:pt>
                <c:pt idx="1">
                  <c:v>30</c:v>
                </c:pt>
                <c:pt idx="2">
                  <c:v>75</c:v>
                </c:pt>
                <c:pt idx="3">
                  <c:v>150</c:v>
                </c:pt>
                <c:pt idx="4">
                  <c:v>300</c:v>
                </c:pt>
                <c:pt idx="5">
                  <c:v>450</c:v>
                </c:pt>
                <c:pt idx="6">
                  <c:v>600</c:v>
                </c:pt>
              </c:numCache>
            </c:numRef>
          </c:yVal>
        </c:ser>
        <c:ser>
          <c:idx val="1"/>
          <c:order val="1"/>
          <c:tx>
            <c:v>linear-prior-control</c:v>
          </c:tx>
          <c:spPr>
            <a:ln xmlns:a="http://schemas.openxmlformats.org/drawingml/2006/main" w="28575">
              <a:solidFill>
                <a:srgbClr val="B94C35"/>
              </a:solidFill>
            </a:ln>
          </c:spPr>
          <c:marker>
            <c:symbol val="circle"/>
            <c:size val="6"/>
            <c:spPr>
              <a:solidFill xmlns:a="http://schemas.openxmlformats.org/drawingml/2006/main">
                <a:srgbClr val="B94C35"/>
              </a:solidFill>
            </c:spPr>
          </c:marker>
          <c:xVal>
            <c:numRef>
              <c:f>'Chart Data'!$C$2:$C$8</c:f>
              <c:numCache>
                <c:formatCode>General</c:formatCode>
                <c:ptCount val="7"/>
                <c:pt idx="0">
                  <c:v>1</c:v>
                </c:pt>
                <c:pt idx="1">
                  <c:v>100</c:v>
                </c:pt>
                <c:pt idx="2">
                  <c:v>250</c:v>
                </c:pt>
                <c:pt idx="3">
                  <c:v>500</c:v>
                </c:pt>
                <c:pt idx="4">
                  <c:v>1000</c:v>
                </c:pt>
                <c:pt idx="5">
                  <c:v>1500</c:v>
                </c:pt>
                <c:pt idx="6">
                  <c:v>2000</c:v>
                </c:pt>
              </c:numCache>
            </c:numRef>
          </c:xVal>
          <c:yVal>
            <c:numRef>
              <c:f>'Chart Data'!$D$2:$D$8</c:f>
              <c:numCache>
                <c:formatCode>0</c:formatCode>
                <c:ptCount val="7"/>
                <c:pt idx="0">
                  <c:v>0</c:v>
                </c:pt>
                <c:pt idx="1">
                  <c:v>1.2</c:v>
                </c:pt>
                <c:pt idx="2">
                  <c:v>1.2</c:v>
                </c:pt>
                <c:pt idx="3">
                  <c:v>1.2</c:v>
                </c:pt>
                <c:pt idx="4">
                  <c:v>1.2</c:v>
                </c:pt>
                <c:pt idx="5">
                  <c:v>1.2</c:v>
                </c:pt>
                <c:pt idx="6">
                  <c:v>1.2</c:v>
                </c:pt>
              </c:numCache>
            </c:numRef>
          </c:yVal>
        </c:ser>
        <c:axId val="48650112"/>
        <c:axId val="48672768"/>
      </c:scatterChart>
      <c:valAx>
        <c:axId val="48672768"/>
        <c:scaling>
          <c:orientation val="minMax"/>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Cumulative regret</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Learning rounds (synthetic)</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Main PILOT; 48 conditions</c:v>
          </c:tx>
          <c:spPr>
            <a:ln xmlns:a="http://schemas.openxmlformats.org/drawingml/2006/main" w="28575">
              <a:solidFill>
                <a:srgbClr val="096C72"/>
              </a:solidFill>
            </a:ln>
          </c:spPr>
          <c:marker>
            <c:symbol val="circle"/>
            <c:size val="6"/>
            <c:spPr>
              <a:solidFill xmlns:a="http://schemas.openxmlformats.org/drawingml/2006/main">
                <a:srgbClr val="096C72"/>
              </a:solidFill>
            </c:spPr>
          </c:marker>
          <c:xVal>
            <c:numRef>
              <c:f>'Chart Data'!$A$2:$A$7</c:f>
              <c:numCache>
                <c:formatCode>General</c:formatCode>
                <c:ptCount val="6"/>
                <c:pt idx="0">
                  <c:v>0.8</c:v>
                </c:pt>
                <c:pt idx="1">
                  <c:v>1</c:v>
                </c:pt>
                <c:pt idx="2">
                  <c:v>1.1</c:v>
                </c:pt>
                <c:pt idx="3">
                  <c:v>1.25</c:v>
                </c:pt>
                <c:pt idx="4">
                  <c:v>1.5</c:v>
                </c:pt>
                <c:pt idx="5">
                  <c:v>2</c:v>
                </c:pt>
              </c:numCache>
            </c:numRef>
          </c:xVal>
          <c:yVal>
            <c:numRef>
              <c:f>'Chart Data'!$B$2:$B$7</c:f>
              <c:numCache>
                <c:formatCode>0</c:formatCode>
                <c:ptCount val="6"/>
                <c:pt idx="0">
                  <c:v>0</c:v>
                </c:pt>
                <c:pt idx="1">
                  <c:v>0</c:v>
                </c:pt>
                <c:pt idx="2">
                  <c:v>52.08333333</c:v>
                </c:pt>
                <c:pt idx="3">
                  <c:v>56.25</c:v>
                </c:pt>
                <c:pt idx="4">
                  <c:v>64.58333333</c:v>
                </c:pt>
                <c:pt idx="5">
                  <c:v>64.58333333</c:v>
                </c:pt>
              </c:numCache>
            </c:numRef>
          </c:yVal>
        </c:ser>
        <c:axId val="48650112"/>
        <c:axId val="48672768"/>
      </c:scatterChart>
      <c:valAx>
        <c:axId val="48672768"/>
        <c:scaling>
          <c:orientation val="minMax"/>
          <c:max val="100"/>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350">
                    <a:solidFill>
                      <a:srgbClr val="172D35"/>
                    </a:solidFill>
                  </a:rPr>
                  <a:t>Conditions over budget (%)</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172D35"/>
                    </a:solidFill>
                  </a:rPr>
                  <a:t>Multiplier on recorded costs</a:t>
                </a:r>
              </a:p>
            </c:rich>
          </c:tx>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66D"/>
                </a:solidFill>
              </a:defRPr>
            </a:pPr>
          </a:p>
        </c:txPr>
        <c:crossAx val="48672768"/>
      </c:valAx>
      <c:spPr>
        <a:solidFill xmlns:a="http://schemas.openxmlformats.org/drawingml/2006/main">
          <a:srgbClr val="F8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2D35"/>
              </a:solidFill>
            </a:defRPr>
          </a:pPr>
        </a:p>
      </c:txPr>
    </c:legend>
    <c:plotVisOnly val="1"/>
  </c:chart>
  <c:spPr>
    <a:solidFill xmlns:a="http://schemas.openxmlformats.org/drawingml/2006/main">
      <a:srgbClr val="F8FA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9" name="TEAM 8 · INTRODUCTION TO MACHINE LEARNING">
            <a:extLst xmlns:a="http://schemas.openxmlformats.org/drawingml/2006/main">
              <a:ext uri="{FF2B5EF4-FFF2-40B4-BE49-F238E27FC236}">
                <a16:creationId xmlns:a16="http://schemas.microsoft.com/office/drawing/2014/main" id="{30C29A23-FCCA-4120-B5F7-E03500CD1F2C}"/>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TEAM 8 · INTRODUCTION TO MACHINE LEARNING</a:t>
            </a:r>
          </a:p>
        </p:txBody>
      </p:sp>
      <p:sp>
        <p:nvSpPr>
          <p:cNvPr id="2" name="PILOT: routing LLMs under a budget">
            <a:extLst xmlns:a="http://schemas.openxmlformats.org/drawingml/2006/main">
              <a:ext uri="{FF2B5EF4-FFF2-40B4-BE49-F238E27FC236}">
                <a16:creationId xmlns:a16="http://schemas.microsoft.com/office/drawing/2014/main" id="{6B7B2197-5C5D-47A5-AFF2-ABA8EEA92D0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PILOT: routing LLMs under a budget</a:t>
            </a:r>
          </a:p>
        </p:txBody>
      </p:sp>
      <p:sp>
        <p:nvSpPr>
          <p:cNvPr id="3" name="">
            <a:extLst xmlns:a="http://schemas.openxmlformats.org/drawingml/2006/main">
              <a:ext uri="{FF2B5EF4-FFF2-40B4-BE49-F238E27FC236}">
                <a16:creationId xmlns:a16="http://schemas.microsoft.com/office/drawing/2014/main" id="{AAE2F3F9-7622-45C8-AB16-A5583DF3483B}"/>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A99BC944-2F0E-4322-821F-036F5DF7DE22}"/>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01">
            <a:extLst xmlns:a="http://schemas.openxmlformats.org/drawingml/2006/main">
              <a:ext uri="{FF2B5EF4-FFF2-40B4-BE49-F238E27FC236}">
                <a16:creationId xmlns:a16="http://schemas.microsoft.com/office/drawing/2014/main" id="{90A863D8-8F89-4696-9CB4-E024597664D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01</a:t>
            </a:r>
          </a:p>
        </p:txBody>
      </p:sp>
      <p:sp>
        <p:nvSpPr>
          <p:cNvPr id="6" name="From preference priors to bandit feedback&#10;and controlled dep">
            <a:extLst xmlns:a="http://schemas.openxmlformats.org/drawingml/2006/main">
              <a:ext uri="{FF2B5EF4-FFF2-40B4-BE49-F238E27FC236}">
                <a16:creationId xmlns:a16="http://schemas.microsoft.com/office/drawing/2014/main" id="{A58E73E3-EBBD-4F19-A16A-3E711C1DA54D}"/>
              </a:ext>
            </a:extLst>
          </p:cNvPr>
          <p:cNvSpPr>
            <a:spLocks xmlns:a="http://schemas.openxmlformats.org/drawingml/2006/main" noGrp="1"/>
          </p:cNvSpPr>
          <p:nvPr/>
        </p:nvSpPr>
        <p:spPr>
          <a:xfrm xmlns:a="http://schemas.openxmlformats.org/drawingml/2006/main">
            <a:off x="571500" y="2028825"/>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1">
                <a:solidFill>
                  <a:srgbClr val="096C72"/>
                </a:solidFill>
                <a:latin typeface="Arial"/>
                <a:ea typeface="Arial"/>
                <a:cs typeface="Arial"/>
              </a:defRPr>
            </a:defPPr>
            <a:lvl1pPr>
              <a:defRPr sz="3075" b="1">
                <a:solidFill>
                  <a:srgbClr val="096C72"/>
                </a:solidFill>
                <a:latin typeface="Arial"/>
                <a:ea typeface="Arial"/>
                <a:cs typeface="Arial"/>
              </a:defRPr>
            </a:lvl1pPr>
            <a:lvl2pPr>
              <a:defRPr sz="3075" b="1">
                <a:solidFill>
                  <a:srgbClr val="096C72"/>
                </a:solidFill>
                <a:latin typeface="Arial"/>
                <a:ea typeface="Arial"/>
                <a:cs typeface="Arial"/>
              </a:defRPr>
            </a:lvl2pPr>
            <a:lvl3pPr>
              <a:defRPr sz="3075" b="1">
                <a:solidFill>
                  <a:srgbClr val="096C72"/>
                </a:solidFill>
                <a:latin typeface="Arial"/>
                <a:ea typeface="Arial"/>
                <a:cs typeface="Arial"/>
              </a:defRPr>
            </a:lvl3pPr>
            <a:lvl4pPr>
              <a:defRPr sz="3075" b="1">
                <a:solidFill>
                  <a:srgbClr val="096C72"/>
                </a:solidFill>
                <a:latin typeface="Arial"/>
                <a:ea typeface="Arial"/>
                <a:cs typeface="Arial"/>
              </a:defRPr>
            </a:lvl4pPr>
            <a:lvl5pPr>
              <a:defRPr sz="3075" b="1">
                <a:solidFill>
                  <a:srgbClr val="096C72"/>
                </a:solidFill>
                <a:latin typeface="Arial"/>
                <a:ea typeface="Arial"/>
                <a:cs typeface="Arial"/>
              </a:defRPr>
            </a:lvl5pPr>
            <a:lvl6pPr>
              <a:defRPr sz="3075" b="1">
                <a:solidFill>
                  <a:srgbClr val="096C72"/>
                </a:solidFill>
                <a:latin typeface="Arial"/>
                <a:ea typeface="Arial"/>
                <a:cs typeface="Arial"/>
              </a:defRPr>
            </a:lvl6pPr>
            <a:lvl7pPr>
              <a:defRPr sz="3075" b="1">
                <a:solidFill>
                  <a:srgbClr val="096C72"/>
                </a:solidFill>
                <a:latin typeface="Arial"/>
                <a:ea typeface="Arial"/>
                <a:cs typeface="Arial"/>
              </a:defRPr>
            </a:lvl7pPr>
            <a:lvl8pPr>
              <a:defRPr sz="3075" b="1">
                <a:solidFill>
                  <a:srgbClr val="096C72"/>
                </a:solidFill>
                <a:latin typeface="Arial"/>
                <a:ea typeface="Arial"/>
                <a:cs typeface="Arial"/>
              </a:defRPr>
            </a:lvl8pPr>
            <a:lvl9pPr>
              <a:defRPr sz="3075" b="1">
                <a:solidFill>
                  <a:srgbClr val="096C72"/>
                </a:solidFill>
                <a:latin typeface="Arial"/>
                <a:ea typeface="Arial"/>
                <a:cs typeface="Arial"/>
              </a:defRPr>
            </a:lvl9pPr>
          </a:lstStyle>
          <a:p xmlns:a="http://schemas.openxmlformats.org/drawingml/2006/main">
            <a:pPr>
              <a:defRPr sz="3075" b="1">
                <a:solidFill>
                  <a:srgbClr val="096C72"/>
                </a:solidFill>
                <a:latin typeface="Arial"/>
                <a:ea typeface="Arial"/>
                <a:cs typeface="Arial"/>
              </a:defRPr>
            </a:pPr>
            <a:r>
              <a:rPr sz="3075" b="1">
                <a:solidFill>
                  <a:srgbClr val="096C72"/>
                </a:solidFill>
                <a:latin typeface="Arial"/>
                <a:ea typeface="Arial"/>
                <a:cs typeface="Arial"/>
              </a:rPr>
              <a:t>From preference priors to bandit feedback</a:t>
            </a:r>
          </a:p>
          <a:p xmlns:a="http://schemas.openxmlformats.org/drawingml/2006/main">
            <a:pPr>
              <a:defRPr sz="3075" b="1">
                <a:solidFill>
                  <a:srgbClr val="096C72"/>
                </a:solidFill>
                <a:latin typeface="Arial"/>
                <a:ea typeface="Arial"/>
                <a:cs typeface="Arial"/>
              </a:defRPr>
            </a:pPr>
            <a:r>
              <a:rPr sz="3075" b="1">
                <a:solidFill>
                  <a:srgbClr val="096C72"/>
                </a:solidFill>
                <a:latin typeface="Arial"/>
                <a:ea typeface="Arial"/>
                <a:cs typeface="Arial"/>
              </a:rPr>
              <a:t>and controlled deployment</a:t>
            </a:r>
          </a:p>
        </p:txBody>
      </p:sp>
      <p:sp>
        <p:nvSpPr>
          <p:cNvPr id="7" name="Thái Kiệt  •  Trần Lê Hải&#10;HCMUS · 24KHMT1 · 2026–2027">
            <a:extLst xmlns:a="http://schemas.openxmlformats.org/drawingml/2006/main">
              <a:ext uri="{FF2B5EF4-FFF2-40B4-BE49-F238E27FC236}">
                <a16:creationId xmlns:a16="http://schemas.microsoft.com/office/drawing/2014/main" id="{A0AF32B9-F40B-4BC5-814C-A46348296607}"/>
              </a:ext>
            </a:extLst>
          </p:cNvPr>
          <p:cNvSpPr>
            <a:spLocks xmlns:a="http://schemas.openxmlformats.org/drawingml/2006/main" noGrp="1"/>
          </p:cNvSpPr>
          <p:nvPr/>
        </p:nvSpPr>
        <p:spPr>
          <a:xfrm xmlns:a="http://schemas.openxmlformats.org/drawingml/2006/main">
            <a:off x="590550" y="4048125"/>
            <a:ext cx="1000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Thái Kiệt  •  Trần Lê Hải</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HCMUS · 24KHMT1 · 2026–2027</a:t>
            </a:r>
          </a:p>
        </p:txBody>
      </p:sp>
      <p:sp>
        <p:nvSpPr>
          <p:cNvPr id="8" name="Core reproduction + critical analysis  |  Evidence frozen 29">
            <a:extLst xmlns:a="http://schemas.openxmlformats.org/drawingml/2006/main">
              <a:ext uri="{FF2B5EF4-FFF2-40B4-BE49-F238E27FC236}">
                <a16:creationId xmlns:a16="http://schemas.microsoft.com/office/drawing/2014/main" id="{CE5D8C86-1D59-4B84-83E9-D0DF26DF9BC7}"/>
              </a:ext>
            </a:extLst>
          </p:cNvPr>
          <p:cNvSpPr>
            <a:spLocks xmlns:a="http://schemas.openxmlformats.org/drawingml/2006/main" noGrp="1"/>
          </p:cNvSpPr>
          <p:nvPr/>
        </p:nvSpPr>
        <p:spPr>
          <a:xfrm xmlns:a="http://schemas.openxmlformats.org/drawingml/2006/main">
            <a:off x="590550" y="5486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66D"/>
                </a:solidFill>
                <a:latin typeface="Arial"/>
                <a:ea typeface="Arial"/>
                <a:cs typeface="Arial"/>
              </a:defRPr>
            </a:defPPr>
            <a:lvl1pPr>
              <a:defRPr sz="1575" b="0">
                <a:solidFill>
                  <a:srgbClr val="53666D"/>
                </a:solidFill>
                <a:latin typeface="Arial"/>
                <a:ea typeface="Arial"/>
                <a:cs typeface="Arial"/>
              </a:defRPr>
            </a:lvl1pPr>
            <a:lvl2pPr>
              <a:defRPr sz="1575" b="0">
                <a:solidFill>
                  <a:srgbClr val="53666D"/>
                </a:solidFill>
                <a:latin typeface="Arial"/>
                <a:ea typeface="Arial"/>
                <a:cs typeface="Arial"/>
              </a:defRPr>
            </a:lvl2pPr>
            <a:lvl3pPr>
              <a:defRPr sz="1575" b="0">
                <a:solidFill>
                  <a:srgbClr val="53666D"/>
                </a:solidFill>
                <a:latin typeface="Arial"/>
                <a:ea typeface="Arial"/>
                <a:cs typeface="Arial"/>
              </a:defRPr>
            </a:lvl3pPr>
            <a:lvl4pPr>
              <a:defRPr sz="1575" b="0">
                <a:solidFill>
                  <a:srgbClr val="53666D"/>
                </a:solidFill>
                <a:latin typeface="Arial"/>
                <a:ea typeface="Arial"/>
                <a:cs typeface="Arial"/>
              </a:defRPr>
            </a:lvl4pPr>
            <a:lvl5pPr>
              <a:defRPr sz="1575" b="0">
                <a:solidFill>
                  <a:srgbClr val="53666D"/>
                </a:solidFill>
                <a:latin typeface="Arial"/>
                <a:ea typeface="Arial"/>
                <a:cs typeface="Arial"/>
              </a:defRPr>
            </a:lvl5pPr>
            <a:lvl6pPr>
              <a:defRPr sz="1575" b="0">
                <a:solidFill>
                  <a:srgbClr val="53666D"/>
                </a:solidFill>
                <a:latin typeface="Arial"/>
                <a:ea typeface="Arial"/>
                <a:cs typeface="Arial"/>
              </a:defRPr>
            </a:lvl6pPr>
            <a:lvl7pPr>
              <a:defRPr sz="1575" b="0">
                <a:solidFill>
                  <a:srgbClr val="53666D"/>
                </a:solidFill>
                <a:latin typeface="Arial"/>
                <a:ea typeface="Arial"/>
                <a:cs typeface="Arial"/>
              </a:defRPr>
            </a:lvl7pPr>
            <a:lvl8pPr>
              <a:defRPr sz="1575" b="0">
                <a:solidFill>
                  <a:srgbClr val="53666D"/>
                </a:solidFill>
                <a:latin typeface="Arial"/>
                <a:ea typeface="Arial"/>
                <a:cs typeface="Arial"/>
              </a:defRPr>
            </a:lvl8pPr>
            <a:lvl9pPr>
              <a:defRPr sz="1575" b="0">
                <a:solidFill>
                  <a:srgbClr val="53666D"/>
                </a:solidFill>
                <a:latin typeface="Arial"/>
                <a:ea typeface="Arial"/>
                <a:cs typeface="Arial"/>
              </a:defRPr>
            </a:lvl9pPr>
          </a:lstStyle>
          <a:p xmlns:a="http://schemas.openxmlformats.org/drawingml/2006/main">
            <a:pPr>
              <a:defRPr sz="1575" b="0">
                <a:solidFill>
                  <a:srgbClr val="53666D"/>
                </a:solidFill>
                <a:latin typeface="Arial"/>
                <a:ea typeface="Arial"/>
                <a:cs typeface="Arial"/>
              </a:defRPr>
            </a:pPr>
            <a:r>
              <a:rPr sz="1575" b="0">
                <a:solidFill>
                  <a:srgbClr val="53666D"/>
                </a:solidFill>
                <a:latin typeface="Arial"/>
                <a:ea typeface="Arial"/>
                <a:cs typeface="Arial"/>
              </a:rPr>
              <a:t>Core reproduction + critical analysis  |  Evidence frozen 29–30 Oct. 2026</a:t>
            </a:r>
          </a:p>
        </p:txBody>
      </p:sp>
    </p:spTree>
    <p:extLst>
      <p:ext uri="{BB962C8B-B14F-4D97-AF65-F5344CB8AC3E}">
        <p14:creationId xmlns:p14="http://schemas.microsoft.com/office/powerpoint/2010/main" val="121079122"/>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STUDY IN THREE FINDINGS">
            <a:extLst xmlns:a="http://schemas.openxmlformats.org/drawingml/2006/main">
              <a:ext uri="{FF2B5EF4-FFF2-40B4-BE49-F238E27FC236}">
                <a16:creationId xmlns:a16="http://schemas.microsoft.com/office/drawing/2014/main" id="{A16383A6-3525-41EB-BEA8-F6978865C47B}"/>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STUDY IN THREE FINDINGS</a:t>
            </a:r>
          </a:p>
        </p:txBody>
      </p:sp>
      <p:sp>
        <p:nvSpPr>
          <p:cNvPr id="2" name="The result is useful — and qualified">
            <a:extLst xmlns:a="http://schemas.openxmlformats.org/drawingml/2006/main">
              <a:ext uri="{FF2B5EF4-FFF2-40B4-BE49-F238E27FC236}">
                <a16:creationId xmlns:a16="http://schemas.microsoft.com/office/drawing/2014/main" id="{1D456AFA-8080-45D3-8F74-C68863BE2B05}"/>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The result is useful — and qualified</a:t>
            </a:r>
          </a:p>
        </p:txBody>
      </p:sp>
      <p:sp>
        <p:nvSpPr>
          <p:cNvPr id="3" name="">
            <a:extLst xmlns:a="http://schemas.openxmlformats.org/drawingml/2006/main">
              <a:ext uri="{FF2B5EF4-FFF2-40B4-BE49-F238E27FC236}">
                <a16:creationId xmlns:a16="http://schemas.microsoft.com/office/drawing/2014/main" id="{CCB2B09A-12B4-4981-A45F-B8D6F0669E5B}"/>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93B7727D-7A73-41F1-B47C-CF224E11B0C7}"/>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[5] Team 8, course supplement, analysis/analysis.json, 30 Oct. 2026. Protocol and source hashes retained; W&amp;B links pending.</a:t>
            </a:r>
          </a:p>
        </p:txBody>
      </p:sp>
      <p:sp>
        <p:nvSpPr>
          <p:cNvPr id="5" name="02">
            <a:extLst xmlns:a="http://schemas.openxmlformats.org/drawingml/2006/main">
              <a:ext uri="{FF2B5EF4-FFF2-40B4-BE49-F238E27FC236}">
                <a16:creationId xmlns:a16="http://schemas.microsoft.com/office/drawing/2014/main" id="{F6375334-B957-4186-A9BE-D60124E2093A}"/>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5B553683-8DF0-4B0F-8B69-F678C5CFE34B}"/>
              </a:ext>
            </a:extLst>
          </p:cNvPr>
          <p:cNvSpPr>
            <a:spLocks xmlns:a="http://schemas.openxmlformats.org/drawingml/2006/main" noGrp="1"/>
          </p:cNvSpPr>
          <p:nvPr/>
        </p:nvSpPr>
        <p:spPr>
          <a:xfrm xmlns:a="http://schemas.openxmlformats.org/drawingml/2006/main">
            <a:off x="590550" y="18669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Completed: 1,098 deployment conditions, eight arms, three se">
            <a:extLst xmlns:a="http://schemas.openxmlformats.org/drawingml/2006/main">
              <a:ext uri="{FF2B5EF4-FFF2-40B4-BE49-F238E27FC236}">
                <a16:creationId xmlns:a16="http://schemas.microsoft.com/office/drawing/2014/main" id="{CCA75679-81D8-4AEA-93CB-57C266B0FD60}"/>
              </a:ext>
            </a:extLst>
          </p:cNvPr>
          <p:cNvSpPr>
            <a:spLocks xmlns:a="http://schemas.openxmlformats.org/drawingml/2006/main" noGrp="1"/>
          </p:cNvSpPr>
          <p:nvPr/>
        </p:nvSpPr>
        <p:spPr>
          <a:xfrm xmlns:a="http://schemas.openxmlformats.org/drawingml/2006/main">
            <a:off x="1257300" y="1866900"/>
            <a:ext cx="9906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D35"/>
                </a:solidFill>
                <a:latin typeface="Arial"/>
                <a:ea typeface="Arial"/>
                <a:cs typeface="Arial"/>
              </a:defRPr>
            </a:defPPr>
            <a:lvl1pPr>
              <a:defRPr sz="2250" b="0">
                <a:solidFill>
                  <a:srgbClr val="172D35"/>
                </a:solidFill>
                <a:latin typeface="Arial"/>
                <a:ea typeface="Arial"/>
                <a:cs typeface="Arial"/>
              </a:defRPr>
            </a:lvl1pPr>
            <a:lvl2pPr>
              <a:defRPr sz="2250" b="0">
                <a:solidFill>
                  <a:srgbClr val="172D35"/>
                </a:solidFill>
                <a:latin typeface="Arial"/>
                <a:ea typeface="Arial"/>
                <a:cs typeface="Arial"/>
              </a:defRPr>
            </a:lvl2pPr>
            <a:lvl3pPr>
              <a:defRPr sz="2250" b="0">
                <a:solidFill>
                  <a:srgbClr val="172D35"/>
                </a:solidFill>
                <a:latin typeface="Arial"/>
                <a:ea typeface="Arial"/>
                <a:cs typeface="Arial"/>
              </a:defRPr>
            </a:lvl3pPr>
            <a:lvl4pPr>
              <a:defRPr sz="2250" b="0">
                <a:solidFill>
                  <a:srgbClr val="172D35"/>
                </a:solidFill>
                <a:latin typeface="Arial"/>
                <a:ea typeface="Arial"/>
                <a:cs typeface="Arial"/>
              </a:defRPr>
            </a:lvl4pPr>
            <a:lvl5pPr>
              <a:defRPr sz="2250" b="0">
                <a:solidFill>
                  <a:srgbClr val="172D35"/>
                </a:solidFill>
                <a:latin typeface="Arial"/>
                <a:ea typeface="Arial"/>
                <a:cs typeface="Arial"/>
              </a:defRPr>
            </a:lvl5pPr>
            <a:lvl6pPr>
              <a:defRPr sz="2250" b="0">
                <a:solidFill>
                  <a:srgbClr val="172D35"/>
                </a:solidFill>
                <a:latin typeface="Arial"/>
                <a:ea typeface="Arial"/>
                <a:cs typeface="Arial"/>
              </a:defRPr>
            </a:lvl6pPr>
            <a:lvl7pPr>
              <a:defRPr sz="2250" b="0">
                <a:solidFill>
                  <a:srgbClr val="172D35"/>
                </a:solidFill>
                <a:latin typeface="Arial"/>
                <a:ea typeface="Arial"/>
                <a:cs typeface="Arial"/>
              </a:defRPr>
            </a:lvl7pPr>
            <a:lvl8pPr>
              <a:defRPr sz="2250" b="0">
                <a:solidFill>
                  <a:srgbClr val="172D35"/>
                </a:solidFill>
                <a:latin typeface="Arial"/>
                <a:ea typeface="Arial"/>
                <a:cs typeface="Arial"/>
              </a:defRPr>
            </a:lvl8pPr>
            <a:lvl9pPr>
              <a:defRPr sz="2250" b="0">
                <a:solidFill>
                  <a:srgbClr val="172D35"/>
                </a:solidFill>
                <a:latin typeface="Arial"/>
                <a:ea typeface="Arial"/>
                <a:cs typeface="Arial"/>
              </a:defRPr>
            </a:lvl9pPr>
          </a:lstStyle>
          <a:p xmlns:a="http://schemas.openxmlformats.org/drawingml/2006/main">
            <a:pPr>
              <a:defRPr sz="2250" b="0">
                <a:solidFill>
                  <a:srgbClr val="172D35"/>
                </a:solidFill>
                <a:latin typeface="Arial"/>
                <a:ea typeface="Arial"/>
                <a:cs typeface="Arial"/>
              </a:defRPr>
            </a:pPr>
            <a:r>
              <a:rPr sz="2250" b="0">
                <a:solidFill>
                  <a:srgbClr val="172D35"/>
                </a:solidFill>
                <a:latin typeface="Arial"/>
                <a:ea typeface="Arial"/>
                <a:cs typeface="Arial"/>
              </a:rPr>
              <a:t>Completed: 1,098 deployment conditions, eight arms, three seeds.</a:t>
            </a:r>
          </a:p>
        </p:txBody>
      </p:sp>
      <p:sp>
        <p:nvSpPr>
          <p:cNvPr id="8" name="02">
            <a:extLst xmlns:a="http://schemas.openxmlformats.org/drawingml/2006/main">
              <a:ext uri="{FF2B5EF4-FFF2-40B4-BE49-F238E27FC236}">
                <a16:creationId xmlns:a16="http://schemas.microsoft.com/office/drawing/2014/main" id="{B3E2E53A-4792-4F62-B4D7-5686CCFDEB0F}"/>
              </a:ext>
            </a:extLst>
          </p:cNvPr>
          <p:cNvSpPr>
            <a:spLocks xmlns:a="http://schemas.openxmlformats.org/drawingml/2006/main" noGrp="1"/>
          </p:cNvSpPr>
          <p:nvPr/>
        </p:nvSpPr>
        <p:spPr>
          <a:xfrm xmlns:a="http://schemas.openxmlformats.org/drawingml/2006/main">
            <a:off x="590550" y="31051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Observed: PILOT trails the best local bandit at half budget.">
            <a:extLst xmlns:a="http://schemas.openxmlformats.org/drawingml/2006/main">
              <a:ext uri="{FF2B5EF4-FFF2-40B4-BE49-F238E27FC236}">
                <a16:creationId xmlns:a16="http://schemas.microsoft.com/office/drawing/2014/main" id="{6ECD25DF-2CDB-47A2-BEB5-56CD45982C1C}"/>
              </a:ext>
            </a:extLst>
          </p:cNvPr>
          <p:cNvSpPr>
            <a:spLocks xmlns:a="http://schemas.openxmlformats.org/drawingml/2006/main" noGrp="1"/>
          </p:cNvSpPr>
          <p:nvPr/>
        </p:nvSpPr>
        <p:spPr>
          <a:xfrm xmlns:a="http://schemas.openxmlformats.org/drawingml/2006/main">
            <a:off x="1257300" y="3105150"/>
            <a:ext cx="9906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D35"/>
                </a:solidFill>
                <a:latin typeface="Arial"/>
                <a:ea typeface="Arial"/>
                <a:cs typeface="Arial"/>
              </a:defRPr>
            </a:defPPr>
            <a:lvl1pPr>
              <a:defRPr sz="2250" b="0">
                <a:solidFill>
                  <a:srgbClr val="172D35"/>
                </a:solidFill>
                <a:latin typeface="Arial"/>
                <a:ea typeface="Arial"/>
                <a:cs typeface="Arial"/>
              </a:defRPr>
            </a:lvl1pPr>
            <a:lvl2pPr>
              <a:defRPr sz="2250" b="0">
                <a:solidFill>
                  <a:srgbClr val="172D35"/>
                </a:solidFill>
                <a:latin typeface="Arial"/>
                <a:ea typeface="Arial"/>
                <a:cs typeface="Arial"/>
              </a:defRPr>
            </a:lvl2pPr>
            <a:lvl3pPr>
              <a:defRPr sz="2250" b="0">
                <a:solidFill>
                  <a:srgbClr val="172D35"/>
                </a:solidFill>
                <a:latin typeface="Arial"/>
                <a:ea typeface="Arial"/>
                <a:cs typeface="Arial"/>
              </a:defRPr>
            </a:lvl3pPr>
            <a:lvl4pPr>
              <a:defRPr sz="2250" b="0">
                <a:solidFill>
                  <a:srgbClr val="172D35"/>
                </a:solidFill>
                <a:latin typeface="Arial"/>
                <a:ea typeface="Arial"/>
                <a:cs typeface="Arial"/>
              </a:defRPr>
            </a:lvl4pPr>
            <a:lvl5pPr>
              <a:defRPr sz="2250" b="0">
                <a:solidFill>
                  <a:srgbClr val="172D35"/>
                </a:solidFill>
                <a:latin typeface="Arial"/>
                <a:ea typeface="Arial"/>
                <a:cs typeface="Arial"/>
              </a:defRPr>
            </a:lvl5pPr>
            <a:lvl6pPr>
              <a:defRPr sz="2250" b="0">
                <a:solidFill>
                  <a:srgbClr val="172D35"/>
                </a:solidFill>
                <a:latin typeface="Arial"/>
                <a:ea typeface="Arial"/>
                <a:cs typeface="Arial"/>
              </a:defRPr>
            </a:lvl6pPr>
            <a:lvl7pPr>
              <a:defRPr sz="2250" b="0">
                <a:solidFill>
                  <a:srgbClr val="172D35"/>
                </a:solidFill>
                <a:latin typeface="Arial"/>
                <a:ea typeface="Arial"/>
                <a:cs typeface="Arial"/>
              </a:defRPr>
            </a:lvl7pPr>
            <a:lvl8pPr>
              <a:defRPr sz="2250" b="0">
                <a:solidFill>
                  <a:srgbClr val="172D35"/>
                </a:solidFill>
                <a:latin typeface="Arial"/>
                <a:ea typeface="Arial"/>
                <a:cs typeface="Arial"/>
              </a:defRPr>
            </a:lvl8pPr>
            <a:lvl9pPr>
              <a:defRPr sz="2250" b="0">
                <a:solidFill>
                  <a:srgbClr val="172D35"/>
                </a:solidFill>
                <a:latin typeface="Arial"/>
                <a:ea typeface="Arial"/>
                <a:cs typeface="Arial"/>
              </a:defRPr>
            </a:lvl9pPr>
          </a:lstStyle>
          <a:p xmlns:a="http://schemas.openxmlformats.org/drawingml/2006/main">
            <a:pPr>
              <a:defRPr sz="2250" b="0">
                <a:solidFill>
                  <a:srgbClr val="172D35"/>
                </a:solidFill>
                <a:latin typeface="Arial"/>
                <a:ea typeface="Arial"/>
                <a:cs typeface="Arial"/>
              </a:defRPr>
            </a:pPr>
            <a:r>
              <a:rPr sz="2250" b="0">
                <a:solidFill>
                  <a:srgbClr val="172D35"/>
                </a:solidFill>
                <a:latin typeface="Arial"/>
                <a:ea typeface="Arial"/>
                <a:cs typeface="Arial"/>
              </a:rPr>
              <a:t>Observed: PILOT trails the best local bandit at half budget.</a:t>
            </a:r>
          </a:p>
        </p:txBody>
      </p:sp>
      <p:sp>
        <p:nvSpPr>
          <p:cNvPr id="10" name="03">
            <a:extLst xmlns:a="http://schemas.openxmlformats.org/drawingml/2006/main">
              <a:ext uri="{FF2B5EF4-FFF2-40B4-BE49-F238E27FC236}">
                <a16:creationId xmlns:a16="http://schemas.microsoft.com/office/drawing/2014/main" id="{EA24546C-E66F-41F3-9598-B8AB625F9686}"/>
              </a:ext>
            </a:extLst>
          </p:cNvPr>
          <p:cNvSpPr>
            <a:spLocks xmlns:a="http://schemas.openxmlformats.org/drawingml/2006/main" noGrp="1"/>
          </p:cNvSpPr>
          <p:nvPr/>
        </p:nvSpPr>
        <p:spPr>
          <a:xfrm xmlns:a="http://schemas.openxmlformats.org/drawingml/2006/main">
            <a:off x="5905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Tested: reward-model misspecification and cost-estimation ri">
            <a:extLst xmlns:a="http://schemas.openxmlformats.org/drawingml/2006/main">
              <a:ext uri="{FF2B5EF4-FFF2-40B4-BE49-F238E27FC236}">
                <a16:creationId xmlns:a16="http://schemas.microsoft.com/office/drawing/2014/main" id="{166CB75F-EFC6-4811-9962-CF398133A94E}"/>
              </a:ext>
            </a:extLst>
          </p:cNvPr>
          <p:cNvSpPr>
            <a:spLocks xmlns:a="http://schemas.openxmlformats.org/drawingml/2006/main" noGrp="1"/>
          </p:cNvSpPr>
          <p:nvPr/>
        </p:nvSpPr>
        <p:spPr>
          <a:xfrm xmlns:a="http://schemas.openxmlformats.org/drawingml/2006/main">
            <a:off x="1257300" y="4343400"/>
            <a:ext cx="9906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D35"/>
                </a:solidFill>
                <a:latin typeface="Arial"/>
                <a:ea typeface="Arial"/>
                <a:cs typeface="Arial"/>
              </a:defRPr>
            </a:defPPr>
            <a:lvl1pPr>
              <a:defRPr sz="2250" b="0">
                <a:solidFill>
                  <a:srgbClr val="172D35"/>
                </a:solidFill>
                <a:latin typeface="Arial"/>
                <a:ea typeface="Arial"/>
                <a:cs typeface="Arial"/>
              </a:defRPr>
            </a:lvl1pPr>
            <a:lvl2pPr>
              <a:defRPr sz="2250" b="0">
                <a:solidFill>
                  <a:srgbClr val="172D35"/>
                </a:solidFill>
                <a:latin typeface="Arial"/>
                <a:ea typeface="Arial"/>
                <a:cs typeface="Arial"/>
              </a:defRPr>
            </a:lvl2pPr>
            <a:lvl3pPr>
              <a:defRPr sz="2250" b="0">
                <a:solidFill>
                  <a:srgbClr val="172D35"/>
                </a:solidFill>
                <a:latin typeface="Arial"/>
                <a:ea typeface="Arial"/>
                <a:cs typeface="Arial"/>
              </a:defRPr>
            </a:lvl3pPr>
            <a:lvl4pPr>
              <a:defRPr sz="2250" b="0">
                <a:solidFill>
                  <a:srgbClr val="172D35"/>
                </a:solidFill>
                <a:latin typeface="Arial"/>
                <a:ea typeface="Arial"/>
                <a:cs typeface="Arial"/>
              </a:defRPr>
            </a:lvl4pPr>
            <a:lvl5pPr>
              <a:defRPr sz="2250" b="0">
                <a:solidFill>
                  <a:srgbClr val="172D35"/>
                </a:solidFill>
                <a:latin typeface="Arial"/>
                <a:ea typeface="Arial"/>
                <a:cs typeface="Arial"/>
              </a:defRPr>
            </a:lvl5pPr>
            <a:lvl6pPr>
              <a:defRPr sz="2250" b="0">
                <a:solidFill>
                  <a:srgbClr val="172D35"/>
                </a:solidFill>
                <a:latin typeface="Arial"/>
                <a:ea typeface="Arial"/>
                <a:cs typeface="Arial"/>
              </a:defRPr>
            </a:lvl6pPr>
            <a:lvl7pPr>
              <a:defRPr sz="2250" b="0">
                <a:solidFill>
                  <a:srgbClr val="172D35"/>
                </a:solidFill>
                <a:latin typeface="Arial"/>
                <a:ea typeface="Arial"/>
                <a:cs typeface="Arial"/>
              </a:defRPr>
            </a:lvl7pPr>
            <a:lvl8pPr>
              <a:defRPr sz="2250" b="0">
                <a:solidFill>
                  <a:srgbClr val="172D35"/>
                </a:solidFill>
                <a:latin typeface="Arial"/>
                <a:ea typeface="Arial"/>
                <a:cs typeface="Arial"/>
              </a:defRPr>
            </a:lvl8pPr>
            <a:lvl9pPr>
              <a:defRPr sz="2250" b="0">
                <a:solidFill>
                  <a:srgbClr val="172D35"/>
                </a:solidFill>
                <a:latin typeface="Arial"/>
                <a:ea typeface="Arial"/>
                <a:cs typeface="Arial"/>
              </a:defRPr>
            </a:lvl9pPr>
          </a:lstStyle>
          <a:p xmlns:a="http://schemas.openxmlformats.org/drawingml/2006/main">
            <a:pPr>
              <a:defRPr sz="2250" b="0">
                <a:solidFill>
                  <a:srgbClr val="172D35"/>
                </a:solidFill>
                <a:latin typeface="Arial"/>
                <a:ea typeface="Arial"/>
                <a:cs typeface="Arial"/>
              </a:defRPr>
            </a:pPr>
            <a:r>
              <a:rPr sz="2250" b="0">
                <a:solidFill>
                  <a:srgbClr val="172D35"/>
                </a:solidFill>
                <a:latin typeface="Arial"/>
                <a:ea typeface="Arial"/>
                <a:cs typeface="Arial"/>
              </a:rPr>
              <a:t>Tested: reward-model misspecification and cost-estimation risk.</a:t>
            </a:r>
          </a:p>
        </p:txBody>
      </p:sp>
    </p:spTree>
    <p:extLst>
      <p:ext uri="{BB962C8B-B14F-4D97-AF65-F5344CB8AC3E}">
        <p14:creationId xmlns:p14="http://schemas.microsoft.com/office/powerpoint/2010/main" val="784953353"/>
      </p:ext>
    </p:extLst>
  </p:cSld>
</p:sld>
</file>

<file path=ppt/slides/slide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8" name="PROBLEM AND OBJECTIVE">
            <a:extLst xmlns:a="http://schemas.openxmlformats.org/drawingml/2006/main">
              <a:ext uri="{FF2B5EF4-FFF2-40B4-BE49-F238E27FC236}">
                <a16:creationId xmlns:a16="http://schemas.microsoft.com/office/drawing/2014/main" id="{54CD9981-757F-4905-9425-2432F38D1E0E}"/>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PROBLEM AND OBJECTIVE</a:t>
            </a:r>
          </a:p>
        </p:txBody>
      </p:sp>
      <p:sp>
        <p:nvSpPr>
          <p:cNvPr id="2" name="A routing decision chooses one model">
            <a:extLst xmlns:a="http://schemas.openxmlformats.org/drawingml/2006/main">
              <a:ext uri="{FF2B5EF4-FFF2-40B4-BE49-F238E27FC236}">
                <a16:creationId xmlns:a16="http://schemas.microsoft.com/office/drawing/2014/main" id="{F339A41D-FEB8-49F6-B016-4F68A8B2A27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A routing decision chooses one model</a:t>
            </a:r>
          </a:p>
        </p:txBody>
      </p:sp>
      <p:sp>
        <p:nvSpPr>
          <p:cNvPr id="3" name="">
            <a:extLst xmlns:a="http://schemas.openxmlformats.org/drawingml/2006/main">
              <a:ext uri="{FF2B5EF4-FFF2-40B4-BE49-F238E27FC236}">
                <a16:creationId xmlns:a16="http://schemas.microsoft.com/office/drawing/2014/main" id="{BF4AEF51-1391-4DCE-9768-6E6AC15FE2B2}"/>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F5125438-7C0B-4B81-ABFB-23F1C884B0D5}"/>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03">
            <a:extLst xmlns:a="http://schemas.openxmlformats.org/drawingml/2006/main">
              <a:ext uri="{FF2B5EF4-FFF2-40B4-BE49-F238E27FC236}">
                <a16:creationId xmlns:a16="http://schemas.microsoft.com/office/drawing/2014/main" id="{2E5E8223-630E-4C5B-896E-B90104FE6D1F}"/>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30679D86-C044-489A-8F8D-01EAA7F453A0}"/>
              </a:ext>
            </a:extLst>
          </p:cNvPr>
          <p:cNvSpPr>
            <a:spLocks xmlns:a="http://schemas.openxmlformats.org/drawingml/2006/main" noGrp="1"/>
          </p:cNvSpPr>
          <p:nvPr/>
        </p:nvSpPr>
        <p:spPr>
          <a:xfrm xmlns:a="http://schemas.openxmlformats.org/drawingml/2006/main">
            <a:off x="552450" y="2533650"/>
            <a:ext cx="2286000" cy="1285875"/>
          </a:xfrm>
          <a:prstGeom xmlns:a="http://schemas.openxmlformats.org/drawingml/2006/main" prst="rect">
            <a:avLst/>
          </a:prstGeom>
          <a:solidFill xmlns:a="http://schemas.openxmlformats.org/drawingml/2006/main">
            <a:srgbClr val="172D35"/>
          </a:solidFill>
          <a:ln xmlns:a="http://schemas.openxmlformats.org/drawingml/2006/main" w="0">
            <a:noFill/>
          </a:ln>
        </p:spPr>
      </p:sp>
      <p:sp>
        <p:nvSpPr>
          <p:cNvPr id="7" name="Query&#10;context x">
            <a:extLst xmlns:a="http://schemas.openxmlformats.org/drawingml/2006/main">
              <a:ext uri="{FF2B5EF4-FFF2-40B4-BE49-F238E27FC236}">
                <a16:creationId xmlns:a16="http://schemas.microsoft.com/office/drawing/2014/main" id="{9A16E0FA-7048-447E-8DD3-F0B867F8FCC3}"/>
              </a:ext>
            </a:extLst>
          </p:cNvPr>
          <p:cNvSpPr>
            <a:spLocks xmlns:a="http://schemas.openxmlformats.org/drawingml/2006/main" noGrp="1"/>
          </p:cNvSpPr>
          <p:nvPr/>
        </p:nvSpPr>
        <p:spPr>
          <a:xfrm xmlns:a="http://schemas.openxmlformats.org/drawingml/2006/main">
            <a:off x="7143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Query</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context x</a:t>
            </a:r>
          </a:p>
        </p:txBody>
      </p:sp>
      <p:sp>
        <p:nvSpPr>
          <p:cNvPr id="8" name="→">
            <a:extLst xmlns:a="http://schemas.openxmlformats.org/drawingml/2006/main">
              <a:ext uri="{FF2B5EF4-FFF2-40B4-BE49-F238E27FC236}">
                <a16:creationId xmlns:a16="http://schemas.microsoft.com/office/drawing/2014/main" id="{F08EF2E8-0ECE-4441-A9D0-C4677A975A56}"/>
              </a:ext>
            </a:extLst>
          </p:cNvPr>
          <p:cNvSpPr>
            <a:spLocks xmlns:a="http://schemas.openxmlformats.org/drawingml/2006/main" noGrp="1"/>
          </p:cNvSpPr>
          <p:nvPr/>
        </p:nvSpPr>
        <p:spPr>
          <a:xfrm xmlns:a="http://schemas.openxmlformats.org/drawingml/2006/main">
            <a:off x="29527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16657F2-1A7F-4AAA-8FED-9B7905816115}"/>
              </a:ext>
            </a:extLst>
          </p:cNvPr>
          <p:cNvSpPr>
            <a:spLocks xmlns:a="http://schemas.openxmlformats.org/drawingml/2006/main" noGrp="1"/>
          </p:cNvSpPr>
          <p:nvPr/>
        </p:nvSpPr>
        <p:spPr>
          <a:xfrm xmlns:a="http://schemas.openxmlformats.org/drawingml/2006/main">
            <a:off x="3448050" y="2533650"/>
            <a:ext cx="2286000" cy="1285875"/>
          </a:xfrm>
          <a:prstGeom xmlns:a="http://schemas.openxmlformats.org/drawingml/2006/main" prst="rect">
            <a:avLst/>
          </a:prstGeom>
          <a:solidFill xmlns:a="http://schemas.openxmlformats.org/drawingml/2006/main">
            <a:srgbClr val="E4EEEB"/>
          </a:solidFill>
          <a:ln xmlns:a="http://schemas.openxmlformats.org/drawingml/2006/main" w="0">
            <a:noFill/>
          </a:ln>
        </p:spPr>
      </p:sp>
      <p:sp>
        <p:nvSpPr>
          <p:cNvPr id="10" name="Router&#10;selects arm a">
            <a:extLst xmlns:a="http://schemas.openxmlformats.org/drawingml/2006/main">
              <a:ext uri="{FF2B5EF4-FFF2-40B4-BE49-F238E27FC236}">
                <a16:creationId xmlns:a16="http://schemas.microsoft.com/office/drawing/2014/main" id="{2196D436-50B1-4D04-B872-D0FF18DA5631}"/>
              </a:ext>
            </a:extLst>
          </p:cNvPr>
          <p:cNvSpPr>
            <a:spLocks xmlns:a="http://schemas.openxmlformats.org/drawingml/2006/main" noGrp="1"/>
          </p:cNvSpPr>
          <p:nvPr/>
        </p:nvSpPr>
        <p:spPr>
          <a:xfrm xmlns:a="http://schemas.openxmlformats.org/drawingml/2006/main">
            <a:off x="36099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D35"/>
                </a:solidFill>
                <a:latin typeface="Arial"/>
                <a:ea typeface="Arial"/>
                <a:cs typeface="Arial"/>
              </a:defRPr>
            </a:defPPr>
            <a:lvl1pPr>
              <a:defRPr sz="2025" b="1">
                <a:solidFill>
                  <a:srgbClr val="172D35"/>
                </a:solidFill>
                <a:latin typeface="Arial"/>
                <a:ea typeface="Arial"/>
                <a:cs typeface="Arial"/>
              </a:defRPr>
            </a:lvl1pPr>
            <a:lvl2pPr>
              <a:defRPr sz="2025" b="1">
                <a:solidFill>
                  <a:srgbClr val="172D35"/>
                </a:solidFill>
                <a:latin typeface="Arial"/>
                <a:ea typeface="Arial"/>
                <a:cs typeface="Arial"/>
              </a:defRPr>
            </a:lvl2pPr>
            <a:lvl3pPr>
              <a:defRPr sz="2025" b="1">
                <a:solidFill>
                  <a:srgbClr val="172D35"/>
                </a:solidFill>
                <a:latin typeface="Arial"/>
                <a:ea typeface="Arial"/>
                <a:cs typeface="Arial"/>
              </a:defRPr>
            </a:lvl3pPr>
            <a:lvl4pPr>
              <a:defRPr sz="2025" b="1">
                <a:solidFill>
                  <a:srgbClr val="172D35"/>
                </a:solidFill>
                <a:latin typeface="Arial"/>
                <a:ea typeface="Arial"/>
                <a:cs typeface="Arial"/>
              </a:defRPr>
            </a:lvl4pPr>
            <a:lvl5pPr>
              <a:defRPr sz="2025" b="1">
                <a:solidFill>
                  <a:srgbClr val="172D35"/>
                </a:solidFill>
                <a:latin typeface="Arial"/>
                <a:ea typeface="Arial"/>
                <a:cs typeface="Arial"/>
              </a:defRPr>
            </a:lvl5pPr>
            <a:lvl6pPr>
              <a:defRPr sz="2025" b="1">
                <a:solidFill>
                  <a:srgbClr val="172D35"/>
                </a:solidFill>
                <a:latin typeface="Arial"/>
                <a:ea typeface="Arial"/>
                <a:cs typeface="Arial"/>
              </a:defRPr>
            </a:lvl6pPr>
            <a:lvl7pPr>
              <a:defRPr sz="2025" b="1">
                <a:solidFill>
                  <a:srgbClr val="172D35"/>
                </a:solidFill>
                <a:latin typeface="Arial"/>
                <a:ea typeface="Arial"/>
                <a:cs typeface="Arial"/>
              </a:defRPr>
            </a:lvl7pPr>
            <a:lvl8pPr>
              <a:defRPr sz="2025" b="1">
                <a:solidFill>
                  <a:srgbClr val="172D35"/>
                </a:solidFill>
                <a:latin typeface="Arial"/>
                <a:ea typeface="Arial"/>
                <a:cs typeface="Arial"/>
              </a:defRPr>
            </a:lvl8pPr>
            <a:lvl9pPr>
              <a:defRPr sz="2025" b="1">
                <a:solidFill>
                  <a:srgbClr val="172D35"/>
                </a:solidFill>
                <a:latin typeface="Arial"/>
                <a:ea typeface="Arial"/>
                <a:cs typeface="Arial"/>
              </a:defRPr>
            </a:lvl9pPr>
          </a:lstStyle>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Router</a:t>
            </a:r>
          </a:p>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selects arm a</a:t>
            </a:r>
          </a:p>
        </p:txBody>
      </p:sp>
      <p:sp>
        <p:nvSpPr>
          <p:cNvPr id="11" name="→">
            <a:extLst xmlns:a="http://schemas.openxmlformats.org/drawingml/2006/main">
              <a:ext uri="{FF2B5EF4-FFF2-40B4-BE49-F238E27FC236}">
                <a16:creationId xmlns:a16="http://schemas.microsoft.com/office/drawing/2014/main" id="{FE444226-159E-4FF2-A5CA-6632966E3881}"/>
              </a:ext>
            </a:extLst>
          </p:cNvPr>
          <p:cNvSpPr>
            <a:spLocks xmlns:a="http://schemas.openxmlformats.org/drawingml/2006/main" noGrp="1"/>
          </p:cNvSpPr>
          <p:nvPr/>
        </p:nvSpPr>
        <p:spPr>
          <a:xfrm xmlns:a="http://schemas.openxmlformats.org/drawingml/2006/main">
            <a:off x="58483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5465349-7E6E-495F-B7BE-AFB6A3841514}"/>
              </a:ext>
            </a:extLst>
          </p:cNvPr>
          <p:cNvSpPr>
            <a:spLocks xmlns:a="http://schemas.openxmlformats.org/drawingml/2006/main" noGrp="1"/>
          </p:cNvSpPr>
          <p:nvPr/>
        </p:nvSpPr>
        <p:spPr>
          <a:xfrm xmlns:a="http://schemas.openxmlformats.org/drawingml/2006/main">
            <a:off x="6343650" y="2533650"/>
            <a:ext cx="2286000" cy="1285875"/>
          </a:xfrm>
          <a:prstGeom xmlns:a="http://schemas.openxmlformats.org/drawingml/2006/main" prst="rect">
            <a:avLst/>
          </a:prstGeom>
          <a:solidFill xmlns:a="http://schemas.openxmlformats.org/drawingml/2006/main">
            <a:srgbClr val="172D35"/>
          </a:solidFill>
          <a:ln xmlns:a="http://schemas.openxmlformats.org/drawingml/2006/main" w="0">
            <a:noFill/>
          </a:ln>
        </p:spPr>
      </p:sp>
      <p:sp>
        <p:nvSpPr>
          <p:cNvPr id="13" name="One recorded&#10;reward r">
            <a:extLst xmlns:a="http://schemas.openxmlformats.org/drawingml/2006/main">
              <a:ext uri="{FF2B5EF4-FFF2-40B4-BE49-F238E27FC236}">
                <a16:creationId xmlns:a16="http://schemas.microsoft.com/office/drawing/2014/main" id="{F7AF45B2-B766-47DA-B55D-1969873FC506}"/>
              </a:ext>
            </a:extLst>
          </p:cNvPr>
          <p:cNvSpPr>
            <a:spLocks xmlns:a="http://schemas.openxmlformats.org/drawingml/2006/main" noGrp="1"/>
          </p:cNvSpPr>
          <p:nvPr/>
        </p:nvSpPr>
        <p:spPr>
          <a:xfrm xmlns:a="http://schemas.openxmlformats.org/drawingml/2006/main">
            <a:off x="65055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One recorded</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reward r</a:t>
            </a:r>
          </a:p>
        </p:txBody>
      </p:sp>
      <p:sp>
        <p:nvSpPr>
          <p:cNvPr id="14" name="→">
            <a:extLst xmlns:a="http://schemas.openxmlformats.org/drawingml/2006/main">
              <a:ext uri="{FF2B5EF4-FFF2-40B4-BE49-F238E27FC236}">
                <a16:creationId xmlns:a16="http://schemas.microsoft.com/office/drawing/2014/main" id="{6144402E-0336-4DBD-94C7-16302E98B0F8}"/>
              </a:ext>
            </a:extLst>
          </p:cNvPr>
          <p:cNvSpPr>
            <a:spLocks xmlns:a="http://schemas.openxmlformats.org/drawingml/2006/main" noGrp="1"/>
          </p:cNvSpPr>
          <p:nvPr/>
        </p:nvSpPr>
        <p:spPr>
          <a:xfrm xmlns:a="http://schemas.openxmlformats.org/drawingml/2006/main">
            <a:off x="87439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2B68381-8EA4-4DA6-9092-1D95B3C22B07}"/>
              </a:ext>
            </a:extLst>
          </p:cNvPr>
          <p:cNvSpPr>
            <a:spLocks xmlns:a="http://schemas.openxmlformats.org/drawingml/2006/main" noGrp="1"/>
          </p:cNvSpPr>
          <p:nvPr/>
        </p:nvSpPr>
        <p:spPr>
          <a:xfrm xmlns:a="http://schemas.openxmlformats.org/drawingml/2006/main">
            <a:off x="9239250" y="2533650"/>
            <a:ext cx="2286000" cy="1285875"/>
          </a:xfrm>
          <a:prstGeom xmlns:a="http://schemas.openxmlformats.org/drawingml/2006/main" prst="rect">
            <a:avLst/>
          </a:prstGeom>
          <a:solidFill xmlns:a="http://schemas.openxmlformats.org/drawingml/2006/main">
            <a:srgbClr val="E4EEEB"/>
          </a:solidFill>
          <a:ln xmlns:a="http://schemas.openxmlformats.org/drawingml/2006/main" w="0">
            <a:noFill/>
          </a:ln>
        </p:spPr>
      </p:sp>
      <p:sp>
        <p:nvSpPr>
          <p:cNvPr id="16" name="Cost and&#10;feedback">
            <a:extLst xmlns:a="http://schemas.openxmlformats.org/drawingml/2006/main">
              <a:ext uri="{FF2B5EF4-FFF2-40B4-BE49-F238E27FC236}">
                <a16:creationId xmlns:a16="http://schemas.microsoft.com/office/drawing/2014/main" id="{165F4B3C-7B69-4EB9-8657-5C8170905181}"/>
              </a:ext>
            </a:extLst>
          </p:cNvPr>
          <p:cNvSpPr>
            <a:spLocks xmlns:a="http://schemas.openxmlformats.org/drawingml/2006/main" noGrp="1"/>
          </p:cNvSpPr>
          <p:nvPr/>
        </p:nvSpPr>
        <p:spPr>
          <a:xfrm xmlns:a="http://schemas.openxmlformats.org/drawingml/2006/main">
            <a:off x="94011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D35"/>
                </a:solidFill>
                <a:latin typeface="Arial"/>
                <a:ea typeface="Arial"/>
                <a:cs typeface="Arial"/>
              </a:defRPr>
            </a:defPPr>
            <a:lvl1pPr>
              <a:defRPr sz="2025" b="1">
                <a:solidFill>
                  <a:srgbClr val="172D35"/>
                </a:solidFill>
                <a:latin typeface="Arial"/>
                <a:ea typeface="Arial"/>
                <a:cs typeface="Arial"/>
              </a:defRPr>
            </a:lvl1pPr>
            <a:lvl2pPr>
              <a:defRPr sz="2025" b="1">
                <a:solidFill>
                  <a:srgbClr val="172D35"/>
                </a:solidFill>
                <a:latin typeface="Arial"/>
                <a:ea typeface="Arial"/>
                <a:cs typeface="Arial"/>
              </a:defRPr>
            </a:lvl2pPr>
            <a:lvl3pPr>
              <a:defRPr sz="2025" b="1">
                <a:solidFill>
                  <a:srgbClr val="172D35"/>
                </a:solidFill>
                <a:latin typeface="Arial"/>
                <a:ea typeface="Arial"/>
                <a:cs typeface="Arial"/>
              </a:defRPr>
            </a:lvl3pPr>
            <a:lvl4pPr>
              <a:defRPr sz="2025" b="1">
                <a:solidFill>
                  <a:srgbClr val="172D35"/>
                </a:solidFill>
                <a:latin typeface="Arial"/>
                <a:ea typeface="Arial"/>
                <a:cs typeface="Arial"/>
              </a:defRPr>
            </a:lvl4pPr>
            <a:lvl5pPr>
              <a:defRPr sz="2025" b="1">
                <a:solidFill>
                  <a:srgbClr val="172D35"/>
                </a:solidFill>
                <a:latin typeface="Arial"/>
                <a:ea typeface="Arial"/>
                <a:cs typeface="Arial"/>
              </a:defRPr>
            </a:lvl5pPr>
            <a:lvl6pPr>
              <a:defRPr sz="2025" b="1">
                <a:solidFill>
                  <a:srgbClr val="172D35"/>
                </a:solidFill>
                <a:latin typeface="Arial"/>
                <a:ea typeface="Arial"/>
                <a:cs typeface="Arial"/>
              </a:defRPr>
            </a:lvl6pPr>
            <a:lvl7pPr>
              <a:defRPr sz="2025" b="1">
                <a:solidFill>
                  <a:srgbClr val="172D35"/>
                </a:solidFill>
                <a:latin typeface="Arial"/>
                <a:ea typeface="Arial"/>
                <a:cs typeface="Arial"/>
              </a:defRPr>
            </a:lvl7pPr>
            <a:lvl8pPr>
              <a:defRPr sz="2025" b="1">
                <a:solidFill>
                  <a:srgbClr val="172D35"/>
                </a:solidFill>
                <a:latin typeface="Arial"/>
                <a:ea typeface="Arial"/>
                <a:cs typeface="Arial"/>
              </a:defRPr>
            </a:lvl8pPr>
            <a:lvl9pPr>
              <a:defRPr sz="2025" b="1">
                <a:solidFill>
                  <a:srgbClr val="172D35"/>
                </a:solidFill>
                <a:latin typeface="Arial"/>
                <a:ea typeface="Arial"/>
                <a:cs typeface="Arial"/>
              </a:defRPr>
            </a:lvl9pPr>
          </a:lstStyle>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Cost and</a:t>
            </a:r>
          </a:p>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feedback</a:t>
            </a:r>
          </a:p>
        </p:txBody>
      </p:sp>
      <p:sp>
        <p:nvSpPr>
          <p:cNvPr id="17" name="Maximize useful answers subject to a deployment budget.">
            <a:extLst xmlns:a="http://schemas.openxmlformats.org/drawingml/2006/main">
              <a:ext uri="{FF2B5EF4-FFF2-40B4-BE49-F238E27FC236}">
                <a16:creationId xmlns:a16="http://schemas.microsoft.com/office/drawing/2014/main" id="{2F9CD605-CB47-49BC-A555-B3DB1780A80F}"/>
              </a:ext>
            </a:extLst>
          </p:cNvPr>
          <p:cNvSpPr>
            <a:spLocks xmlns:a="http://schemas.openxmlformats.org/drawingml/2006/main" noGrp="1"/>
          </p:cNvSpPr>
          <p:nvPr/>
        </p:nvSpPr>
        <p:spPr>
          <a:xfrm xmlns:a="http://schemas.openxmlformats.org/drawingml/2006/main">
            <a:off x="619125" y="44862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96C72"/>
                </a:solidFill>
                <a:latin typeface="Arial"/>
                <a:ea typeface="Arial"/>
                <a:cs typeface="Arial"/>
              </a:defRPr>
            </a:defPPr>
            <a:lvl1pPr>
              <a:defRPr sz="2550" b="1">
                <a:solidFill>
                  <a:srgbClr val="096C72"/>
                </a:solidFill>
                <a:latin typeface="Arial"/>
                <a:ea typeface="Arial"/>
                <a:cs typeface="Arial"/>
              </a:defRPr>
            </a:lvl1pPr>
            <a:lvl2pPr>
              <a:defRPr sz="2550" b="1">
                <a:solidFill>
                  <a:srgbClr val="096C72"/>
                </a:solidFill>
                <a:latin typeface="Arial"/>
                <a:ea typeface="Arial"/>
                <a:cs typeface="Arial"/>
              </a:defRPr>
            </a:lvl2pPr>
            <a:lvl3pPr>
              <a:defRPr sz="2550" b="1">
                <a:solidFill>
                  <a:srgbClr val="096C72"/>
                </a:solidFill>
                <a:latin typeface="Arial"/>
                <a:ea typeface="Arial"/>
                <a:cs typeface="Arial"/>
              </a:defRPr>
            </a:lvl3pPr>
            <a:lvl4pPr>
              <a:defRPr sz="2550" b="1">
                <a:solidFill>
                  <a:srgbClr val="096C72"/>
                </a:solidFill>
                <a:latin typeface="Arial"/>
                <a:ea typeface="Arial"/>
                <a:cs typeface="Arial"/>
              </a:defRPr>
            </a:lvl4pPr>
            <a:lvl5pPr>
              <a:defRPr sz="2550" b="1">
                <a:solidFill>
                  <a:srgbClr val="096C72"/>
                </a:solidFill>
                <a:latin typeface="Arial"/>
                <a:ea typeface="Arial"/>
                <a:cs typeface="Arial"/>
              </a:defRPr>
            </a:lvl5pPr>
            <a:lvl6pPr>
              <a:defRPr sz="2550" b="1">
                <a:solidFill>
                  <a:srgbClr val="096C72"/>
                </a:solidFill>
                <a:latin typeface="Arial"/>
                <a:ea typeface="Arial"/>
                <a:cs typeface="Arial"/>
              </a:defRPr>
            </a:lvl6pPr>
            <a:lvl7pPr>
              <a:defRPr sz="2550" b="1">
                <a:solidFill>
                  <a:srgbClr val="096C72"/>
                </a:solidFill>
                <a:latin typeface="Arial"/>
                <a:ea typeface="Arial"/>
                <a:cs typeface="Arial"/>
              </a:defRPr>
            </a:lvl7pPr>
            <a:lvl8pPr>
              <a:defRPr sz="2550" b="1">
                <a:solidFill>
                  <a:srgbClr val="096C72"/>
                </a:solidFill>
                <a:latin typeface="Arial"/>
                <a:ea typeface="Arial"/>
                <a:cs typeface="Arial"/>
              </a:defRPr>
            </a:lvl8pPr>
            <a:lvl9pPr>
              <a:defRPr sz="2550" b="1">
                <a:solidFill>
                  <a:srgbClr val="096C72"/>
                </a:solidFill>
                <a:latin typeface="Arial"/>
                <a:ea typeface="Arial"/>
                <a:cs typeface="Arial"/>
              </a:defRPr>
            </a:lvl9pPr>
          </a:lstStyle>
          <a:p xmlns:a="http://schemas.openxmlformats.org/drawingml/2006/main">
            <a:pPr>
              <a:defRPr sz="2550" b="1">
                <a:solidFill>
                  <a:srgbClr val="096C72"/>
                </a:solidFill>
                <a:latin typeface="Arial"/>
                <a:ea typeface="Arial"/>
                <a:cs typeface="Arial"/>
              </a:defRPr>
            </a:pPr>
            <a:r>
              <a:rPr sz="2550" b="1">
                <a:solidFill>
                  <a:srgbClr val="096C72"/>
                </a:solidFill>
                <a:latin typeface="Arial"/>
                <a:ea typeface="Arial"/>
                <a:cs typeface="Arial"/>
              </a:rPr>
              <a:t>Maximize useful answers subject to a deployment budget.</a:t>
            </a:r>
          </a:p>
        </p:txBody>
      </p:sp>
    </p:spTree>
    <p:extLst>
      <p:ext uri="{BB962C8B-B14F-4D97-AF65-F5344CB8AC3E}">
        <p14:creationId xmlns:p14="http://schemas.microsoft.com/office/powerpoint/2010/main" val="2061398949"/>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PROBLEM FORMULATION">
            <a:extLst xmlns:a="http://schemas.openxmlformats.org/drawingml/2006/main">
              <a:ext uri="{FF2B5EF4-FFF2-40B4-BE49-F238E27FC236}">
                <a16:creationId xmlns:a16="http://schemas.microsoft.com/office/drawing/2014/main" id="{2402024D-664C-421A-A373-7EEED7418254}"/>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PROBLEM FORMULATION</a:t>
            </a:r>
          </a:p>
        </p:txBody>
      </p:sp>
      <p:sp>
        <p:nvSpPr>
          <p:cNvPr id="2" name="Bandit feedback changes the supervision cost">
            <a:extLst xmlns:a="http://schemas.openxmlformats.org/drawingml/2006/main">
              <a:ext uri="{FF2B5EF4-FFF2-40B4-BE49-F238E27FC236}">
                <a16:creationId xmlns:a16="http://schemas.microsoft.com/office/drawing/2014/main" id="{3B188FBD-2C10-4C04-8156-F7EED730C0B7}"/>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Bandit feedback changes the supervision cost</a:t>
            </a:r>
          </a:p>
        </p:txBody>
      </p:sp>
      <p:sp>
        <p:nvSpPr>
          <p:cNvPr id="3" name="">
            <a:extLst xmlns:a="http://schemas.openxmlformats.org/drawingml/2006/main">
              <a:ext uri="{FF2B5EF4-FFF2-40B4-BE49-F238E27FC236}">
                <a16:creationId xmlns:a16="http://schemas.microsoft.com/office/drawing/2014/main" id="{194F7D81-E783-477C-A965-F6B48538D4BD}"/>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5C90240D-9471-412C-AE59-CBE4BA6A0A22}"/>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[2] L. Li et al., “A contextual-bandit approach to personalized news article recommendation,” WWW, pp. 661–670, 2010.</a:t>
            </a:r>
          </a:p>
        </p:txBody>
      </p:sp>
      <p:sp>
        <p:nvSpPr>
          <p:cNvPr id="5" name="04">
            <a:extLst xmlns:a="http://schemas.openxmlformats.org/drawingml/2006/main">
              <a:ext uri="{FF2B5EF4-FFF2-40B4-BE49-F238E27FC236}">
                <a16:creationId xmlns:a16="http://schemas.microsoft.com/office/drawing/2014/main" id="{A25936C6-4840-4E0B-A059-728B094B5A0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04</a:t>
            </a:r>
          </a:p>
        </p:txBody>
      </p:sp>
      <p:sp>
        <p:nvSpPr>
          <p:cNvPr id="6" name="Full-information training">
            <a:extLst xmlns:a="http://schemas.openxmlformats.org/drawingml/2006/main">
              <a:ext uri="{FF2B5EF4-FFF2-40B4-BE49-F238E27FC236}">
                <a16:creationId xmlns:a16="http://schemas.microsoft.com/office/drawing/2014/main" id="{A770538D-0EC9-4F63-89EB-A7857005A9F4}"/>
              </a:ext>
            </a:extLst>
          </p:cNvPr>
          <p:cNvSpPr>
            <a:spLocks xmlns:a="http://schemas.openxmlformats.org/drawingml/2006/main" noGrp="1"/>
          </p:cNvSpPr>
          <p:nvPr/>
        </p:nvSpPr>
        <p:spPr>
          <a:xfrm xmlns:a="http://schemas.openxmlformats.org/drawingml/2006/main">
            <a:off x="571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Full-information training</a:t>
            </a:r>
          </a:p>
        </p:txBody>
      </p:sp>
      <p:sp>
        <p:nvSpPr>
          <p:cNvPr id="7" name="Query → evaluate all K models&#10;&#10;K quality labels per example&#10;">
            <a:extLst xmlns:a="http://schemas.openxmlformats.org/drawingml/2006/main">
              <a:ext uri="{FF2B5EF4-FFF2-40B4-BE49-F238E27FC236}">
                <a16:creationId xmlns:a16="http://schemas.microsoft.com/office/drawing/2014/main" id="{CF558E26-C7E2-49AB-B61A-3E74EAEE683D}"/>
              </a:ext>
            </a:extLst>
          </p:cNvPr>
          <p:cNvSpPr>
            <a:spLocks xmlns:a="http://schemas.openxmlformats.org/drawingml/2006/main" noGrp="1"/>
          </p:cNvSpPr>
          <p:nvPr/>
        </p:nvSpPr>
        <p:spPr>
          <a:xfrm xmlns:a="http://schemas.openxmlformats.org/drawingml/2006/main">
            <a:off x="57150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Query → evaluate all K models</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K quality labels per example</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Potentially expensive supervision</a:t>
            </a:r>
          </a:p>
        </p:txBody>
      </p:sp>
      <p:sp>
        <p:nvSpPr>
          <p:cNvPr id="8" name="Bandit learning">
            <a:extLst xmlns:a="http://schemas.openxmlformats.org/drawingml/2006/main">
              <a:ext uri="{FF2B5EF4-FFF2-40B4-BE49-F238E27FC236}">
                <a16:creationId xmlns:a16="http://schemas.microsoft.com/office/drawing/2014/main" id="{BC15355A-0A70-432F-A759-E1D6CCAF754C}"/>
              </a:ext>
            </a:extLst>
          </p:cNvPr>
          <p:cNvSpPr>
            <a:spLocks xmlns:a="http://schemas.openxmlformats.org/drawingml/2006/main" noGrp="1"/>
          </p:cNvSpPr>
          <p:nvPr/>
        </p:nvSpPr>
        <p:spPr>
          <a:xfrm xmlns:a="http://schemas.openxmlformats.org/drawingml/2006/main">
            <a:off x="61912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Bandit learning</a:t>
            </a:r>
          </a:p>
        </p:txBody>
      </p:sp>
      <p:sp>
        <p:nvSpPr>
          <p:cNvPr id="9" name="Query → select one model&#10;&#10;One observed reward per round&#10;&#10;Exp">
            <a:extLst xmlns:a="http://schemas.openxmlformats.org/drawingml/2006/main">
              <a:ext uri="{FF2B5EF4-FFF2-40B4-BE49-F238E27FC236}">
                <a16:creationId xmlns:a16="http://schemas.microsoft.com/office/drawing/2014/main" id="{31006434-74C4-4EF9-B232-8E2F98AA12D2}"/>
              </a:ext>
            </a:extLst>
          </p:cNvPr>
          <p:cNvSpPr>
            <a:spLocks xmlns:a="http://schemas.openxmlformats.org/drawingml/2006/main" noGrp="1"/>
          </p:cNvSpPr>
          <p:nvPr/>
        </p:nvSpPr>
        <p:spPr>
          <a:xfrm xmlns:a="http://schemas.openxmlformats.org/drawingml/2006/main">
            <a:off x="619125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Query → select one model</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One observed reward per round</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Explore to learn; exploit to serve</a:t>
            </a:r>
          </a:p>
        </p:txBody>
      </p:sp>
    </p:spTree>
    <p:extLst>
      <p:ext uri="{BB962C8B-B14F-4D97-AF65-F5344CB8AC3E}">
        <p14:creationId xmlns:p14="http://schemas.microsoft.com/office/powerpoint/2010/main" val="9575593"/>
      </p:ext>
    </p:extLst>
  </p:cSld>
</p:sld>
</file>

<file path=ppt/slides/slide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PREDECESSORS">
            <a:extLst xmlns:a="http://schemas.openxmlformats.org/drawingml/2006/main">
              <a:ext uri="{FF2B5EF4-FFF2-40B4-BE49-F238E27FC236}">
                <a16:creationId xmlns:a16="http://schemas.microsoft.com/office/drawing/2014/main" id="{B994B513-25F2-4767-8E46-2D26A4FFD52D}"/>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PREDECESSORS</a:t>
            </a:r>
          </a:p>
        </p:txBody>
      </p:sp>
      <p:sp>
        <p:nvSpPr>
          <p:cNvPr id="2" name="Two foundations: exploration and routing">
            <a:extLst xmlns:a="http://schemas.openxmlformats.org/drawingml/2006/main">
              <a:ext uri="{FF2B5EF4-FFF2-40B4-BE49-F238E27FC236}">
                <a16:creationId xmlns:a16="http://schemas.microsoft.com/office/drawing/2014/main" id="{B76AC393-4E27-4E83-BF31-21726423A3A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Two foundations: exploration and routing</a:t>
            </a:r>
          </a:p>
        </p:txBody>
      </p:sp>
      <p:sp>
        <p:nvSpPr>
          <p:cNvPr id="3" name="">
            <a:extLst xmlns:a="http://schemas.openxmlformats.org/drawingml/2006/main">
              <a:ext uri="{FF2B5EF4-FFF2-40B4-BE49-F238E27FC236}">
                <a16:creationId xmlns:a16="http://schemas.microsoft.com/office/drawing/2014/main" id="{0A25EEF0-C004-48F7-ACC4-520E46E7BEB2}"/>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2] L. Li et al., “A contextual-bandit approach to personali">
            <a:extLst xmlns:a="http://schemas.openxmlformats.org/drawingml/2006/main">
              <a:ext uri="{FF2B5EF4-FFF2-40B4-BE49-F238E27FC236}">
                <a16:creationId xmlns:a16="http://schemas.microsoft.com/office/drawing/2014/main" id="{6A0AA08B-B3D7-4F26-AD43-5A04A958994C}"/>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[2] L. Li et al., “A contextual-bandit approach to personalized news article recommendation,” WWW, pp. 661–670, 2010.</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[3] D. Ding et al., “Hybrid LLM: Cost-Efficient and Quality-Aware Query Routing,” ICLR, 2024.</a:t>
            </a:r>
          </a:p>
        </p:txBody>
      </p:sp>
      <p:sp>
        <p:nvSpPr>
          <p:cNvPr id="5" name="05">
            <a:extLst xmlns:a="http://schemas.openxmlformats.org/drawingml/2006/main">
              <a:ext uri="{FF2B5EF4-FFF2-40B4-BE49-F238E27FC236}">
                <a16:creationId xmlns:a16="http://schemas.microsoft.com/office/drawing/2014/main" id="{0025B475-6EC2-4D25-8DE7-CB29A7E1F64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05</a:t>
            </a:r>
          </a:p>
        </p:txBody>
      </p:sp>
      <p:graphicFrame>
        <p:nvGraphicFramePr>
          <p:cNvPr id="6" name="">
            <a:extLst xmlns:a="http://schemas.openxmlformats.org/drawingml/2006/main">
              <a:ext uri="{FF2B5EF4-FFF2-40B4-BE49-F238E27FC236}">
                <a16:creationId xmlns:a16="http://schemas.microsoft.com/office/drawing/2014/main" id="{99A4CC57-A6D8-4BD1-BF6D-B024DB26A5ED}"/>
              </a:ext>
            </a:extLst>
          </p:cNvPr>
          <p:cNvGraphicFramePr/>
          <p:nvPr/>
        </p:nvGraphicFramePr>
        <p:xfrm>
          <a:off xmlns:a="http://schemas.openxmlformats.org/drawingml/2006/main" x="552450" y="1847850"/>
          <a:ext xmlns:a="http://schemas.openxmlformats.org/drawingml/2006/main" cx="11087100" cy="3333750"/>
        </p:xfrm>
        <a:graphic xmlns:a="http://schemas.openxmlformats.org/drawingml/2006/main">
          <a:graphicData uri="http://schemas.openxmlformats.org/drawingml/2006/table">
            <a:tbl>
              <a:tblPr/>
              <a:tblGrid>
                <a:gridCol w="2286000"/>
                <a:gridCol w="4000500"/>
                <a:gridCol w="4800600"/>
              </a:tblGrid>
              <a:tr h="833438">
                <a:tc>
                  <a:txBody>
                    <a:bodyPr/>
                    <a:lstStyle/>
                    <a:p>
                      <a:r>
                        <a:rPr sz="1800" b="1">
                          <a:solidFill>
                            <a:srgbClr val="FFFFFF"/>
                          </a:solidFill>
                          <a:latin typeface="Arial"/>
                          <a:ea typeface="Arial"/>
                          <a:cs typeface="Arial"/>
                        </a:rPr>
                        <a:t>Prior work</a:t>
                      </a:r>
                    </a:p>
                  </a:txBody>
                  <a:tcPr marL="91440" marR="91440" marT="45720" marB="45720">
                    <a:solidFill>
                      <a:srgbClr val="172D35"/>
                    </a:solidFill>
                  </a:tcPr>
                </a:tc>
                <a:tc>
                  <a:txBody>
                    <a:bodyPr/>
                    <a:lstStyle/>
                    <a:p>
                      <a:r>
                        <a:rPr sz="1800" b="1">
                          <a:solidFill>
                            <a:srgbClr val="FFFFFF"/>
                          </a:solidFill>
                          <a:latin typeface="Arial"/>
                          <a:ea typeface="Arial"/>
                          <a:cs typeface="Arial"/>
                        </a:rPr>
                        <a:t>Core idea</a:t>
                      </a:r>
                    </a:p>
                  </a:txBody>
                  <a:tcPr marL="91440" marR="91440" marT="45720" marB="45720">
                    <a:solidFill>
                      <a:srgbClr val="172D35"/>
                    </a:solidFill>
                  </a:tcPr>
                </a:tc>
                <a:tc>
                  <a:txBody>
                    <a:bodyPr/>
                    <a:lstStyle/>
                    <a:p>
                      <a:r>
                        <a:rPr sz="1800" b="1">
                          <a:solidFill>
                            <a:srgbClr val="FFFFFF"/>
                          </a:solidFill>
                          <a:latin typeface="Arial"/>
                          <a:ea typeface="Arial"/>
                          <a:cs typeface="Arial"/>
                        </a:rPr>
                        <a:t>Connection to PILOT</a:t>
                      </a:r>
                    </a:p>
                  </a:txBody>
                  <a:tcPr marL="91440" marR="91440" marT="45720" marB="45720">
                    <a:solidFill>
                      <a:srgbClr val="172D35"/>
                    </a:solidFill>
                  </a:tcPr>
                </a:tc>
              </a:tr>
              <a:tr h="833438">
                <a:tc>
                  <a:txBody>
                    <a:bodyPr/>
                    <a:lstStyle/>
                    <a:p>
                      <a:r>
                        <a:rPr sz="1800" b="0">
                          <a:solidFill>
                            <a:srgbClr val="172D35"/>
                          </a:solidFill>
                          <a:latin typeface="Arial"/>
                          <a:ea typeface="Arial"/>
                          <a:cs typeface="Arial"/>
                        </a:rPr>
                        <a:t>LinUCB · 2010</a:t>
                      </a:r>
                    </a:p>
                  </a:txBody>
                  <a:tcPr marL="91440" marR="91440" marT="45720" marB="45720">
                    <a:solidFill>
                      <a:srgbClr val="EEF3F0"/>
                    </a:solidFill>
                  </a:tcPr>
                </a:tc>
                <a:tc>
                  <a:txBody>
                    <a:bodyPr/>
                    <a:lstStyle/>
                    <a:p>
                      <a:r>
                        <a:rPr sz="1800" b="0">
                          <a:solidFill>
                            <a:srgbClr val="172D35"/>
                          </a:solidFill>
                          <a:latin typeface="Arial"/>
                          <a:ea typeface="Arial"/>
                          <a:cs typeface="Arial"/>
                        </a:rPr>
                        <a:t>Linear estimate + exploration</a:t>
                      </a:r>
                    </a:p>
                  </a:txBody>
                  <a:tcPr marL="91440" marR="91440" marT="45720" marB="45720">
                    <a:solidFill>
                      <a:srgbClr val="EEF3F0"/>
                    </a:solidFill>
                  </a:tcPr>
                </a:tc>
                <a:tc>
                  <a:txBody>
                    <a:bodyPr/>
                    <a:lstStyle/>
                    <a:p>
                      <a:r>
                        <a:rPr sz="1800" b="0">
                          <a:solidFill>
                            <a:srgbClr val="172D35"/>
                          </a:solidFill>
                          <a:latin typeface="Arial"/>
                          <a:ea typeface="Arial"/>
                          <a:cs typeface="Arial"/>
                        </a:rPr>
                        <a:t>Bandit feedback and uncertainty</a:t>
                      </a:r>
                    </a:p>
                  </a:txBody>
                  <a:tcPr marL="91440" marR="91440" marT="45720" marB="45720">
                    <a:solidFill>
                      <a:srgbClr val="EEF3F0"/>
                    </a:solidFill>
                  </a:tcPr>
                </a:tc>
              </a:tr>
              <a:tr h="833438">
                <a:tc>
                  <a:txBody>
                    <a:bodyPr/>
                    <a:lstStyle/>
                    <a:p>
                      <a:r>
                        <a:rPr sz="1800" b="0">
                          <a:solidFill>
                            <a:srgbClr val="172D35"/>
                          </a:solidFill>
                          <a:latin typeface="Arial"/>
                          <a:ea typeface="Arial"/>
                          <a:cs typeface="Arial"/>
                        </a:rPr>
                        <a:t>Hybrid LLM · 2024</a:t>
                      </a:r>
                    </a:p>
                  </a:txBody>
                  <a:tcPr marL="91440" marR="91440" marT="45720" marB="45720">
                    <a:solidFill>
                      <a:srgbClr val="FFFFFF"/>
                    </a:solidFill>
                  </a:tcPr>
                </a:tc>
                <a:tc>
                  <a:txBody>
                    <a:bodyPr/>
                    <a:lstStyle/>
                    <a:p>
                      <a:r>
                        <a:rPr sz="1800" b="0">
                          <a:solidFill>
                            <a:srgbClr val="172D35"/>
                          </a:solidFill>
                          <a:latin typeface="Arial"/>
                          <a:ea typeface="Arial"/>
                          <a:cs typeface="Arial"/>
                        </a:rPr>
                        <a:t>Quality-aware small/large router</a:t>
                      </a:r>
                    </a:p>
                  </a:txBody>
                  <a:tcPr marL="91440" marR="91440" marT="45720" marB="45720">
                    <a:solidFill>
                      <a:srgbClr val="FFFFFF"/>
                    </a:solidFill>
                  </a:tcPr>
                </a:tc>
                <a:tc>
                  <a:txBody>
                    <a:bodyPr/>
                    <a:lstStyle/>
                    <a:p>
                      <a:r>
                        <a:rPr sz="1800" b="0">
                          <a:solidFill>
                            <a:srgbClr val="172D35"/>
                          </a:solidFill>
                          <a:latin typeface="Arial"/>
                          <a:ea typeface="Arial"/>
                          <a:cs typeface="Arial"/>
                        </a:rPr>
                        <a:t>Cost–quality routing problem</a:t>
                      </a:r>
                    </a:p>
                  </a:txBody>
                  <a:tcPr marL="91440" marR="91440" marT="45720" marB="45720">
                    <a:solidFill>
                      <a:srgbClr val="FFFFFF"/>
                    </a:solidFill>
                  </a:tcPr>
                </a:tc>
              </a:tr>
              <a:tr h="833438">
                <a:tc>
                  <a:txBody>
                    <a:bodyPr/>
                    <a:lstStyle/>
                    <a:p>
                      <a:r>
                        <a:rPr sz="1800" b="0">
                          <a:solidFill>
                            <a:srgbClr val="172D35"/>
                          </a:solidFill>
                          <a:latin typeface="Arial"/>
                          <a:ea typeface="Arial"/>
                          <a:cs typeface="Arial"/>
                        </a:rPr>
                        <a:t>PILOT · 2025</a:t>
                      </a:r>
                    </a:p>
                  </a:txBody>
                  <a:tcPr marL="91440" marR="91440" marT="45720" marB="45720">
                    <a:solidFill>
                      <a:srgbClr val="EEF3F0"/>
                    </a:solidFill>
                  </a:tcPr>
                </a:tc>
                <a:tc>
                  <a:txBody>
                    <a:bodyPr/>
                    <a:lstStyle/>
                    <a:p>
                      <a:r>
                        <a:rPr sz="1800" b="0">
                          <a:solidFill>
                            <a:srgbClr val="172D35"/>
                          </a:solidFill>
                          <a:latin typeface="Arial"/>
                          <a:ea typeface="Arial"/>
                          <a:cs typeface="Arial"/>
                        </a:rPr>
                        <a:t>Preference prior + online updates</a:t>
                      </a:r>
                    </a:p>
                  </a:txBody>
                  <a:tcPr marL="91440" marR="91440" marT="45720" marB="45720">
                    <a:solidFill>
                      <a:srgbClr val="EEF3F0"/>
                    </a:solidFill>
                  </a:tcPr>
                </a:tc>
                <a:tc>
                  <a:txBody>
                    <a:bodyPr/>
                    <a:lstStyle/>
                    <a:p>
                      <a:r>
                        <a:rPr sz="1800" b="0">
                          <a:solidFill>
                            <a:srgbClr val="172D35"/>
                          </a:solidFill>
                          <a:latin typeface="Arial"/>
                          <a:ea typeface="Arial"/>
                          <a:cs typeface="Arial"/>
                        </a:rPr>
                        <a:t>Multi-arm learning + budget policy</a:t>
                      </a:r>
                    </a:p>
                  </a:txBody>
                  <a:tcPr marL="91440" marR="91440" marT="45720" marB="45720">
                    <a:solidFill>
                      <a:srgbClr val="EEF3F0"/>
                    </a:solidFill>
                  </a:tcPr>
                </a:tc>
              </a:tr>
            </a:tbl>
          </a:graphicData>
        </a:graphic>
      </p:graphicFrame>
    </p:spTree>
    <p:extLst>
      <p:ext uri="{BB962C8B-B14F-4D97-AF65-F5344CB8AC3E}">
        <p14:creationId xmlns:p14="http://schemas.microsoft.com/office/powerpoint/2010/main" val="26033399"/>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NOVELTY">
            <a:extLst xmlns:a="http://schemas.openxmlformats.org/drawingml/2006/main">
              <a:ext uri="{FF2B5EF4-FFF2-40B4-BE49-F238E27FC236}">
                <a16:creationId xmlns:a16="http://schemas.microsoft.com/office/drawing/2014/main" id="{C231AEDF-CFAA-4791-AAE2-637D97A2E623}"/>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NOVELTY</a:t>
            </a:r>
          </a:p>
        </p:txBody>
      </p:sp>
      <p:sp>
        <p:nvSpPr>
          <p:cNvPr id="2" name="The contribution has three distinct layers">
            <a:extLst xmlns:a="http://schemas.openxmlformats.org/drawingml/2006/main">
              <a:ext uri="{FF2B5EF4-FFF2-40B4-BE49-F238E27FC236}">
                <a16:creationId xmlns:a16="http://schemas.microsoft.com/office/drawing/2014/main" id="{2D7E7765-1354-45DB-9B27-22EC22C42C8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The contribution has three distinct layers</a:t>
            </a:r>
          </a:p>
        </p:txBody>
      </p:sp>
      <p:sp>
        <p:nvSpPr>
          <p:cNvPr id="3" name="">
            <a:extLst xmlns:a="http://schemas.openxmlformats.org/drawingml/2006/main">
              <a:ext uri="{FF2B5EF4-FFF2-40B4-BE49-F238E27FC236}">
                <a16:creationId xmlns:a16="http://schemas.microsoft.com/office/drawing/2014/main" id="{146C527B-D6AD-4A34-BEC3-8D4A754AA510}"/>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CB09DB63-036D-47CC-9D01-4CB9DD7CB526}"/>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06">
            <a:extLst xmlns:a="http://schemas.openxmlformats.org/drawingml/2006/main">
              <a:ext uri="{FF2B5EF4-FFF2-40B4-BE49-F238E27FC236}">
                <a16:creationId xmlns:a16="http://schemas.microsoft.com/office/drawing/2014/main" id="{1306AD97-0C9C-491F-971E-AE459BF6DD44}"/>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06</a:t>
            </a:r>
          </a:p>
        </p:txBody>
      </p:sp>
      <p:sp>
        <p:nvSpPr>
          <p:cNvPr id="6" name="01">
            <a:extLst xmlns:a="http://schemas.openxmlformats.org/drawingml/2006/main">
              <a:ext uri="{FF2B5EF4-FFF2-40B4-BE49-F238E27FC236}">
                <a16:creationId xmlns:a16="http://schemas.microsoft.com/office/drawing/2014/main" id="{8FCCABC9-6758-41C5-9ADE-BCEF7FDD28B7}"/>
              </a:ext>
            </a:extLst>
          </p:cNvPr>
          <p:cNvSpPr>
            <a:spLocks xmlns:a="http://schemas.openxmlformats.org/drawingml/2006/main" noGrp="1"/>
          </p:cNvSpPr>
          <p:nvPr/>
        </p:nvSpPr>
        <p:spPr>
          <a:xfrm xmlns:a="http://schemas.openxmlformats.org/drawingml/2006/main">
            <a:off x="590550" y="18192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Theory: a useful prior reduces the parameter-distance term i">
            <a:extLst xmlns:a="http://schemas.openxmlformats.org/drawingml/2006/main">
              <a:ext uri="{FF2B5EF4-FFF2-40B4-BE49-F238E27FC236}">
                <a16:creationId xmlns:a16="http://schemas.microsoft.com/office/drawing/2014/main" id="{DFBBC5BB-90B1-4DF5-890C-22B752D1A3E1}"/>
              </a:ext>
            </a:extLst>
          </p:cNvPr>
          <p:cNvSpPr>
            <a:spLocks xmlns:a="http://schemas.openxmlformats.org/drawingml/2006/main" noGrp="1"/>
          </p:cNvSpPr>
          <p:nvPr/>
        </p:nvSpPr>
        <p:spPr>
          <a:xfrm xmlns:a="http://schemas.openxmlformats.org/drawingml/2006/main">
            <a:off x="1257300" y="1819275"/>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Theory: a useful prior reduces the parameter-distance term in PI-OFUL.</a:t>
            </a:r>
          </a:p>
        </p:txBody>
      </p:sp>
      <p:sp>
        <p:nvSpPr>
          <p:cNvPr id="8" name="02">
            <a:extLst xmlns:a="http://schemas.openxmlformats.org/drawingml/2006/main">
              <a:ext uri="{FF2B5EF4-FFF2-40B4-BE49-F238E27FC236}">
                <a16:creationId xmlns:a16="http://schemas.microsoft.com/office/drawing/2014/main" id="{BD74A4F7-F54B-4ABB-8DD8-2202CB1A0B85}"/>
              </a:ext>
            </a:extLst>
          </p:cNvPr>
          <p:cNvSpPr>
            <a:spLocks xmlns:a="http://schemas.openxmlformats.org/drawingml/2006/main" noGrp="1"/>
          </p:cNvSpPr>
          <p:nvPr/>
        </p:nvSpPr>
        <p:spPr>
          <a:xfrm xmlns:a="http://schemas.openxmlformats.org/drawingml/2006/main">
            <a:off x="590550" y="30956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Method: learn a query projection and arm priors from prefere">
            <a:extLst xmlns:a="http://schemas.openxmlformats.org/drawingml/2006/main">
              <a:ext uri="{FF2B5EF4-FFF2-40B4-BE49-F238E27FC236}">
                <a16:creationId xmlns:a16="http://schemas.microsoft.com/office/drawing/2014/main" id="{9D1232F3-488A-4A5B-BB95-739E30937A7F}"/>
              </a:ext>
            </a:extLst>
          </p:cNvPr>
          <p:cNvSpPr>
            <a:spLocks xmlns:a="http://schemas.openxmlformats.org/drawingml/2006/main" noGrp="1"/>
          </p:cNvSpPr>
          <p:nvPr/>
        </p:nvSpPr>
        <p:spPr>
          <a:xfrm xmlns:a="http://schemas.openxmlformats.org/drawingml/2006/main">
            <a:off x="1257300" y="3095625"/>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Method: learn a query projection and arm priors from preferences.</a:t>
            </a:r>
          </a:p>
        </p:txBody>
      </p:sp>
      <p:sp>
        <p:nvSpPr>
          <p:cNvPr id="10" name="03">
            <a:extLst xmlns:a="http://schemas.openxmlformats.org/drawingml/2006/main">
              <a:ext uri="{FF2B5EF4-FFF2-40B4-BE49-F238E27FC236}">
                <a16:creationId xmlns:a16="http://schemas.microsoft.com/office/drawing/2014/main" id="{8AFDED77-DE28-4553-99CB-9F23683E9FC1}"/>
              </a:ext>
            </a:extLst>
          </p:cNvPr>
          <p:cNvSpPr>
            <a:spLocks xmlns:a="http://schemas.openxmlformats.org/drawingml/2006/main" noGrp="1"/>
          </p:cNvSpPr>
          <p:nvPr/>
        </p:nvSpPr>
        <p:spPr>
          <a:xfrm xmlns:a="http://schemas.openxmlformats.org/drawingml/2006/main">
            <a:off x="590550" y="43719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Deployment: route a frozen model through binned budget contr">
            <a:extLst xmlns:a="http://schemas.openxmlformats.org/drawingml/2006/main">
              <a:ext uri="{FF2B5EF4-FFF2-40B4-BE49-F238E27FC236}">
                <a16:creationId xmlns:a16="http://schemas.microsoft.com/office/drawing/2014/main" id="{116D33D3-9E9D-4DC2-AE5B-1CDAD13D8FCD}"/>
              </a:ext>
            </a:extLst>
          </p:cNvPr>
          <p:cNvSpPr>
            <a:spLocks xmlns:a="http://schemas.openxmlformats.org/drawingml/2006/main" noGrp="1"/>
          </p:cNvSpPr>
          <p:nvPr/>
        </p:nvSpPr>
        <p:spPr>
          <a:xfrm xmlns:a="http://schemas.openxmlformats.org/drawingml/2006/main">
            <a:off x="1257300" y="4371975"/>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Deployment: route a frozen model through binned budget control.</a:t>
            </a:r>
          </a:p>
        </p:txBody>
      </p:sp>
    </p:spTree>
    <p:extLst>
      <p:ext uri="{BB962C8B-B14F-4D97-AF65-F5344CB8AC3E}">
        <p14:creationId xmlns:p14="http://schemas.microsoft.com/office/powerpoint/2010/main" val="1865025755"/>
      </p:ext>
    </p:extLst>
  </p:cSld>
</p:sld>
</file>

<file path=ppt/slides/slide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METHOD">
            <a:extLst xmlns:a="http://schemas.openxmlformats.org/drawingml/2006/main">
              <a:ext uri="{FF2B5EF4-FFF2-40B4-BE49-F238E27FC236}">
                <a16:creationId xmlns:a16="http://schemas.microsoft.com/office/drawing/2014/main" id="{79551585-14FE-4A7D-9155-D3A6B96018D6}"/>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METHOD</a:t>
            </a:r>
          </a:p>
        </p:txBody>
      </p:sp>
      <p:sp>
        <p:nvSpPr>
          <p:cNvPr id="2" name="Notation used throughout the pipeline">
            <a:extLst xmlns:a="http://schemas.openxmlformats.org/drawingml/2006/main">
              <a:ext uri="{FF2B5EF4-FFF2-40B4-BE49-F238E27FC236}">
                <a16:creationId xmlns:a16="http://schemas.microsoft.com/office/drawing/2014/main" id="{8CA623F4-3E38-4720-9790-B8320BD0A574}"/>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Notation used throughout the pipeline</a:t>
            </a:r>
          </a:p>
        </p:txBody>
      </p:sp>
      <p:sp>
        <p:nvSpPr>
          <p:cNvPr id="3" name="">
            <a:extLst xmlns:a="http://schemas.openxmlformats.org/drawingml/2006/main">
              <a:ext uri="{FF2B5EF4-FFF2-40B4-BE49-F238E27FC236}">
                <a16:creationId xmlns:a16="http://schemas.microsoft.com/office/drawing/2014/main" id="{6E034DED-126E-438F-AAD4-EFA631DD5781}"/>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62E0BF4F-E93B-49D2-A286-09C66DAE0ECE}"/>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07">
            <a:extLst xmlns:a="http://schemas.openxmlformats.org/drawingml/2006/main">
              <a:ext uri="{FF2B5EF4-FFF2-40B4-BE49-F238E27FC236}">
                <a16:creationId xmlns:a16="http://schemas.microsoft.com/office/drawing/2014/main" id="{8DD5387C-540E-4A1C-AC72-3C726E23D8F6}"/>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C58FC055-19BA-4127-BAAC-4BF4303B978D}"/>
              </a:ext>
            </a:extLst>
          </p:cNvPr>
          <p:cNvGraphicFramePr/>
          <p:nvPr/>
        </p:nvGraphicFramePr>
        <p:xfrm>
          <a:off xmlns:a="http://schemas.openxmlformats.org/drawingml/2006/main" x="552450" y="1847850"/>
          <a:ext xmlns:a="http://schemas.openxmlformats.org/drawingml/2006/main" cx="11087100" cy="3619500"/>
        </p:xfrm>
        <a:graphic xmlns:a="http://schemas.openxmlformats.org/drawingml/2006/main">
          <a:graphicData uri="http://schemas.openxmlformats.org/drawingml/2006/table">
            <a:tbl>
              <a:tblPr/>
              <a:tblGrid>
                <a:gridCol w="5048250"/>
                <a:gridCol w="6038850"/>
              </a:tblGrid>
              <a:tr h="723900">
                <a:tc>
                  <a:txBody>
                    <a:bodyPr/>
                    <a:lstStyle/>
                    <a:p>
                      <a:r>
                        <a:rPr sz="1725" b="1">
                          <a:solidFill>
                            <a:srgbClr val="FFFFFF"/>
                          </a:solidFill>
                          <a:latin typeface="Arial"/>
                          <a:ea typeface="Arial"/>
                          <a:cs typeface="Arial"/>
                        </a:rPr>
                        <a:t>Symbol</a:t>
                      </a:r>
                    </a:p>
                  </a:txBody>
                  <a:tcPr marL="91440" marR="91440" marT="45720" marB="45720">
                    <a:solidFill>
                      <a:srgbClr val="172D35"/>
                    </a:solidFill>
                  </a:tcPr>
                </a:tc>
                <a:tc>
                  <a:txBody>
                    <a:bodyPr/>
                    <a:lstStyle/>
                    <a:p>
                      <a:r>
                        <a:rPr sz="1725" b="1">
                          <a:solidFill>
                            <a:srgbClr val="FFFFFF"/>
                          </a:solidFill>
                          <a:latin typeface="Arial"/>
                          <a:ea typeface="Arial"/>
                          <a:cs typeface="Arial"/>
                        </a:rPr>
                        <a:t>Meaning</a:t>
                      </a:r>
                    </a:p>
                  </a:txBody>
                  <a:tcPr marL="91440" marR="91440" marT="45720" marB="45720">
                    <a:solidFill>
                      <a:srgbClr val="172D35"/>
                    </a:solidFill>
                  </a:tcPr>
                </a:tc>
              </a:tr>
              <a:tr h="723900">
                <a:tc>
                  <a:txBody>
                    <a:bodyPr/>
                    <a:lstStyle/>
                    <a:p>
                      <a:r>
                        <a:rPr sz="1725" b="0">
                          <a:solidFill>
                            <a:srgbClr val="172D35"/>
                          </a:solidFill>
                          <a:latin typeface="Arial"/>
                          <a:ea typeface="Arial"/>
                          <a:cs typeface="Arial"/>
                        </a:rPr>
                        <a:t>K, d; φ(q), z = Wφ(q) + b_proj</a:t>
                      </a:r>
                    </a:p>
                  </a:txBody>
                  <a:tcPr marL="91440" marR="91440" marT="45720" marB="45720">
                    <a:solidFill>
                      <a:srgbClr val="EEF3F0"/>
                    </a:solidFill>
                  </a:tcPr>
                </a:tc>
                <a:tc>
                  <a:txBody>
                    <a:bodyPr/>
                    <a:lstStyle/>
                    <a:p>
                      <a:r>
                        <a:rPr sz="1725" b="0">
                          <a:solidFill>
                            <a:srgbClr val="172D35"/>
                          </a:solidFill>
                          <a:latin typeface="Arial"/>
                          <a:ea typeface="Arial"/>
                          <a:cs typeface="Arial"/>
                        </a:rPr>
                        <a:t>Arm count, projected dimension; embedding and projection</a:t>
                      </a:r>
                    </a:p>
                  </a:txBody>
                  <a:tcPr marL="91440" marR="91440" marT="45720" marB="45720">
                    <a:solidFill>
                      <a:srgbClr val="EEF3F0"/>
                    </a:solidFill>
                  </a:tcPr>
                </a:tc>
              </a:tr>
              <a:tr h="723900">
                <a:tc>
                  <a:txBody>
                    <a:bodyPr/>
                    <a:lstStyle/>
                    <a:p>
                      <a:r>
                        <a:rPr sz="1725" b="0">
                          <a:solidFill>
                            <a:srgbClr val="172D35"/>
                          </a:solidFill>
                          <a:latin typeface="Arial"/>
                          <a:ea typeface="Arial"/>
                          <a:cs typeface="Arial"/>
                        </a:rPr>
                        <a:t>x; rₜ; θpref,a</a:t>
                      </a:r>
                    </a:p>
                  </a:txBody>
                  <a:tcPr marL="91440" marR="91440" marT="45720" marB="45720">
                    <a:solidFill>
                      <a:srgbClr val="FFFFFF"/>
                    </a:solidFill>
                  </a:tcPr>
                </a:tc>
                <a:tc>
                  <a:txBody>
                    <a:bodyPr/>
                    <a:lstStyle/>
                    <a:p>
                      <a:r>
                        <a:rPr sz="1725" b="0">
                          <a:solidFill>
                            <a:srgbClr val="172D35"/>
                          </a:solidFill>
                          <a:latin typeface="Arial"/>
                          <a:ea typeface="Arial"/>
                          <a:cs typeface="Arial"/>
                        </a:rPr>
                        <a:t>Unit context; selected reward; preference prior for arm a</a:t>
                      </a:r>
                    </a:p>
                  </a:txBody>
                  <a:tcPr marL="91440" marR="91440" marT="45720" marB="45720">
                    <a:solidFill>
                      <a:srgbClr val="FFFFFF"/>
                    </a:solidFill>
                  </a:tcPr>
                </a:tc>
              </a:tr>
              <a:tr h="723900">
                <a:tc>
                  <a:txBody>
                    <a:bodyPr/>
                    <a:lstStyle/>
                    <a:p>
                      <a:r>
                        <a:rPr sz="1725" b="0">
                          <a:solidFill>
                            <a:srgbClr val="172D35"/>
                          </a:solidFill>
                          <a:latin typeface="Arial"/>
                          <a:ea typeface="Arial"/>
                          <a:cs typeface="Arial"/>
                        </a:rPr>
                        <a:t>Aₐ, bₐ; θ̃ₐ = Aₐ⁻¹bₐ</a:t>
                      </a:r>
                    </a:p>
                  </a:txBody>
                  <a:tcPr marL="91440" marR="91440" marT="45720" marB="45720">
                    <a:solidFill>
                      <a:srgbClr val="EEF3F0"/>
                    </a:solidFill>
                  </a:tcPr>
                </a:tc>
                <a:tc>
                  <a:txBody>
                    <a:bodyPr/>
                    <a:lstStyle/>
                    <a:p>
                      <a:r>
                        <a:rPr sz="1725" b="0">
                          <a:solidFill>
                            <a:srgbClr val="172D35"/>
                          </a:solidFill>
                          <a:latin typeface="Arial"/>
                          <a:ea typeface="Arial"/>
                          <a:cs typeface="Arial"/>
                        </a:rPr>
                        <a:t>Ridge sufficient statistics and current estimate</a:t>
                      </a:r>
                    </a:p>
                  </a:txBody>
                  <a:tcPr marL="91440" marR="91440" marT="45720" marB="45720">
                    <a:solidFill>
                      <a:srgbClr val="EEF3F0"/>
                    </a:solidFill>
                  </a:tcPr>
                </a:tc>
              </a:tr>
              <a:tr h="723900">
                <a:tc>
                  <a:txBody>
                    <a:bodyPr/>
                    <a:lstStyle/>
                    <a:p>
                      <a:r>
                        <a:rPr sz="1725" b="0">
                          <a:solidFill>
                            <a:srgbClr val="172D35"/>
                          </a:solidFill>
                          <a:latin typeface="Arial"/>
                          <a:ea typeface="Arial"/>
                          <a:cs typeface="Arial"/>
                        </a:rPr>
                        <a:t>λₐ, α; B</a:t>
                      </a:r>
                    </a:p>
                  </a:txBody>
                  <a:tcPr marL="91440" marR="91440" marT="45720" marB="45720">
                    <a:solidFill>
                      <a:srgbClr val="FFFFFF"/>
                    </a:solidFill>
                  </a:tcPr>
                </a:tc>
                <a:tc>
                  <a:txBody>
                    <a:bodyPr/>
                    <a:lstStyle/>
                    <a:p>
                      <a:r>
                        <a:rPr sz="1725" b="0">
                          <a:solidFill>
                            <a:srgbClr val="172D35"/>
                          </a:solidFill>
                          <a:latin typeface="Arial"/>
                          <a:ea typeface="Arial"/>
                          <a:cs typeface="Arial"/>
                        </a:rPr>
                        <a:t>Initialization strength, exploration; deployment budget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28372802"/>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8" name="METHOD PIPELINE">
            <a:extLst xmlns:a="http://schemas.openxmlformats.org/drawingml/2006/main">
              <a:ext uri="{FF2B5EF4-FFF2-40B4-BE49-F238E27FC236}">
                <a16:creationId xmlns:a16="http://schemas.microsoft.com/office/drawing/2014/main" id="{2FEA50AE-940D-4530-8D6E-2890C48A2DB5}"/>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METHOD PIPELINE</a:t>
            </a:r>
          </a:p>
        </p:txBody>
      </p:sp>
      <p:sp>
        <p:nvSpPr>
          <p:cNvPr id="2" name="Train once; learn online; deploy frozen">
            <a:extLst xmlns:a="http://schemas.openxmlformats.org/drawingml/2006/main">
              <a:ext uri="{FF2B5EF4-FFF2-40B4-BE49-F238E27FC236}">
                <a16:creationId xmlns:a16="http://schemas.microsoft.com/office/drawing/2014/main" id="{3C4388BA-F076-499F-B3DA-8114B214EC7E}"/>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Train once; learn online; deploy frozen</a:t>
            </a:r>
          </a:p>
        </p:txBody>
      </p:sp>
      <p:sp>
        <p:nvSpPr>
          <p:cNvPr id="3" name="">
            <a:extLst xmlns:a="http://schemas.openxmlformats.org/drawingml/2006/main">
              <a:ext uri="{FF2B5EF4-FFF2-40B4-BE49-F238E27FC236}">
                <a16:creationId xmlns:a16="http://schemas.microsoft.com/office/drawing/2014/main" id="{D5076472-5B4F-452E-86D3-14511F1EAA18}"/>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2D1DC908-7008-43A9-826E-4B08793340E1}"/>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08">
            <a:extLst xmlns:a="http://schemas.openxmlformats.org/drawingml/2006/main">
              <a:ext uri="{FF2B5EF4-FFF2-40B4-BE49-F238E27FC236}">
                <a16:creationId xmlns:a16="http://schemas.microsoft.com/office/drawing/2014/main" id="{F51F7F30-D740-41AE-BD27-4783A5B95E02}"/>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D50BFAC-AB9E-4C94-BA0D-BD76852CF197}"/>
              </a:ext>
            </a:extLst>
          </p:cNvPr>
          <p:cNvSpPr>
            <a:spLocks xmlns:a="http://schemas.openxmlformats.org/drawingml/2006/main" noGrp="1"/>
          </p:cNvSpPr>
          <p:nvPr/>
        </p:nvSpPr>
        <p:spPr>
          <a:xfrm xmlns:a="http://schemas.openxmlformats.org/drawingml/2006/main">
            <a:off x="552450" y="2533650"/>
            <a:ext cx="2286000" cy="1285875"/>
          </a:xfrm>
          <a:prstGeom xmlns:a="http://schemas.openxmlformats.org/drawingml/2006/main" prst="rect">
            <a:avLst/>
          </a:prstGeom>
          <a:solidFill xmlns:a="http://schemas.openxmlformats.org/drawingml/2006/main">
            <a:srgbClr val="172D35"/>
          </a:solidFill>
          <a:ln xmlns:a="http://schemas.openxmlformats.org/drawingml/2006/main" w="0">
            <a:noFill/>
          </a:ln>
        </p:spPr>
      </p:sp>
      <p:sp>
        <p:nvSpPr>
          <p:cNvPr id="7" name="Preference&#10;pretraining">
            <a:extLst xmlns:a="http://schemas.openxmlformats.org/drawingml/2006/main">
              <a:ext uri="{FF2B5EF4-FFF2-40B4-BE49-F238E27FC236}">
                <a16:creationId xmlns:a16="http://schemas.microsoft.com/office/drawing/2014/main" id="{B70AC624-54CA-4FF9-A49E-123F024181C4}"/>
              </a:ext>
            </a:extLst>
          </p:cNvPr>
          <p:cNvSpPr>
            <a:spLocks xmlns:a="http://schemas.openxmlformats.org/drawingml/2006/main" noGrp="1"/>
          </p:cNvSpPr>
          <p:nvPr/>
        </p:nvSpPr>
        <p:spPr>
          <a:xfrm xmlns:a="http://schemas.openxmlformats.org/drawingml/2006/main">
            <a:off x="7143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Preference</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pretraining</a:t>
            </a:r>
          </a:p>
        </p:txBody>
      </p:sp>
      <p:sp>
        <p:nvSpPr>
          <p:cNvPr id="8" name="→">
            <a:extLst xmlns:a="http://schemas.openxmlformats.org/drawingml/2006/main">
              <a:ext uri="{FF2B5EF4-FFF2-40B4-BE49-F238E27FC236}">
                <a16:creationId xmlns:a16="http://schemas.microsoft.com/office/drawing/2014/main" id="{D2F0D222-34C6-4738-99D0-B80E30089F75}"/>
              </a:ext>
            </a:extLst>
          </p:cNvPr>
          <p:cNvSpPr>
            <a:spLocks xmlns:a="http://schemas.openxmlformats.org/drawingml/2006/main" noGrp="1"/>
          </p:cNvSpPr>
          <p:nvPr/>
        </p:nvSpPr>
        <p:spPr>
          <a:xfrm xmlns:a="http://schemas.openxmlformats.org/drawingml/2006/main">
            <a:off x="29527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1BAFDA7-9F40-4425-983B-A6BA81D21405}"/>
              </a:ext>
            </a:extLst>
          </p:cNvPr>
          <p:cNvSpPr>
            <a:spLocks xmlns:a="http://schemas.openxmlformats.org/drawingml/2006/main" noGrp="1"/>
          </p:cNvSpPr>
          <p:nvPr/>
        </p:nvSpPr>
        <p:spPr>
          <a:xfrm xmlns:a="http://schemas.openxmlformats.org/drawingml/2006/main">
            <a:off x="3448050" y="2533650"/>
            <a:ext cx="2286000" cy="1285875"/>
          </a:xfrm>
          <a:prstGeom xmlns:a="http://schemas.openxmlformats.org/drawingml/2006/main" prst="rect">
            <a:avLst/>
          </a:prstGeom>
          <a:solidFill xmlns:a="http://schemas.openxmlformats.org/drawingml/2006/main">
            <a:srgbClr val="E4EEEB"/>
          </a:solidFill>
          <a:ln xmlns:a="http://schemas.openxmlformats.org/drawingml/2006/main" w="0">
            <a:noFill/>
          </a:ln>
        </p:spPr>
      </p:sp>
      <p:sp>
        <p:nvSpPr>
          <p:cNvPr id="10" name="Selected-only&#10;online updates">
            <a:extLst xmlns:a="http://schemas.openxmlformats.org/drawingml/2006/main">
              <a:ext uri="{FF2B5EF4-FFF2-40B4-BE49-F238E27FC236}">
                <a16:creationId xmlns:a16="http://schemas.microsoft.com/office/drawing/2014/main" id="{CB6F130D-1A2D-4145-B7FD-DC9BF6266F6A}"/>
              </a:ext>
            </a:extLst>
          </p:cNvPr>
          <p:cNvSpPr>
            <a:spLocks xmlns:a="http://schemas.openxmlformats.org/drawingml/2006/main" noGrp="1"/>
          </p:cNvSpPr>
          <p:nvPr/>
        </p:nvSpPr>
        <p:spPr>
          <a:xfrm xmlns:a="http://schemas.openxmlformats.org/drawingml/2006/main">
            <a:off x="36099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D35"/>
                </a:solidFill>
                <a:latin typeface="Arial"/>
                <a:ea typeface="Arial"/>
                <a:cs typeface="Arial"/>
              </a:defRPr>
            </a:defPPr>
            <a:lvl1pPr>
              <a:defRPr sz="2025" b="1">
                <a:solidFill>
                  <a:srgbClr val="172D35"/>
                </a:solidFill>
                <a:latin typeface="Arial"/>
                <a:ea typeface="Arial"/>
                <a:cs typeface="Arial"/>
              </a:defRPr>
            </a:lvl1pPr>
            <a:lvl2pPr>
              <a:defRPr sz="2025" b="1">
                <a:solidFill>
                  <a:srgbClr val="172D35"/>
                </a:solidFill>
                <a:latin typeface="Arial"/>
                <a:ea typeface="Arial"/>
                <a:cs typeface="Arial"/>
              </a:defRPr>
            </a:lvl2pPr>
            <a:lvl3pPr>
              <a:defRPr sz="2025" b="1">
                <a:solidFill>
                  <a:srgbClr val="172D35"/>
                </a:solidFill>
                <a:latin typeface="Arial"/>
                <a:ea typeface="Arial"/>
                <a:cs typeface="Arial"/>
              </a:defRPr>
            </a:lvl3pPr>
            <a:lvl4pPr>
              <a:defRPr sz="2025" b="1">
                <a:solidFill>
                  <a:srgbClr val="172D35"/>
                </a:solidFill>
                <a:latin typeface="Arial"/>
                <a:ea typeface="Arial"/>
                <a:cs typeface="Arial"/>
              </a:defRPr>
            </a:lvl4pPr>
            <a:lvl5pPr>
              <a:defRPr sz="2025" b="1">
                <a:solidFill>
                  <a:srgbClr val="172D35"/>
                </a:solidFill>
                <a:latin typeface="Arial"/>
                <a:ea typeface="Arial"/>
                <a:cs typeface="Arial"/>
              </a:defRPr>
            </a:lvl5pPr>
            <a:lvl6pPr>
              <a:defRPr sz="2025" b="1">
                <a:solidFill>
                  <a:srgbClr val="172D35"/>
                </a:solidFill>
                <a:latin typeface="Arial"/>
                <a:ea typeface="Arial"/>
                <a:cs typeface="Arial"/>
              </a:defRPr>
            </a:lvl6pPr>
            <a:lvl7pPr>
              <a:defRPr sz="2025" b="1">
                <a:solidFill>
                  <a:srgbClr val="172D35"/>
                </a:solidFill>
                <a:latin typeface="Arial"/>
                <a:ea typeface="Arial"/>
                <a:cs typeface="Arial"/>
              </a:defRPr>
            </a:lvl7pPr>
            <a:lvl8pPr>
              <a:defRPr sz="2025" b="1">
                <a:solidFill>
                  <a:srgbClr val="172D35"/>
                </a:solidFill>
                <a:latin typeface="Arial"/>
                <a:ea typeface="Arial"/>
                <a:cs typeface="Arial"/>
              </a:defRPr>
            </a:lvl8pPr>
            <a:lvl9pPr>
              <a:defRPr sz="2025" b="1">
                <a:solidFill>
                  <a:srgbClr val="172D35"/>
                </a:solidFill>
                <a:latin typeface="Arial"/>
                <a:ea typeface="Arial"/>
                <a:cs typeface="Arial"/>
              </a:defRPr>
            </a:lvl9pPr>
          </a:lstStyle>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Selected-only</a:t>
            </a:r>
          </a:p>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online updates</a:t>
            </a:r>
          </a:p>
        </p:txBody>
      </p:sp>
      <p:sp>
        <p:nvSpPr>
          <p:cNvPr id="11" name="→">
            <a:extLst xmlns:a="http://schemas.openxmlformats.org/drawingml/2006/main">
              <a:ext uri="{FF2B5EF4-FFF2-40B4-BE49-F238E27FC236}">
                <a16:creationId xmlns:a16="http://schemas.microsoft.com/office/drawing/2014/main" id="{606C639C-7B2F-4CFB-9563-7B753E7911ED}"/>
              </a:ext>
            </a:extLst>
          </p:cNvPr>
          <p:cNvSpPr>
            <a:spLocks xmlns:a="http://schemas.openxmlformats.org/drawingml/2006/main" noGrp="1"/>
          </p:cNvSpPr>
          <p:nvPr/>
        </p:nvSpPr>
        <p:spPr>
          <a:xfrm xmlns:a="http://schemas.openxmlformats.org/drawingml/2006/main">
            <a:off x="58483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F4AD38B8-0C64-42C5-89A8-7E3D0FFE200E}"/>
              </a:ext>
            </a:extLst>
          </p:cNvPr>
          <p:cNvSpPr>
            <a:spLocks xmlns:a="http://schemas.openxmlformats.org/drawingml/2006/main" noGrp="1"/>
          </p:cNvSpPr>
          <p:nvPr/>
        </p:nvSpPr>
        <p:spPr>
          <a:xfrm xmlns:a="http://schemas.openxmlformats.org/drawingml/2006/main">
            <a:off x="6343650" y="2533650"/>
            <a:ext cx="2286000" cy="1285875"/>
          </a:xfrm>
          <a:prstGeom xmlns:a="http://schemas.openxmlformats.org/drawingml/2006/main" prst="rect">
            <a:avLst/>
          </a:prstGeom>
          <a:solidFill xmlns:a="http://schemas.openxmlformats.org/drawingml/2006/main">
            <a:srgbClr val="172D35"/>
          </a:solidFill>
          <a:ln xmlns:a="http://schemas.openxmlformats.org/drawingml/2006/main" w="0">
            <a:noFill/>
          </a:ln>
        </p:spPr>
      </p:sp>
      <p:sp>
        <p:nvSpPr>
          <p:cNvPr id="13" name="Frozen prefix&#10;checkpoints">
            <a:extLst xmlns:a="http://schemas.openxmlformats.org/drawingml/2006/main">
              <a:ext uri="{FF2B5EF4-FFF2-40B4-BE49-F238E27FC236}">
                <a16:creationId xmlns:a16="http://schemas.microsoft.com/office/drawing/2014/main" id="{614AB9D5-66DA-4F39-8707-26F8752D688E}"/>
              </a:ext>
            </a:extLst>
          </p:cNvPr>
          <p:cNvSpPr>
            <a:spLocks xmlns:a="http://schemas.openxmlformats.org/drawingml/2006/main" noGrp="1"/>
          </p:cNvSpPr>
          <p:nvPr/>
        </p:nvSpPr>
        <p:spPr>
          <a:xfrm xmlns:a="http://schemas.openxmlformats.org/drawingml/2006/main">
            <a:off x="65055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Frozen prefix</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checkpoints</a:t>
            </a:r>
          </a:p>
        </p:txBody>
      </p:sp>
      <p:sp>
        <p:nvSpPr>
          <p:cNvPr id="14" name="→">
            <a:extLst xmlns:a="http://schemas.openxmlformats.org/drawingml/2006/main">
              <a:ext uri="{FF2B5EF4-FFF2-40B4-BE49-F238E27FC236}">
                <a16:creationId xmlns:a16="http://schemas.microsoft.com/office/drawing/2014/main" id="{445A5BCD-966A-46D1-84E8-6078EE51013C}"/>
              </a:ext>
            </a:extLst>
          </p:cNvPr>
          <p:cNvSpPr>
            <a:spLocks xmlns:a="http://schemas.openxmlformats.org/drawingml/2006/main" noGrp="1"/>
          </p:cNvSpPr>
          <p:nvPr/>
        </p:nvSpPr>
        <p:spPr>
          <a:xfrm xmlns:a="http://schemas.openxmlformats.org/drawingml/2006/main">
            <a:off x="8743950" y="2914650"/>
            <a:ext cx="45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10817B98-523A-4CCF-996F-7223CFCC363C}"/>
              </a:ext>
            </a:extLst>
          </p:cNvPr>
          <p:cNvSpPr>
            <a:spLocks xmlns:a="http://schemas.openxmlformats.org/drawingml/2006/main" noGrp="1"/>
          </p:cNvSpPr>
          <p:nvPr/>
        </p:nvSpPr>
        <p:spPr>
          <a:xfrm xmlns:a="http://schemas.openxmlformats.org/drawingml/2006/main">
            <a:off x="9239250" y="2533650"/>
            <a:ext cx="2286000" cy="1285875"/>
          </a:xfrm>
          <a:prstGeom xmlns:a="http://schemas.openxmlformats.org/drawingml/2006/main" prst="rect">
            <a:avLst/>
          </a:prstGeom>
          <a:solidFill xmlns:a="http://schemas.openxmlformats.org/drawingml/2006/main">
            <a:srgbClr val="E4EEEB"/>
          </a:solidFill>
          <a:ln xmlns:a="http://schemas.openxmlformats.org/drawingml/2006/main" w="0">
            <a:noFill/>
          </a:ln>
        </p:spPr>
      </p:sp>
      <p:sp>
        <p:nvSpPr>
          <p:cNvPr id="16" name="Budgeted&#10;deployment">
            <a:extLst xmlns:a="http://schemas.openxmlformats.org/drawingml/2006/main">
              <a:ext uri="{FF2B5EF4-FFF2-40B4-BE49-F238E27FC236}">
                <a16:creationId xmlns:a16="http://schemas.microsoft.com/office/drawing/2014/main" id="{8511BF81-1487-453E-BDA1-C80D2A51C465}"/>
              </a:ext>
            </a:extLst>
          </p:cNvPr>
          <p:cNvSpPr>
            <a:spLocks xmlns:a="http://schemas.openxmlformats.org/drawingml/2006/main" noGrp="1"/>
          </p:cNvSpPr>
          <p:nvPr/>
        </p:nvSpPr>
        <p:spPr>
          <a:xfrm xmlns:a="http://schemas.openxmlformats.org/drawingml/2006/main">
            <a:off x="9401175" y="27813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D35"/>
                </a:solidFill>
                <a:latin typeface="Arial"/>
                <a:ea typeface="Arial"/>
                <a:cs typeface="Arial"/>
              </a:defRPr>
            </a:defPPr>
            <a:lvl1pPr>
              <a:defRPr sz="2025" b="1">
                <a:solidFill>
                  <a:srgbClr val="172D35"/>
                </a:solidFill>
                <a:latin typeface="Arial"/>
                <a:ea typeface="Arial"/>
                <a:cs typeface="Arial"/>
              </a:defRPr>
            </a:lvl1pPr>
            <a:lvl2pPr>
              <a:defRPr sz="2025" b="1">
                <a:solidFill>
                  <a:srgbClr val="172D35"/>
                </a:solidFill>
                <a:latin typeface="Arial"/>
                <a:ea typeface="Arial"/>
                <a:cs typeface="Arial"/>
              </a:defRPr>
            </a:lvl2pPr>
            <a:lvl3pPr>
              <a:defRPr sz="2025" b="1">
                <a:solidFill>
                  <a:srgbClr val="172D35"/>
                </a:solidFill>
                <a:latin typeface="Arial"/>
                <a:ea typeface="Arial"/>
                <a:cs typeface="Arial"/>
              </a:defRPr>
            </a:lvl3pPr>
            <a:lvl4pPr>
              <a:defRPr sz="2025" b="1">
                <a:solidFill>
                  <a:srgbClr val="172D35"/>
                </a:solidFill>
                <a:latin typeface="Arial"/>
                <a:ea typeface="Arial"/>
                <a:cs typeface="Arial"/>
              </a:defRPr>
            </a:lvl4pPr>
            <a:lvl5pPr>
              <a:defRPr sz="2025" b="1">
                <a:solidFill>
                  <a:srgbClr val="172D35"/>
                </a:solidFill>
                <a:latin typeface="Arial"/>
                <a:ea typeface="Arial"/>
                <a:cs typeface="Arial"/>
              </a:defRPr>
            </a:lvl5pPr>
            <a:lvl6pPr>
              <a:defRPr sz="2025" b="1">
                <a:solidFill>
                  <a:srgbClr val="172D35"/>
                </a:solidFill>
                <a:latin typeface="Arial"/>
                <a:ea typeface="Arial"/>
                <a:cs typeface="Arial"/>
              </a:defRPr>
            </a:lvl6pPr>
            <a:lvl7pPr>
              <a:defRPr sz="2025" b="1">
                <a:solidFill>
                  <a:srgbClr val="172D35"/>
                </a:solidFill>
                <a:latin typeface="Arial"/>
                <a:ea typeface="Arial"/>
                <a:cs typeface="Arial"/>
              </a:defRPr>
            </a:lvl7pPr>
            <a:lvl8pPr>
              <a:defRPr sz="2025" b="1">
                <a:solidFill>
                  <a:srgbClr val="172D35"/>
                </a:solidFill>
                <a:latin typeface="Arial"/>
                <a:ea typeface="Arial"/>
                <a:cs typeface="Arial"/>
              </a:defRPr>
            </a:lvl8pPr>
            <a:lvl9pPr>
              <a:defRPr sz="2025" b="1">
                <a:solidFill>
                  <a:srgbClr val="172D35"/>
                </a:solidFill>
                <a:latin typeface="Arial"/>
                <a:ea typeface="Arial"/>
                <a:cs typeface="Arial"/>
              </a:defRPr>
            </a:lvl9pPr>
          </a:lstStyle>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Budgeted</a:t>
            </a:r>
          </a:p>
          <a:p xmlns:a="http://schemas.openxmlformats.org/drawingml/2006/main">
            <a:pPr>
              <a:defRPr sz="2025" b="1">
                <a:solidFill>
                  <a:srgbClr val="172D35"/>
                </a:solidFill>
                <a:latin typeface="Arial"/>
                <a:ea typeface="Arial"/>
                <a:cs typeface="Arial"/>
              </a:defRPr>
            </a:pPr>
            <a:r>
              <a:rPr sz="2025" b="1">
                <a:solidFill>
                  <a:srgbClr val="172D35"/>
                </a:solidFill>
                <a:latin typeface="Arial"/>
                <a:ea typeface="Arial"/>
                <a:cs typeface="Arial"/>
              </a:rPr>
              <a:t>deployment</a:t>
            </a:r>
          </a:p>
        </p:txBody>
      </p:sp>
      <p:sp>
        <p:nvSpPr>
          <p:cNvPr id="17" name="Tuning is separate. Deployment rewards never update the rout">
            <a:extLst xmlns:a="http://schemas.openxmlformats.org/drawingml/2006/main">
              <a:ext uri="{FF2B5EF4-FFF2-40B4-BE49-F238E27FC236}">
                <a16:creationId xmlns:a16="http://schemas.microsoft.com/office/drawing/2014/main" id="{FE124585-7A6E-456F-AFA7-496B5DB39158}"/>
              </a:ext>
            </a:extLst>
          </p:cNvPr>
          <p:cNvSpPr>
            <a:spLocks xmlns:a="http://schemas.openxmlformats.org/drawingml/2006/main" noGrp="1"/>
          </p:cNvSpPr>
          <p:nvPr/>
        </p:nvSpPr>
        <p:spPr>
          <a:xfrm xmlns:a="http://schemas.openxmlformats.org/drawingml/2006/main">
            <a:off x="581025" y="4572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96C72"/>
                </a:solidFill>
                <a:latin typeface="Arial"/>
                <a:ea typeface="Arial"/>
                <a:cs typeface="Arial"/>
              </a:defRPr>
            </a:defPPr>
            <a:lvl1pPr>
              <a:defRPr sz="2250" b="1">
                <a:solidFill>
                  <a:srgbClr val="096C72"/>
                </a:solidFill>
                <a:latin typeface="Arial"/>
                <a:ea typeface="Arial"/>
                <a:cs typeface="Arial"/>
              </a:defRPr>
            </a:lvl1pPr>
            <a:lvl2pPr>
              <a:defRPr sz="2250" b="1">
                <a:solidFill>
                  <a:srgbClr val="096C72"/>
                </a:solidFill>
                <a:latin typeface="Arial"/>
                <a:ea typeface="Arial"/>
                <a:cs typeface="Arial"/>
              </a:defRPr>
            </a:lvl2pPr>
            <a:lvl3pPr>
              <a:defRPr sz="2250" b="1">
                <a:solidFill>
                  <a:srgbClr val="096C72"/>
                </a:solidFill>
                <a:latin typeface="Arial"/>
                <a:ea typeface="Arial"/>
                <a:cs typeface="Arial"/>
              </a:defRPr>
            </a:lvl3pPr>
            <a:lvl4pPr>
              <a:defRPr sz="2250" b="1">
                <a:solidFill>
                  <a:srgbClr val="096C72"/>
                </a:solidFill>
                <a:latin typeface="Arial"/>
                <a:ea typeface="Arial"/>
                <a:cs typeface="Arial"/>
              </a:defRPr>
            </a:lvl4pPr>
            <a:lvl5pPr>
              <a:defRPr sz="2250" b="1">
                <a:solidFill>
                  <a:srgbClr val="096C72"/>
                </a:solidFill>
                <a:latin typeface="Arial"/>
                <a:ea typeface="Arial"/>
                <a:cs typeface="Arial"/>
              </a:defRPr>
            </a:lvl5pPr>
            <a:lvl6pPr>
              <a:defRPr sz="2250" b="1">
                <a:solidFill>
                  <a:srgbClr val="096C72"/>
                </a:solidFill>
                <a:latin typeface="Arial"/>
                <a:ea typeface="Arial"/>
                <a:cs typeface="Arial"/>
              </a:defRPr>
            </a:lvl6pPr>
            <a:lvl7pPr>
              <a:defRPr sz="2250" b="1">
                <a:solidFill>
                  <a:srgbClr val="096C72"/>
                </a:solidFill>
                <a:latin typeface="Arial"/>
                <a:ea typeface="Arial"/>
                <a:cs typeface="Arial"/>
              </a:defRPr>
            </a:lvl7pPr>
            <a:lvl8pPr>
              <a:defRPr sz="2250" b="1">
                <a:solidFill>
                  <a:srgbClr val="096C72"/>
                </a:solidFill>
                <a:latin typeface="Arial"/>
                <a:ea typeface="Arial"/>
                <a:cs typeface="Arial"/>
              </a:defRPr>
            </a:lvl8pPr>
            <a:lvl9pPr>
              <a:defRPr sz="2250" b="1">
                <a:solidFill>
                  <a:srgbClr val="096C72"/>
                </a:solidFill>
                <a:latin typeface="Arial"/>
                <a:ea typeface="Arial"/>
                <a:cs typeface="Arial"/>
              </a:defRPr>
            </a:lvl9pPr>
          </a:lstStyle>
          <a:p xmlns:a="http://schemas.openxmlformats.org/drawingml/2006/main">
            <a:pPr>
              <a:defRPr sz="2250" b="1">
                <a:solidFill>
                  <a:srgbClr val="096C72"/>
                </a:solidFill>
                <a:latin typeface="Arial"/>
                <a:ea typeface="Arial"/>
                <a:cs typeface="Arial"/>
              </a:defRPr>
            </a:pPr>
            <a:r>
              <a:rPr sz="2250" b="1">
                <a:solidFill>
                  <a:srgbClr val="096C72"/>
                </a:solidFill>
                <a:latin typeface="Arial"/>
                <a:ea typeface="Arial"/>
                <a:cs typeface="Arial"/>
              </a:rPr>
              <a:t>Tuning is separate. Deployment rewards never update the router.</a:t>
            </a:r>
          </a:p>
        </p:txBody>
      </p:sp>
    </p:spTree>
    <p:extLst>
      <p:ext uri="{BB962C8B-B14F-4D97-AF65-F5344CB8AC3E}">
        <p14:creationId xmlns:p14="http://schemas.microsoft.com/office/powerpoint/2010/main" val="1469144046"/>
      </p:ext>
    </p:extLst>
  </p:cSld>
</p:sld>
</file>

<file path=ppt/slides/slide9.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PREFERENCE PRETRAINING">
            <a:extLst xmlns:a="http://schemas.openxmlformats.org/drawingml/2006/main">
              <a:ext uri="{FF2B5EF4-FFF2-40B4-BE49-F238E27FC236}">
                <a16:creationId xmlns:a16="http://schemas.microsoft.com/office/drawing/2014/main" id="{0F74B568-43C5-4DDD-841E-5080886665E3}"/>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PREFERENCE PRETRAINING</a:t>
            </a:r>
          </a:p>
        </p:txBody>
      </p:sp>
      <p:sp>
        <p:nvSpPr>
          <p:cNvPr id="2" name="Stage 1 learns a preference-aware projection">
            <a:extLst xmlns:a="http://schemas.openxmlformats.org/drawingml/2006/main">
              <a:ext uri="{FF2B5EF4-FFF2-40B4-BE49-F238E27FC236}">
                <a16:creationId xmlns:a16="http://schemas.microsoft.com/office/drawing/2014/main" id="{E1C91186-5516-4BA8-A8B3-1BAC352FEC95}"/>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Stage 1 learns a preference-aware projection</a:t>
            </a:r>
          </a:p>
        </p:txBody>
      </p:sp>
      <p:sp>
        <p:nvSpPr>
          <p:cNvPr id="3" name="">
            <a:extLst xmlns:a="http://schemas.openxmlformats.org/drawingml/2006/main">
              <a:ext uri="{FF2B5EF4-FFF2-40B4-BE49-F238E27FC236}">
                <a16:creationId xmlns:a16="http://schemas.microsoft.com/office/drawing/2014/main" id="{9E06D5C1-2B08-4194-8F64-79A9AB523206}"/>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49D08D8E-7372-410C-BEF1-5F05AB179E50}"/>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09">
            <a:extLst xmlns:a="http://schemas.openxmlformats.org/drawingml/2006/main">
              <a:ext uri="{FF2B5EF4-FFF2-40B4-BE49-F238E27FC236}">
                <a16:creationId xmlns:a16="http://schemas.microsoft.com/office/drawing/2014/main" id="{10E737E2-7B93-4672-A38E-459EA7E824F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8ABA8389-3C2F-4AF9-B9B5-528C6EA8AFA9}"/>
              </a:ext>
            </a:extLst>
          </p:cNvPr>
          <p:cNvSpPr>
            <a:spLocks xmlns:a="http://schemas.openxmlformats.org/drawingml/2006/main" noGrp="1"/>
          </p:cNvSpPr>
          <p:nvPr/>
        </p:nvSpPr>
        <p:spPr>
          <a:xfrm xmlns:a="http://schemas.openxmlformats.org/drawingml/2006/main">
            <a:off x="533400" y="1981200"/>
            <a:ext cx="11125200" cy="1333500"/>
          </a:xfrm>
          <a:prstGeom xmlns:a="http://schemas.openxmlformats.org/drawingml/2006/main" prst="rect">
            <a:avLst/>
          </a:prstGeom>
          <a:solidFill xmlns:a="http://schemas.openxmlformats.org/drawingml/2006/main">
            <a:srgbClr val="E9F1EE"/>
          </a:solidFill>
          <a:ln xmlns:a="http://schemas.openxmlformats.org/drawingml/2006/main" w="0">
            <a:noFill/>
          </a:ln>
        </p:spPr>
      </p:sp>
      <p:sp>
        <p:nvSpPr>
          <p:cNvPr id="7" name="z = Wφ(q) + b_proj">
            <a:extLst xmlns:a="http://schemas.openxmlformats.org/drawingml/2006/main">
              <a:ext uri="{FF2B5EF4-FFF2-40B4-BE49-F238E27FC236}">
                <a16:creationId xmlns:a16="http://schemas.microsoft.com/office/drawing/2014/main" id="{150AD5BB-0552-473C-8307-E7FE8567E0F9}"/>
              </a:ext>
            </a:extLst>
          </p:cNvPr>
          <p:cNvSpPr>
            <a:spLocks xmlns:a="http://schemas.openxmlformats.org/drawingml/2006/main" noGrp="1"/>
          </p:cNvSpPr>
          <p:nvPr/>
        </p:nvSpPr>
        <p:spPr>
          <a:xfrm xmlns:a="http://schemas.openxmlformats.org/drawingml/2006/main">
            <a:off x="790575" y="21717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z = Wφ(q) + b_proj</a:t>
            </a:r>
          </a:p>
        </p:txBody>
      </p:sp>
      <p:sp>
        <p:nvSpPr>
          <p:cNvPr id="8" name="Train W and b_proj with a cosine-distance triplet margin los">
            <a:extLst xmlns:a="http://schemas.openxmlformats.org/drawingml/2006/main">
              <a:ext uri="{FF2B5EF4-FFF2-40B4-BE49-F238E27FC236}">
                <a16:creationId xmlns:a16="http://schemas.microsoft.com/office/drawing/2014/main" id="{6845962B-AC80-459D-B0F1-1B13719E9E5A}"/>
              </a:ext>
            </a:extLst>
          </p:cNvPr>
          <p:cNvSpPr>
            <a:spLocks xmlns:a="http://schemas.openxmlformats.org/drawingml/2006/main" noGrp="1"/>
          </p:cNvSpPr>
          <p:nvPr/>
        </p:nvSpPr>
        <p:spPr>
          <a:xfrm xmlns:a="http://schemas.openxmlformats.org/drawingml/2006/main">
            <a:off x="790575" y="29813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6D"/>
                </a:solidFill>
                <a:latin typeface="Arial"/>
                <a:ea typeface="Arial"/>
                <a:cs typeface="Arial"/>
              </a:defRPr>
            </a:defPPr>
            <a:lvl1pPr>
              <a:defRPr sz="1800" b="0">
                <a:solidFill>
                  <a:srgbClr val="53666D"/>
                </a:solidFill>
                <a:latin typeface="Arial"/>
                <a:ea typeface="Arial"/>
                <a:cs typeface="Arial"/>
              </a:defRPr>
            </a:lvl1pPr>
            <a:lvl2pPr>
              <a:defRPr sz="1800" b="0">
                <a:solidFill>
                  <a:srgbClr val="53666D"/>
                </a:solidFill>
                <a:latin typeface="Arial"/>
                <a:ea typeface="Arial"/>
                <a:cs typeface="Arial"/>
              </a:defRPr>
            </a:lvl2pPr>
            <a:lvl3pPr>
              <a:defRPr sz="1800" b="0">
                <a:solidFill>
                  <a:srgbClr val="53666D"/>
                </a:solidFill>
                <a:latin typeface="Arial"/>
                <a:ea typeface="Arial"/>
                <a:cs typeface="Arial"/>
              </a:defRPr>
            </a:lvl3pPr>
            <a:lvl4pPr>
              <a:defRPr sz="1800" b="0">
                <a:solidFill>
                  <a:srgbClr val="53666D"/>
                </a:solidFill>
                <a:latin typeface="Arial"/>
                <a:ea typeface="Arial"/>
                <a:cs typeface="Arial"/>
              </a:defRPr>
            </a:lvl4pPr>
            <a:lvl5pPr>
              <a:defRPr sz="1800" b="0">
                <a:solidFill>
                  <a:srgbClr val="53666D"/>
                </a:solidFill>
                <a:latin typeface="Arial"/>
                <a:ea typeface="Arial"/>
                <a:cs typeface="Arial"/>
              </a:defRPr>
            </a:lvl5pPr>
            <a:lvl6pPr>
              <a:defRPr sz="1800" b="0">
                <a:solidFill>
                  <a:srgbClr val="53666D"/>
                </a:solidFill>
                <a:latin typeface="Arial"/>
                <a:ea typeface="Arial"/>
                <a:cs typeface="Arial"/>
              </a:defRPr>
            </a:lvl6pPr>
            <a:lvl7pPr>
              <a:defRPr sz="1800" b="0">
                <a:solidFill>
                  <a:srgbClr val="53666D"/>
                </a:solidFill>
                <a:latin typeface="Arial"/>
                <a:ea typeface="Arial"/>
                <a:cs typeface="Arial"/>
              </a:defRPr>
            </a:lvl7pPr>
            <a:lvl8pPr>
              <a:defRPr sz="1800" b="0">
                <a:solidFill>
                  <a:srgbClr val="53666D"/>
                </a:solidFill>
                <a:latin typeface="Arial"/>
                <a:ea typeface="Arial"/>
                <a:cs typeface="Arial"/>
              </a:defRPr>
            </a:lvl8pPr>
            <a:lvl9pPr>
              <a:defRPr sz="1800" b="0">
                <a:solidFill>
                  <a:srgbClr val="53666D"/>
                </a:solidFill>
                <a:latin typeface="Arial"/>
                <a:ea typeface="Arial"/>
                <a:cs typeface="Arial"/>
              </a:defRPr>
            </a:lvl9pPr>
          </a:lstStyle>
          <a:p xmlns:a="http://schemas.openxmlformats.org/drawingml/2006/main">
            <a:pPr>
              <a:defRPr sz="1800" b="0">
                <a:solidFill>
                  <a:srgbClr val="53666D"/>
                </a:solidFill>
                <a:latin typeface="Arial"/>
                <a:ea typeface="Arial"/>
                <a:cs typeface="Arial"/>
              </a:defRPr>
            </a:pPr>
            <a:r>
              <a:rPr sz="1800" b="0">
                <a:solidFill>
                  <a:srgbClr val="53666D"/>
                </a:solidFill>
                <a:latin typeface="Arial"/>
                <a:ea typeface="Arial"/>
                <a:cs typeface="Arial"/>
              </a:rPr>
              <a:t>Train W and b_proj with a cosine-distance triplet margin loss.</a:t>
            </a:r>
          </a:p>
        </p:txBody>
      </p:sp>
      <p:sp>
        <p:nvSpPr>
          <p:cNvPr id="9" name="Local: BGE-M3 1,024D → 64D&#10;1,245 training pairs → 1,193 trip">
            <a:extLst xmlns:a="http://schemas.openxmlformats.org/drawingml/2006/main">
              <a:ext uri="{FF2B5EF4-FFF2-40B4-BE49-F238E27FC236}">
                <a16:creationId xmlns:a16="http://schemas.microsoft.com/office/drawing/2014/main" id="{0D29D06A-98F8-40A6-8E59-62D3ECC16BD9}"/>
              </a:ext>
            </a:extLst>
          </p:cNvPr>
          <p:cNvSpPr>
            <a:spLocks xmlns:a="http://schemas.openxmlformats.org/drawingml/2006/main" noGrp="1"/>
          </p:cNvSpPr>
          <p:nvPr/>
        </p:nvSpPr>
        <p:spPr>
          <a:xfrm xmlns:a="http://schemas.openxmlformats.org/drawingml/2006/main">
            <a:off x="714375" y="4333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Local: BGE-M3 1,024D → 64D</a:t>
            </a:r>
          </a:p>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1,245 training pairs → 1,193 triplets · 30 epochs</a:t>
            </a:r>
          </a:p>
        </p:txBody>
      </p:sp>
    </p:spTree>
    <p:extLst>
      <p:ext uri="{BB962C8B-B14F-4D97-AF65-F5344CB8AC3E}">
        <p14:creationId xmlns:p14="http://schemas.microsoft.com/office/powerpoint/2010/main" val="247503148"/>
      </p:ext>
    </p:extLst>
  </p:cSld>
</p:sld>
</file>

<file path=ppt/slides/slide1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PREFERENCE PRETRAINING">
            <a:extLst xmlns:a="http://schemas.openxmlformats.org/drawingml/2006/main">
              <a:ext uri="{FF2B5EF4-FFF2-40B4-BE49-F238E27FC236}">
                <a16:creationId xmlns:a16="http://schemas.microsoft.com/office/drawing/2014/main" id="{F24C67AF-E53E-428B-AE56-A357AC42BB4D}"/>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PREFERENCE PRETRAINING</a:t>
            </a:r>
          </a:p>
        </p:txBody>
      </p:sp>
      <p:sp>
        <p:nvSpPr>
          <p:cNvPr id="2" name="Stage 2 fits arm preference directions">
            <a:extLst xmlns:a="http://schemas.openxmlformats.org/drawingml/2006/main">
              <a:ext uri="{FF2B5EF4-FFF2-40B4-BE49-F238E27FC236}">
                <a16:creationId xmlns:a16="http://schemas.microsoft.com/office/drawing/2014/main" id="{3A137EFC-66AC-4775-A221-143532B3C5F5}"/>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Stage 2 fits arm preference directions</a:t>
            </a:r>
          </a:p>
        </p:txBody>
      </p:sp>
      <p:sp>
        <p:nvSpPr>
          <p:cNvPr id="3" name="">
            <a:extLst xmlns:a="http://schemas.openxmlformats.org/drawingml/2006/main">
              <a:ext uri="{FF2B5EF4-FFF2-40B4-BE49-F238E27FC236}">
                <a16:creationId xmlns:a16="http://schemas.microsoft.com/office/drawing/2014/main" id="{69C2B8D0-6D48-4FC1-9ACF-DB55BE18B0A7}"/>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2AF4375C-8FB6-4FF0-BDB3-CEA1C07F247D}"/>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10">
            <a:extLst xmlns:a="http://schemas.openxmlformats.org/drawingml/2006/main">
              <a:ext uri="{FF2B5EF4-FFF2-40B4-BE49-F238E27FC236}">
                <a16:creationId xmlns:a16="http://schemas.microsoft.com/office/drawing/2014/main" id="{11C0862A-9A73-45D7-B03F-2ABB52D0E6C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ED29EA6A-DB29-49C3-81B2-E4D233591F12}"/>
              </a:ext>
            </a:extLst>
          </p:cNvPr>
          <p:cNvSpPr>
            <a:spLocks xmlns:a="http://schemas.openxmlformats.org/drawingml/2006/main" noGrp="1"/>
          </p:cNvSpPr>
          <p:nvPr/>
        </p:nvSpPr>
        <p:spPr>
          <a:xfrm xmlns:a="http://schemas.openxmlformats.org/drawingml/2006/main">
            <a:off x="533400" y="1981200"/>
            <a:ext cx="11125200" cy="1333500"/>
          </a:xfrm>
          <a:prstGeom xmlns:a="http://schemas.openxmlformats.org/drawingml/2006/main" prst="rect">
            <a:avLst/>
          </a:prstGeom>
          <a:solidFill xmlns:a="http://schemas.openxmlformats.org/drawingml/2006/main">
            <a:srgbClr val="E9F1EE"/>
          </a:solidFill>
          <a:ln xmlns:a="http://schemas.openxmlformats.org/drawingml/2006/main" w="0">
            <a:noFill/>
          </a:ln>
        </p:spPr>
      </p:sp>
      <p:sp>
        <p:nvSpPr>
          <p:cNvPr id="7" name="P(a ≻ b | q) = softmax(cos(z, θₐ), cos(z, θᵦ))ₐ">
            <a:extLst xmlns:a="http://schemas.openxmlformats.org/drawingml/2006/main">
              <a:ext uri="{FF2B5EF4-FFF2-40B4-BE49-F238E27FC236}">
                <a16:creationId xmlns:a16="http://schemas.microsoft.com/office/drawing/2014/main" id="{8BB72868-621E-49DA-8CCD-8FA831BAFD54}"/>
              </a:ext>
            </a:extLst>
          </p:cNvPr>
          <p:cNvSpPr>
            <a:spLocks xmlns:a="http://schemas.openxmlformats.org/drawingml/2006/main" noGrp="1"/>
          </p:cNvSpPr>
          <p:nvPr/>
        </p:nvSpPr>
        <p:spPr>
          <a:xfrm xmlns:a="http://schemas.openxmlformats.org/drawingml/2006/main">
            <a:off x="790575" y="21717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P(a ≻ b | q) = softmax(cos(z, θₐ), cos(z, θᵦ))ₐ</a:t>
            </a:r>
          </a:p>
        </p:txBody>
      </p:sp>
      <p:sp>
        <p:nvSpPr>
          <p:cNvPr id="8" name="Freeze the projection; minimize pairwise binary cross-entrop">
            <a:extLst xmlns:a="http://schemas.openxmlformats.org/drawingml/2006/main">
              <a:ext uri="{FF2B5EF4-FFF2-40B4-BE49-F238E27FC236}">
                <a16:creationId xmlns:a16="http://schemas.microsoft.com/office/drawing/2014/main" id="{6E6ABB69-A07F-4765-9D3D-CDC1BDEA80C7}"/>
              </a:ext>
            </a:extLst>
          </p:cNvPr>
          <p:cNvSpPr>
            <a:spLocks xmlns:a="http://schemas.openxmlformats.org/drawingml/2006/main" noGrp="1"/>
          </p:cNvSpPr>
          <p:nvPr/>
        </p:nvSpPr>
        <p:spPr>
          <a:xfrm xmlns:a="http://schemas.openxmlformats.org/drawingml/2006/main">
            <a:off x="790575" y="29813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6D"/>
                </a:solidFill>
                <a:latin typeface="Arial"/>
                <a:ea typeface="Arial"/>
                <a:cs typeface="Arial"/>
              </a:defRPr>
            </a:defPPr>
            <a:lvl1pPr>
              <a:defRPr sz="1800" b="0">
                <a:solidFill>
                  <a:srgbClr val="53666D"/>
                </a:solidFill>
                <a:latin typeface="Arial"/>
                <a:ea typeface="Arial"/>
                <a:cs typeface="Arial"/>
              </a:defRPr>
            </a:lvl1pPr>
            <a:lvl2pPr>
              <a:defRPr sz="1800" b="0">
                <a:solidFill>
                  <a:srgbClr val="53666D"/>
                </a:solidFill>
                <a:latin typeface="Arial"/>
                <a:ea typeface="Arial"/>
                <a:cs typeface="Arial"/>
              </a:defRPr>
            </a:lvl2pPr>
            <a:lvl3pPr>
              <a:defRPr sz="1800" b="0">
                <a:solidFill>
                  <a:srgbClr val="53666D"/>
                </a:solidFill>
                <a:latin typeface="Arial"/>
                <a:ea typeface="Arial"/>
                <a:cs typeface="Arial"/>
              </a:defRPr>
            </a:lvl3pPr>
            <a:lvl4pPr>
              <a:defRPr sz="1800" b="0">
                <a:solidFill>
                  <a:srgbClr val="53666D"/>
                </a:solidFill>
                <a:latin typeface="Arial"/>
                <a:ea typeface="Arial"/>
                <a:cs typeface="Arial"/>
              </a:defRPr>
            </a:lvl4pPr>
            <a:lvl5pPr>
              <a:defRPr sz="1800" b="0">
                <a:solidFill>
                  <a:srgbClr val="53666D"/>
                </a:solidFill>
                <a:latin typeface="Arial"/>
                <a:ea typeface="Arial"/>
                <a:cs typeface="Arial"/>
              </a:defRPr>
            </a:lvl5pPr>
            <a:lvl6pPr>
              <a:defRPr sz="1800" b="0">
                <a:solidFill>
                  <a:srgbClr val="53666D"/>
                </a:solidFill>
                <a:latin typeface="Arial"/>
                <a:ea typeface="Arial"/>
                <a:cs typeface="Arial"/>
              </a:defRPr>
            </a:lvl6pPr>
            <a:lvl7pPr>
              <a:defRPr sz="1800" b="0">
                <a:solidFill>
                  <a:srgbClr val="53666D"/>
                </a:solidFill>
                <a:latin typeface="Arial"/>
                <a:ea typeface="Arial"/>
                <a:cs typeface="Arial"/>
              </a:defRPr>
            </a:lvl7pPr>
            <a:lvl8pPr>
              <a:defRPr sz="1800" b="0">
                <a:solidFill>
                  <a:srgbClr val="53666D"/>
                </a:solidFill>
                <a:latin typeface="Arial"/>
                <a:ea typeface="Arial"/>
                <a:cs typeface="Arial"/>
              </a:defRPr>
            </a:lvl8pPr>
            <a:lvl9pPr>
              <a:defRPr sz="1800" b="0">
                <a:solidFill>
                  <a:srgbClr val="53666D"/>
                </a:solidFill>
                <a:latin typeface="Arial"/>
                <a:ea typeface="Arial"/>
                <a:cs typeface="Arial"/>
              </a:defRPr>
            </a:lvl9pPr>
          </a:lstStyle>
          <a:p xmlns:a="http://schemas.openxmlformats.org/drawingml/2006/main">
            <a:pPr>
              <a:defRPr sz="1800" b="0">
                <a:solidFill>
                  <a:srgbClr val="53666D"/>
                </a:solidFill>
                <a:latin typeface="Arial"/>
                <a:ea typeface="Arial"/>
                <a:cs typeface="Arial"/>
              </a:defRPr>
            </a:pPr>
            <a:r>
              <a:rPr sz="1800" b="0">
                <a:solidFill>
                  <a:srgbClr val="53666D"/>
                </a:solidFill>
                <a:latin typeface="Arial"/>
                <a:ea typeface="Arial"/>
                <a:cs typeface="Arial"/>
              </a:rPr>
              <a:t>Freeze the projection; minimize pairwise binary cross-entropy.</a:t>
            </a:r>
          </a:p>
        </p:txBody>
      </p:sp>
      <p:sp>
        <p:nvSpPr>
          <p:cNvPr id="9" name="40 epochs · 313 held-out pairs&#10;Mean held-out preference accu">
            <a:extLst xmlns:a="http://schemas.openxmlformats.org/drawingml/2006/main">
              <a:ext uri="{FF2B5EF4-FFF2-40B4-BE49-F238E27FC236}">
                <a16:creationId xmlns:a16="http://schemas.microsoft.com/office/drawing/2014/main" id="{548153F8-B42E-4E88-89DC-EC298C0934CC}"/>
              </a:ext>
            </a:extLst>
          </p:cNvPr>
          <p:cNvSpPr>
            <a:spLocks xmlns:a="http://schemas.openxmlformats.org/drawingml/2006/main" noGrp="1"/>
          </p:cNvSpPr>
          <p:nvPr/>
        </p:nvSpPr>
        <p:spPr>
          <a:xfrm xmlns:a="http://schemas.openxmlformats.org/drawingml/2006/main">
            <a:off x="714375" y="4333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2D35"/>
                </a:solidFill>
                <a:latin typeface="Arial"/>
                <a:ea typeface="Arial"/>
                <a:cs typeface="Arial"/>
              </a:defRPr>
            </a:defPPr>
            <a:lvl1pPr>
              <a:defRPr sz="2325" b="0">
                <a:solidFill>
                  <a:srgbClr val="172D35"/>
                </a:solidFill>
                <a:latin typeface="Arial"/>
                <a:ea typeface="Arial"/>
                <a:cs typeface="Arial"/>
              </a:defRPr>
            </a:lvl1pPr>
            <a:lvl2pPr>
              <a:defRPr sz="2325" b="0">
                <a:solidFill>
                  <a:srgbClr val="172D35"/>
                </a:solidFill>
                <a:latin typeface="Arial"/>
                <a:ea typeface="Arial"/>
                <a:cs typeface="Arial"/>
              </a:defRPr>
            </a:lvl2pPr>
            <a:lvl3pPr>
              <a:defRPr sz="2325" b="0">
                <a:solidFill>
                  <a:srgbClr val="172D35"/>
                </a:solidFill>
                <a:latin typeface="Arial"/>
                <a:ea typeface="Arial"/>
                <a:cs typeface="Arial"/>
              </a:defRPr>
            </a:lvl3pPr>
            <a:lvl4pPr>
              <a:defRPr sz="2325" b="0">
                <a:solidFill>
                  <a:srgbClr val="172D35"/>
                </a:solidFill>
                <a:latin typeface="Arial"/>
                <a:ea typeface="Arial"/>
                <a:cs typeface="Arial"/>
              </a:defRPr>
            </a:lvl4pPr>
            <a:lvl5pPr>
              <a:defRPr sz="2325" b="0">
                <a:solidFill>
                  <a:srgbClr val="172D35"/>
                </a:solidFill>
                <a:latin typeface="Arial"/>
                <a:ea typeface="Arial"/>
                <a:cs typeface="Arial"/>
              </a:defRPr>
            </a:lvl5pPr>
            <a:lvl6pPr>
              <a:defRPr sz="2325" b="0">
                <a:solidFill>
                  <a:srgbClr val="172D35"/>
                </a:solidFill>
                <a:latin typeface="Arial"/>
                <a:ea typeface="Arial"/>
                <a:cs typeface="Arial"/>
              </a:defRPr>
            </a:lvl6pPr>
            <a:lvl7pPr>
              <a:defRPr sz="2325" b="0">
                <a:solidFill>
                  <a:srgbClr val="172D35"/>
                </a:solidFill>
                <a:latin typeface="Arial"/>
                <a:ea typeface="Arial"/>
                <a:cs typeface="Arial"/>
              </a:defRPr>
            </a:lvl7pPr>
            <a:lvl8pPr>
              <a:defRPr sz="2325" b="0">
                <a:solidFill>
                  <a:srgbClr val="172D35"/>
                </a:solidFill>
                <a:latin typeface="Arial"/>
                <a:ea typeface="Arial"/>
                <a:cs typeface="Arial"/>
              </a:defRPr>
            </a:lvl8pPr>
            <a:lvl9pPr>
              <a:defRPr sz="2325" b="0">
                <a:solidFill>
                  <a:srgbClr val="172D35"/>
                </a:solidFill>
                <a:latin typeface="Arial"/>
                <a:ea typeface="Arial"/>
                <a:cs typeface="Arial"/>
              </a:defRPr>
            </a:lvl9pPr>
          </a:lstStyle>
          <a:p xmlns:a="http://schemas.openxmlformats.org/drawingml/2006/main">
            <a:pPr>
              <a:defRPr sz="2325" b="0">
                <a:solidFill>
                  <a:srgbClr val="172D35"/>
                </a:solidFill>
                <a:latin typeface="Arial"/>
                <a:ea typeface="Arial"/>
                <a:cs typeface="Arial"/>
              </a:defRPr>
            </a:pPr>
            <a:r>
              <a:rPr sz="2325" b="0">
                <a:solidFill>
                  <a:srgbClr val="172D35"/>
                </a:solidFill>
                <a:latin typeface="Arial"/>
                <a:ea typeface="Arial"/>
                <a:cs typeface="Arial"/>
              </a:rPr>
              <a:t>40 epochs · 313 held-out pairs</a:t>
            </a:r>
          </a:p>
          <a:p xmlns:a="http://schemas.openxmlformats.org/drawingml/2006/main">
            <a:pPr>
              <a:defRPr sz="2325" b="0">
                <a:solidFill>
                  <a:srgbClr val="172D35"/>
                </a:solidFill>
                <a:latin typeface="Arial"/>
                <a:ea typeface="Arial"/>
                <a:cs typeface="Arial"/>
              </a:defRPr>
            </a:pPr>
            <a:r>
              <a:rPr sz="2325" b="0">
                <a:solidFill>
                  <a:srgbClr val="172D35"/>
                </a:solidFill>
                <a:latin typeface="Arial"/>
                <a:ea typeface="Arial"/>
                <a:cs typeface="Arial"/>
              </a:rPr>
              <a:t>Mean held-out preference accuracy: 60.70%</a:t>
            </a:r>
          </a:p>
        </p:txBody>
      </p:sp>
    </p:spTree>
    <p:extLst>
      <p:ext uri="{BB962C8B-B14F-4D97-AF65-F5344CB8AC3E}">
        <p14:creationId xmlns:p14="http://schemas.microsoft.com/office/powerpoint/2010/main" val="941337282"/>
      </p:ext>
    </p:extLst>
  </p:cSld>
</p:sld>
</file>

<file path=ppt/slides/slide1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ONLINE INITIALIZATION">
            <a:extLst xmlns:a="http://schemas.openxmlformats.org/drawingml/2006/main">
              <a:ext uri="{FF2B5EF4-FFF2-40B4-BE49-F238E27FC236}">
                <a16:creationId xmlns:a16="http://schemas.microsoft.com/office/drawing/2014/main" id="{088ABFEA-BB99-44DD-94CA-117EEF83956B}"/>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ONLINE INITIALIZATION</a:t>
            </a:r>
          </a:p>
        </p:txBody>
      </p:sp>
      <p:sp>
        <p:nvSpPr>
          <p:cNvPr id="2" name="A prior changes the initial ridge state">
            <a:extLst xmlns:a="http://schemas.openxmlformats.org/drawingml/2006/main">
              <a:ext uri="{FF2B5EF4-FFF2-40B4-BE49-F238E27FC236}">
                <a16:creationId xmlns:a16="http://schemas.microsoft.com/office/drawing/2014/main" id="{D4BFE5A1-B6AD-41A7-A9A1-3107494CB664}"/>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A prior changes the initial ridge state</a:t>
            </a:r>
          </a:p>
        </p:txBody>
      </p:sp>
      <p:sp>
        <p:nvSpPr>
          <p:cNvPr id="3" name="">
            <a:extLst xmlns:a="http://schemas.openxmlformats.org/drawingml/2006/main">
              <a:ext uri="{FF2B5EF4-FFF2-40B4-BE49-F238E27FC236}">
                <a16:creationId xmlns:a16="http://schemas.microsoft.com/office/drawing/2014/main" id="{B05AC3B3-5FC2-4977-9D79-8757B5E4B372}"/>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340A8668-5D96-4296-971E-5DE1F65708A3}"/>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11">
            <a:extLst xmlns:a="http://schemas.openxmlformats.org/drawingml/2006/main">
              <a:ext uri="{FF2B5EF4-FFF2-40B4-BE49-F238E27FC236}">
                <a16:creationId xmlns:a16="http://schemas.microsoft.com/office/drawing/2014/main" id="{9926F29A-7EF6-4D92-9337-7A5205107505}"/>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F4CB5E3A-5E6B-4DCE-8802-5F18979052DC}"/>
              </a:ext>
            </a:extLst>
          </p:cNvPr>
          <p:cNvSpPr>
            <a:spLocks xmlns:a="http://schemas.openxmlformats.org/drawingml/2006/main" noGrp="1"/>
          </p:cNvSpPr>
          <p:nvPr/>
        </p:nvSpPr>
        <p:spPr>
          <a:xfrm xmlns:a="http://schemas.openxmlformats.org/drawingml/2006/main">
            <a:off x="533400" y="1981200"/>
            <a:ext cx="11125200" cy="1333500"/>
          </a:xfrm>
          <a:prstGeom xmlns:a="http://schemas.openxmlformats.org/drawingml/2006/main" prst="rect">
            <a:avLst/>
          </a:prstGeom>
          <a:solidFill xmlns:a="http://schemas.openxmlformats.org/drawingml/2006/main">
            <a:srgbClr val="E9F1EE"/>
          </a:solidFill>
          <a:ln xmlns:a="http://schemas.openxmlformats.org/drawingml/2006/main" w="0">
            <a:noFill/>
          </a:ln>
        </p:spPr>
      </p:sp>
      <p:sp>
        <p:nvSpPr>
          <p:cNvPr id="7" name="Aₐ,₀ = λₐ I       bₐ,₀ = λₐ θpref,a">
            <a:extLst xmlns:a="http://schemas.openxmlformats.org/drawingml/2006/main">
              <a:ext uri="{FF2B5EF4-FFF2-40B4-BE49-F238E27FC236}">
                <a16:creationId xmlns:a16="http://schemas.microsoft.com/office/drawing/2014/main" id="{99D4E55B-46E9-4DCD-87F4-5089B0504AB6}"/>
              </a:ext>
            </a:extLst>
          </p:cNvPr>
          <p:cNvSpPr>
            <a:spLocks xmlns:a="http://schemas.openxmlformats.org/drawingml/2006/main" noGrp="1"/>
          </p:cNvSpPr>
          <p:nvPr/>
        </p:nvSpPr>
        <p:spPr>
          <a:xfrm xmlns:a="http://schemas.openxmlformats.org/drawingml/2006/main">
            <a:off x="790575" y="21717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Aₐ,₀ = λₐ I       bₐ,₀ = λₐ θpref,a</a:t>
            </a:r>
          </a:p>
        </p:txBody>
      </p:sp>
      <p:sp>
        <p:nvSpPr>
          <p:cNvPr id="8" name="Therefore θ̃ₐ,₀ = θpref,a.">
            <a:extLst xmlns:a="http://schemas.openxmlformats.org/drawingml/2006/main">
              <a:ext uri="{FF2B5EF4-FFF2-40B4-BE49-F238E27FC236}">
                <a16:creationId xmlns:a16="http://schemas.microsoft.com/office/drawing/2014/main" id="{DBFDE7D5-49A5-489D-A313-A1718E139E38}"/>
              </a:ext>
            </a:extLst>
          </p:cNvPr>
          <p:cNvSpPr>
            <a:spLocks xmlns:a="http://schemas.openxmlformats.org/drawingml/2006/main" noGrp="1"/>
          </p:cNvSpPr>
          <p:nvPr/>
        </p:nvSpPr>
        <p:spPr>
          <a:xfrm xmlns:a="http://schemas.openxmlformats.org/drawingml/2006/main">
            <a:off x="790575" y="29813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6D"/>
                </a:solidFill>
                <a:latin typeface="Arial"/>
                <a:ea typeface="Arial"/>
                <a:cs typeface="Arial"/>
              </a:defRPr>
            </a:defPPr>
            <a:lvl1pPr>
              <a:defRPr sz="1800" b="0">
                <a:solidFill>
                  <a:srgbClr val="53666D"/>
                </a:solidFill>
                <a:latin typeface="Arial"/>
                <a:ea typeface="Arial"/>
                <a:cs typeface="Arial"/>
              </a:defRPr>
            </a:lvl1pPr>
            <a:lvl2pPr>
              <a:defRPr sz="1800" b="0">
                <a:solidFill>
                  <a:srgbClr val="53666D"/>
                </a:solidFill>
                <a:latin typeface="Arial"/>
                <a:ea typeface="Arial"/>
                <a:cs typeface="Arial"/>
              </a:defRPr>
            </a:lvl2pPr>
            <a:lvl3pPr>
              <a:defRPr sz="1800" b="0">
                <a:solidFill>
                  <a:srgbClr val="53666D"/>
                </a:solidFill>
                <a:latin typeface="Arial"/>
                <a:ea typeface="Arial"/>
                <a:cs typeface="Arial"/>
              </a:defRPr>
            </a:lvl3pPr>
            <a:lvl4pPr>
              <a:defRPr sz="1800" b="0">
                <a:solidFill>
                  <a:srgbClr val="53666D"/>
                </a:solidFill>
                <a:latin typeface="Arial"/>
                <a:ea typeface="Arial"/>
                <a:cs typeface="Arial"/>
              </a:defRPr>
            </a:lvl4pPr>
            <a:lvl5pPr>
              <a:defRPr sz="1800" b="0">
                <a:solidFill>
                  <a:srgbClr val="53666D"/>
                </a:solidFill>
                <a:latin typeface="Arial"/>
                <a:ea typeface="Arial"/>
                <a:cs typeface="Arial"/>
              </a:defRPr>
            </a:lvl5pPr>
            <a:lvl6pPr>
              <a:defRPr sz="1800" b="0">
                <a:solidFill>
                  <a:srgbClr val="53666D"/>
                </a:solidFill>
                <a:latin typeface="Arial"/>
                <a:ea typeface="Arial"/>
                <a:cs typeface="Arial"/>
              </a:defRPr>
            </a:lvl6pPr>
            <a:lvl7pPr>
              <a:defRPr sz="1800" b="0">
                <a:solidFill>
                  <a:srgbClr val="53666D"/>
                </a:solidFill>
                <a:latin typeface="Arial"/>
                <a:ea typeface="Arial"/>
                <a:cs typeface="Arial"/>
              </a:defRPr>
            </a:lvl7pPr>
            <a:lvl8pPr>
              <a:defRPr sz="1800" b="0">
                <a:solidFill>
                  <a:srgbClr val="53666D"/>
                </a:solidFill>
                <a:latin typeface="Arial"/>
                <a:ea typeface="Arial"/>
                <a:cs typeface="Arial"/>
              </a:defRPr>
            </a:lvl8pPr>
            <a:lvl9pPr>
              <a:defRPr sz="1800" b="0">
                <a:solidFill>
                  <a:srgbClr val="53666D"/>
                </a:solidFill>
                <a:latin typeface="Arial"/>
                <a:ea typeface="Arial"/>
                <a:cs typeface="Arial"/>
              </a:defRPr>
            </a:lvl9pPr>
          </a:lstStyle>
          <a:p xmlns:a="http://schemas.openxmlformats.org/drawingml/2006/main">
            <a:pPr>
              <a:defRPr sz="1800" b="0">
                <a:solidFill>
                  <a:srgbClr val="53666D"/>
                </a:solidFill>
                <a:latin typeface="Arial"/>
                <a:ea typeface="Arial"/>
                <a:cs typeface="Arial"/>
              </a:defRPr>
            </a:pPr>
            <a:r>
              <a:rPr sz="1800" b="0">
                <a:solidFill>
                  <a:srgbClr val="53666D"/>
                </a:solidFill>
                <a:latin typeface="Arial"/>
                <a:ea typeface="Arial"/>
                <a:cs typeface="Arial"/>
              </a:rPr>
              <a:t>Therefore θ̃ₐ,₀ = θpref,a.</a:t>
            </a:r>
          </a:p>
        </p:txBody>
      </p:sp>
      <p:sp>
        <p:nvSpPr>
          <p:cNvPr id="9" name="λₐ = 1 / held-out preference accuracy for arm a&#10;A heuristic ">
            <a:extLst xmlns:a="http://schemas.openxmlformats.org/drawingml/2006/main">
              <a:ext uri="{FF2B5EF4-FFF2-40B4-BE49-F238E27FC236}">
                <a16:creationId xmlns:a16="http://schemas.microsoft.com/office/drawing/2014/main" id="{20C1FC3B-4BE0-4E51-BF7F-99ACEA695BD7}"/>
              </a:ext>
            </a:extLst>
          </p:cNvPr>
          <p:cNvSpPr>
            <a:spLocks xmlns:a="http://schemas.openxmlformats.org/drawingml/2006/main" noGrp="1"/>
          </p:cNvSpPr>
          <p:nvPr/>
        </p:nvSpPr>
        <p:spPr>
          <a:xfrm xmlns:a="http://schemas.openxmlformats.org/drawingml/2006/main">
            <a:off x="714375" y="433387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λₐ = 1 / held-out preference accuracy for arm a</a:t>
            </a:r>
          </a:p>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A heuristic strength, not a target-domain guarantee.</a:t>
            </a:r>
          </a:p>
        </p:txBody>
      </p:sp>
    </p:spTree>
    <p:extLst>
      <p:ext uri="{BB962C8B-B14F-4D97-AF65-F5344CB8AC3E}">
        <p14:creationId xmlns:p14="http://schemas.microsoft.com/office/powerpoint/2010/main" val="1400809674"/>
      </p:ext>
    </p:extLst>
  </p:cSld>
</p:sld>
</file>

<file path=ppt/slides/slide1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ONLINE LEARNING">
            <a:extLst xmlns:a="http://schemas.openxmlformats.org/drawingml/2006/main">
              <a:ext uri="{FF2B5EF4-FFF2-40B4-BE49-F238E27FC236}">
                <a16:creationId xmlns:a16="http://schemas.microsoft.com/office/drawing/2014/main" id="{A7057A76-1F82-4D6B-9DE4-B2344F2222B7}"/>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ONLINE LEARNING</a:t>
            </a:r>
          </a:p>
        </p:txBody>
      </p:sp>
      <p:sp>
        <p:nvSpPr>
          <p:cNvPr id="2" name="Choose optimistically; update only the chosen arm">
            <a:extLst xmlns:a="http://schemas.openxmlformats.org/drawingml/2006/main">
              <a:ext uri="{FF2B5EF4-FFF2-40B4-BE49-F238E27FC236}">
                <a16:creationId xmlns:a16="http://schemas.microsoft.com/office/drawing/2014/main" id="{C6F77C82-8E43-41B5-B8E2-0A9A5BD6DA10}"/>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Choose optimistically; update only the chosen arm</a:t>
            </a:r>
          </a:p>
        </p:txBody>
      </p:sp>
      <p:sp>
        <p:nvSpPr>
          <p:cNvPr id="3" name="">
            <a:extLst xmlns:a="http://schemas.openxmlformats.org/drawingml/2006/main">
              <a:ext uri="{FF2B5EF4-FFF2-40B4-BE49-F238E27FC236}">
                <a16:creationId xmlns:a16="http://schemas.microsoft.com/office/drawing/2014/main" id="{A75B088A-62D6-4680-9844-1575FA7A4D31}"/>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575206F6-B586-45E5-8817-D886C3F9629C}"/>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12">
            <a:extLst xmlns:a="http://schemas.openxmlformats.org/drawingml/2006/main">
              <a:ext uri="{FF2B5EF4-FFF2-40B4-BE49-F238E27FC236}">
                <a16:creationId xmlns:a16="http://schemas.microsoft.com/office/drawing/2014/main" id="{4E7BA251-BB99-4C4A-A99D-5AFFC9533EF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12</a:t>
            </a:r>
          </a:p>
        </p:txBody>
      </p:sp>
      <p:sp>
        <p:nvSpPr>
          <p:cNvPr id="6" name="scoreₐ(x) = cos(x, θ̃ₐ) + α √(xᵀ Aₐ⁻¹ x)">
            <a:extLst xmlns:a="http://schemas.openxmlformats.org/drawingml/2006/main">
              <a:ext uri="{FF2B5EF4-FFF2-40B4-BE49-F238E27FC236}">
                <a16:creationId xmlns:a16="http://schemas.microsoft.com/office/drawing/2014/main" id="{BBF6793F-259B-4442-A246-DF743E2FBA9D}"/>
              </a:ext>
            </a:extLst>
          </p:cNvPr>
          <p:cNvSpPr>
            <a:spLocks xmlns:a="http://schemas.openxmlformats.org/drawingml/2006/main" noGrp="1"/>
          </p:cNvSpPr>
          <p:nvPr/>
        </p:nvSpPr>
        <p:spPr>
          <a:xfrm xmlns:a="http://schemas.openxmlformats.org/drawingml/2006/main">
            <a:off x="600075" y="19621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96C72"/>
                </a:solidFill>
                <a:latin typeface="Arial"/>
                <a:ea typeface="Arial"/>
                <a:cs typeface="Arial"/>
              </a:defRPr>
            </a:defPPr>
            <a:lvl1pPr>
              <a:defRPr sz="2925" b="1">
                <a:solidFill>
                  <a:srgbClr val="096C72"/>
                </a:solidFill>
                <a:latin typeface="Arial"/>
                <a:ea typeface="Arial"/>
                <a:cs typeface="Arial"/>
              </a:defRPr>
            </a:lvl1pPr>
            <a:lvl2pPr>
              <a:defRPr sz="2925" b="1">
                <a:solidFill>
                  <a:srgbClr val="096C72"/>
                </a:solidFill>
                <a:latin typeface="Arial"/>
                <a:ea typeface="Arial"/>
                <a:cs typeface="Arial"/>
              </a:defRPr>
            </a:lvl2pPr>
            <a:lvl3pPr>
              <a:defRPr sz="2925" b="1">
                <a:solidFill>
                  <a:srgbClr val="096C72"/>
                </a:solidFill>
                <a:latin typeface="Arial"/>
                <a:ea typeface="Arial"/>
                <a:cs typeface="Arial"/>
              </a:defRPr>
            </a:lvl3pPr>
            <a:lvl4pPr>
              <a:defRPr sz="2925" b="1">
                <a:solidFill>
                  <a:srgbClr val="096C72"/>
                </a:solidFill>
                <a:latin typeface="Arial"/>
                <a:ea typeface="Arial"/>
                <a:cs typeface="Arial"/>
              </a:defRPr>
            </a:lvl4pPr>
            <a:lvl5pPr>
              <a:defRPr sz="2925" b="1">
                <a:solidFill>
                  <a:srgbClr val="096C72"/>
                </a:solidFill>
                <a:latin typeface="Arial"/>
                <a:ea typeface="Arial"/>
                <a:cs typeface="Arial"/>
              </a:defRPr>
            </a:lvl5pPr>
            <a:lvl6pPr>
              <a:defRPr sz="2925" b="1">
                <a:solidFill>
                  <a:srgbClr val="096C72"/>
                </a:solidFill>
                <a:latin typeface="Arial"/>
                <a:ea typeface="Arial"/>
                <a:cs typeface="Arial"/>
              </a:defRPr>
            </a:lvl6pPr>
            <a:lvl7pPr>
              <a:defRPr sz="2925" b="1">
                <a:solidFill>
                  <a:srgbClr val="096C72"/>
                </a:solidFill>
                <a:latin typeface="Arial"/>
                <a:ea typeface="Arial"/>
                <a:cs typeface="Arial"/>
              </a:defRPr>
            </a:lvl7pPr>
            <a:lvl8pPr>
              <a:defRPr sz="2925" b="1">
                <a:solidFill>
                  <a:srgbClr val="096C72"/>
                </a:solidFill>
                <a:latin typeface="Arial"/>
                <a:ea typeface="Arial"/>
                <a:cs typeface="Arial"/>
              </a:defRPr>
            </a:lvl8pPr>
            <a:lvl9pPr>
              <a:defRPr sz="2925" b="1">
                <a:solidFill>
                  <a:srgbClr val="096C72"/>
                </a:solidFill>
                <a:latin typeface="Arial"/>
                <a:ea typeface="Arial"/>
                <a:cs typeface="Arial"/>
              </a:defRPr>
            </a:lvl9pPr>
          </a:lstStyle>
          <a:p xmlns:a="http://schemas.openxmlformats.org/drawingml/2006/main">
            <a:pPr>
              <a:defRPr sz="2925" b="1">
                <a:solidFill>
                  <a:srgbClr val="096C72"/>
                </a:solidFill>
                <a:latin typeface="Arial"/>
                <a:ea typeface="Arial"/>
                <a:cs typeface="Arial"/>
              </a:defRPr>
            </a:pPr>
            <a:r>
              <a:rPr sz="2925" b="1">
                <a:solidFill>
                  <a:srgbClr val="096C72"/>
                </a:solidFill>
                <a:latin typeface="Arial"/>
                <a:ea typeface="Arial"/>
                <a:cs typeface="Arial"/>
              </a:rPr>
              <a:t>scoreₐ(x) = cos(x, θ̃ₐ) + α √(xᵀ Aₐ⁻¹ x)</a:t>
            </a:r>
          </a:p>
        </p:txBody>
      </p:sp>
      <p:sp>
        <p:nvSpPr>
          <p:cNvPr id="7" name="">
            <a:extLst xmlns:a="http://schemas.openxmlformats.org/drawingml/2006/main">
              <a:ext uri="{FF2B5EF4-FFF2-40B4-BE49-F238E27FC236}">
                <a16:creationId xmlns:a16="http://schemas.microsoft.com/office/drawing/2014/main" id="{BC622B2B-7267-48A5-9F9E-B9E1572C4831}"/>
              </a:ext>
            </a:extLst>
          </p:cNvPr>
          <p:cNvSpPr>
            <a:spLocks xmlns:a="http://schemas.openxmlformats.org/drawingml/2006/main" noGrp="1"/>
          </p:cNvSpPr>
          <p:nvPr/>
        </p:nvSpPr>
        <p:spPr>
          <a:xfrm xmlns:a="http://schemas.openxmlformats.org/drawingml/2006/main">
            <a:off x="590550" y="3162300"/>
            <a:ext cx="11010900" cy="19050"/>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8" name="Aₐ ← Aₐ + xxᵀ&#10;bₐ ← bₐ + r x">
            <a:extLst xmlns:a="http://schemas.openxmlformats.org/drawingml/2006/main">
              <a:ext uri="{FF2B5EF4-FFF2-40B4-BE49-F238E27FC236}">
                <a16:creationId xmlns:a16="http://schemas.microsoft.com/office/drawing/2014/main" id="{7DE911D9-2CD4-4518-9E0A-94038A02FF29}"/>
              </a:ext>
            </a:extLst>
          </p:cNvPr>
          <p:cNvSpPr>
            <a:spLocks xmlns:a="http://schemas.openxmlformats.org/drawingml/2006/main" noGrp="1"/>
          </p:cNvSpPr>
          <p:nvPr/>
        </p:nvSpPr>
        <p:spPr>
          <a:xfrm xmlns:a="http://schemas.openxmlformats.org/drawingml/2006/main">
            <a:off x="666750" y="3648075"/>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2D35"/>
                </a:solidFill>
                <a:latin typeface="Arial"/>
                <a:ea typeface="Arial"/>
                <a:cs typeface="Arial"/>
              </a:defRPr>
            </a:defPPr>
            <a:lvl1pPr>
              <a:defRPr sz="2700" b="0">
                <a:solidFill>
                  <a:srgbClr val="172D35"/>
                </a:solidFill>
                <a:latin typeface="Arial"/>
                <a:ea typeface="Arial"/>
                <a:cs typeface="Arial"/>
              </a:defRPr>
            </a:lvl1pPr>
            <a:lvl2pPr>
              <a:defRPr sz="2700" b="0">
                <a:solidFill>
                  <a:srgbClr val="172D35"/>
                </a:solidFill>
                <a:latin typeface="Arial"/>
                <a:ea typeface="Arial"/>
                <a:cs typeface="Arial"/>
              </a:defRPr>
            </a:lvl2pPr>
            <a:lvl3pPr>
              <a:defRPr sz="2700" b="0">
                <a:solidFill>
                  <a:srgbClr val="172D35"/>
                </a:solidFill>
                <a:latin typeface="Arial"/>
                <a:ea typeface="Arial"/>
                <a:cs typeface="Arial"/>
              </a:defRPr>
            </a:lvl3pPr>
            <a:lvl4pPr>
              <a:defRPr sz="2700" b="0">
                <a:solidFill>
                  <a:srgbClr val="172D35"/>
                </a:solidFill>
                <a:latin typeface="Arial"/>
                <a:ea typeface="Arial"/>
                <a:cs typeface="Arial"/>
              </a:defRPr>
            </a:lvl4pPr>
            <a:lvl5pPr>
              <a:defRPr sz="2700" b="0">
                <a:solidFill>
                  <a:srgbClr val="172D35"/>
                </a:solidFill>
                <a:latin typeface="Arial"/>
                <a:ea typeface="Arial"/>
                <a:cs typeface="Arial"/>
              </a:defRPr>
            </a:lvl5pPr>
            <a:lvl6pPr>
              <a:defRPr sz="2700" b="0">
                <a:solidFill>
                  <a:srgbClr val="172D35"/>
                </a:solidFill>
                <a:latin typeface="Arial"/>
                <a:ea typeface="Arial"/>
                <a:cs typeface="Arial"/>
              </a:defRPr>
            </a:lvl6pPr>
            <a:lvl7pPr>
              <a:defRPr sz="2700" b="0">
                <a:solidFill>
                  <a:srgbClr val="172D35"/>
                </a:solidFill>
                <a:latin typeface="Arial"/>
                <a:ea typeface="Arial"/>
                <a:cs typeface="Arial"/>
              </a:defRPr>
            </a:lvl7pPr>
            <a:lvl8pPr>
              <a:defRPr sz="2700" b="0">
                <a:solidFill>
                  <a:srgbClr val="172D35"/>
                </a:solidFill>
                <a:latin typeface="Arial"/>
                <a:ea typeface="Arial"/>
                <a:cs typeface="Arial"/>
              </a:defRPr>
            </a:lvl8pPr>
            <a:lvl9pPr>
              <a:defRPr sz="2700" b="0">
                <a:solidFill>
                  <a:srgbClr val="172D35"/>
                </a:solidFill>
                <a:latin typeface="Arial"/>
                <a:ea typeface="Arial"/>
                <a:cs typeface="Arial"/>
              </a:defRPr>
            </a:lvl9pPr>
          </a:lstStyle>
          <a:p xmlns:a="http://schemas.openxmlformats.org/drawingml/2006/main">
            <a:pPr>
              <a:defRPr sz="2700" b="0">
                <a:solidFill>
                  <a:srgbClr val="172D35"/>
                </a:solidFill>
                <a:latin typeface="Arial"/>
                <a:ea typeface="Arial"/>
                <a:cs typeface="Arial"/>
              </a:defRPr>
            </a:pPr>
            <a:r>
              <a:rPr sz="2700" b="0">
                <a:solidFill>
                  <a:srgbClr val="172D35"/>
                </a:solidFill>
                <a:latin typeface="Arial"/>
                <a:ea typeface="Arial"/>
                <a:cs typeface="Arial"/>
              </a:rPr>
              <a:t>Aₐ ← Aₐ + xxᵀ</a:t>
            </a:r>
          </a:p>
          <a:p xmlns:a="http://schemas.openxmlformats.org/drawingml/2006/main">
            <a:pPr>
              <a:defRPr sz="2700" b="0">
                <a:solidFill>
                  <a:srgbClr val="172D35"/>
                </a:solidFill>
                <a:latin typeface="Arial"/>
                <a:ea typeface="Arial"/>
                <a:cs typeface="Arial"/>
              </a:defRPr>
            </a:pPr>
            <a:r>
              <a:rPr sz="2700" b="0">
                <a:solidFill>
                  <a:srgbClr val="172D35"/>
                </a:solidFill>
                <a:latin typeface="Arial"/>
                <a:ea typeface="Arial"/>
                <a:cs typeface="Arial"/>
              </a:rPr>
              <a:t>bₐ ← bₐ + r x</a:t>
            </a:r>
          </a:p>
        </p:txBody>
      </p:sp>
      <p:sp>
        <p:nvSpPr>
          <p:cNvPr id="9" name="Only for the selected arm a.&#10;&#10;Unchosen rewards remain hidden">
            <a:extLst xmlns:a="http://schemas.openxmlformats.org/drawingml/2006/main">
              <a:ext uri="{FF2B5EF4-FFF2-40B4-BE49-F238E27FC236}">
                <a16:creationId xmlns:a16="http://schemas.microsoft.com/office/drawing/2014/main" id="{11C46083-9248-428F-BF1C-7D77D388E464}"/>
              </a:ext>
            </a:extLst>
          </p:cNvPr>
          <p:cNvSpPr>
            <a:spLocks xmlns:a="http://schemas.openxmlformats.org/drawingml/2006/main" noGrp="1"/>
          </p:cNvSpPr>
          <p:nvPr/>
        </p:nvSpPr>
        <p:spPr>
          <a:xfrm xmlns:a="http://schemas.openxmlformats.org/drawingml/2006/main">
            <a:off x="6257925" y="3686175"/>
            <a:ext cx="52101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Only for the selected arm a.</a:t>
            </a:r>
          </a:p>
          <a:p xmlns:a="http://schemas.openxmlformats.org/drawingml/2006/main">
            <a:r>
              <a:t/>
            </a:r>
          </a:p>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Unchosen rewards remain hidden.</a:t>
            </a:r>
          </a:p>
        </p:txBody>
      </p:sp>
    </p:spTree>
    <p:extLst>
      <p:ext uri="{BB962C8B-B14F-4D97-AF65-F5344CB8AC3E}">
        <p14:creationId xmlns:p14="http://schemas.microsoft.com/office/powerpoint/2010/main" val="893103548"/>
      </p:ext>
    </p:extLst>
  </p:cSld>
</p:sld>
</file>

<file path=ppt/slides/slide1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METHOD ANALYSIS">
            <a:extLst xmlns:a="http://schemas.openxmlformats.org/drawingml/2006/main">
              <a:ext uri="{FF2B5EF4-FFF2-40B4-BE49-F238E27FC236}">
                <a16:creationId xmlns:a16="http://schemas.microsoft.com/office/drawing/2014/main" id="{6A6E32D0-5B09-4B56-B451-56638DAF9B9A}"/>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METHOD ANALYSIS</a:t>
            </a:r>
          </a:p>
        </p:txBody>
      </p:sp>
      <p:sp>
        <p:nvSpPr>
          <p:cNvPr id="2" name="Initialization strength creates a trade-off">
            <a:extLst xmlns:a="http://schemas.openxmlformats.org/drawingml/2006/main">
              <a:ext uri="{FF2B5EF4-FFF2-40B4-BE49-F238E27FC236}">
                <a16:creationId xmlns:a16="http://schemas.microsoft.com/office/drawing/2014/main" id="{572E8B42-8366-488F-86CB-4AF1D14430F6}"/>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Initialization strength creates a trade-off</a:t>
            </a:r>
          </a:p>
        </p:txBody>
      </p:sp>
      <p:sp>
        <p:nvSpPr>
          <p:cNvPr id="3" name="">
            <a:extLst xmlns:a="http://schemas.openxmlformats.org/drawingml/2006/main">
              <a:ext uri="{FF2B5EF4-FFF2-40B4-BE49-F238E27FC236}">
                <a16:creationId xmlns:a16="http://schemas.microsoft.com/office/drawing/2014/main" id="{A8F11313-6C19-432A-AD93-9522C0F55C8F}"/>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B72114F7-5CEA-46E1-8AE1-283392D114ED}"/>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13">
            <a:extLst xmlns:a="http://schemas.openxmlformats.org/drawingml/2006/main">
              <a:ext uri="{FF2B5EF4-FFF2-40B4-BE49-F238E27FC236}">
                <a16:creationId xmlns:a16="http://schemas.microsoft.com/office/drawing/2014/main" id="{DBF4DEB7-CABE-48DE-A5A7-2412EFFAF23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13</a:t>
            </a:r>
          </a:p>
        </p:txBody>
      </p:sp>
      <p:sp>
        <p:nvSpPr>
          <p:cNvPr id="6" name="Larger λ">
            <a:extLst xmlns:a="http://schemas.openxmlformats.org/drawingml/2006/main">
              <a:ext uri="{FF2B5EF4-FFF2-40B4-BE49-F238E27FC236}">
                <a16:creationId xmlns:a16="http://schemas.microsoft.com/office/drawing/2014/main" id="{23528F02-8250-4446-BDAE-17D58DF6FD81}"/>
              </a:ext>
            </a:extLst>
          </p:cNvPr>
          <p:cNvSpPr>
            <a:spLocks xmlns:a="http://schemas.openxmlformats.org/drawingml/2006/main" noGrp="1"/>
          </p:cNvSpPr>
          <p:nvPr/>
        </p:nvSpPr>
        <p:spPr>
          <a:xfrm xmlns:a="http://schemas.openxmlformats.org/drawingml/2006/main">
            <a:off x="571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Larger λ</a:t>
            </a:r>
          </a:p>
        </p:txBody>
      </p:sp>
      <p:sp>
        <p:nvSpPr>
          <p:cNvPr id="7" name="More initial regularization&#10;&#10;Smaller initial uncertainty&#10;&#10;Po">
            <a:extLst xmlns:a="http://schemas.openxmlformats.org/drawingml/2006/main">
              <a:ext uri="{FF2B5EF4-FFF2-40B4-BE49-F238E27FC236}">
                <a16:creationId xmlns:a16="http://schemas.microsoft.com/office/drawing/2014/main" id="{480E2F4A-6ADD-40E6-A7C7-99E992096BCC}"/>
              </a:ext>
            </a:extLst>
          </p:cNvPr>
          <p:cNvSpPr>
            <a:spLocks xmlns:a="http://schemas.openxmlformats.org/drawingml/2006/main" noGrp="1"/>
          </p:cNvSpPr>
          <p:nvPr/>
        </p:nvSpPr>
        <p:spPr>
          <a:xfrm xmlns:a="http://schemas.openxmlformats.org/drawingml/2006/main">
            <a:off x="57150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More initial regularization</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Smaller initial uncertainty</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Potentially slower prior correction</a:t>
            </a:r>
          </a:p>
        </p:txBody>
      </p:sp>
      <p:sp>
        <p:nvSpPr>
          <p:cNvPr id="8" name="What must be checked">
            <a:extLst xmlns:a="http://schemas.openxmlformats.org/drawingml/2006/main">
              <a:ext uri="{FF2B5EF4-FFF2-40B4-BE49-F238E27FC236}">
                <a16:creationId xmlns:a16="http://schemas.microsoft.com/office/drawing/2014/main" id="{729A41EF-4ED9-4AF2-B262-06C7D7A76C31}"/>
              </a:ext>
            </a:extLst>
          </p:cNvPr>
          <p:cNvSpPr>
            <a:spLocks xmlns:a="http://schemas.openxmlformats.org/drawingml/2006/main" noGrp="1"/>
          </p:cNvSpPr>
          <p:nvPr/>
        </p:nvSpPr>
        <p:spPr>
          <a:xfrm xmlns:a="http://schemas.openxmlformats.org/drawingml/2006/main">
            <a:off x="61912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What must be checked</a:t>
            </a:r>
          </a:p>
        </p:txBody>
      </p:sp>
      <p:sp>
        <p:nvSpPr>
          <p:cNvPr id="9" name="Preference accuracy ≠ target reward fit&#10;&#10;Direction and stren">
            <a:extLst xmlns:a="http://schemas.openxmlformats.org/drawingml/2006/main">
              <a:ext uri="{FF2B5EF4-FFF2-40B4-BE49-F238E27FC236}">
                <a16:creationId xmlns:a16="http://schemas.microsoft.com/office/drawing/2014/main" id="{C5DCD953-FE3D-4D4E-AC9D-B79309D06887}"/>
              </a:ext>
            </a:extLst>
          </p:cNvPr>
          <p:cNvSpPr>
            <a:spLocks xmlns:a="http://schemas.openxmlformats.org/drawingml/2006/main" noGrp="1"/>
          </p:cNvSpPr>
          <p:nvPr/>
        </p:nvSpPr>
        <p:spPr>
          <a:xfrm xmlns:a="http://schemas.openxmlformats.org/drawingml/2006/main">
            <a:off x="619125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Preference accuracy ≠ target reward fit</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Direction and strength need ablation</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Avoid unconditional transfer claims</a:t>
            </a:r>
          </a:p>
        </p:txBody>
      </p:sp>
    </p:spTree>
    <p:extLst>
      <p:ext uri="{BB962C8B-B14F-4D97-AF65-F5344CB8AC3E}">
        <p14:creationId xmlns:p14="http://schemas.microsoft.com/office/powerpoint/2010/main" val="1059590066"/>
      </p:ext>
    </p:extLst>
  </p:cSld>
</p:sld>
</file>

<file path=ppt/slides/slide1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THEORY AND PROOF INTUITION">
            <a:extLst xmlns:a="http://schemas.openxmlformats.org/drawingml/2006/main">
              <a:ext uri="{FF2B5EF4-FFF2-40B4-BE49-F238E27FC236}">
                <a16:creationId xmlns:a16="http://schemas.microsoft.com/office/drawing/2014/main" id="{0E6D70C6-B9E3-49CB-8DBB-AF6DFF42A8C0}"/>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THEORY AND PROOF INTUITION</a:t>
            </a:r>
          </a:p>
        </p:txBody>
      </p:sp>
      <p:sp>
        <p:nvSpPr>
          <p:cNvPr id="2" name="The regret statement is conditional">
            <a:extLst xmlns:a="http://schemas.openxmlformats.org/drawingml/2006/main">
              <a:ext uri="{FF2B5EF4-FFF2-40B4-BE49-F238E27FC236}">
                <a16:creationId xmlns:a16="http://schemas.microsoft.com/office/drawing/2014/main" id="{1A7D33AD-4CAF-4249-A6DB-9B6E3C0EB4D0}"/>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The regret statement is conditional</a:t>
            </a:r>
          </a:p>
        </p:txBody>
      </p:sp>
      <p:sp>
        <p:nvSpPr>
          <p:cNvPr id="3" name="">
            <a:extLst xmlns:a="http://schemas.openxmlformats.org/drawingml/2006/main">
              <a:ext uri="{FF2B5EF4-FFF2-40B4-BE49-F238E27FC236}">
                <a16:creationId xmlns:a16="http://schemas.microsoft.com/office/drawing/2014/main" id="{E72E562A-AFBA-4BFC-AE4A-AB6428F4B3F9}"/>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6EBE7705-F3E6-43F8-8A3A-DAA37B9DA9E3}"/>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14">
            <a:extLst xmlns:a="http://schemas.openxmlformats.org/drawingml/2006/main">
              <a:ext uri="{FF2B5EF4-FFF2-40B4-BE49-F238E27FC236}">
                <a16:creationId xmlns:a16="http://schemas.microsoft.com/office/drawing/2014/main" id="{E937D11F-FAAF-4599-BB61-C9EAEEAD71F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9C198A9B-6E06-462C-8758-863314870019}"/>
              </a:ext>
            </a:extLst>
          </p:cNvPr>
          <p:cNvSpPr>
            <a:spLocks xmlns:a="http://schemas.openxmlformats.org/drawingml/2006/main" noGrp="1"/>
          </p:cNvSpPr>
          <p:nvPr/>
        </p:nvSpPr>
        <p:spPr>
          <a:xfrm xmlns:a="http://schemas.openxmlformats.org/drawingml/2006/main">
            <a:off x="533400" y="1981200"/>
            <a:ext cx="11125200" cy="1333500"/>
          </a:xfrm>
          <a:prstGeom xmlns:a="http://schemas.openxmlformats.org/drawingml/2006/main" prst="rect">
            <a:avLst/>
          </a:prstGeom>
          <a:solidFill xmlns:a="http://schemas.openxmlformats.org/drawingml/2006/main">
            <a:srgbClr val="E9F1EE"/>
          </a:solidFill>
          <a:ln xmlns:a="http://schemas.openxmlformats.org/drawingml/2006/main" w="0">
            <a:noFill/>
          </a:ln>
        </p:spPr>
      </p:sp>
      <p:sp>
        <p:nvSpPr>
          <p:cNvPr id="7" name="||θpref − θ*|| ≤ ||θ*||">
            <a:extLst xmlns:a="http://schemas.openxmlformats.org/drawingml/2006/main">
              <a:ext uri="{FF2B5EF4-FFF2-40B4-BE49-F238E27FC236}">
                <a16:creationId xmlns:a16="http://schemas.microsoft.com/office/drawing/2014/main" id="{2C6CFAAD-D700-4A02-B1FD-96AAF3F9BA01}"/>
              </a:ext>
            </a:extLst>
          </p:cNvPr>
          <p:cNvSpPr>
            <a:spLocks xmlns:a="http://schemas.openxmlformats.org/drawingml/2006/main" noGrp="1"/>
          </p:cNvSpPr>
          <p:nvPr/>
        </p:nvSpPr>
        <p:spPr>
          <a:xfrm xmlns:a="http://schemas.openxmlformats.org/drawingml/2006/main">
            <a:off x="790575" y="21717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96C72"/>
                </a:solidFill>
                <a:latin typeface="Arial"/>
                <a:ea typeface="Arial"/>
                <a:cs typeface="Arial"/>
              </a:defRPr>
            </a:defPPr>
            <a:lvl1pPr>
              <a:defRPr sz="2700" b="1">
                <a:solidFill>
                  <a:srgbClr val="096C72"/>
                </a:solidFill>
                <a:latin typeface="Arial"/>
                <a:ea typeface="Arial"/>
                <a:cs typeface="Arial"/>
              </a:defRPr>
            </a:lvl1pPr>
            <a:lvl2pPr>
              <a:defRPr sz="2700" b="1">
                <a:solidFill>
                  <a:srgbClr val="096C72"/>
                </a:solidFill>
                <a:latin typeface="Arial"/>
                <a:ea typeface="Arial"/>
                <a:cs typeface="Arial"/>
              </a:defRPr>
            </a:lvl2pPr>
            <a:lvl3pPr>
              <a:defRPr sz="2700" b="1">
                <a:solidFill>
                  <a:srgbClr val="096C72"/>
                </a:solidFill>
                <a:latin typeface="Arial"/>
                <a:ea typeface="Arial"/>
                <a:cs typeface="Arial"/>
              </a:defRPr>
            </a:lvl3pPr>
            <a:lvl4pPr>
              <a:defRPr sz="2700" b="1">
                <a:solidFill>
                  <a:srgbClr val="096C72"/>
                </a:solidFill>
                <a:latin typeface="Arial"/>
                <a:ea typeface="Arial"/>
                <a:cs typeface="Arial"/>
              </a:defRPr>
            </a:lvl4pPr>
            <a:lvl5pPr>
              <a:defRPr sz="2700" b="1">
                <a:solidFill>
                  <a:srgbClr val="096C72"/>
                </a:solidFill>
                <a:latin typeface="Arial"/>
                <a:ea typeface="Arial"/>
                <a:cs typeface="Arial"/>
              </a:defRPr>
            </a:lvl5pPr>
            <a:lvl6pPr>
              <a:defRPr sz="2700" b="1">
                <a:solidFill>
                  <a:srgbClr val="096C72"/>
                </a:solidFill>
                <a:latin typeface="Arial"/>
                <a:ea typeface="Arial"/>
                <a:cs typeface="Arial"/>
              </a:defRPr>
            </a:lvl6pPr>
            <a:lvl7pPr>
              <a:defRPr sz="2700" b="1">
                <a:solidFill>
                  <a:srgbClr val="096C72"/>
                </a:solidFill>
                <a:latin typeface="Arial"/>
                <a:ea typeface="Arial"/>
                <a:cs typeface="Arial"/>
              </a:defRPr>
            </a:lvl7pPr>
            <a:lvl8pPr>
              <a:defRPr sz="2700" b="1">
                <a:solidFill>
                  <a:srgbClr val="096C72"/>
                </a:solidFill>
                <a:latin typeface="Arial"/>
                <a:ea typeface="Arial"/>
                <a:cs typeface="Arial"/>
              </a:defRPr>
            </a:lvl8pPr>
            <a:lvl9pPr>
              <a:defRPr sz="2700" b="1">
                <a:solidFill>
                  <a:srgbClr val="096C72"/>
                </a:solidFill>
                <a:latin typeface="Arial"/>
                <a:ea typeface="Arial"/>
                <a:cs typeface="Arial"/>
              </a:defRPr>
            </a:lvl9pPr>
          </a:lstStyle>
          <a:p xmlns:a="http://schemas.openxmlformats.org/drawingml/2006/main">
            <a:pPr>
              <a:defRPr sz="2700" b="1">
                <a:solidFill>
                  <a:srgbClr val="096C72"/>
                </a:solidFill>
                <a:latin typeface="Arial"/>
                <a:ea typeface="Arial"/>
                <a:cs typeface="Arial"/>
              </a:defRPr>
            </a:pPr>
            <a:r>
              <a:rPr sz="2700" b="1">
                <a:solidFill>
                  <a:srgbClr val="096C72"/>
                </a:solidFill>
                <a:latin typeface="Arial"/>
                <a:ea typeface="Arial"/>
                <a:cs typeface="Arial"/>
              </a:rPr>
              <a:t>||θpref − θ*|| ≤ ||θ*||</a:t>
            </a:r>
          </a:p>
        </p:txBody>
      </p:sp>
      <p:sp>
        <p:nvSpPr>
          <p:cNvPr id="8" name="A closer prior can reduce the confidence-radius term in PI-O">
            <a:extLst xmlns:a="http://schemas.openxmlformats.org/drawingml/2006/main">
              <a:ext uri="{FF2B5EF4-FFF2-40B4-BE49-F238E27FC236}">
                <a16:creationId xmlns:a16="http://schemas.microsoft.com/office/drawing/2014/main" id="{2E84FF8C-70E5-4F46-A03D-8DC1B4DEFB9B}"/>
              </a:ext>
            </a:extLst>
          </p:cNvPr>
          <p:cNvSpPr>
            <a:spLocks xmlns:a="http://schemas.openxmlformats.org/drawingml/2006/main" noGrp="1"/>
          </p:cNvSpPr>
          <p:nvPr/>
        </p:nvSpPr>
        <p:spPr>
          <a:xfrm xmlns:a="http://schemas.openxmlformats.org/drawingml/2006/main">
            <a:off x="790575" y="29813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6D"/>
                </a:solidFill>
                <a:latin typeface="Arial"/>
                <a:ea typeface="Arial"/>
                <a:cs typeface="Arial"/>
              </a:defRPr>
            </a:defPPr>
            <a:lvl1pPr>
              <a:defRPr sz="1800" b="0">
                <a:solidFill>
                  <a:srgbClr val="53666D"/>
                </a:solidFill>
                <a:latin typeface="Arial"/>
                <a:ea typeface="Arial"/>
                <a:cs typeface="Arial"/>
              </a:defRPr>
            </a:lvl1pPr>
            <a:lvl2pPr>
              <a:defRPr sz="1800" b="0">
                <a:solidFill>
                  <a:srgbClr val="53666D"/>
                </a:solidFill>
                <a:latin typeface="Arial"/>
                <a:ea typeface="Arial"/>
                <a:cs typeface="Arial"/>
              </a:defRPr>
            </a:lvl2pPr>
            <a:lvl3pPr>
              <a:defRPr sz="1800" b="0">
                <a:solidFill>
                  <a:srgbClr val="53666D"/>
                </a:solidFill>
                <a:latin typeface="Arial"/>
                <a:ea typeface="Arial"/>
                <a:cs typeface="Arial"/>
              </a:defRPr>
            </a:lvl3pPr>
            <a:lvl4pPr>
              <a:defRPr sz="1800" b="0">
                <a:solidFill>
                  <a:srgbClr val="53666D"/>
                </a:solidFill>
                <a:latin typeface="Arial"/>
                <a:ea typeface="Arial"/>
                <a:cs typeface="Arial"/>
              </a:defRPr>
            </a:lvl4pPr>
            <a:lvl5pPr>
              <a:defRPr sz="1800" b="0">
                <a:solidFill>
                  <a:srgbClr val="53666D"/>
                </a:solidFill>
                <a:latin typeface="Arial"/>
                <a:ea typeface="Arial"/>
                <a:cs typeface="Arial"/>
              </a:defRPr>
            </a:lvl5pPr>
            <a:lvl6pPr>
              <a:defRPr sz="1800" b="0">
                <a:solidFill>
                  <a:srgbClr val="53666D"/>
                </a:solidFill>
                <a:latin typeface="Arial"/>
                <a:ea typeface="Arial"/>
                <a:cs typeface="Arial"/>
              </a:defRPr>
            </a:lvl6pPr>
            <a:lvl7pPr>
              <a:defRPr sz="1800" b="0">
                <a:solidFill>
                  <a:srgbClr val="53666D"/>
                </a:solidFill>
                <a:latin typeface="Arial"/>
                <a:ea typeface="Arial"/>
                <a:cs typeface="Arial"/>
              </a:defRPr>
            </a:lvl7pPr>
            <a:lvl8pPr>
              <a:defRPr sz="1800" b="0">
                <a:solidFill>
                  <a:srgbClr val="53666D"/>
                </a:solidFill>
                <a:latin typeface="Arial"/>
                <a:ea typeface="Arial"/>
                <a:cs typeface="Arial"/>
              </a:defRPr>
            </a:lvl8pPr>
            <a:lvl9pPr>
              <a:defRPr sz="1800" b="0">
                <a:solidFill>
                  <a:srgbClr val="53666D"/>
                </a:solidFill>
                <a:latin typeface="Arial"/>
                <a:ea typeface="Arial"/>
                <a:cs typeface="Arial"/>
              </a:defRPr>
            </a:lvl9pPr>
          </a:lstStyle>
          <a:p xmlns:a="http://schemas.openxmlformats.org/drawingml/2006/main">
            <a:pPr>
              <a:defRPr sz="1800" b="0">
                <a:solidFill>
                  <a:srgbClr val="53666D"/>
                </a:solidFill>
                <a:latin typeface="Arial"/>
                <a:ea typeface="Arial"/>
                <a:cs typeface="Arial"/>
              </a:defRPr>
            </a:pPr>
            <a:r>
              <a:rPr sz="1800" b="0">
                <a:solidFill>
                  <a:srgbClr val="53666D"/>
                </a:solidFill>
                <a:latin typeface="Arial"/>
                <a:ea typeface="Arial"/>
                <a:cs typeface="Arial"/>
              </a:rPr>
              <a:t>A closer prior can reduce the confidence-radius term in PI-OFUL.</a:t>
            </a:r>
          </a:p>
        </p:txBody>
      </p:sp>
      <p:sp>
        <p:nvSpPr>
          <p:cNvPr id="9" name="Assumptions: linear reward model, bounded features and suita">
            <a:extLst xmlns:a="http://schemas.openxmlformats.org/drawingml/2006/main">
              <a:ext uri="{FF2B5EF4-FFF2-40B4-BE49-F238E27FC236}">
                <a16:creationId xmlns:a16="http://schemas.microsoft.com/office/drawing/2014/main" id="{665445E8-F712-4ABE-B37F-CC2E2EE6057C}"/>
              </a:ext>
            </a:extLst>
          </p:cNvPr>
          <p:cNvSpPr>
            <a:spLocks xmlns:a="http://schemas.openxmlformats.org/drawingml/2006/main" noGrp="1"/>
          </p:cNvSpPr>
          <p:nvPr/>
        </p:nvSpPr>
        <p:spPr>
          <a:xfrm xmlns:a="http://schemas.openxmlformats.org/drawingml/2006/main">
            <a:off x="647700" y="4343400"/>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Assumptions: linear reward model, bounded features and suitable noise.</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The implemented cosine PILOT requires separate justification.</a:t>
            </a:r>
          </a:p>
        </p:txBody>
      </p:sp>
    </p:spTree>
    <p:extLst>
      <p:ext uri="{BB962C8B-B14F-4D97-AF65-F5344CB8AC3E}">
        <p14:creationId xmlns:p14="http://schemas.microsoft.com/office/powerpoint/2010/main" val="104253208"/>
      </p:ext>
    </p:extLst>
  </p:cSld>
</p:sld>
</file>

<file path=ppt/slides/slide1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IMPLEMENTATION COMPLEXITY">
            <a:extLst xmlns:a="http://schemas.openxmlformats.org/drawingml/2006/main">
              <a:ext uri="{FF2B5EF4-FFF2-40B4-BE49-F238E27FC236}">
                <a16:creationId xmlns:a16="http://schemas.microsoft.com/office/drawing/2014/main" id="{42139803-9A31-4A37-98CD-86C44FF49510}"/>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IMPLEMENTATION COMPLEXITY</a:t>
            </a:r>
          </a:p>
        </p:txBody>
      </p:sp>
      <p:sp>
        <p:nvSpPr>
          <p:cNvPr id="2" name="Router state is small; dense solves dominate">
            <a:extLst xmlns:a="http://schemas.openxmlformats.org/drawingml/2006/main">
              <a:ext uri="{FF2B5EF4-FFF2-40B4-BE49-F238E27FC236}">
                <a16:creationId xmlns:a16="http://schemas.microsoft.com/office/drawing/2014/main" id="{BD08A2D7-B64B-4019-9D49-F651379E89DE}"/>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Router state is small; dense solves dominate</a:t>
            </a:r>
          </a:p>
        </p:txBody>
      </p:sp>
      <p:sp>
        <p:nvSpPr>
          <p:cNvPr id="3" name="">
            <a:extLst xmlns:a="http://schemas.openxmlformats.org/drawingml/2006/main">
              <a:ext uri="{FF2B5EF4-FFF2-40B4-BE49-F238E27FC236}">
                <a16:creationId xmlns:a16="http://schemas.microsoft.com/office/drawing/2014/main" id="{C7FF66D2-070B-4C73-BC13-7935D78854B8}"/>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E475229A-A385-4822-81AD-7DDD825632EF}"/>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15">
            <a:extLst xmlns:a="http://schemas.openxmlformats.org/drawingml/2006/main">
              <a:ext uri="{FF2B5EF4-FFF2-40B4-BE49-F238E27FC236}">
                <a16:creationId xmlns:a16="http://schemas.microsoft.com/office/drawing/2014/main" id="{DDFBEE1D-C5DD-41F5-B6A6-9FA69752620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15</a:t>
            </a:r>
          </a:p>
        </p:txBody>
      </p:sp>
      <p:graphicFrame>
        <p:nvGraphicFramePr>
          <p:cNvPr id="6" name="">
            <a:extLst xmlns:a="http://schemas.openxmlformats.org/drawingml/2006/main">
              <a:ext uri="{FF2B5EF4-FFF2-40B4-BE49-F238E27FC236}">
                <a16:creationId xmlns:a16="http://schemas.microsoft.com/office/drawing/2014/main" id="{27E07A3E-1D68-4A2B-8DA9-B51BEFA461C2}"/>
              </a:ext>
            </a:extLst>
          </p:cNvPr>
          <p:cNvGraphicFramePr/>
          <p:nvPr/>
        </p:nvGraphicFramePr>
        <p:xfrm>
          <a:off xmlns:a="http://schemas.openxmlformats.org/drawingml/2006/main" x="552450" y="1847850"/>
          <a:ext xmlns:a="http://schemas.openxmlformats.org/drawingml/2006/main" cx="11087100" cy="3524250"/>
        </p:xfrm>
        <a:graphic xmlns:a="http://schemas.openxmlformats.org/drawingml/2006/main">
          <a:graphicData uri="http://schemas.openxmlformats.org/drawingml/2006/table">
            <a:tbl>
              <a:tblPr/>
              <a:tblGrid>
                <a:gridCol w="2762250"/>
                <a:gridCol w="3238500"/>
                <a:gridCol w="5086350"/>
              </a:tblGrid>
              <a:tr h="704850">
                <a:tc>
                  <a:txBody>
                    <a:bodyPr/>
                    <a:lstStyle/>
                    <a:p>
                      <a:r>
                        <a:rPr sz="1725" b="1">
                          <a:solidFill>
                            <a:srgbClr val="FFFFFF"/>
                          </a:solidFill>
                          <a:latin typeface="Arial"/>
                          <a:ea typeface="Arial"/>
                          <a:cs typeface="Arial"/>
                        </a:rPr>
                        <a:t>Operation</a:t>
                      </a:r>
                    </a:p>
                  </a:txBody>
                  <a:tcPr marL="91440" marR="91440" marT="45720" marB="45720">
                    <a:solidFill>
                      <a:srgbClr val="172D35"/>
                    </a:solidFill>
                  </a:tcPr>
                </a:tc>
                <a:tc>
                  <a:txBody>
                    <a:bodyPr/>
                    <a:lstStyle/>
                    <a:p>
                      <a:r>
                        <a:rPr sz="1725" b="1">
                          <a:solidFill>
                            <a:srgbClr val="FFFFFF"/>
                          </a:solidFill>
                          <a:latin typeface="Arial"/>
                          <a:ea typeface="Arial"/>
                          <a:cs typeface="Arial"/>
                        </a:rPr>
                        <a:t>Current implementation</a:t>
                      </a:r>
                    </a:p>
                  </a:txBody>
                  <a:tcPr marL="91440" marR="91440" marT="45720" marB="45720">
                    <a:solidFill>
                      <a:srgbClr val="172D35"/>
                    </a:solidFill>
                  </a:tcPr>
                </a:tc>
                <a:tc>
                  <a:txBody>
                    <a:bodyPr/>
                    <a:lstStyle/>
                    <a:p>
                      <a:r>
                        <a:rPr sz="1725" b="1">
                          <a:solidFill>
                            <a:srgbClr val="FFFFFF"/>
                          </a:solidFill>
                          <a:latin typeface="Arial"/>
                          <a:ea typeface="Arial"/>
                          <a:cs typeface="Arial"/>
                        </a:rPr>
                        <a:t>Interpretation</a:t>
                      </a:r>
                    </a:p>
                  </a:txBody>
                  <a:tcPr marL="91440" marR="91440" marT="45720" marB="45720">
                    <a:solidFill>
                      <a:srgbClr val="172D35"/>
                    </a:solidFill>
                  </a:tcPr>
                </a:tc>
              </a:tr>
              <a:tr h="704850">
                <a:tc>
                  <a:txBody>
                    <a:bodyPr/>
                    <a:lstStyle/>
                    <a:p>
                      <a:r>
                        <a:rPr sz="1725" b="0">
                          <a:solidFill>
                            <a:srgbClr val="172D35"/>
                          </a:solidFill>
                          <a:latin typeface="Arial"/>
                          <a:ea typeface="Arial"/>
                          <a:cs typeface="Arial"/>
                        </a:rPr>
                        <a:t>Selection</a:t>
                      </a:r>
                    </a:p>
                  </a:txBody>
                  <a:tcPr marL="91440" marR="91440" marT="45720" marB="45720">
                    <a:solidFill>
                      <a:srgbClr val="EEF3F0"/>
                    </a:solidFill>
                  </a:tcPr>
                </a:tc>
                <a:tc>
                  <a:txBody>
                    <a:bodyPr/>
                    <a:lstStyle/>
                    <a:p>
                      <a:r>
                        <a:rPr sz="1725" b="0">
                          <a:solidFill>
                            <a:srgbClr val="172D35"/>
                          </a:solidFill>
                          <a:latin typeface="Arial"/>
                          <a:ea typeface="Arial"/>
                          <a:cs typeface="Arial"/>
                        </a:rPr>
                        <a:t>O(K d³)</a:t>
                      </a:r>
                    </a:p>
                  </a:txBody>
                  <a:tcPr marL="91440" marR="91440" marT="45720" marB="45720">
                    <a:solidFill>
                      <a:srgbClr val="EEF3F0"/>
                    </a:solidFill>
                  </a:tcPr>
                </a:tc>
                <a:tc>
                  <a:txBody>
                    <a:bodyPr/>
                    <a:lstStyle/>
                    <a:p>
                      <a:r>
                        <a:rPr sz="1725" b="0">
                          <a:solidFill>
                            <a:srgbClr val="172D35"/>
                          </a:solidFill>
                          <a:latin typeface="Arial"/>
                          <a:ea typeface="Arial"/>
                          <a:cs typeface="Arial"/>
                        </a:rPr>
                        <a:t>Dense ridge solves for all arms</a:t>
                      </a:r>
                    </a:p>
                  </a:txBody>
                  <a:tcPr marL="91440" marR="91440" marT="45720" marB="45720">
                    <a:solidFill>
                      <a:srgbClr val="EEF3F0"/>
                    </a:solidFill>
                  </a:tcPr>
                </a:tc>
              </a:tr>
              <a:tr h="704850">
                <a:tc>
                  <a:txBody>
                    <a:bodyPr/>
                    <a:lstStyle/>
                    <a:p>
                      <a:r>
                        <a:rPr sz="1725" b="0">
                          <a:solidFill>
                            <a:srgbClr val="172D35"/>
                          </a:solidFill>
                          <a:latin typeface="Arial"/>
                          <a:ea typeface="Arial"/>
                          <a:cs typeface="Arial"/>
                        </a:rPr>
                        <a:t>Selected update</a:t>
                      </a:r>
                    </a:p>
                  </a:txBody>
                  <a:tcPr marL="91440" marR="91440" marT="45720" marB="45720">
                    <a:solidFill>
                      <a:srgbClr val="FFFFFF"/>
                    </a:solidFill>
                  </a:tcPr>
                </a:tc>
                <a:tc>
                  <a:txBody>
                    <a:bodyPr/>
                    <a:lstStyle/>
                    <a:p>
                      <a:r>
                        <a:rPr sz="1725" b="0">
                          <a:solidFill>
                            <a:srgbClr val="172D35"/>
                          </a:solidFill>
                          <a:latin typeface="Arial"/>
                          <a:ea typeface="Arial"/>
                          <a:cs typeface="Arial"/>
                        </a:rPr>
                        <a:t>O(d³)</a:t>
                      </a:r>
                    </a:p>
                  </a:txBody>
                  <a:tcPr marL="91440" marR="91440" marT="45720" marB="45720">
                    <a:solidFill>
                      <a:srgbClr val="FFFFFF"/>
                    </a:solidFill>
                  </a:tcPr>
                </a:tc>
                <a:tc>
                  <a:txBody>
                    <a:bodyPr/>
                    <a:lstStyle/>
                    <a:p>
                      <a:r>
                        <a:rPr sz="1725" b="0">
                          <a:solidFill>
                            <a:srgbClr val="172D35"/>
                          </a:solidFill>
                          <a:latin typeface="Arial"/>
                          <a:ea typeface="Arial"/>
                          <a:cs typeface="Arial"/>
                        </a:rPr>
                        <a:t>Rank-one addition + Cholesky validation</a:t>
                      </a:r>
                    </a:p>
                  </a:txBody>
                  <a:tcPr marL="91440" marR="91440" marT="45720" marB="45720">
                    <a:solidFill>
                      <a:srgbClr val="FFFFFF"/>
                    </a:solidFill>
                  </a:tcPr>
                </a:tc>
              </a:tr>
              <a:tr h="704850">
                <a:tc>
                  <a:txBody>
                    <a:bodyPr/>
                    <a:lstStyle/>
                    <a:p>
                      <a:r>
                        <a:rPr sz="1725" b="0">
                          <a:solidFill>
                            <a:srgbClr val="172D35"/>
                          </a:solidFill>
                          <a:latin typeface="Arial"/>
                          <a:ea typeface="Arial"/>
                          <a:cs typeface="Arial"/>
                        </a:rPr>
                        <a:t>Arm state</a:t>
                      </a:r>
                    </a:p>
                  </a:txBody>
                  <a:tcPr marL="91440" marR="91440" marT="45720" marB="45720">
                    <a:solidFill>
                      <a:srgbClr val="EEF3F0"/>
                    </a:solidFill>
                  </a:tcPr>
                </a:tc>
                <a:tc>
                  <a:txBody>
                    <a:bodyPr/>
                    <a:lstStyle/>
                    <a:p>
                      <a:r>
                        <a:rPr sz="1725" b="0">
                          <a:solidFill>
                            <a:srgbClr val="172D35"/>
                          </a:solidFill>
                          <a:latin typeface="Arial"/>
                          <a:ea typeface="Arial"/>
                          <a:cs typeface="Arial"/>
                        </a:rPr>
                        <a:t>O(K d²)</a:t>
                      </a:r>
                    </a:p>
                  </a:txBody>
                  <a:tcPr marL="91440" marR="91440" marT="45720" marB="45720">
                    <a:solidFill>
                      <a:srgbClr val="EEF3F0"/>
                    </a:solidFill>
                  </a:tcPr>
                </a:tc>
                <a:tc>
                  <a:txBody>
                    <a:bodyPr/>
                    <a:lstStyle/>
                    <a:p>
                      <a:r>
                        <a:rPr sz="1725" b="0">
                          <a:solidFill>
                            <a:srgbClr val="172D35"/>
                          </a:solidFill>
                          <a:latin typeface="Arial"/>
                          <a:ea typeface="Arial"/>
                          <a:cs typeface="Arial"/>
                        </a:rPr>
                        <a:t>~260 KiB for A and b at K=8, d=64</a:t>
                      </a:r>
                    </a:p>
                  </a:txBody>
                  <a:tcPr marL="91440" marR="91440" marT="45720" marB="45720">
                    <a:solidFill>
                      <a:srgbClr val="EEF3F0"/>
                    </a:solidFill>
                  </a:tcPr>
                </a:tc>
              </a:tr>
              <a:tr h="704850">
                <a:tc>
                  <a:txBody>
                    <a:bodyPr/>
                    <a:lstStyle/>
                    <a:p>
                      <a:r>
                        <a:rPr sz="1725" b="0">
                          <a:solidFill>
                            <a:srgbClr val="172D35"/>
                          </a:solidFill>
                          <a:latin typeface="Arial"/>
                          <a:ea typeface="Arial"/>
                          <a:cs typeface="Arial"/>
                        </a:rPr>
                        <a:t>Potential optimization</a:t>
                      </a:r>
                    </a:p>
                  </a:txBody>
                  <a:tcPr marL="91440" marR="91440" marT="45720" marB="45720">
                    <a:solidFill>
                      <a:srgbClr val="FFFFFF"/>
                    </a:solidFill>
                  </a:tcPr>
                </a:tc>
                <a:tc>
                  <a:txBody>
                    <a:bodyPr/>
                    <a:lstStyle/>
                    <a:p>
                      <a:r>
                        <a:rPr sz="1725" b="0">
                          <a:solidFill>
                            <a:srgbClr val="172D35"/>
                          </a:solidFill>
                          <a:latin typeface="Arial"/>
                          <a:ea typeface="Arial"/>
                          <a:cs typeface="Arial"/>
                        </a:rPr>
                        <a:t>O(K d²) selection</a:t>
                      </a:r>
                    </a:p>
                  </a:txBody>
                  <a:tcPr marL="91440" marR="91440" marT="45720" marB="45720">
                    <a:solidFill>
                      <a:srgbClr val="FFFFFF"/>
                    </a:solidFill>
                  </a:tcPr>
                </a:tc>
                <a:tc>
                  <a:txBody>
                    <a:bodyPr/>
                    <a:lstStyle/>
                    <a:p>
                      <a:r>
                        <a:rPr sz="1725" b="0">
                          <a:solidFill>
                            <a:srgbClr val="172D35"/>
                          </a:solidFill>
                          <a:latin typeface="Arial"/>
                          <a:ea typeface="Arial"/>
                          <a:cs typeface="Arial"/>
                        </a:rPr>
                        <a:t>Rank-one inverse maintenance; not implemented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90306080"/>
      </p:ext>
    </p:extLst>
  </p:cSld>
</p:sld>
</file>

<file path=ppt/slides/slide1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DEPLOYMENT">
            <a:extLst xmlns:a="http://schemas.openxmlformats.org/drawingml/2006/main">
              <a:ext uri="{FF2B5EF4-FFF2-40B4-BE49-F238E27FC236}">
                <a16:creationId xmlns:a16="http://schemas.microsoft.com/office/drawing/2014/main" id="{7DDCA74C-F2A8-4096-903E-B5B0047F8EC4}"/>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DEPLOYMENT</a:t>
            </a:r>
          </a:p>
        </p:txBody>
      </p:sp>
      <p:sp>
        <p:nvSpPr>
          <p:cNvPr id="2" name="Budget control uses estimates before outcomes">
            <a:extLst xmlns:a="http://schemas.openxmlformats.org/drawingml/2006/main">
              <a:ext uri="{FF2B5EF4-FFF2-40B4-BE49-F238E27FC236}">
                <a16:creationId xmlns:a16="http://schemas.microsoft.com/office/drawing/2014/main" id="{42CD4CCC-8D3B-4179-AC27-7CDAD2BD1695}"/>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Budget control uses estimates before outcomes</a:t>
            </a:r>
          </a:p>
        </p:txBody>
      </p:sp>
      <p:sp>
        <p:nvSpPr>
          <p:cNvPr id="3" name="">
            <a:extLst xmlns:a="http://schemas.openxmlformats.org/drawingml/2006/main">
              <a:ext uri="{FF2B5EF4-FFF2-40B4-BE49-F238E27FC236}">
                <a16:creationId xmlns:a16="http://schemas.microsoft.com/office/drawing/2014/main" id="{B7673CB7-1676-42D2-82E5-367F802A0E4C}"/>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31A9E467-0528-4753-BF41-C2F5A297251B}"/>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16">
            <a:extLst xmlns:a="http://schemas.openxmlformats.org/drawingml/2006/main">
              <a:ext uri="{FF2B5EF4-FFF2-40B4-BE49-F238E27FC236}">
                <a16:creationId xmlns:a16="http://schemas.microsoft.com/office/drawing/2014/main" id="{9EB5282E-767B-4115-96BA-595D253F8724}"/>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16</a:t>
            </a:r>
          </a:p>
        </p:txBody>
      </p:sp>
      <p:sp>
        <p:nvSpPr>
          <p:cNvPr id="6" name="01">
            <a:extLst xmlns:a="http://schemas.openxmlformats.org/drawingml/2006/main">
              <a:ext uri="{FF2B5EF4-FFF2-40B4-BE49-F238E27FC236}">
                <a16:creationId xmlns:a16="http://schemas.microsoft.com/office/drawing/2014/main" id="{19E64433-0FE4-4CB7-B1AA-C65B5E9B493F}"/>
              </a:ext>
            </a:extLst>
          </p:cNvPr>
          <p:cNvSpPr>
            <a:spLocks xmlns:a="http://schemas.openxmlformats.org/drawingml/2006/main" noGrp="1"/>
          </p:cNvSpPr>
          <p:nvPr/>
        </p:nvSpPr>
        <p:spPr>
          <a:xfrm xmlns:a="http://schemas.openxmlformats.org/drawingml/2006/main">
            <a:off x="590550" y="18097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Estimate cost from input tokens + tuning-only mean output le">
            <a:extLst xmlns:a="http://schemas.openxmlformats.org/drawingml/2006/main">
              <a:ext uri="{FF2B5EF4-FFF2-40B4-BE49-F238E27FC236}">
                <a16:creationId xmlns:a16="http://schemas.microsoft.com/office/drawing/2014/main" id="{2F644BF6-4DF9-4D93-9F3C-8B330725473D}"/>
              </a:ext>
            </a:extLst>
          </p:cNvPr>
          <p:cNvSpPr>
            <a:spLocks xmlns:a="http://schemas.openxmlformats.org/drawingml/2006/main" noGrp="1"/>
          </p:cNvSpPr>
          <p:nvPr/>
        </p:nvSpPr>
        <p:spPr>
          <a:xfrm xmlns:a="http://schemas.openxmlformats.org/drawingml/2006/main">
            <a:off x="1257300" y="180975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Estimate cost from input tokens + tuning-only mean output length.</a:t>
            </a:r>
          </a:p>
        </p:txBody>
      </p:sp>
      <p:sp>
        <p:nvSpPr>
          <p:cNvPr id="8" name="02">
            <a:extLst xmlns:a="http://schemas.openxmlformats.org/drawingml/2006/main">
              <a:ext uri="{FF2B5EF4-FFF2-40B4-BE49-F238E27FC236}">
                <a16:creationId xmlns:a16="http://schemas.microsoft.com/office/drawing/2014/main" id="{28B0D5D5-1A7E-49E5-A8B6-4EEF04353C87}"/>
              </a:ext>
            </a:extLst>
          </p:cNvPr>
          <p:cNvSpPr>
            <a:spLocks xmlns:a="http://schemas.openxmlformats.org/drawingml/2006/main" noGrp="1"/>
          </p:cNvSpPr>
          <p:nvPr/>
        </p:nvSpPr>
        <p:spPr>
          <a:xfrm xmlns:a="http://schemas.openxmlformats.org/drawingml/2006/main">
            <a:off x="590550" y="30670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Accept eligible arms using reward and a utilization-dependen">
            <a:extLst xmlns:a="http://schemas.openxmlformats.org/drawingml/2006/main">
              <a:ext uri="{FF2B5EF4-FFF2-40B4-BE49-F238E27FC236}">
                <a16:creationId xmlns:a16="http://schemas.microsoft.com/office/drawing/2014/main" id="{62E337D3-0906-41EC-BBB8-B72DE94BA017}"/>
              </a:ext>
            </a:extLst>
          </p:cNvPr>
          <p:cNvSpPr>
            <a:spLocks xmlns:a="http://schemas.openxmlformats.org/drawingml/2006/main" noGrp="1"/>
          </p:cNvSpPr>
          <p:nvPr/>
        </p:nvSpPr>
        <p:spPr>
          <a:xfrm xmlns:a="http://schemas.openxmlformats.org/drawingml/2006/main">
            <a:off x="1257300" y="306705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Accept eligible arms using reward and a utilization-dependent threshold.</a:t>
            </a:r>
          </a:p>
        </p:txBody>
      </p:sp>
      <p:sp>
        <p:nvSpPr>
          <p:cNvPr id="10" name="03">
            <a:extLst xmlns:a="http://schemas.openxmlformats.org/drawingml/2006/main">
              <a:ext uri="{FF2B5EF4-FFF2-40B4-BE49-F238E27FC236}">
                <a16:creationId xmlns:a16="http://schemas.microsoft.com/office/drawing/2014/main" id="{B4F1AD5C-F65A-4120-B4EE-EBE657300015}"/>
              </a:ext>
            </a:extLst>
          </p:cNvPr>
          <p:cNvSpPr>
            <a:spLocks xmlns:a="http://schemas.openxmlformats.org/drawingml/2006/main" noGrp="1"/>
          </p:cNvSpPr>
          <p:nvPr/>
        </p:nvSpPr>
        <p:spPr>
          <a:xfrm xmlns:a="http://schemas.openxmlformats.org/drawingml/2006/main">
            <a:off x="590550" y="43243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Use bins and rollover; report estimated and recorded costs s">
            <a:extLst xmlns:a="http://schemas.openxmlformats.org/drawingml/2006/main">
              <a:ext uri="{FF2B5EF4-FFF2-40B4-BE49-F238E27FC236}">
                <a16:creationId xmlns:a16="http://schemas.microsoft.com/office/drawing/2014/main" id="{D35EC3C4-8DA4-4D65-977E-F00E15730210}"/>
              </a:ext>
            </a:extLst>
          </p:cNvPr>
          <p:cNvSpPr>
            <a:spLocks xmlns:a="http://schemas.openxmlformats.org/drawingml/2006/main" noGrp="1"/>
          </p:cNvSpPr>
          <p:nvPr/>
        </p:nvSpPr>
        <p:spPr>
          <a:xfrm xmlns:a="http://schemas.openxmlformats.org/drawingml/2006/main">
            <a:off x="1257300" y="432435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Use bins and rollover; report estimated and recorded costs separately.</a:t>
            </a:r>
          </a:p>
        </p:txBody>
      </p:sp>
    </p:spTree>
    <p:extLst>
      <p:ext uri="{BB962C8B-B14F-4D97-AF65-F5344CB8AC3E}">
        <p14:creationId xmlns:p14="http://schemas.microsoft.com/office/powerpoint/2010/main" val="1250930122"/>
      </p:ext>
    </p:extLst>
  </p:cSld>
</p:sld>
</file>

<file path=ppt/slides/slide1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DATA AND PROTOCOL">
            <a:extLst xmlns:a="http://schemas.openxmlformats.org/drawingml/2006/main">
              <a:ext uri="{FF2B5EF4-FFF2-40B4-BE49-F238E27FC236}">
                <a16:creationId xmlns:a16="http://schemas.microsoft.com/office/drawing/2014/main" id="{6E4662EF-452D-460B-920A-F9CE925E5F2D}"/>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DATA AND PROTOCOL</a:t>
            </a:r>
          </a:p>
        </p:txBody>
      </p:sp>
      <p:sp>
        <p:nvSpPr>
          <p:cNvPr id="2" name="Splits preserve a held-out deployment set">
            <a:extLst xmlns:a="http://schemas.openxmlformats.org/drawingml/2006/main">
              <a:ext uri="{FF2B5EF4-FFF2-40B4-BE49-F238E27FC236}">
                <a16:creationId xmlns:a16="http://schemas.microsoft.com/office/drawing/2014/main" id="{8F744690-9E14-4215-A00D-DB7F5A69B21A}"/>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Splits preserve a held-out deployment set</a:t>
            </a:r>
          </a:p>
        </p:txBody>
      </p:sp>
      <p:sp>
        <p:nvSpPr>
          <p:cNvPr id="3" name="">
            <a:extLst xmlns:a="http://schemas.openxmlformats.org/drawingml/2006/main">
              <a:ext uri="{FF2B5EF4-FFF2-40B4-BE49-F238E27FC236}">
                <a16:creationId xmlns:a16="http://schemas.microsoft.com/office/drawing/2014/main" id="{559A3F09-ABB7-4A53-B0FC-DD17F7F46D14}"/>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C9AE0476-54F0-4AE7-9633-AE9EBBFC6A93}"/>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17">
            <a:extLst xmlns:a="http://schemas.openxmlformats.org/drawingml/2006/main">
              <a:ext uri="{FF2B5EF4-FFF2-40B4-BE49-F238E27FC236}">
                <a16:creationId xmlns:a16="http://schemas.microsoft.com/office/drawing/2014/main" id="{C0AB7FCB-2185-40F9-A266-C1A6061F795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17</a:t>
            </a:r>
          </a:p>
        </p:txBody>
      </p:sp>
      <p:graphicFrame>
        <p:nvGraphicFramePr>
          <p:cNvPr id="6" name="">
            <a:extLst xmlns:a="http://schemas.openxmlformats.org/drawingml/2006/main">
              <a:ext uri="{FF2B5EF4-FFF2-40B4-BE49-F238E27FC236}">
                <a16:creationId xmlns:a16="http://schemas.microsoft.com/office/drawing/2014/main" id="{AE6273A0-7F31-49A4-B87F-0295A752D195}"/>
              </a:ext>
            </a:extLst>
          </p:cNvPr>
          <p:cNvGraphicFramePr/>
          <p:nvPr/>
        </p:nvGraphicFramePr>
        <p:xfrm>
          <a:off xmlns:a="http://schemas.openxmlformats.org/drawingml/2006/main" x="552450" y="1847850"/>
          <a:ext xmlns:a="http://schemas.openxmlformats.org/drawingml/2006/main" cx="11087100" cy="3143250"/>
        </p:xfrm>
        <a:graphic xmlns:a="http://schemas.openxmlformats.org/drawingml/2006/main">
          <a:graphicData uri="http://schemas.openxmlformats.org/drawingml/2006/table">
            <a:tbl>
              <a:tblPr/>
              <a:tblGrid>
                <a:gridCol w="2667000"/>
                <a:gridCol w="2809875"/>
                <a:gridCol w="2943225"/>
                <a:gridCol w="2667000"/>
              </a:tblGrid>
              <a:tr h="785813">
                <a:tc>
                  <a:txBody>
                    <a:bodyPr/>
                    <a:lstStyle/>
                    <a:p>
                      <a:r>
                        <a:rPr sz="1800" b="1">
                          <a:solidFill>
                            <a:srgbClr val="FFFFFF"/>
                          </a:solidFill>
                          <a:latin typeface="Arial"/>
                          <a:ea typeface="Arial"/>
                          <a:cs typeface="Arial"/>
                        </a:rPr>
                        <a:t>Data</a:t>
                      </a:r>
                    </a:p>
                  </a:txBody>
                  <a:tcPr marL="91440" marR="91440" marT="45720" marB="45720">
                    <a:solidFill>
                      <a:srgbClr val="172D35"/>
                    </a:solidFill>
                  </a:tcPr>
                </a:tc>
                <a:tc>
                  <a:txBody>
                    <a:bodyPr/>
                    <a:lstStyle/>
                    <a:p>
                      <a:r>
                        <a:rPr sz="1800" b="1">
                          <a:solidFill>
                            <a:srgbClr val="FFFFFF"/>
                          </a:solidFill>
                          <a:latin typeface="Arial"/>
                          <a:ea typeface="Arial"/>
                          <a:cs typeface="Arial"/>
                        </a:rPr>
                        <a:t>Tuning / training</a:t>
                      </a:r>
                    </a:p>
                  </a:txBody>
                  <a:tcPr marL="91440" marR="91440" marT="45720" marB="45720">
                    <a:solidFill>
                      <a:srgbClr val="172D35"/>
                    </a:solidFill>
                  </a:tcPr>
                </a:tc>
                <a:tc>
                  <a:txBody>
                    <a:bodyPr/>
                    <a:lstStyle/>
                    <a:p>
                      <a:r>
                        <a:rPr sz="1800" b="1">
                          <a:solidFill>
                            <a:srgbClr val="FFFFFF"/>
                          </a:solidFill>
                          <a:latin typeface="Arial"/>
                          <a:ea typeface="Arial"/>
                          <a:cs typeface="Arial"/>
                        </a:rPr>
                        <a:t>Learning / holdout</a:t>
                      </a:r>
                    </a:p>
                  </a:txBody>
                  <a:tcPr marL="91440" marR="91440" marT="45720" marB="45720">
                    <a:solidFill>
                      <a:srgbClr val="172D35"/>
                    </a:solidFill>
                  </a:tcPr>
                </a:tc>
                <a:tc>
                  <a:txBody>
                    <a:bodyPr/>
                    <a:lstStyle/>
                    <a:p>
                      <a:r>
                        <a:rPr sz="1800" b="1">
                          <a:solidFill>
                            <a:srgbClr val="FFFFFF"/>
                          </a:solidFill>
                          <a:latin typeface="Arial"/>
                          <a:ea typeface="Arial"/>
                          <a:cs typeface="Arial"/>
                        </a:rPr>
                        <a:t>Deployment</a:t>
                      </a:r>
                    </a:p>
                  </a:txBody>
                  <a:tcPr marL="91440" marR="91440" marT="45720" marB="45720">
                    <a:solidFill>
                      <a:srgbClr val="172D35"/>
                    </a:solidFill>
                  </a:tcPr>
                </a:tc>
              </a:tr>
              <a:tr h="785813">
                <a:tc>
                  <a:txBody>
                    <a:bodyPr/>
                    <a:lstStyle/>
                    <a:p>
                      <a:r>
                        <a:rPr sz="1800" b="0">
                          <a:solidFill>
                            <a:srgbClr val="172D35"/>
                          </a:solidFill>
                          <a:latin typeface="Arial"/>
                          <a:ea typeface="Arial"/>
                          <a:cs typeface="Arial"/>
                        </a:rPr>
                        <a:t>RouterBench</a:t>
                      </a:r>
                    </a:p>
                  </a:txBody>
                  <a:tcPr marL="91440" marR="91440" marT="45720" marB="45720">
                    <a:solidFill>
                      <a:srgbClr val="EEF3F0"/>
                    </a:solidFill>
                  </a:tcPr>
                </a:tc>
                <a:tc>
                  <a:txBody>
                    <a:bodyPr/>
                    <a:lstStyle/>
                    <a:p>
                      <a:r>
                        <a:rPr sz="1800" b="0">
                          <a:solidFill>
                            <a:srgbClr val="172D35"/>
                          </a:solidFill>
                          <a:latin typeface="Arial"/>
                          <a:ea typeface="Arial"/>
                          <a:cs typeface="Arial"/>
                        </a:rPr>
                        <a:t>1,000 tuning</a:t>
                      </a:r>
                    </a:p>
                  </a:txBody>
                  <a:tcPr marL="91440" marR="91440" marT="45720" marB="45720">
                    <a:solidFill>
                      <a:srgbClr val="EEF3F0"/>
                    </a:solidFill>
                  </a:tcPr>
                </a:tc>
                <a:tc>
                  <a:txBody>
                    <a:bodyPr/>
                    <a:lstStyle/>
                    <a:p>
                      <a:r>
                        <a:rPr sz="1800" b="0">
                          <a:solidFill>
                            <a:srgbClr val="172D35"/>
                          </a:solidFill>
                          <a:latin typeface="Arial"/>
                          <a:ea typeface="Arial"/>
                          <a:cs typeface="Arial"/>
                        </a:rPr>
                        <a:t>32,270 learning</a:t>
                      </a:r>
                    </a:p>
                  </a:txBody>
                  <a:tcPr marL="91440" marR="91440" marT="45720" marB="45720">
                    <a:solidFill>
                      <a:srgbClr val="EEF3F0"/>
                    </a:solidFill>
                  </a:tcPr>
                </a:tc>
                <a:tc>
                  <a:txBody>
                    <a:bodyPr/>
                    <a:lstStyle/>
                    <a:p>
                      <a:r>
                        <a:rPr sz="1800" b="0">
                          <a:solidFill>
                            <a:srgbClr val="172D35"/>
                          </a:solidFill>
                          <a:latin typeface="Arial"/>
                          <a:ea typeface="Arial"/>
                          <a:cs typeface="Arial"/>
                        </a:rPr>
                        <a:t>3,227</a:t>
                      </a:r>
                    </a:p>
                  </a:txBody>
                  <a:tcPr marL="91440" marR="91440" marT="45720" marB="45720">
                    <a:solidFill>
                      <a:srgbClr val="EEF3F0"/>
                    </a:solidFill>
                  </a:tcPr>
                </a:tc>
              </a:tr>
              <a:tr h="785813">
                <a:tc>
                  <a:txBody>
                    <a:bodyPr/>
                    <a:lstStyle/>
                    <a:p>
                      <a:r>
                        <a:rPr sz="1800" b="0">
                          <a:solidFill>
                            <a:srgbClr val="172D35"/>
                          </a:solidFill>
                          <a:latin typeface="Arial"/>
                          <a:ea typeface="Arial"/>
                          <a:cs typeface="Arial"/>
                        </a:rPr>
                        <a:t>MMLU subset</a:t>
                      </a:r>
                    </a:p>
                  </a:txBody>
                  <a:tcPr marL="91440" marR="91440" marT="45720" marB="45720">
                    <a:solidFill>
                      <a:srgbClr val="FFFFFF"/>
                    </a:solidFill>
                  </a:tcPr>
                </a:tc>
                <a:tc>
                  <a:txBody>
                    <a:bodyPr/>
                    <a:lstStyle/>
                    <a:p>
                      <a:r>
                        <a:rPr sz="1800" b="0">
                          <a:solidFill>
                            <a:srgbClr val="172D35"/>
                          </a:solidFill>
                          <a:latin typeface="Arial"/>
                          <a:ea typeface="Arial"/>
                          <a:cs typeface="Arial"/>
                        </a:rPr>
                        <a:t>398 tuning</a:t>
                      </a:r>
                    </a:p>
                  </a:txBody>
                  <a:tcPr marL="91440" marR="91440" marT="45720" marB="45720">
                    <a:solidFill>
                      <a:srgbClr val="FFFFFF"/>
                    </a:solidFill>
                  </a:tcPr>
                </a:tc>
                <a:tc>
                  <a:txBody>
                    <a:bodyPr/>
                    <a:lstStyle/>
                    <a:p>
                      <a:r>
                        <a:rPr sz="1800" b="0">
                          <a:solidFill>
                            <a:srgbClr val="172D35"/>
                          </a:solidFill>
                          <a:latin typeface="Arial"/>
                          <a:ea typeface="Arial"/>
                          <a:cs typeface="Arial"/>
                        </a:rPr>
                        <a:t>12,369 learning</a:t>
                      </a:r>
                    </a:p>
                  </a:txBody>
                  <a:tcPr marL="91440" marR="91440" marT="45720" marB="45720">
                    <a:solidFill>
                      <a:srgbClr val="FFFFFF"/>
                    </a:solidFill>
                  </a:tcPr>
                </a:tc>
                <a:tc>
                  <a:txBody>
                    <a:bodyPr/>
                    <a:lstStyle/>
                    <a:p>
                      <a:r>
                        <a:rPr sz="1800" b="0">
                          <a:solidFill>
                            <a:srgbClr val="172D35"/>
                          </a:solidFill>
                          <a:latin typeface="Arial"/>
                          <a:ea typeface="Arial"/>
                          <a:cs typeface="Arial"/>
                        </a:rPr>
                        <a:t>1,275</a:t>
                      </a:r>
                    </a:p>
                  </a:txBody>
                  <a:tcPr marL="91440" marR="91440" marT="45720" marB="45720">
                    <a:solidFill>
                      <a:srgbClr val="FFFFFF"/>
                    </a:solidFill>
                  </a:tcPr>
                </a:tc>
              </a:tr>
              <a:tr h="785813">
                <a:tc>
                  <a:txBody>
                    <a:bodyPr/>
                    <a:lstStyle/>
                    <a:p>
                      <a:r>
                        <a:rPr sz="1800" b="0">
                          <a:solidFill>
                            <a:srgbClr val="172D35"/>
                          </a:solidFill>
                          <a:latin typeface="Arial"/>
                          <a:ea typeface="Arial"/>
                          <a:cs typeface="Arial"/>
                        </a:rPr>
                        <a:t>Preference pairs</a:t>
                      </a:r>
                    </a:p>
                  </a:txBody>
                  <a:tcPr marL="91440" marR="91440" marT="45720" marB="45720">
                    <a:solidFill>
                      <a:srgbClr val="EEF3F0"/>
                    </a:solidFill>
                  </a:tcPr>
                </a:tc>
                <a:tc>
                  <a:txBody>
                    <a:bodyPr/>
                    <a:lstStyle/>
                    <a:p>
                      <a:r>
                        <a:rPr sz="1800" b="0">
                          <a:solidFill>
                            <a:srgbClr val="172D35"/>
                          </a:solidFill>
                          <a:latin typeface="Arial"/>
                          <a:ea typeface="Arial"/>
                          <a:cs typeface="Arial"/>
                        </a:rPr>
                        <a:t>1,245 training</a:t>
                      </a:r>
                    </a:p>
                  </a:txBody>
                  <a:tcPr marL="91440" marR="91440" marT="45720" marB="45720">
                    <a:solidFill>
                      <a:srgbClr val="EEF3F0"/>
                    </a:solidFill>
                  </a:tcPr>
                </a:tc>
                <a:tc>
                  <a:txBody>
                    <a:bodyPr/>
                    <a:lstStyle/>
                    <a:p>
                      <a:r>
                        <a:rPr sz="1800" b="0">
                          <a:solidFill>
                            <a:srgbClr val="172D35"/>
                          </a:solidFill>
                          <a:latin typeface="Arial"/>
                          <a:ea typeface="Arial"/>
                          <a:cs typeface="Arial"/>
                        </a:rPr>
                        <a:t>313 holdout</a:t>
                      </a:r>
                    </a:p>
                  </a:txBody>
                  <a:tcPr marL="91440" marR="91440" marT="45720" marB="45720">
                    <a:solidFill>
                      <a:srgbClr val="EEF3F0"/>
                    </a:solidFill>
                  </a:tcPr>
                </a:tc>
                <a:tc>
                  <a:txBody>
                    <a:bodyPr/>
                    <a:lstStyle/>
                    <a:p>
                      <a:r>
                        <a:rPr sz="1800" b="0">
                          <a:solidFill>
                            <a:srgbClr val="172D35"/>
                          </a:solidFill>
                          <a:latin typeface="Arial"/>
                          <a:ea typeface="Arial"/>
                          <a:cs typeface="Arial"/>
                        </a:rPr>
                        <a:t>Not used</a:t>
                      </a:r>
                    </a:p>
                  </a:txBody>
                  <a:tcPr marL="91440" marR="91440" marT="45720" marB="45720">
                    <a:solidFill>
                      <a:srgbClr val="EEF3F0"/>
                    </a:solidFill>
                  </a:tcPr>
                </a:tc>
              </a:tr>
            </a:tbl>
          </a:graphicData>
        </a:graphic>
      </p:graphicFrame>
    </p:spTree>
    <p:extLst>
      <p:ext uri="{BB962C8B-B14F-4D97-AF65-F5344CB8AC3E}">
        <p14:creationId xmlns:p14="http://schemas.microsoft.com/office/powerpoint/2010/main" val="76527566"/>
      </p:ext>
    </p:extLst>
  </p:cSld>
</p:sld>
</file>

<file path=ppt/slides/slide1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REPRODUCTION SCOPE">
            <a:extLst xmlns:a="http://schemas.openxmlformats.org/drawingml/2006/main">
              <a:ext uri="{FF2B5EF4-FFF2-40B4-BE49-F238E27FC236}">
                <a16:creationId xmlns:a16="http://schemas.microsoft.com/office/drawing/2014/main" id="{18BC87D1-F9F7-4176-BADD-C02F454FEAA5}"/>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REPRODUCTION SCOPE</a:t>
            </a:r>
          </a:p>
        </p:txBody>
      </p:sp>
      <p:sp>
        <p:nvSpPr>
          <p:cNvPr id="2" name="Our protocol differs in consequential ways">
            <a:extLst xmlns:a="http://schemas.openxmlformats.org/drawingml/2006/main">
              <a:ext uri="{FF2B5EF4-FFF2-40B4-BE49-F238E27FC236}">
                <a16:creationId xmlns:a16="http://schemas.microsoft.com/office/drawing/2014/main" id="{ACACE2FC-4432-4869-80CC-185BBE9D35FC}"/>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Our protocol differs in consequential ways</a:t>
            </a:r>
          </a:p>
        </p:txBody>
      </p:sp>
      <p:sp>
        <p:nvSpPr>
          <p:cNvPr id="3" name="">
            <a:extLst xmlns:a="http://schemas.openxmlformats.org/drawingml/2006/main">
              <a:ext uri="{FF2B5EF4-FFF2-40B4-BE49-F238E27FC236}">
                <a16:creationId xmlns:a16="http://schemas.microsoft.com/office/drawing/2014/main" id="{6FC1C6D1-EA15-4C92-808A-107C9C4875ED}"/>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849BFD19-252F-4680-B227-16161BEA2B77}"/>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18">
            <a:extLst xmlns:a="http://schemas.openxmlformats.org/drawingml/2006/main">
              <a:ext uri="{FF2B5EF4-FFF2-40B4-BE49-F238E27FC236}">
                <a16:creationId xmlns:a16="http://schemas.microsoft.com/office/drawing/2014/main" id="{4EDEDD72-ACF7-4E30-BBD4-08535672FF0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4A7A0226-30F8-49CF-A6A8-9C7C795E8901}"/>
              </a:ext>
            </a:extLst>
          </p:cNvPr>
          <p:cNvGraphicFramePr/>
          <p:nvPr/>
        </p:nvGraphicFramePr>
        <p:xfrm>
          <a:off xmlns:a="http://schemas.openxmlformats.org/drawingml/2006/main" x="552450" y="1847850"/>
          <a:ext xmlns:a="http://schemas.openxmlformats.org/drawingml/2006/main" cx="11087100" cy="3571875"/>
        </p:xfrm>
        <a:graphic xmlns:a="http://schemas.openxmlformats.org/drawingml/2006/main">
          <a:graphicData uri="http://schemas.openxmlformats.org/drawingml/2006/table">
            <a:tbl>
              <a:tblPr/>
              <a:tblGrid>
                <a:gridCol w="2571750"/>
                <a:gridCol w="3810000"/>
                <a:gridCol w="4705350"/>
              </a:tblGrid>
              <a:tr h="714375">
                <a:tc>
                  <a:txBody>
                    <a:bodyPr/>
                    <a:lstStyle/>
                    <a:p>
                      <a:r>
                        <a:rPr sz="1725" b="1">
                          <a:solidFill>
                            <a:srgbClr val="FFFFFF"/>
                          </a:solidFill>
                          <a:latin typeface="Arial"/>
                          <a:ea typeface="Arial"/>
                          <a:cs typeface="Arial"/>
                        </a:rPr>
                        <a:t>Dimension</a:t>
                      </a:r>
                    </a:p>
                  </a:txBody>
                  <a:tcPr marL="91440" marR="91440" marT="45720" marB="45720">
                    <a:solidFill>
                      <a:srgbClr val="172D35"/>
                    </a:solidFill>
                  </a:tcPr>
                </a:tc>
                <a:tc>
                  <a:txBody>
                    <a:bodyPr/>
                    <a:lstStyle/>
                    <a:p>
                      <a:r>
                        <a:rPr sz="1725" b="1">
                          <a:solidFill>
                            <a:srgbClr val="FFFFFF"/>
                          </a:solidFill>
                          <a:latin typeface="Arial"/>
                          <a:ea typeface="Arial"/>
                          <a:cs typeface="Arial"/>
                        </a:rPr>
                        <a:t>Paper</a:t>
                      </a:r>
                    </a:p>
                  </a:txBody>
                  <a:tcPr marL="91440" marR="91440" marT="45720" marB="45720">
                    <a:solidFill>
                      <a:srgbClr val="172D35"/>
                    </a:solidFill>
                  </a:tcPr>
                </a:tc>
                <a:tc>
                  <a:txBody>
                    <a:bodyPr/>
                    <a:lstStyle/>
                    <a:p>
                      <a:r>
                        <a:rPr sz="1725" b="1">
                          <a:solidFill>
                            <a:srgbClr val="FFFFFF"/>
                          </a:solidFill>
                          <a:latin typeface="Arial"/>
                          <a:ea typeface="Arial"/>
                          <a:cs typeface="Arial"/>
                        </a:rPr>
                        <a:t>Local study</a:t>
                      </a:r>
                    </a:p>
                  </a:txBody>
                  <a:tcPr marL="91440" marR="91440" marT="45720" marB="45720">
                    <a:solidFill>
                      <a:srgbClr val="172D35"/>
                    </a:solidFill>
                  </a:tcPr>
                </a:tc>
              </a:tr>
              <a:tr h="714375">
                <a:tc>
                  <a:txBody>
                    <a:bodyPr/>
                    <a:lstStyle/>
                    <a:p>
                      <a:r>
                        <a:rPr sz="1725" b="0">
                          <a:solidFill>
                            <a:srgbClr val="172D35"/>
                          </a:solidFill>
                          <a:latin typeface="Arial"/>
                          <a:ea typeface="Arial"/>
                          <a:cs typeface="Arial"/>
                        </a:rPr>
                        <a:t>Model pool</a:t>
                      </a:r>
                    </a:p>
                  </a:txBody>
                  <a:tcPr marL="91440" marR="91440" marT="45720" marB="45720">
                    <a:solidFill>
                      <a:srgbClr val="EEF3F0"/>
                    </a:solidFill>
                  </a:tcPr>
                </a:tc>
                <a:tc>
                  <a:txBody>
                    <a:bodyPr/>
                    <a:lstStyle/>
                    <a:p>
                      <a:r>
                        <a:rPr sz="1725" b="0">
                          <a:solidFill>
                            <a:srgbClr val="172D35"/>
                          </a:solidFill>
                          <a:latin typeface="Arial"/>
                          <a:ea typeface="Arial"/>
                          <a:cs typeface="Arial"/>
                        </a:rPr>
                        <a:t>11 models</a:t>
                      </a:r>
                    </a:p>
                  </a:txBody>
                  <a:tcPr marL="91440" marR="91440" marT="45720" marB="45720">
                    <a:solidFill>
                      <a:srgbClr val="EEF3F0"/>
                    </a:solidFill>
                  </a:tcPr>
                </a:tc>
                <a:tc>
                  <a:txBody>
                    <a:bodyPr/>
                    <a:lstStyle/>
                    <a:p>
                      <a:r>
                        <a:rPr sz="1725" b="0">
                          <a:solidFill>
                            <a:srgbClr val="172D35"/>
                          </a:solidFill>
                          <a:latin typeface="Arial"/>
                          <a:ea typeface="Arial"/>
                          <a:cs typeface="Arial"/>
                        </a:rPr>
                        <a:t>8 admitted; 3 unresolved bridges</a:t>
                      </a:r>
                    </a:p>
                  </a:txBody>
                  <a:tcPr marL="91440" marR="91440" marT="45720" marB="45720">
                    <a:solidFill>
                      <a:srgbClr val="EEF3F0"/>
                    </a:solidFill>
                  </a:tcPr>
                </a:tc>
              </a:tr>
              <a:tr h="714375">
                <a:tc>
                  <a:txBody>
                    <a:bodyPr/>
                    <a:lstStyle/>
                    <a:p>
                      <a:r>
                        <a:rPr sz="1725" b="0">
                          <a:solidFill>
                            <a:srgbClr val="172D35"/>
                          </a:solidFill>
                          <a:latin typeface="Arial"/>
                          <a:ea typeface="Arial"/>
                          <a:cs typeface="Arial"/>
                        </a:rPr>
                        <a:t>Embedding</a:t>
                      </a:r>
                    </a:p>
                  </a:txBody>
                  <a:tcPr marL="91440" marR="91440" marT="45720" marB="45720">
                    <a:solidFill>
                      <a:srgbClr val="FFFFFF"/>
                    </a:solidFill>
                  </a:tcPr>
                </a:tc>
                <a:tc>
                  <a:txBody>
                    <a:bodyPr/>
                    <a:lstStyle/>
                    <a:p>
                      <a:r>
                        <a:rPr sz="1725" b="0">
                          <a:solidFill>
                            <a:srgbClr val="172D35"/>
                          </a:solidFill>
                          <a:latin typeface="Arial"/>
                          <a:ea typeface="Arial"/>
                          <a:cs typeface="Arial"/>
                        </a:rPr>
                        <a:t>text-embedding-3-small</a:t>
                      </a:r>
                    </a:p>
                  </a:txBody>
                  <a:tcPr marL="91440" marR="91440" marT="45720" marB="45720">
                    <a:solidFill>
                      <a:srgbClr val="FFFFFF"/>
                    </a:solidFill>
                  </a:tcPr>
                </a:tc>
                <a:tc>
                  <a:txBody>
                    <a:bodyPr/>
                    <a:lstStyle/>
                    <a:p>
                      <a:r>
                        <a:rPr sz="1725" b="0">
                          <a:solidFill>
                            <a:srgbClr val="172D35"/>
                          </a:solidFill>
                          <a:latin typeface="Arial"/>
                          <a:ea typeface="Arial"/>
                          <a:cs typeface="Arial"/>
                        </a:rPr>
                        <a:t>BGE-M3, 2,048-token cap</a:t>
                      </a:r>
                    </a:p>
                  </a:txBody>
                  <a:tcPr marL="91440" marR="91440" marT="45720" marB="45720">
                    <a:solidFill>
                      <a:srgbClr val="FFFFFF"/>
                    </a:solidFill>
                  </a:tcPr>
                </a:tc>
              </a:tr>
              <a:tr h="714375">
                <a:tc>
                  <a:txBody>
                    <a:bodyPr/>
                    <a:lstStyle/>
                    <a:p>
                      <a:r>
                        <a:rPr sz="1725" b="0">
                          <a:solidFill>
                            <a:srgbClr val="172D35"/>
                          </a:solidFill>
                          <a:latin typeface="Arial"/>
                          <a:ea typeface="Arial"/>
                          <a:cs typeface="Arial"/>
                        </a:rPr>
                        <a:t>Preference holdout</a:t>
                      </a:r>
                    </a:p>
                  </a:txBody>
                  <a:tcPr marL="91440" marR="91440" marT="45720" marB="45720">
                    <a:solidFill>
                      <a:srgbClr val="EEF3F0"/>
                    </a:solidFill>
                  </a:tcPr>
                </a:tc>
                <a:tc>
                  <a:txBody>
                    <a:bodyPr/>
                    <a:lstStyle/>
                    <a:p>
                      <a:r>
                        <a:rPr sz="1725" b="0">
                          <a:solidFill>
                            <a:srgbClr val="172D35"/>
                          </a:solidFill>
                          <a:latin typeface="Arial"/>
                          <a:ea typeface="Arial"/>
                          <a:cs typeface="Arial"/>
                        </a:rPr>
                        <a:t>500 pairs</a:t>
                      </a:r>
                    </a:p>
                  </a:txBody>
                  <a:tcPr marL="91440" marR="91440" marT="45720" marB="45720">
                    <a:solidFill>
                      <a:srgbClr val="EEF3F0"/>
                    </a:solidFill>
                  </a:tcPr>
                </a:tc>
                <a:tc>
                  <a:txBody>
                    <a:bodyPr/>
                    <a:lstStyle/>
                    <a:p>
                      <a:r>
                        <a:rPr sz="1725" b="0">
                          <a:solidFill>
                            <a:srgbClr val="172D35"/>
                          </a:solidFill>
                          <a:latin typeface="Arial"/>
                          <a:ea typeface="Arial"/>
                          <a:cs typeface="Arial"/>
                        </a:rPr>
                        <a:t>313 pairs</a:t>
                      </a:r>
                    </a:p>
                  </a:txBody>
                  <a:tcPr marL="91440" marR="91440" marT="45720" marB="45720">
                    <a:solidFill>
                      <a:srgbClr val="EEF3F0"/>
                    </a:solidFill>
                  </a:tcPr>
                </a:tc>
              </a:tr>
              <a:tr h="714375">
                <a:tc>
                  <a:txBody>
                    <a:bodyPr/>
                    <a:lstStyle/>
                    <a:p>
                      <a:r>
                        <a:rPr sz="1725" b="0">
                          <a:solidFill>
                            <a:srgbClr val="172D35"/>
                          </a:solidFill>
                          <a:latin typeface="Arial"/>
                          <a:ea typeface="Arial"/>
                          <a:cs typeface="Arial"/>
                        </a:rPr>
                        <a:t>Release / budget scale</a:t>
                      </a:r>
                    </a:p>
                  </a:txBody>
                  <a:tcPr marL="91440" marR="91440" marT="45720" marB="45720">
                    <a:solidFill>
                      <a:srgbClr val="FFFFFF"/>
                    </a:solidFill>
                  </a:tcPr>
                </a:tc>
                <a:tc>
                  <a:txBody>
                    <a:bodyPr/>
                    <a:lstStyle/>
                    <a:p>
                      <a:r>
                        <a:rPr sz="1725" b="0">
                          <a:solidFill>
                            <a:srgbClr val="172D35"/>
                          </a:solidFill>
                          <a:latin typeface="Arial"/>
                          <a:ea typeface="Arial"/>
                          <a:cs typeface="Arial"/>
                        </a:rPr>
                        <a:t>Published protocol</a:t>
                      </a:r>
                    </a:p>
                  </a:txBody>
                  <a:tcPr marL="91440" marR="91440" marT="45720" marB="45720">
                    <a:solidFill>
                      <a:srgbClr val="FFFFFF"/>
                    </a:solidFill>
                  </a:tcPr>
                </a:tc>
                <a:tc>
                  <a:txBody>
                    <a:bodyPr/>
                    <a:lstStyle/>
                    <a:p>
                      <a:r>
                        <a:rPr sz="1725" b="0">
                          <a:solidFill>
                            <a:srgbClr val="172D35"/>
                          </a:solidFill>
                          <a:latin typeface="Arial"/>
                          <a:ea typeface="Arial"/>
                          <a:cs typeface="Arial"/>
                        </a:rPr>
                        <a:t>Pinned candidate; local calibration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80964219"/>
      </p:ext>
    </p:extLst>
  </p:cSld>
</p:sld>
</file>

<file path=ppt/slides/slide19.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EXPERIMENT MAP">
            <a:extLst xmlns:a="http://schemas.openxmlformats.org/drawingml/2006/main">
              <a:ext uri="{FF2B5EF4-FFF2-40B4-BE49-F238E27FC236}">
                <a16:creationId xmlns:a16="http://schemas.microsoft.com/office/drawing/2014/main" id="{ECD472C7-9BA6-43AA-8261-2D69783D691D}"/>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EXPERIMENT MAP</a:t>
            </a:r>
          </a:p>
        </p:txBody>
      </p:sp>
      <p:sp>
        <p:nvSpPr>
          <p:cNvPr id="2" name="Two core experiments plus controlled extensions">
            <a:extLst xmlns:a="http://schemas.openxmlformats.org/drawingml/2006/main">
              <a:ext uri="{FF2B5EF4-FFF2-40B4-BE49-F238E27FC236}">
                <a16:creationId xmlns:a16="http://schemas.microsoft.com/office/drawing/2014/main" id="{8FFE1C47-4E6D-46AA-A9B9-528607CEE01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Two core experiments plus controlled extensions</a:t>
            </a:r>
          </a:p>
        </p:txBody>
      </p:sp>
      <p:sp>
        <p:nvSpPr>
          <p:cNvPr id="3" name="">
            <a:extLst xmlns:a="http://schemas.openxmlformats.org/drawingml/2006/main">
              <a:ext uri="{FF2B5EF4-FFF2-40B4-BE49-F238E27FC236}">
                <a16:creationId xmlns:a16="http://schemas.microsoft.com/office/drawing/2014/main" id="{1AF809F0-C62C-4DDA-BA15-90465023EC10}"/>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6EF77CED-BF40-49A5-8FA6-482C700A21C3}"/>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19">
            <a:extLst xmlns:a="http://schemas.openxmlformats.org/drawingml/2006/main">
              <a:ext uri="{FF2B5EF4-FFF2-40B4-BE49-F238E27FC236}">
                <a16:creationId xmlns:a16="http://schemas.microsoft.com/office/drawing/2014/main" id="{D0005705-D2D4-4A7E-B605-3BA0D43D415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19</a:t>
            </a:r>
          </a:p>
        </p:txBody>
      </p:sp>
      <p:graphicFrame>
        <p:nvGraphicFramePr>
          <p:cNvPr id="6" name="">
            <a:extLst xmlns:a="http://schemas.openxmlformats.org/drawingml/2006/main">
              <a:ext uri="{FF2B5EF4-FFF2-40B4-BE49-F238E27FC236}">
                <a16:creationId xmlns:a16="http://schemas.microsoft.com/office/drawing/2014/main" id="{3E321CD1-F2C4-4EC2-918A-98E0D32C73F9}"/>
              </a:ext>
            </a:extLst>
          </p:cNvPr>
          <p:cNvGraphicFramePr/>
          <p:nvPr/>
        </p:nvGraphicFramePr>
        <p:xfrm>
          <a:off xmlns:a="http://schemas.openxmlformats.org/drawingml/2006/main" x="552450" y="1847850"/>
          <a:ext xmlns:a="http://schemas.openxmlformats.org/drawingml/2006/main" cx="11087100" cy="3571875"/>
        </p:xfrm>
        <a:graphic xmlns:a="http://schemas.openxmlformats.org/drawingml/2006/main">
          <a:graphicData uri="http://schemas.openxmlformats.org/drawingml/2006/table">
            <a:tbl>
              <a:tblPr/>
              <a:tblGrid>
                <a:gridCol w="2571750"/>
                <a:gridCol w="4476750"/>
                <a:gridCol w="4038600"/>
              </a:tblGrid>
              <a:tr h="714375">
                <a:tc>
                  <a:txBody>
                    <a:bodyPr/>
                    <a:lstStyle/>
                    <a:p>
                      <a:r>
                        <a:rPr sz="1725" b="1">
                          <a:solidFill>
                            <a:srgbClr val="FFFFFF"/>
                          </a:solidFill>
                          <a:latin typeface="Arial"/>
                          <a:ea typeface="Arial"/>
                          <a:cs typeface="Arial"/>
                        </a:rPr>
                        <a:t>Experiment</a:t>
                      </a:r>
                    </a:p>
                  </a:txBody>
                  <a:tcPr marL="91440" marR="91440" marT="45720" marB="45720">
                    <a:solidFill>
                      <a:srgbClr val="172D35"/>
                    </a:solidFill>
                  </a:tcPr>
                </a:tc>
                <a:tc>
                  <a:txBody>
                    <a:bodyPr/>
                    <a:lstStyle/>
                    <a:p>
                      <a:r>
                        <a:rPr sz="1725" b="1">
                          <a:solidFill>
                            <a:srgbClr val="FFFFFF"/>
                          </a:solidFill>
                          <a:latin typeface="Arial"/>
                          <a:ea typeface="Arial"/>
                          <a:cs typeface="Arial"/>
                        </a:rPr>
                        <a:t>Question</a:t>
                      </a:r>
                    </a:p>
                  </a:txBody>
                  <a:tcPr marL="91440" marR="91440" marT="45720" marB="45720">
                    <a:solidFill>
                      <a:srgbClr val="172D35"/>
                    </a:solidFill>
                  </a:tcPr>
                </a:tc>
                <a:tc>
                  <a:txBody>
                    <a:bodyPr/>
                    <a:lstStyle/>
                    <a:p>
                      <a:r>
                        <a:rPr sz="1725" b="1">
                          <a:solidFill>
                            <a:srgbClr val="FFFFFF"/>
                          </a:solidFill>
                          <a:latin typeface="Arial"/>
                          <a:ea typeface="Arial"/>
                          <a:cs typeface="Arial"/>
                        </a:rPr>
                        <a:t>Evidence</a:t>
                      </a:r>
                    </a:p>
                  </a:txBody>
                  <a:tcPr marL="91440" marR="91440" marT="45720" marB="45720">
                    <a:solidFill>
                      <a:srgbClr val="172D35"/>
                    </a:solidFill>
                  </a:tcPr>
                </a:tc>
              </a:tr>
              <a:tr h="714375">
                <a:tc>
                  <a:txBody>
                    <a:bodyPr/>
                    <a:lstStyle/>
                    <a:p>
                      <a:r>
                        <a:rPr sz="1725" b="0">
                          <a:solidFill>
                            <a:srgbClr val="172D35"/>
                          </a:solidFill>
                          <a:latin typeface="Arial"/>
                          <a:ea typeface="Arial"/>
                          <a:cs typeface="Arial"/>
                        </a:rPr>
                        <a:t>Budget grid</a:t>
                      </a:r>
                    </a:p>
                  </a:txBody>
                  <a:tcPr marL="91440" marR="91440" marT="45720" marB="45720">
                    <a:solidFill>
                      <a:srgbClr val="EEF3F0"/>
                    </a:solidFill>
                  </a:tcPr>
                </a:tc>
                <a:tc>
                  <a:txBody>
                    <a:bodyPr/>
                    <a:lstStyle/>
                    <a:p>
                      <a:r>
                        <a:rPr sz="1725" b="0">
                          <a:solidFill>
                            <a:srgbClr val="172D35"/>
                          </a:solidFill>
                          <a:latin typeface="Arial"/>
                          <a:ea typeface="Arial"/>
                          <a:cs typeface="Arial"/>
                        </a:rPr>
                        <a:t>Quality under a shared budget?</a:t>
                      </a:r>
                    </a:p>
                  </a:txBody>
                  <a:tcPr marL="91440" marR="91440" marT="45720" marB="45720">
                    <a:solidFill>
                      <a:srgbClr val="EEF3F0"/>
                    </a:solidFill>
                  </a:tcPr>
                </a:tc>
                <a:tc>
                  <a:txBody>
                    <a:bodyPr/>
                    <a:lstStyle/>
                    <a:p>
                      <a:r>
                        <a:rPr sz="1725" b="0">
                          <a:solidFill>
                            <a:srgbClr val="172D35"/>
                          </a:solidFill>
                          <a:latin typeface="Arial"/>
                          <a:ea typeface="Arial"/>
                          <a:cs typeface="Arial"/>
                        </a:rPr>
                        <a:t>8 budgets × methods × 3 seeds</a:t>
                      </a:r>
                    </a:p>
                  </a:txBody>
                  <a:tcPr marL="91440" marR="91440" marT="45720" marB="45720">
                    <a:solidFill>
                      <a:srgbClr val="EEF3F0"/>
                    </a:solidFill>
                  </a:tcPr>
                </a:tc>
              </a:tr>
              <a:tr h="714375">
                <a:tc>
                  <a:txBody>
                    <a:bodyPr/>
                    <a:lstStyle/>
                    <a:p>
                      <a:r>
                        <a:rPr sz="1725" b="0">
                          <a:solidFill>
                            <a:srgbClr val="172D35"/>
                          </a:solidFill>
                          <a:latin typeface="Arial"/>
                          <a:ea typeface="Arial"/>
                          <a:cs typeface="Arial"/>
                        </a:rPr>
                        <a:t>Learning prefixes</a:t>
                      </a:r>
                    </a:p>
                  </a:txBody>
                  <a:tcPr marL="91440" marR="91440" marT="45720" marB="45720">
                    <a:solidFill>
                      <a:srgbClr val="FFFFFF"/>
                    </a:solidFill>
                  </a:tcPr>
                </a:tc>
                <a:tc>
                  <a:txBody>
                    <a:bodyPr/>
                    <a:lstStyle/>
                    <a:p>
                      <a:r>
                        <a:rPr sz="1725" b="0">
                          <a:solidFill>
                            <a:srgbClr val="172D35"/>
                          </a:solidFill>
                          <a:latin typeface="Arial"/>
                          <a:ea typeface="Arial"/>
                          <a:cs typeface="Arial"/>
                        </a:rPr>
                        <a:t>How does feedback change routing?</a:t>
                      </a:r>
                    </a:p>
                  </a:txBody>
                  <a:tcPr marL="91440" marR="91440" marT="45720" marB="45720">
                    <a:solidFill>
                      <a:srgbClr val="FFFFFF"/>
                    </a:solidFill>
                  </a:tcPr>
                </a:tc>
                <a:tc>
                  <a:txBody>
                    <a:bodyPr/>
                    <a:lstStyle/>
                    <a:p>
                      <a:r>
                        <a:rPr sz="1725" b="0">
                          <a:solidFill>
                            <a:srgbClr val="172D35"/>
                          </a:solidFill>
                          <a:latin typeface="Arial"/>
                          <a:ea typeface="Arial"/>
                          <a:cs typeface="Arial"/>
                        </a:rPr>
                        <a:t>10%, 25%, 50%, 100% snapshots</a:t>
                      </a:r>
                    </a:p>
                  </a:txBody>
                  <a:tcPr marL="91440" marR="91440" marT="45720" marB="45720">
                    <a:solidFill>
                      <a:srgbClr val="FFFFFF"/>
                    </a:solidFill>
                  </a:tcPr>
                </a:tc>
              </a:tr>
              <a:tr h="714375">
                <a:tc>
                  <a:txBody>
                    <a:bodyPr/>
                    <a:lstStyle/>
                    <a:p>
                      <a:r>
                        <a:rPr sz="1725" b="0">
                          <a:solidFill>
                            <a:srgbClr val="172D35"/>
                          </a:solidFill>
                          <a:latin typeface="Arial"/>
                          <a:ea typeface="Arial"/>
                          <a:cs typeface="Arial"/>
                        </a:rPr>
                        <a:t>Five ablations</a:t>
                      </a:r>
                    </a:p>
                  </a:txBody>
                  <a:tcPr marL="91440" marR="91440" marT="45720" marB="45720">
                    <a:solidFill>
                      <a:srgbClr val="EEF3F0"/>
                    </a:solidFill>
                  </a:tcPr>
                </a:tc>
                <a:tc>
                  <a:txBody>
                    <a:bodyPr/>
                    <a:lstStyle/>
                    <a:p>
                      <a:r>
                        <a:rPr sz="1725" b="0">
                          <a:solidFill>
                            <a:srgbClr val="172D35"/>
                          </a:solidFill>
                          <a:latin typeface="Arial"/>
                          <a:ea typeface="Arial"/>
                          <a:cs typeface="Arial"/>
                        </a:rPr>
                        <a:t>Which components matter locally?</a:t>
                      </a:r>
                    </a:p>
                  </a:txBody>
                  <a:tcPr marL="91440" marR="91440" marT="45720" marB="45720">
                    <a:solidFill>
                      <a:srgbClr val="EEF3F0"/>
                    </a:solidFill>
                  </a:tcPr>
                </a:tc>
                <a:tc>
                  <a:txBody>
                    <a:bodyPr/>
                    <a:lstStyle/>
                    <a:p>
                      <a:r>
                        <a:rPr sz="1725" b="0">
                          <a:solidFill>
                            <a:srgbClr val="172D35"/>
                          </a:solidFill>
                          <a:latin typeface="Arial"/>
                          <a:ea typeface="Arial"/>
                          <a:cs typeface="Arial"/>
                        </a:rPr>
                        <a:t>240 deployment conditions</a:t>
                      </a:r>
                    </a:p>
                  </a:txBody>
                  <a:tcPr marL="91440" marR="91440" marT="45720" marB="45720">
                    <a:solidFill>
                      <a:srgbClr val="EEF3F0"/>
                    </a:solidFill>
                  </a:tcPr>
                </a:tc>
              </a:tr>
              <a:tr h="714375">
                <a:tc>
                  <a:txBody>
                    <a:bodyPr/>
                    <a:lstStyle/>
                    <a:p>
                      <a:r>
                        <a:rPr sz="1725" b="0">
                          <a:solidFill>
                            <a:srgbClr val="172D35"/>
                          </a:solidFill>
                          <a:latin typeface="Arial"/>
                          <a:ea typeface="Arial"/>
                          <a:cs typeface="Arial"/>
                        </a:rPr>
                        <a:t>Two critiques</a:t>
                      </a:r>
                    </a:p>
                  </a:txBody>
                  <a:tcPr marL="91440" marR="91440" marT="45720" marB="45720">
                    <a:solidFill>
                      <a:srgbClr val="FFFFFF"/>
                    </a:solidFill>
                  </a:tcPr>
                </a:tc>
                <a:tc>
                  <a:txBody>
                    <a:bodyPr/>
                    <a:lstStyle/>
                    <a:p>
                      <a:r>
                        <a:rPr sz="1725" b="0">
                          <a:solidFill>
                            <a:srgbClr val="172D35"/>
                          </a:solidFill>
                          <a:latin typeface="Arial"/>
                          <a:ea typeface="Arial"/>
                          <a:cs typeface="Arial"/>
                        </a:rPr>
                        <a:t>Where do assumptions fail?</a:t>
                      </a:r>
                    </a:p>
                  </a:txBody>
                  <a:tcPr marL="91440" marR="91440" marT="45720" marB="45720">
                    <a:solidFill>
                      <a:srgbClr val="FFFFFF"/>
                    </a:solidFill>
                  </a:tcPr>
                </a:tc>
                <a:tc>
                  <a:txBody>
                    <a:bodyPr/>
                    <a:lstStyle/>
                    <a:p>
                      <a:r>
                        <a:rPr sz="1725" b="0">
                          <a:solidFill>
                            <a:srgbClr val="172D35"/>
                          </a:solidFill>
                          <a:latin typeface="Arial"/>
                          <a:ea typeface="Arial"/>
                          <a:cs typeface="Arial"/>
                        </a:rPr>
                        <a:t>Synthetic magnitude + cost shock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52521016"/>
      </p:ext>
    </p:extLst>
  </p:cSld>
</p:sld>
</file>

<file path=ppt/slides/slide2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EXPERIMENTAL FAIRNESS">
            <a:extLst xmlns:a="http://schemas.openxmlformats.org/drawingml/2006/main">
              <a:ext uri="{FF2B5EF4-FFF2-40B4-BE49-F238E27FC236}">
                <a16:creationId xmlns:a16="http://schemas.microsoft.com/office/drawing/2014/main" id="{016C5EA0-75E8-44DA-B9EB-A67C92F4D19E}"/>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EXPERIMENTAL FAIRNESS</a:t>
            </a:r>
          </a:p>
        </p:txBody>
      </p:sp>
      <p:sp>
        <p:nvSpPr>
          <p:cNvPr id="2" name="Tune once, then freeze every comparison">
            <a:extLst xmlns:a="http://schemas.openxmlformats.org/drawingml/2006/main">
              <a:ext uri="{FF2B5EF4-FFF2-40B4-BE49-F238E27FC236}">
                <a16:creationId xmlns:a16="http://schemas.microsoft.com/office/drawing/2014/main" id="{83A5C065-0C75-454D-B3BD-DFE4952212B6}"/>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Tune once, then freeze every comparison</a:t>
            </a:r>
          </a:p>
        </p:txBody>
      </p:sp>
      <p:sp>
        <p:nvSpPr>
          <p:cNvPr id="3" name="">
            <a:extLst xmlns:a="http://schemas.openxmlformats.org/drawingml/2006/main">
              <a:ext uri="{FF2B5EF4-FFF2-40B4-BE49-F238E27FC236}">
                <a16:creationId xmlns:a16="http://schemas.microsoft.com/office/drawing/2014/main" id="{DEC12F3F-BE60-4C08-AB21-6733E27BB65F}"/>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911E46DC-068E-47DD-B56E-6C7E5D79DC48}"/>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0">
            <a:extLst xmlns:a="http://schemas.openxmlformats.org/drawingml/2006/main">
              <a:ext uri="{FF2B5EF4-FFF2-40B4-BE49-F238E27FC236}">
                <a16:creationId xmlns:a16="http://schemas.microsoft.com/office/drawing/2014/main" id="{E96D2B41-7447-48B4-94CD-A234BB942E2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20</a:t>
            </a:r>
          </a:p>
        </p:txBody>
      </p:sp>
      <p:sp>
        <p:nvSpPr>
          <p:cNvPr id="6" name="01">
            <a:extLst xmlns:a="http://schemas.openxmlformats.org/drawingml/2006/main">
              <a:ext uri="{FF2B5EF4-FFF2-40B4-BE49-F238E27FC236}">
                <a16:creationId xmlns:a16="http://schemas.microsoft.com/office/drawing/2014/main" id="{242FB545-B68F-4764-B6F5-C425202F2810}"/>
              </a:ext>
            </a:extLst>
          </p:cNvPr>
          <p:cNvSpPr>
            <a:spLocks xmlns:a="http://schemas.openxmlformats.org/drawingml/2006/main" noGrp="1"/>
          </p:cNvSpPr>
          <p:nvPr/>
        </p:nvSpPr>
        <p:spPr>
          <a:xfrm xmlns:a="http://schemas.openxmlformats.org/drawingml/2006/main">
            <a:off x="590550" y="18097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Tuning-only choices: PILOT α=1; LinUCB α=5; EpochGreedy wind">
            <a:extLst xmlns:a="http://schemas.openxmlformats.org/drawingml/2006/main">
              <a:ext uri="{FF2B5EF4-FFF2-40B4-BE49-F238E27FC236}">
                <a16:creationId xmlns:a16="http://schemas.microsoft.com/office/drawing/2014/main" id="{EF90C0F7-6244-4142-811C-4DB355304085}"/>
              </a:ext>
            </a:extLst>
          </p:cNvPr>
          <p:cNvSpPr>
            <a:spLocks xmlns:a="http://schemas.openxmlformats.org/drawingml/2006/main" noGrp="1"/>
          </p:cNvSpPr>
          <p:nvPr/>
        </p:nvSpPr>
        <p:spPr>
          <a:xfrm xmlns:a="http://schemas.openxmlformats.org/drawingml/2006/main">
            <a:off x="1257300" y="1809750"/>
            <a:ext cx="10001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Tuning-only choices: PILOT α=1; LinUCB α=5; EpochGreedy window=10.</a:t>
            </a:r>
          </a:p>
        </p:txBody>
      </p:sp>
      <p:sp>
        <p:nvSpPr>
          <p:cNvPr id="8" name="02">
            <a:extLst xmlns:a="http://schemas.openxmlformats.org/drawingml/2006/main">
              <a:ext uri="{FF2B5EF4-FFF2-40B4-BE49-F238E27FC236}">
                <a16:creationId xmlns:a16="http://schemas.microsoft.com/office/drawing/2014/main" id="{AAF14EC8-3D1A-47CB-968F-5433D64C516A}"/>
              </a:ext>
            </a:extLst>
          </p:cNvPr>
          <p:cNvSpPr>
            <a:spLocks xmlns:a="http://schemas.openxmlformats.org/drawingml/2006/main" noGrp="1"/>
          </p:cNvSpPr>
          <p:nvPr/>
        </p:nvSpPr>
        <p:spPr>
          <a:xfrm xmlns:a="http://schemas.openxmlformats.org/drawingml/2006/main">
            <a:off x="590550" y="30956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Shared evaluator, contexts, budget controller and held-out q">
            <a:extLst xmlns:a="http://schemas.openxmlformats.org/drawingml/2006/main">
              <a:ext uri="{FF2B5EF4-FFF2-40B4-BE49-F238E27FC236}">
                <a16:creationId xmlns:a16="http://schemas.microsoft.com/office/drawing/2014/main" id="{95B24D7C-4A88-4A4D-85A5-CE0E21A5EB34}"/>
              </a:ext>
            </a:extLst>
          </p:cNvPr>
          <p:cNvSpPr>
            <a:spLocks xmlns:a="http://schemas.openxmlformats.org/drawingml/2006/main" noGrp="1"/>
          </p:cNvSpPr>
          <p:nvPr/>
        </p:nvSpPr>
        <p:spPr>
          <a:xfrm xmlns:a="http://schemas.openxmlformats.org/drawingml/2006/main">
            <a:off x="1257300" y="3095625"/>
            <a:ext cx="10001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Shared evaluator, contexts, budget controller and held-out queries.</a:t>
            </a:r>
          </a:p>
        </p:txBody>
      </p:sp>
      <p:sp>
        <p:nvSpPr>
          <p:cNvPr id="10" name="03">
            <a:extLst xmlns:a="http://schemas.openxmlformats.org/drawingml/2006/main">
              <a:ext uri="{FF2B5EF4-FFF2-40B4-BE49-F238E27FC236}">
                <a16:creationId xmlns:a16="http://schemas.microsoft.com/office/drawing/2014/main" id="{82FF1062-6FD6-41F1-A6EA-CFC2D291BCC9}"/>
              </a:ext>
            </a:extLst>
          </p:cNvPr>
          <p:cNvSpPr>
            <a:spLocks xmlns:a="http://schemas.openxmlformats.org/drawingml/2006/main" noGrp="1"/>
          </p:cNvSpPr>
          <p:nvPr/>
        </p:nvSpPr>
        <p:spPr>
          <a:xfrm xmlns:a="http://schemas.openxmlformats.org/drawingml/2006/main">
            <a:off x="590550" y="43815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Seeds 7 / 42 / 2026; means and ranges are descriptive, not c">
            <a:extLst xmlns:a="http://schemas.openxmlformats.org/drawingml/2006/main">
              <a:ext uri="{FF2B5EF4-FFF2-40B4-BE49-F238E27FC236}">
                <a16:creationId xmlns:a16="http://schemas.microsoft.com/office/drawing/2014/main" id="{F158460B-58CD-4625-855F-FBD6E124DAE3}"/>
              </a:ext>
            </a:extLst>
          </p:cNvPr>
          <p:cNvSpPr>
            <a:spLocks xmlns:a="http://schemas.openxmlformats.org/drawingml/2006/main" noGrp="1"/>
          </p:cNvSpPr>
          <p:nvPr/>
        </p:nvSpPr>
        <p:spPr>
          <a:xfrm xmlns:a="http://schemas.openxmlformats.org/drawingml/2006/main">
            <a:off x="1257300" y="4381500"/>
            <a:ext cx="10001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Seeds 7 / 42 / 2026; means and ranges are descriptive, not confidence intervals.</a:t>
            </a:r>
          </a:p>
        </p:txBody>
      </p:sp>
    </p:spTree>
    <p:extLst>
      <p:ext uri="{BB962C8B-B14F-4D97-AF65-F5344CB8AC3E}">
        <p14:creationId xmlns:p14="http://schemas.microsoft.com/office/powerpoint/2010/main" val="383144221"/>
      </p:ext>
    </p:extLst>
  </p:cSld>
</p:sld>
</file>

<file path=ppt/slides/slide2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METRICS">
            <a:extLst xmlns:a="http://schemas.openxmlformats.org/drawingml/2006/main">
              <a:ext uri="{FF2B5EF4-FFF2-40B4-BE49-F238E27FC236}">
                <a16:creationId xmlns:a16="http://schemas.microsoft.com/office/drawing/2014/main" id="{1AD3C8B6-6B1E-433B-9523-4A5286F217E9}"/>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METRICS</a:t>
            </a:r>
          </a:p>
        </p:txBody>
      </p:sp>
      <p:sp>
        <p:nvSpPr>
          <p:cNvPr id="2" name="Utility includes unserved requests">
            <a:extLst xmlns:a="http://schemas.openxmlformats.org/drawingml/2006/main">
              <a:ext uri="{FF2B5EF4-FFF2-40B4-BE49-F238E27FC236}">
                <a16:creationId xmlns:a16="http://schemas.microsoft.com/office/drawing/2014/main" id="{90A5E3B3-8EAD-4F13-9B94-EA49E4CE340E}"/>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Utility includes unserved requests</a:t>
            </a:r>
          </a:p>
        </p:txBody>
      </p:sp>
      <p:sp>
        <p:nvSpPr>
          <p:cNvPr id="3" name="">
            <a:extLst xmlns:a="http://schemas.openxmlformats.org/drawingml/2006/main">
              <a:ext uri="{FF2B5EF4-FFF2-40B4-BE49-F238E27FC236}">
                <a16:creationId xmlns:a16="http://schemas.microsoft.com/office/drawing/2014/main" id="{1137DDE6-7F03-4AD0-9DAE-EA1D78DA2010}"/>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60CB172F-54D9-4266-91AA-0295953EFC0F}"/>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1">
            <a:extLst xmlns:a="http://schemas.openxmlformats.org/drawingml/2006/main">
              <a:ext uri="{FF2B5EF4-FFF2-40B4-BE49-F238E27FC236}">
                <a16:creationId xmlns:a16="http://schemas.microsoft.com/office/drawing/2014/main" id="{3F4B99AD-2EBA-421D-9B70-6BEA138DF2E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21</a:t>
            </a:r>
          </a:p>
        </p:txBody>
      </p:sp>
      <p:graphicFrame>
        <p:nvGraphicFramePr>
          <p:cNvPr id="6" name="">
            <a:extLst xmlns:a="http://schemas.openxmlformats.org/drawingml/2006/main">
              <a:ext uri="{FF2B5EF4-FFF2-40B4-BE49-F238E27FC236}">
                <a16:creationId xmlns:a16="http://schemas.microsoft.com/office/drawing/2014/main" id="{9D8A9E5D-AF01-44B9-9586-87A3AA0379E3}"/>
              </a:ext>
            </a:extLst>
          </p:cNvPr>
          <p:cNvGraphicFramePr/>
          <p:nvPr/>
        </p:nvGraphicFramePr>
        <p:xfrm>
          <a:off xmlns:a="http://schemas.openxmlformats.org/drawingml/2006/main" x="552450" y="1847850"/>
          <a:ext xmlns:a="http://schemas.openxmlformats.org/drawingml/2006/main" cx="11087100" cy="3714750"/>
        </p:xfrm>
        <a:graphic xmlns:a="http://schemas.openxmlformats.org/drawingml/2006/main">
          <a:graphicData uri="http://schemas.openxmlformats.org/drawingml/2006/table">
            <a:tbl>
              <a:tblPr/>
              <a:tblGrid>
                <a:gridCol w="3714750"/>
                <a:gridCol w="7372350"/>
              </a:tblGrid>
              <a:tr h="619125">
                <a:tc>
                  <a:txBody>
                    <a:bodyPr/>
                    <a:lstStyle/>
                    <a:p>
                      <a:r>
                        <a:rPr sz="1800" b="1">
                          <a:solidFill>
                            <a:srgbClr val="FFFFFF"/>
                          </a:solidFill>
                          <a:latin typeface="Arial"/>
                          <a:ea typeface="Arial"/>
                          <a:cs typeface="Arial"/>
                        </a:rPr>
                        <a:t>Metric</a:t>
                      </a:r>
                    </a:p>
                  </a:txBody>
                  <a:tcPr marL="91440" marR="91440" marT="45720" marB="45720">
                    <a:solidFill>
                      <a:srgbClr val="172D35"/>
                    </a:solidFill>
                  </a:tcPr>
                </a:tc>
                <a:tc>
                  <a:txBody>
                    <a:bodyPr/>
                    <a:lstStyle/>
                    <a:p>
                      <a:r>
                        <a:rPr sz="1800" b="1">
                          <a:solidFill>
                            <a:srgbClr val="FFFFFF"/>
                          </a:solidFill>
                          <a:latin typeface="Arial"/>
                          <a:ea typeface="Arial"/>
                          <a:cs typeface="Arial"/>
                        </a:rPr>
                        <a:t>Definition</a:t>
                      </a:r>
                    </a:p>
                  </a:txBody>
                  <a:tcPr marL="91440" marR="91440" marT="45720" marB="45720">
                    <a:solidFill>
                      <a:srgbClr val="172D35"/>
                    </a:solidFill>
                  </a:tcPr>
                </a:tc>
              </a:tr>
              <a:tr h="619125">
                <a:tc>
                  <a:txBody>
                    <a:bodyPr/>
                    <a:lstStyle/>
                    <a:p>
                      <a:r>
                        <a:rPr sz="1800" b="0">
                          <a:solidFill>
                            <a:srgbClr val="172D35"/>
                          </a:solidFill>
                          <a:latin typeface="Arial"/>
                          <a:ea typeface="Arial"/>
                          <a:cs typeface="Arial"/>
                        </a:rPr>
                        <a:t>Service utility</a:t>
                      </a:r>
                    </a:p>
                  </a:txBody>
                  <a:tcPr marL="91440" marR="91440" marT="45720" marB="45720">
                    <a:solidFill>
                      <a:srgbClr val="EEF3F0"/>
                    </a:solidFill>
                  </a:tcPr>
                </a:tc>
                <a:tc>
                  <a:txBody>
                    <a:bodyPr/>
                    <a:lstStyle/>
                    <a:p>
                      <a:r>
                        <a:rPr sz="1800" b="0">
                          <a:solidFill>
                            <a:srgbClr val="172D35"/>
                          </a:solidFill>
                          <a:latin typeface="Arial"/>
                          <a:ea typeface="Arial"/>
                          <a:cs typeface="Arial"/>
                        </a:rPr>
                        <a:t>Total reward / all requested queries</a:t>
                      </a:r>
                    </a:p>
                  </a:txBody>
                  <a:tcPr marL="91440" marR="91440" marT="45720" marB="45720">
                    <a:solidFill>
                      <a:srgbClr val="EEF3F0"/>
                    </a:solidFill>
                  </a:tcPr>
                </a:tc>
              </a:tr>
              <a:tr h="619125">
                <a:tc>
                  <a:txBody>
                    <a:bodyPr/>
                    <a:lstStyle/>
                    <a:p>
                      <a:r>
                        <a:rPr sz="1800" b="0">
                          <a:solidFill>
                            <a:srgbClr val="172D35"/>
                          </a:solidFill>
                          <a:latin typeface="Arial"/>
                          <a:ea typeface="Arial"/>
                          <a:cs typeface="Arial"/>
                        </a:rPr>
                        <a:t>Coverage</a:t>
                      </a:r>
                    </a:p>
                  </a:txBody>
                  <a:tcPr marL="91440" marR="91440" marT="45720" marB="45720">
                    <a:solidFill>
                      <a:srgbClr val="FFFFFF"/>
                    </a:solidFill>
                  </a:tcPr>
                </a:tc>
                <a:tc>
                  <a:txBody>
                    <a:bodyPr/>
                    <a:lstStyle/>
                    <a:p>
                      <a:r>
                        <a:rPr sz="1800" b="0">
                          <a:solidFill>
                            <a:srgbClr val="172D35"/>
                          </a:solidFill>
                          <a:latin typeface="Arial"/>
                          <a:ea typeface="Arial"/>
                          <a:cs typeface="Arial"/>
                        </a:rPr>
                        <a:t>Served queries / requested queries</a:t>
                      </a:r>
                    </a:p>
                  </a:txBody>
                  <a:tcPr marL="91440" marR="91440" marT="45720" marB="45720">
                    <a:solidFill>
                      <a:srgbClr val="FFFFFF"/>
                    </a:solidFill>
                  </a:tcPr>
                </a:tc>
              </a:tr>
              <a:tr h="619125">
                <a:tc>
                  <a:txBody>
                    <a:bodyPr/>
                    <a:lstStyle/>
                    <a:p>
                      <a:r>
                        <a:rPr sz="1800" b="0">
                          <a:solidFill>
                            <a:srgbClr val="172D35"/>
                          </a:solidFill>
                          <a:latin typeface="Arial"/>
                          <a:ea typeface="Arial"/>
                          <a:cs typeface="Arial"/>
                        </a:rPr>
                        <a:t>Mean served reward</a:t>
                      </a:r>
                    </a:p>
                  </a:txBody>
                  <a:tcPr marL="91440" marR="91440" marT="45720" marB="45720">
                    <a:solidFill>
                      <a:srgbClr val="EEF3F0"/>
                    </a:solidFill>
                  </a:tcPr>
                </a:tc>
                <a:tc>
                  <a:txBody>
                    <a:bodyPr/>
                    <a:lstStyle/>
                    <a:p>
                      <a:r>
                        <a:rPr sz="1800" b="0">
                          <a:solidFill>
                            <a:srgbClr val="172D35"/>
                          </a:solidFill>
                          <a:latin typeface="Arial"/>
                          <a:ea typeface="Arial"/>
                          <a:cs typeface="Arial"/>
                        </a:rPr>
                        <a:t>Total reward / served queries</a:t>
                      </a:r>
                    </a:p>
                  </a:txBody>
                  <a:tcPr marL="91440" marR="91440" marT="45720" marB="45720">
                    <a:solidFill>
                      <a:srgbClr val="EEF3F0"/>
                    </a:solidFill>
                  </a:tcPr>
                </a:tc>
              </a:tr>
              <a:tr h="619125">
                <a:tc>
                  <a:txBody>
                    <a:bodyPr/>
                    <a:lstStyle/>
                    <a:p>
                      <a:r>
                        <a:rPr sz="1800" b="0">
                          <a:solidFill>
                            <a:srgbClr val="172D35"/>
                          </a:solidFill>
                          <a:latin typeface="Arial"/>
                          <a:ea typeface="Arial"/>
                          <a:cs typeface="Arial"/>
                        </a:rPr>
                        <a:t>Learning oracle regret</a:t>
                      </a:r>
                    </a:p>
                  </a:txBody>
                  <a:tcPr marL="91440" marR="91440" marT="45720" marB="45720">
                    <a:solidFill>
                      <a:srgbClr val="FFFFFF"/>
                    </a:solidFill>
                  </a:tcPr>
                </a:tc>
                <a:tc>
                  <a:txBody>
                    <a:bodyPr/>
                    <a:lstStyle/>
                    <a:p>
                      <a:r>
                        <a:rPr sz="1800" b="0">
                          <a:solidFill>
                            <a:srgbClr val="172D35"/>
                          </a:solidFill>
                          <a:latin typeface="Arial"/>
                          <a:ea typeface="Arial"/>
                          <a:cs typeface="Arial"/>
                        </a:rPr>
                        <a:t>Σ (best recorded arm reward − chosen reward)</a:t>
                      </a:r>
                    </a:p>
                  </a:txBody>
                  <a:tcPr marL="91440" marR="91440" marT="45720" marB="45720">
                    <a:solidFill>
                      <a:srgbClr val="FFFFFF"/>
                    </a:solidFill>
                  </a:tcPr>
                </a:tc>
              </a:tr>
              <a:tr h="619125">
                <a:tc>
                  <a:txBody>
                    <a:bodyPr/>
                    <a:lstStyle/>
                    <a:p>
                      <a:r>
                        <a:rPr sz="1800" b="0">
                          <a:solidFill>
                            <a:srgbClr val="172D35"/>
                          </a:solidFill>
                          <a:latin typeface="Arial"/>
                          <a:ea typeface="Arial"/>
                          <a:cs typeface="Arial"/>
                        </a:rPr>
                        <a:t>Recorded budget excess</a:t>
                      </a:r>
                    </a:p>
                  </a:txBody>
                  <a:tcPr marL="91440" marR="91440" marT="45720" marB="45720">
                    <a:solidFill>
                      <a:srgbClr val="EEF3F0"/>
                    </a:solidFill>
                  </a:tcPr>
                </a:tc>
                <a:tc>
                  <a:txBody>
                    <a:bodyPr/>
                    <a:lstStyle/>
                    <a:p>
                      <a:r>
                        <a:rPr sz="1800" b="0">
                          <a:solidFill>
                            <a:srgbClr val="172D35"/>
                          </a:solidFill>
                          <a:latin typeface="Arial"/>
                          <a:ea typeface="Arial"/>
                          <a:cs typeface="Arial"/>
                        </a:rPr>
                        <a:t>max(0, recorded selected cost − budget)</a:t>
                      </a:r>
                    </a:p>
                  </a:txBody>
                  <a:tcPr marL="91440" marR="91440" marT="45720" marB="45720">
                    <a:solidFill>
                      <a:srgbClr val="EEF3F0"/>
                    </a:solidFill>
                  </a:tcPr>
                </a:tc>
              </a:tr>
            </a:tbl>
          </a:graphicData>
        </a:graphic>
      </p:graphicFrame>
    </p:spTree>
    <p:extLst>
      <p:ext uri="{BB962C8B-B14F-4D97-AF65-F5344CB8AC3E}">
        <p14:creationId xmlns:p14="http://schemas.microsoft.com/office/powerpoint/2010/main" val="279679451"/>
      </p:ext>
    </p:extLst>
  </p:cSld>
</p:sld>
</file>

<file path=ppt/slides/slide2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PAPER VERSUS REPRODUCTION">
            <a:extLst xmlns:a="http://schemas.openxmlformats.org/drawingml/2006/main">
              <a:ext uri="{FF2B5EF4-FFF2-40B4-BE49-F238E27FC236}">
                <a16:creationId xmlns:a16="http://schemas.microsoft.com/office/drawing/2014/main" id="{09FF82A3-CAF4-46A6-B0CF-C7C0F1DE47CB}"/>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PAPER VERSUS REPRODUCTION</a:t>
            </a:r>
          </a:p>
        </p:txBody>
      </p:sp>
      <p:sp>
        <p:nvSpPr>
          <p:cNvPr id="2" name="Paper headlines are not matched local points">
            <a:extLst xmlns:a="http://schemas.openxmlformats.org/drawingml/2006/main">
              <a:ext uri="{FF2B5EF4-FFF2-40B4-BE49-F238E27FC236}">
                <a16:creationId xmlns:a16="http://schemas.microsoft.com/office/drawing/2014/main" id="{8D0C06E1-EFE6-4AEB-AEB8-434F60CA9725}"/>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Paper headlines are not matched local points</a:t>
            </a:r>
          </a:p>
        </p:txBody>
      </p:sp>
      <p:sp>
        <p:nvSpPr>
          <p:cNvPr id="3" name="">
            <a:extLst xmlns:a="http://schemas.openxmlformats.org/drawingml/2006/main">
              <a:ext uri="{FF2B5EF4-FFF2-40B4-BE49-F238E27FC236}">
                <a16:creationId xmlns:a16="http://schemas.microsoft.com/office/drawing/2014/main" id="{96EBD7BB-B4FE-4D41-AB92-75AE9AF7E3EC}"/>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D87EB71D-7C0B-4D5D-9451-04661C51D5C8}"/>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22">
            <a:extLst xmlns:a="http://schemas.openxmlformats.org/drawingml/2006/main">
              <a:ext uri="{FF2B5EF4-FFF2-40B4-BE49-F238E27FC236}">
                <a16:creationId xmlns:a16="http://schemas.microsoft.com/office/drawing/2014/main" id="{EB8111D7-ADA9-445C-BADD-3D9C71EA0C5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22</a:t>
            </a:r>
          </a:p>
        </p:txBody>
      </p:sp>
      <p:graphicFrame>
        <p:nvGraphicFramePr>
          <p:cNvPr id="6" name="">
            <a:extLst xmlns:a="http://schemas.openxmlformats.org/drawingml/2006/main">
              <a:ext uri="{FF2B5EF4-FFF2-40B4-BE49-F238E27FC236}">
                <a16:creationId xmlns:a16="http://schemas.microsoft.com/office/drawing/2014/main" id="{AA2D9643-18C6-436D-9E53-6BF2EBBEE02F}"/>
              </a:ext>
            </a:extLst>
          </p:cNvPr>
          <p:cNvGraphicFramePr/>
          <p:nvPr/>
        </p:nvGraphicFramePr>
        <p:xfrm>
          <a:off xmlns:a="http://schemas.openxmlformats.org/drawingml/2006/main" x="552450" y="1847850"/>
          <a:ext xmlns:a="http://schemas.openxmlformats.org/drawingml/2006/main" cx="11087100" cy="2857500"/>
        </p:xfrm>
        <a:graphic xmlns:a="http://schemas.openxmlformats.org/drawingml/2006/main">
          <a:graphicData uri="http://schemas.openxmlformats.org/drawingml/2006/table">
            <a:tbl>
              <a:tblPr/>
              <a:tblGrid>
                <a:gridCol w="2286000"/>
                <a:gridCol w="4286250"/>
                <a:gridCol w="4514850"/>
              </a:tblGrid>
              <a:tr h="952500">
                <a:tc>
                  <a:txBody>
                    <a:bodyPr/>
                    <a:lstStyle/>
                    <a:p>
                      <a:r>
                        <a:rPr sz="1875" b="1">
                          <a:solidFill>
                            <a:srgbClr val="FFFFFF"/>
                          </a:solidFill>
                          <a:latin typeface="Arial"/>
                          <a:ea typeface="Arial"/>
                          <a:cs typeface="Arial"/>
                        </a:rPr>
                        <a:t>Dataset</a:t>
                      </a:r>
                    </a:p>
                  </a:txBody>
                  <a:tcPr marL="91440" marR="91440" marT="45720" marB="45720">
                    <a:solidFill>
                      <a:srgbClr val="172D35"/>
                    </a:solidFill>
                  </a:tcPr>
                </a:tc>
                <a:tc>
                  <a:txBody>
                    <a:bodyPr/>
                    <a:lstStyle/>
                    <a:p>
                      <a:r>
                        <a:rPr sz="1875" b="1">
                          <a:solidFill>
                            <a:srgbClr val="FFFFFF"/>
                          </a:solidFill>
                          <a:latin typeface="Arial"/>
                          <a:ea typeface="Arial"/>
                          <a:cs typeface="Arial"/>
                        </a:rPr>
                        <a:t>Published headline</a:t>
                      </a:r>
                    </a:p>
                  </a:txBody>
                  <a:tcPr marL="91440" marR="91440" marT="45720" marB="45720">
                    <a:solidFill>
                      <a:srgbClr val="172D35"/>
                    </a:solidFill>
                  </a:tcPr>
                </a:tc>
                <a:tc>
                  <a:txBody>
                    <a:bodyPr/>
                    <a:lstStyle/>
                    <a:p>
                      <a:r>
                        <a:rPr sz="1875" b="1">
                          <a:solidFill>
                            <a:srgbClr val="FFFFFF"/>
                          </a:solidFill>
                          <a:latin typeface="Arial"/>
                          <a:ea typeface="Arial"/>
                          <a:cs typeface="Arial"/>
                        </a:rPr>
                        <a:t>Local half-budget utility</a:t>
                      </a:r>
                    </a:p>
                  </a:txBody>
                  <a:tcPr marL="91440" marR="91440" marT="45720" marB="45720">
                    <a:solidFill>
                      <a:srgbClr val="172D35"/>
                    </a:solidFill>
                  </a:tcPr>
                </a:tc>
              </a:tr>
              <a:tr h="952500">
                <a:tc>
                  <a:txBody>
                    <a:bodyPr/>
                    <a:lstStyle/>
                    <a:p>
                      <a:r>
                        <a:rPr sz="1875" b="0">
                          <a:solidFill>
                            <a:srgbClr val="172D35"/>
                          </a:solidFill>
                          <a:latin typeface="Arial"/>
                          <a:ea typeface="Arial"/>
                          <a:cs typeface="Arial"/>
                        </a:rPr>
                        <a:t>RouterBench</a:t>
                      </a:r>
                    </a:p>
                  </a:txBody>
                  <a:tcPr marL="91440" marR="91440" marT="45720" marB="45720">
                    <a:solidFill>
                      <a:srgbClr val="EEF3F0"/>
                    </a:solidFill>
                  </a:tcPr>
                </a:tc>
                <a:tc>
                  <a:txBody>
                    <a:bodyPr/>
                    <a:lstStyle/>
                    <a:p>
                      <a:r>
                        <a:rPr sz="1875" b="0">
                          <a:solidFill>
                            <a:srgbClr val="172D35"/>
                          </a:solidFill>
                          <a:latin typeface="Arial"/>
                          <a:ea typeface="Arial"/>
                          <a:cs typeface="Arial"/>
                        </a:rPr>
                        <a:t>93% GPT-4 quality; 25% cost</a:t>
                      </a:r>
                    </a:p>
                  </a:txBody>
                  <a:tcPr marL="91440" marR="91440" marT="45720" marB="45720">
                    <a:solidFill>
                      <a:srgbClr val="EEF3F0"/>
                    </a:solidFill>
                  </a:tcPr>
                </a:tc>
                <a:tc>
                  <a:txBody>
                    <a:bodyPr/>
                    <a:lstStyle/>
                    <a:p>
                      <a:r>
                        <a:rPr sz="1875" b="0">
                          <a:solidFill>
                            <a:srgbClr val="172D35"/>
                          </a:solidFill>
                          <a:latin typeface="Arial"/>
                          <a:ea typeface="Arial"/>
                          <a:cs typeface="Arial"/>
                        </a:rPr>
                        <a:t>PILOT 0.6764; LinUCB 0.7056</a:t>
                      </a:r>
                    </a:p>
                  </a:txBody>
                  <a:tcPr marL="91440" marR="91440" marT="45720" marB="45720">
                    <a:solidFill>
                      <a:srgbClr val="EEF3F0"/>
                    </a:solidFill>
                  </a:tcPr>
                </a:tc>
              </a:tr>
              <a:tr h="952500">
                <a:tc>
                  <a:txBody>
                    <a:bodyPr/>
                    <a:lstStyle/>
                    <a:p>
                      <a:r>
                        <a:rPr sz="1875" b="0">
                          <a:solidFill>
                            <a:srgbClr val="172D35"/>
                          </a:solidFill>
                          <a:latin typeface="Arial"/>
                          <a:ea typeface="Arial"/>
                          <a:cs typeface="Arial"/>
                        </a:rPr>
                        <a:t>MMLU</a:t>
                      </a:r>
                    </a:p>
                  </a:txBody>
                  <a:tcPr marL="91440" marR="91440" marT="45720" marB="45720">
                    <a:solidFill>
                      <a:srgbClr val="FFFFFF"/>
                    </a:solidFill>
                  </a:tcPr>
                </a:tc>
                <a:tc>
                  <a:txBody>
                    <a:bodyPr/>
                    <a:lstStyle/>
                    <a:p>
                      <a:r>
                        <a:rPr sz="1875" b="0">
                          <a:solidFill>
                            <a:srgbClr val="172D35"/>
                          </a:solidFill>
                          <a:latin typeface="Arial"/>
                          <a:ea typeface="Arial"/>
                          <a:cs typeface="Arial"/>
                        </a:rPr>
                        <a:t>86% GPT-4 quality; 27% cost</a:t>
                      </a:r>
                    </a:p>
                  </a:txBody>
                  <a:tcPr marL="91440" marR="91440" marT="45720" marB="45720">
                    <a:solidFill>
                      <a:srgbClr val="FFFFFF"/>
                    </a:solidFill>
                  </a:tcPr>
                </a:tc>
                <a:tc>
                  <a:txBody>
                    <a:bodyPr/>
                    <a:lstStyle/>
                    <a:p>
                      <a:r>
                        <a:rPr sz="1875" b="0">
                          <a:solidFill>
                            <a:srgbClr val="172D35"/>
                          </a:solidFill>
                          <a:latin typeface="Arial"/>
                          <a:ea typeface="Arial"/>
                          <a:cs typeface="Arial"/>
                        </a:rPr>
                        <a:t>PILOT 0.6675; ExploreOnly 0.6899</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143097330"/>
      </p:ext>
    </p:extLst>
  </p:cSld>
</p:sld>
</file>

<file path=ppt/slides/slide2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CORE RESULT 1">
            <a:extLst xmlns:a="http://schemas.openxmlformats.org/drawingml/2006/main">
              <a:ext uri="{FF2B5EF4-FFF2-40B4-BE49-F238E27FC236}">
                <a16:creationId xmlns:a16="http://schemas.microsoft.com/office/drawing/2014/main" id="{A3E874D9-219D-4CFE-8578-6325535351C2}"/>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CORE RESULT 1</a:t>
            </a:r>
          </a:p>
        </p:txBody>
      </p:sp>
      <p:sp>
        <p:nvSpPr>
          <p:cNvPr id="2" name="RouterBench: report the full budget curve">
            <a:extLst xmlns:a="http://schemas.openxmlformats.org/drawingml/2006/main">
              <a:ext uri="{FF2B5EF4-FFF2-40B4-BE49-F238E27FC236}">
                <a16:creationId xmlns:a16="http://schemas.microsoft.com/office/drawing/2014/main" id="{5FD4B1E4-9185-49B6-B07C-AB8D816A6953}"/>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RouterBench: report the full budget curve</a:t>
            </a:r>
          </a:p>
        </p:txBody>
      </p:sp>
      <p:sp>
        <p:nvSpPr>
          <p:cNvPr id="3" name="">
            <a:extLst xmlns:a="http://schemas.openxmlformats.org/drawingml/2006/main">
              <a:ext uri="{FF2B5EF4-FFF2-40B4-BE49-F238E27FC236}">
                <a16:creationId xmlns:a16="http://schemas.microsoft.com/office/drawing/2014/main" id="{9EDE8D69-BE35-4980-B403-292DADF59BE1}"/>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0B98A6B2-6AD3-42E1-9C5E-76187E5ED73E}"/>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3">
            <a:extLst xmlns:a="http://schemas.openxmlformats.org/drawingml/2006/main">
              <a:ext uri="{FF2B5EF4-FFF2-40B4-BE49-F238E27FC236}">
                <a16:creationId xmlns:a16="http://schemas.microsoft.com/office/drawing/2014/main" id="{A073FBAD-9EDE-42DD-AF42-4A1DD56916B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23</a:t>
            </a:r>
          </a:p>
        </p:txBody>
      </p:sp>
      <p:graphicFrame>
        <p:nvGraphicFramePr>
          <p:cNvPr id="6" name="Chart">
            <a:extLst xmlns:a="http://schemas.openxmlformats.org/drawingml/2006/main">
              <a:ext uri="{FF2B5EF4-FFF2-40B4-BE49-F238E27FC236}">
                <a16:creationId xmlns:a16="http://schemas.microsoft.com/office/drawing/2014/main" id="{6F47CD23-125B-4354-A63D-9A1013A5693A}"/>
              </a:ext>
            </a:extLst>
          </p:cNvPr>
          <p:cNvGraphicFramePr/>
          <p:nvPr/>
        </p:nvGraphicFramePr>
        <p:xfrm>
          <a:off xmlns:a="http://schemas.openxmlformats.org/drawingml/2006/main" x="619125" y="1838325"/>
          <a:ext xmlns:a="http://schemas.openxmlformats.org/drawingml/2006/main" cx="10810875" cy="3743325"/>
        </p:xfrm>
        <a:graphic xmlns:a="http://schemas.openxmlformats.org/drawingml/2006/main">
          <a:graphicData uri="http://schemas.openxmlformats.org/drawingml/2006/chart">
            <c:chart xmlns:r="http://schemas.openxmlformats.org/officeDocument/2006/relationships" xmlns:c="http://schemas.openxmlformats.org/drawingml/2006/chart" r:id="R3d3fd4d181234a6f"/>
          </a:graphicData>
        </a:graphic>
      </p:graphicFrame>
      <p:sp>
        <p:nvSpPr>
          <p:cNvPr id="7" name="Full learning · three-seed means · seed ranges retained in s">
            <a:extLst xmlns:a="http://schemas.openxmlformats.org/drawingml/2006/main">
              <a:ext uri="{FF2B5EF4-FFF2-40B4-BE49-F238E27FC236}">
                <a16:creationId xmlns:a16="http://schemas.microsoft.com/office/drawing/2014/main" id="{95D7D023-41C4-404E-AA8E-0B15008E26A4}"/>
              </a:ext>
            </a:extLst>
          </p:cNvPr>
          <p:cNvSpPr>
            <a:spLocks xmlns:a="http://schemas.openxmlformats.org/drawingml/2006/main" noGrp="1"/>
          </p:cNvSpPr>
          <p:nvPr/>
        </p:nvSpPr>
        <p:spPr>
          <a:xfrm xmlns:a="http://schemas.openxmlformats.org/drawingml/2006/main">
            <a:off x="781050" y="57054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6D"/>
                </a:solidFill>
                <a:latin typeface="Arial"/>
                <a:ea typeface="Arial"/>
                <a:cs typeface="Arial"/>
              </a:defRPr>
            </a:defPPr>
            <a:lvl1pPr>
              <a:defRPr sz="1500" b="0">
                <a:solidFill>
                  <a:srgbClr val="53666D"/>
                </a:solidFill>
                <a:latin typeface="Arial"/>
                <a:ea typeface="Arial"/>
                <a:cs typeface="Arial"/>
              </a:defRPr>
            </a:lvl1pPr>
            <a:lvl2pPr>
              <a:defRPr sz="1500" b="0">
                <a:solidFill>
                  <a:srgbClr val="53666D"/>
                </a:solidFill>
                <a:latin typeface="Arial"/>
                <a:ea typeface="Arial"/>
                <a:cs typeface="Arial"/>
              </a:defRPr>
            </a:lvl2pPr>
            <a:lvl3pPr>
              <a:defRPr sz="1500" b="0">
                <a:solidFill>
                  <a:srgbClr val="53666D"/>
                </a:solidFill>
                <a:latin typeface="Arial"/>
                <a:ea typeface="Arial"/>
                <a:cs typeface="Arial"/>
              </a:defRPr>
            </a:lvl3pPr>
            <a:lvl4pPr>
              <a:defRPr sz="1500" b="0">
                <a:solidFill>
                  <a:srgbClr val="53666D"/>
                </a:solidFill>
                <a:latin typeface="Arial"/>
                <a:ea typeface="Arial"/>
                <a:cs typeface="Arial"/>
              </a:defRPr>
            </a:lvl4pPr>
            <a:lvl5pPr>
              <a:defRPr sz="1500" b="0">
                <a:solidFill>
                  <a:srgbClr val="53666D"/>
                </a:solidFill>
                <a:latin typeface="Arial"/>
                <a:ea typeface="Arial"/>
                <a:cs typeface="Arial"/>
              </a:defRPr>
            </a:lvl5pPr>
            <a:lvl6pPr>
              <a:defRPr sz="1500" b="0">
                <a:solidFill>
                  <a:srgbClr val="53666D"/>
                </a:solidFill>
                <a:latin typeface="Arial"/>
                <a:ea typeface="Arial"/>
                <a:cs typeface="Arial"/>
              </a:defRPr>
            </a:lvl6pPr>
            <a:lvl7pPr>
              <a:defRPr sz="1500" b="0">
                <a:solidFill>
                  <a:srgbClr val="53666D"/>
                </a:solidFill>
                <a:latin typeface="Arial"/>
                <a:ea typeface="Arial"/>
                <a:cs typeface="Arial"/>
              </a:defRPr>
            </a:lvl7pPr>
            <a:lvl8pPr>
              <a:defRPr sz="1500" b="0">
                <a:solidFill>
                  <a:srgbClr val="53666D"/>
                </a:solidFill>
                <a:latin typeface="Arial"/>
                <a:ea typeface="Arial"/>
                <a:cs typeface="Arial"/>
              </a:defRPr>
            </a:lvl8pPr>
            <a:lvl9pPr>
              <a:defRPr sz="1500" b="0">
                <a:solidFill>
                  <a:srgbClr val="53666D"/>
                </a:solidFill>
                <a:latin typeface="Arial"/>
                <a:ea typeface="Arial"/>
                <a:cs typeface="Arial"/>
              </a:defRPr>
            </a:lvl9pPr>
          </a:lstStyle>
          <a:p xmlns:a="http://schemas.openxmlformats.org/drawingml/2006/main">
            <a:pPr>
              <a:defRPr sz="1500" b="0">
                <a:solidFill>
                  <a:srgbClr val="53666D"/>
                </a:solidFill>
                <a:latin typeface="Arial"/>
                <a:ea typeface="Arial"/>
                <a:cs typeface="Arial"/>
              </a:defRPr>
            </a:pPr>
            <a:r>
              <a:rPr sz="1500" b="0">
                <a:solidFill>
                  <a:srgbClr val="53666D"/>
                </a:solidFill>
                <a:latin typeface="Arial"/>
                <a:ea typeface="Arial"/>
                <a:cs typeface="Arial"/>
              </a:rPr>
              <a:t>Full learning · three-seed means · seed ranges retained in source table</a:t>
            </a:r>
          </a:p>
        </p:txBody>
      </p:sp>
    </p:spTree>
    <p:extLst>
      <p:ext uri="{BB962C8B-B14F-4D97-AF65-F5344CB8AC3E}">
        <p14:creationId xmlns:p14="http://schemas.microsoft.com/office/powerpoint/2010/main" val="459747304"/>
      </p:ext>
    </p:extLst>
  </p:cSld>
</p:sld>
</file>

<file path=ppt/slides/slide2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CORE RESULT 1">
            <a:extLst xmlns:a="http://schemas.openxmlformats.org/drawingml/2006/main">
              <a:ext uri="{FF2B5EF4-FFF2-40B4-BE49-F238E27FC236}">
                <a16:creationId xmlns:a16="http://schemas.microsoft.com/office/drawing/2014/main" id="{DC880E42-BDF9-4DA4-9540-4B17CE8F60F9}"/>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CORE RESULT 1</a:t>
            </a:r>
          </a:p>
        </p:txBody>
      </p:sp>
      <p:sp>
        <p:nvSpPr>
          <p:cNvPr id="2" name="MMLU: the strongest local comparator changes">
            <a:extLst xmlns:a="http://schemas.openxmlformats.org/drawingml/2006/main">
              <a:ext uri="{FF2B5EF4-FFF2-40B4-BE49-F238E27FC236}">
                <a16:creationId xmlns:a16="http://schemas.microsoft.com/office/drawing/2014/main" id="{2365D6B0-1ABF-4335-8C56-9E4D55FB2240}"/>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MMLU: the strongest local comparator changes</a:t>
            </a:r>
          </a:p>
        </p:txBody>
      </p:sp>
      <p:sp>
        <p:nvSpPr>
          <p:cNvPr id="3" name="">
            <a:extLst xmlns:a="http://schemas.openxmlformats.org/drawingml/2006/main">
              <a:ext uri="{FF2B5EF4-FFF2-40B4-BE49-F238E27FC236}">
                <a16:creationId xmlns:a16="http://schemas.microsoft.com/office/drawing/2014/main" id="{F006EAE7-3FF0-4730-8F51-545520925F0E}"/>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B4F27131-B1A2-46AE-A9FC-79CF2F89AD32}"/>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4">
            <a:extLst xmlns:a="http://schemas.openxmlformats.org/drawingml/2006/main">
              <a:ext uri="{FF2B5EF4-FFF2-40B4-BE49-F238E27FC236}">
                <a16:creationId xmlns:a16="http://schemas.microsoft.com/office/drawing/2014/main" id="{3BD9A8B8-4051-4513-8744-FDA12FDDDAA5}"/>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24</a:t>
            </a:r>
          </a:p>
        </p:txBody>
      </p:sp>
      <p:graphicFrame>
        <p:nvGraphicFramePr>
          <p:cNvPr id="6" name="Chart">
            <a:extLst xmlns:a="http://schemas.openxmlformats.org/drawingml/2006/main">
              <a:ext uri="{FF2B5EF4-FFF2-40B4-BE49-F238E27FC236}">
                <a16:creationId xmlns:a16="http://schemas.microsoft.com/office/drawing/2014/main" id="{CB4384F1-54CE-414F-A3FD-3F57CFA08A64}"/>
              </a:ext>
            </a:extLst>
          </p:cNvPr>
          <p:cNvGraphicFramePr/>
          <p:nvPr/>
        </p:nvGraphicFramePr>
        <p:xfrm>
          <a:off xmlns:a="http://schemas.openxmlformats.org/drawingml/2006/main" x="619125" y="1838325"/>
          <a:ext xmlns:a="http://schemas.openxmlformats.org/drawingml/2006/main" cx="10810875" cy="3743325"/>
        </p:xfrm>
        <a:graphic xmlns:a="http://schemas.openxmlformats.org/drawingml/2006/main">
          <a:graphicData uri="http://schemas.openxmlformats.org/drawingml/2006/chart">
            <c:chart xmlns:r="http://schemas.openxmlformats.org/officeDocument/2006/relationships" xmlns:c="http://schemas.openxmlformats.org/drawingml/2006/chart" r:id="Ree17b22b0b364b84"/>
          </a:graphicData>
        </a:graphic>
      </p:graphicFrame>
      <p:sp>
        <p:nvSpPr>
          <p:cNvPr id="7" name="Nested subset · three-seed means · same local budget definit">
            <a:extLst xmlns:a="http://schemas.openxmlformats.org/drawingml/2006/main">
              <a:ext uri="{FF2B5EF4-FFF2-40B4-BE49-F238E27FC236}">
                <a16:creationId xmlns:a16="http://schemas.microsoft.com/office/drawing/2014/main" id="{8FFE4F41-83C6-4403-BAE4-57707E47B251}"/>
              </a:ext>
            </a:extLst>
          </p:cNvPr>
          <p:cNvSpPr>
            <a:spLocks xmlns:a="http://schemas.openxmlformats.org/drawingml/2006/main" noGrp="1"/>
          </p:cNvSpPr>
          <p:nvPr/>
        </p:nvSpPr>
        <p:spPr>
          <a:xfrm xmlns:a="http://schemas.openxmlformats.org/drawingml/2006/main">
            <a:off x="781050" y="57054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6D"/>
                </a:solidFill>
                <a:latin typeface="Arial"/>
                <a:ea typeface="Arial"/>
                <a:cs typeface="Arial"/>
              </a:defRPr>
            </a:defPPr>
            <a:lvl1pPr>
              <a:defRPr sz="1500" b="0">
                <a:solidFill>
                  <a:srgbClr val="53666D"/>
                </a:solidFill>
                <a:latin typeface="Arial"/>
                <a:ea typeface="Arial"/>
                <a:cs typeface="Arial"/>
              </a:defRPr>
            </a:lvl1pPr>
            <a:lvl2pPr>
              <a:defRPr sz="1500" b="0">
                <a:solidFill>
                  <a:srgbClr val="53666D"/>
                </a:solidFill>
                <a:latin typeface="Arial"/>
                <a:ea typeface="Arial"/>
                <a:cs typeface="Arial"/>
              </a:defRPr>
            </a:lvl2pPr>
            <a:lvl3pPr>
              <a:defRPr sz="1500" b="0">
                <a:solidFill>
                  <a:srgbClr val="53666D"/>
                </a:solidFill>
                <a:latin typeface="Arial"/>
                <a:ea typeface="Arial"/>
                <a:cs typeface="Arial"/>
              </a:defRPr>
            </a:lvl3pPr>
            <a:lvl4pPr>
              <a:defRPr sz="1500" b="0">
                <a:solidFill>
                  <a:srgbClr val="53666D"/>
                </a:solidFill>
                <a:latin typeface="Arial"/>
                <a:ea typeface="Arial"/>
                <a:cs typeface="Arial"/>
              </a:defRPr>
            </a:lvl4pPr>
            <a:lvl5pPr>
              <a:defRPr sz="1500" b="0">
                <a:solidFill>
                  <a:srgbClr val="53666D"/>
                </a:solidFill>
                <a:latin typeface="Arial"/>
                <a:ea typeface="Arial"/>
                <a:cs typeface="Arial"/>
              </a:defRPr>
            </a:lvl5pPr>
            <a:lvl6pPr>
              <a:defRPr sz="1500" b="0">
                <a:solidFill>
                  <a:srgbClr val="53666D"/>
                </a:solidFill>
                <a:latin typeface="Arial"/>
                <a:ea typeface="Arial"/>
                <a:cs typeface="Arial"/>
              </a:defRPr>
            </a:lvl6pPr>
            <a:lvl7pPr>
              <a:defRPr sz="1500" b="0">
                <a:solidFill>
                  <a:srgbClr val="53666D"/>
                </a:solidFill>
                <a:latin typeface="Arial"/>
                <a:ea typeface="Arial"/>
                <a:cs typeface="Arial"/>
              </a:defRPr>
            </a:lvl7pPr>
            <a:lvl8pPr>
              <a:defRPr sz="1500" b="0">
                <a:solidFill>
                  <a:srgbClr val="53666D"/>
                </a:solidFill>
                <a:latin typeface="Arial"/>
                <a:ea typeface="Arial"/>
                <a:cs typeface="Arial"/>
              </a:defRPr>
            </a:lvl8pPr>
            <a:lvl9pPr>
              <a:defRPr sz="1500" b="0">
                <a:solidFill>
                  <a:srgbClr val="53666D"/>
                </a:solidFill>
                <a:latin typeface="Arial"/>
                <a:ea typeface="Arial"/>
                <a:cs typeface="Arial"/>
              </a:defRPr>
            </a:lvl9pPr>
          </a:lstStyle>
          <a:p xmlns:a="http://schemas.openxmlformats.org/drawingml/2006/main">
            <a:pPr>
              <a:defRPr sz="1500" b="0">
                <a:solidFill>
                  <a:srgbClr val="53666D"/>
                </a:solidFill>
                <a:latin typeface="Arial"/>
                <a:ea typeface="Arial"/>
                <a:cs typeface="Arial"/>
              </a:defRPr>
            </a:pPr>
            <a:r>
              <a:rPr sz="1500" b="0">
                <a:solidFill>
                  <a:srgbClr val="53666D"/>
                </a:solidFill>
                <a:latin typeface="Arial"/>
                <a:ea typeface="Arial"/>
                <a:cs typeface="Arial"/>
              </a:rPr>
              <a:t>Nested subset · three-seed means · same local budget definition</a:t>
            </a:r>
          </a:p>
        </p:txBody>
      </p:sp>
    </p:spTree>
    <p:extLst>
      <p:ext uri="{BB962C8B-B14F-4D97-AF65-F5344CB8AC3E}">
        <p14:creationId xmlns:p14="http://schemas.microsoft.com/office/powerpoint/2010/main" val="408297464"/>
      </p:ext>
    </p:extLst>
  </p:cSld>
</p:sld>
</file>

<file path=ppt/slides/slide2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CORE RESULT 2">
            <a:extLst xmlns:a="http://schemas.openxmlformats.org/drawingml/2006/main">
              <a:ext uri="{FF2B5EF4-FFF2-40B4-BE49-F238E27FC236}">
                <a16:creationId xmlns:a16="http://schemas.microsoft.com/office/drawing/2014/main" id="{C071B5E8-E60C-475B-9411-24EE223747A9}"/>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CORE RESULT 2</a:t>
            </a:r>
          </a:p>
        </p:txBody>
      </p:sp>
      <p:sp>
        <p:nvSpPr>
          <p:cNvPr id="2" name="More learning does not imply uniform improvement">
            <a:extLst xmlns:a="http://schemas.openxmlformats.org/drawingml/2006/main">
              <a:ext uri="{FF2B5EF4-FFF2-40B4-BE49-F238E27FC236}">
                <a16:creationId xmlns:a16="http://schemas.microsoft.com/office/drawing/2014/main" id="{916FF5F7-B24A-4764-ABBD-3B26C40CEFEC}"/>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More learning does not imply uniform improvement</a:t>
            </a:r>
          </a:p>
        </p:txBody>
      </p:sp>
      <p:sp>
        <p:nvSpPr>
          <p:cNvPr id="3" name="">
            <a:extLst xmlns:a="http://schemas.openxmlformats.org/drawingml/2006/main">
              <a:ext uri="{FF2B5EF4-FFF2-40B4-BE49-F238E27FC236}">
                <a16:creationId xmlns:a16="http://schemas.microsoft.com/office/drawing/2014/main" id="{C97CC526-4DB5-47A9-8ADF-0FAB2D9FC95B}"/>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DFB2BC2C-0B65-425F-BA7D-E168F019C999}"/>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5">
            <a:extLst xmlns:a="http://schemas.openxmlformats.org/drawingml/2006/main">
              <a:ext uri="{FF2B5EF4-FFF2-40B4-BE49-F238E27FC236}">
                <a16:creationId xmlns:a16="http://schemas.microsoft.com/office/drawing/2014/main" id="{D2A465B9-1DB0-4529-82A2-A4B9C816713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25</a:t>
            </a:r>
          </a:p>
        </p:txBody>
      </p:sp>
      <p:graphicFrame>
        <p:nvGraphicFramePr>
          <p:cNvPr id="6" name="Chart">
            <a:extLst xmlns:a="http://schemas.openxmlformats.org/drawingml/2006/main">
              <a:ext uri="{FF2B5EF4-FFF2-40B4-BE49-F238E27FC236}">
                <a16:creationId xmlns:a16="http://schemas.microsoft.com/office/drawing/2014/main" id="{3522AC85-4640-48CB-A901-A397C9CDABCA}"/>
              </a:ext>
            </a:extLst>
          </p:cNvPr>
          <p:cNvGraphicFramePr/>
          <p:nvPr/>
        </p:nvGraphicFramePr>
        <p:xfrm>
          <a:off xmlns:a="http://schemas.openxmlformats.org/drawingml/2006/main" x="619125" y="1838325"/>
          <a:ext xmlns:a="http://schemas.openxmlformats.org/drawingml/2006/main" cx="10810875" cy="3743325"/>
        </p:xfrm>
        <a:graphic xmlns:a="http://schemas.openxmlformats.org/drawingml/2006/main">
          <a:graphicData uri="http://schemas.openxmlformats.org/drawingml/2006/chart">
            <c:chart xmlns:r="http://schemas.openxmlformats.org/officeDocument/2006/relationships" xmlns:c="http://schemas.openxmlformats.org/drawingml/2006/chart" r:id="R4ae690580f884300"/>
          </a:graphicData>
        </a:graphic>
      </p:graphicFrame>
    </p:spTree>
    <p:extLst>
      <p:ext uri="{BB962C8B-B14F-4D97-AF65-F5344CB8AC3E}">
        <p14:creationId xmlns:p14="http://schemas.microsoft.com/office/powerpoint/2010/main" val="954235511"/>
      </p:ext>
    </p:extLst>
  </p:cSld>
</p:sld>
</file>

<file path=ppt/slides/slide2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CORE RESULT 2">
            <a:extLst xmlns:a="http://schemas.openxmlformats.org/drawingml/2006/main">
              <a:ext uri="{FF2B5EF4-FFF2-40B4-BE49-F238E27FC236}">
                <a16:creationId xmlns:a16="http://schemas.microsoft.com/office/drawing/2014/main" id="{196F54A7-AF51-4228-802C-8334E743D3DC}"/>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CORE RESULT 2</a:t>
            </a:r>
          </a:p>
        </p:txBody>
      </p:sp>
      <p:sp>
        <p:nvSpPr>
          <p:cNvPr id="2" name="Regret is measured at four stream checkpoints">
            <a:extLst xmlns:a="http://schemas.openxmlformats.org/drawingml/2006/main">
              <a:ext uri="{FF2B5EF4-FFF2-40B4-BE49-F238E27FC236}">
                <a16:creationId xmlns:a16="http://schemas.microsoft.com/office/drawing/2014/main" id="{2BB2D128-4F6B-4A14-B9E2-80D9BA77B03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Regret is measured at four stream checkpoints</a:t>
            </a:r>
          </a:p>
        </p:txBody>
      </p:sp>
      <p:sp>
        <p:nvSpPr>
          <p:cNvPr id="3" name="">
            <a:extLst xmlns:a="http://schemas.openxmlformats.org/drawingml/2006/main">
              <a:ext uri="{FF2B5EF4-FFF2-40B4-BE49-F238E27FC236}">
                <a16:creationId xmlns:a16="http://schemas.microsoft.com/office/drawing/2014/main" id="{1914BE0E-93A6-4D06-BBEE-DD2F563AE1D1}"/>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A2F569BF-5ED5-4084-A52B-872BEFC2240F}"/>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6">
            <a:extLst xmlns:a="http://schemas.openxmlformats.org/drawingml/2006/main">
              <a:ext uri="{FF2B5EF4-FFF2-40B4-BE49-F238E27FC236}">
                <a16:creationId xmlns:a16="http://schemas.microsoft.com/office/drawing/2014/main" id="{C7563E46-A5B0-470E-B796-E5EAC7B50C4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26</a:t>
            </a:r>
          </a:p>
        </p:txBody>
      </p:sp>
      <p:graphicFrame>
        <p:nvGraphicFramePr>
          <p:cNvPr id="6" name="Chart">
            <a:extLst xmlns:a="http://schemas.openxmlformats.org/drawingml/2006/main">
              <a:ext uri="{FF2B5EF4-FFF2-40B4-BE49-F238E27FC236}">
                <a16:creationId xmlns:a16="http://schemas.microsoft.com/office/drawing/2014/main" id="{CEE7C81F-FCBA-41BC-B05E-0CE73727DEA4}"/>
              </a:ext>
            </a:extLst>
          </p:cNvPr>
          <p:cNvGraphicFramePr/>
          <p:nvPr/>
        </p:nvGraphicFramePr>
        <p:xfrm>
          <a:off xmlns:a="http://schemas.openxmlformats.org/drawingml/2006/main" x="619125" y="1838325"/>
          <a:ext xmlns:a="http://schemas.openxmlformats.org/drawingml/2006/main" cx="10810875" cy="3743325"/>
        </p:xfrm>
        <a:graphic xmlns:a="http://schemas.openxmlformats.org/drawingml/2006/main">
          <a:graphicData uri="http://schemas.openxmlformats.org/drawingml/2006/chart">
            <c:chart xmlns:r="http://schemas.openxmlformats.org/officeDocument/2006/relationships" xmlns:c="http://schemas.openxmlformats.org/drawingml/2006/chart" r:id="R1800f0f01bdf4690"/>
          </a:graphicData>
        </a:graphic>
      </p:graphicFrame>
    </p:spTree>
    <p:extLst>
      <p:ext uri="{BB962C8B-B14F-4D97-AF65-F5344CB8AC3E}">
        <p14:creationId xmlns:p14="http://schemas.microsoft.com/office/powerpoint/2010/main" val="631297033"/>
      </p:ext>
    </p:extLst>
  </p:cSld>
</p:sld>
</file>

<file path=ppt/slides/slide2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COMPONENT ANALYSIS">
            <a:extLst xmlns:a="http://schemas.openxmlformats.org/drawingml/2006/main">
              <a:ext uri="{FF2B5EF4-FFF2-40B4-BE49-F238E27FC236}">
                <a16:creationId xmlns:a16="http://schemas.microsoft.com/office/drawing/2014/main" id="{141AAF05-F316-4877-8628-F6F421E5DE12}"/>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COMPONENT ANALYSIS</a:t>
            </a:r>
          </a:p>
        </p:txBody>
      </p:sp>
      <p:sp>
        <p:nvSpPr>
          <p:cNvPr id="2" name="Ablations are retained even when unfavorable">
            <a:extLst xmlns:a="http://schemas.openxmlformats.org/drawingml/2006/main">
              <a:ext uri="{FF2B5EF4-FFF2-40B4-BE49-F238E27FC236}">
                <a16:creationId xmlns:a16="http://schemas.microsoft.com/office/drawing/2014/main" id="{9DBB50CC-FF02-44E5-AECF-D2B81C179CD4}"/>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Ablations are retained even when unfavorable</a:t>
            </a:r>
          </a:p>
        </p:txBody>
      </p:sp>
      <p:sp>
        <p:nvSpPr>
          <p:cNvPr id="3" name="">
            <a:extLst xmlns:a="http://schemas.openxmlformats.org/drawingml/2006/main">
              <a:ext uri="{FF2B5EF4-FFF2-40B4-BE49-F238E27FC236}">
                <a16:creationId xmlns:a16="http://schemas.microsoft.com/office/drawing/2014/main" id="{0C3742D4-E164-4799-A58A-5C51E4D13FA7}"/>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5AF27661-35D9-4044-B0D4-669378C56D93}"/>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[4] Team 8, frozen local study, aggregate/per-seed.csv and verification/, 29 Oct. 2026. Three seeds; public W&amp;B links pending.</a:t>
            </a:r>
          </a:p>
        </p:txBody>
      </p:sp>
      <p:sp>
        <p:nvSpPr>
          <p:cNvPr id="5" name="27">
            <a:extLst xmlns:a="http://schemas.openxmlformats.org/drawingml/2006/main">
              <a:ext uri="{FF2B5EF4-FFF2-40B4-BE49-F238E27FC236}">
                <a16:creationId xmlns:a16="http://schemas.microsoft.com/office/drawing/2014/main" id="{D857DAFC-705F-4E85-9D0D-D1F37973780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27</a:t>
            </a:r>
          </a:p>
        </p:txBody>
      </p:sp>
      <p:graphicFrame>
        <p:nvGraphicFramePr>
          <p:cNvPr id="6" name="">
            <a:extLst xmlns:a="http://schemas.openxmlformats.org/drawingml/2006/main">
              <a:ext uri="{FF2B5EF4-FFF2-40B4-BE49-F238E27FC236}">
                <a16:creationId xmlns:a16="http://schemas.microsoft.com/office/drawing/2014/main" id="{6C471C12-E62E-4327-9279-8190A8BDBD37}"/>
              </a:ext>
            </a:extLst>
          </p:cNvPr>
          <p:cNvGraphicFramePr/>
          <p:nvPr/>
        </p:nvGraphicFramePr>
        <p:xfrm>
          <a:off xmlns:a="http://schemas.openxmlformats.org/drawingml/2006/main" x="552450" y="1847850"/>
          <a:ext xmlns:a="http://schemas.openxmlformats.org/drawingml/2006/main" cx="11087100" cy="3943350"/>
        </p:xfrm>
        <a:graphic xmlns:a="http://schemas.openxmlformats.org/drawingml/2006/main">
          <a:graphicData uri="http://schemas.openxmlformats.org/drawingml/2006/table">
            <a:tbl>
              <a:tblPr/>
              <a:tblGrid>
                <a:gridCol w="5429250"/>
                <a:gridCol w="2828925"/>
                <a:gridCol w="2828925"/>
              </a:tblGrid>
              <a:tr h="563336">
                <a:tc>
                  <a:txBody>
                    <a:bodyPr/>
                    <a:lstStyle/>
                    <a:p>
                      <a:r>
                        <a:rPr sz="1650" b="1">
                          <a:solidFill>
                            <a:srgbClr val="FFFFFF"/>
                          </a:solidFill>
                          <a:latin typeface="Arial"/>
                          <a:ea typeface="Arial"/>
                          <a:cs typeface="Arial"/>
                        </a:rPr>
                        <a:t>Variant</a:t>
                      </a:r>
                    </a:p>
                  </a:txBody>
                  <a:tcPr marL="91440" marR="91440" marT="45720" marB="45720">
                    <a:solidFill>
                      <a:srgbClr val="172D35"/>
                    </a:solidFill>
                  </a:tcPr>
                </a:tc>
                <a:tc>
                  <a:txBody>
                    <a:bodyPr/>
                    <a:lstStyle/>
                    <a:p>
                      <a:r>
                        <a:rPr sz="1650" b="1">
                          <a:solidFill>
                            <a:srgbClr val="FFFFFF"/>
                          </a:solidFill>
                          <a:latin typeface="Arial"/>
                          <a:ea typeface="Arial"/>
                          <a:cs typeface="Arial"/>
                        </a:rPr>
                        <a:t>RouterBench</a:t>
                      </a:r>
                    </a:p>
                  </a:txBody>
                  <a:tcPr marL="91440" marR="91440" marT="45720" marB="45720">
                    <a:solidFill>
                      <a:srgbClr val="172D35"/>
                    </a:solidFill>
                  </a:tcPr>
                </a:tc>
                <a:tc>
                  <a:txBody>
                    <a:bodyPr/>
                    <a:lstStyle/>
                    <a:p>
                      <a:r>
                        <a:rPr sz="1650" b="1">
                          <a:solidFill>
                            <a:srgbClr val="FFFFFF"/>
                          </a:solidFill>
                          <a:latin typeface="Arial"/>
                          <a:ea typeface="Arial"/>
                          <a:cs typeface="Arial"/>
                        </a:rPr>
                        <a:t>MMLU</a:t>
                      </a:r>
                    </a:p>
                  </a:txBody>
                  <a:tcPr marL="91440" marR="91440" marT="45720" marB="45720">
                    <a:solidFill>
                      <a:srgbClr val="172D35"/>
                    </a:solidFill>
                  </a:tcPr>
                </a:tc>
              </a:tr>
              <a:tr h="563336">
                <a:tc>
                  <a:txBody>
                    <a:bodyPr/>
                    <a:lstStyle/>
                    <a:p>
                      <a:r>
                        <a:rPr sz="1650" b="0">
                          <a:solidFill>
                            <a:srgbClr val="172D35"/>
                          </a:solidFill>
                          <a:latin typeface="Arial"/>
                          <a:ea typeface="Arial"/>
                          <a:cs typeface="Arial"/>
                        </a:rPr>
                        <a:t>main</a:t>
                      </a:r>
                    </a:p>
                  </a:txBody>
                  <a:tcPr marL="91440" marR="91440" marT="45720" marB="45720">
                    <a:solidFill>
                      <a:srgbClr val="EEF3F0"/>
                    </a:solidFill>
                  </a:tcPr>
                </a:tc>
                <a:tc>
                  <a:txBody>
                    <a:bodyPr/>
                    <a:lstStyle/>
                    <a:p>
                      <a:r>
                        <a:rPr sz="1650" b="0">
                          <a:solidFill>
                            <a:srgbClr val="172D35"/>
                          </a:solidFill>
                          <a:latin typeface="Arial"/>
                          <a:ea typeface="Arial"/>
                          <a:cs typeface="Arial"/>
                        </a:rPr>
                        <a:t>0.6764</a:t>
                      </a:r>
                    </a:p>
                  </a:txBody>
                  <a:tcPr marL="91440" marR="91440" marT="45720" marB="45720">
                    <a:solidFill>
                      <a:srgbClr val="EEF3F0"/>
                    </a:solidFill>
                  </a:tcPr>
                </a:tc>
                <a:tc>
                  <a:txBody>
                    <a:bodyPr/>
                    <a:lstStyle/>
                    <a:p>
                      <a:r>
                        <a:rPr sz="1650" b="0">
                          <a:solidFill>
                            <a:srgbClr val="172D35"/>
                          </a:solidFill>
                          <a:latin typeface="Arial"/>
                          <a:ea typeface="Arial"/>
                          <a:cs typeface="Arial"/>
                        </a:rPr>
                        <a:t>0.6675</a:t>
                      </a:r>
                    </a:p>
                  </a:txBody>
                  <a:tcPr marL="91440" marR="91440" marT="45720" marB="45720">
                    <a:solidFill>
                      <a:srgbClr val="EEF3F0"/>
                    </a:solidFill>
                  </a:tcPr>
                </a:tc>
              </a:tr>
              <a:tr h="563336">
                <a:tc>
                  <a:txBody>
                    <a:bodyPr/>
                    <a:lstStyle/>
                    <a:p>
                      <a:r>
                        <a:rPr sz="1650" b="0">
                          <a:solidFill>
                            <a:srgbClr val="172D35"/>
                          </a:solidFill>
                          <a:latin typeface="Arial"/>
                          <a:ea typeface="Arial"/>
                          <a:cs typeface="Arial"/>
                        </a:rPr>
                        <a:t>zero-prior-direction</a:t>
                      </a:r>
                    </a:p>
                  </a:txBody>
                  <a:tcPr marL="91440" marR="91440" marT="45720" marB="45720">
                    <a:solidFill>
                      <a:srgbClr val="FFFFFF"/>
                    </a:solidFill>
                  </a:tcPr>
                </a:tc>
                <a:tc>
                  <a:txBody>
                    <a:bodyPr/>
                    <a:lstStyle/>
                    <a:p>
                      <a:r>
                        <a:rPr sz="1650" b="0">
                          <a:solidFill>
                            <a:srgbClr val="172D35"/>
                          </a:solidFill>
                          <a:latin typeface="Arial"/>
                          <a:ea typeface="Arial"/>
                          <a:cs typeface="Arial"/>
                        </a:rPr>
                        <a:t>0.6751</a:t>
                      </a:r>
                    </a:p>
                  </a:txBody>
                  <a:tcPr marL="91440" marR="91440" marT="45720" marB="45720">
                    <a:solidFill>
                      <a:srgbClr val="FFFFFF"/>
                    </a:solidFill>
                  </a:tcPr>
                </a:tc>
                <a:tc>
                  <a:txBody>
                    <a:bodyPr/>
                    <a:lstStyle/>
                    <a:p>
                      <a:r>
                        <a:rPr sz="1650" b="0">
                          <a:solidFill>
                            <a:srgbClr val="172D35"/>
                          </a:solidFill>
                          <a:latin typeface="Arial"/>
                          <a:ea typeface="Arial"/>
                          <a:cs typeface="Arial"/>
                        </a:rPr>
                        <a:t>0.6701</a:t>
                      </a:r>
                    </a:p>
                  </a:txBody>
                  <a:tcPr marL="91440" marR="91440" marT="45720" marB="45720">
                    <a:solidFill>
                      <a:srgbClr val="FFFFFF"/>
                    </a:solidFill>
                  </a:tcPr>
                </a:tc>
              </a:tr>
              <a:tr h="563336">
                <a:tc>
                  <a:txBody>
                    <a:bodyPr/>
                    <a:lstStyle/>
                    <a:p>
                      <a:r>
                        <a:rPr sz="1650" b="0">
                          <a:solidFill>
                            <a:srgbClr val="172D35"/>
                          </a:solidFill>
                          <a:latin typeface="Arial"/>
                          <a:ea typeface="Arial"/>
                          <a:cs typeface="Arial"/>
                        </a:rPr>
                        <a:t>unit-initialization-strength</a:t>
                      </a:r>
                    </a:p>
                  </a:txBody>
                  <a:tcPr marL="91440" marR="91440" marT="45720" marB="45720">
                    <a:solidFill>
                      <a:srgbClr val="EEF3F0"/>
                    </a:solidFill>
                  </a:tcPr>
                </a:tc>
                <a:tc>
                  <a:txBody>
                    <a:bodyPr/>
                    <a:lstStyle/>
                    <a:p>
                      <a:r>
                        <a:rPr sz="1650" b="0">
                          <a:solidFill>
                            <a:srgbClr val="172D35"/>
                          </a:solidFill>
                          <a:latin typeface="Arial"/>
                          <a:ea typeface="Arial"/>
                          <a:cs typeface="Arial"/>
                        </a:rPr>
                        <a:t>0.6836</a:t>
                      </a:r>
                    </a:p>
                  </a:txBody>
                  <a:tcPr marL="91440" marR="91440" marT="45720" marB="45720">
                    <a:solidFill>
                      <a:srgbClr val="EEF3F0"/>
                    </a:solidFill>
                  </a:tcPr>
                </a:tc>
                <a:tc>
                  <a:txBody>
                    <a:bodyPr/>
                    <a:lstStyle/>
                    <a:p>
                      <a:r>
                        <a:rPr sz="1650" b="0">
                          <a:solidFill>
                            <a:srgbClr val="172D35"/>
                          </a:solidFill>
                          <a:latin typeface="Arial"/>
                          <a:ea typeface="Arial"/>
                          <a:cs typeface="Arial"/>
                        </a:rPr>
                        <a:t>0.6784</a:t>
                      </a:r>
                    </a:p>
                  </a:txBody>
                  <a:tcPr marL="91440" marR="91440" marT="45720" marB="45720">
                    <a:solidFill>
                      <a:srgbClr val="EEF3F0"/>
                    </a:solidFill>
                  </a:tcPr>
                </a:tc>
              </a:tr>
              <a:tr h="563336">
                <a:tc>
                  <a:txBody>
                    <a:bodyPr/>
                    <a:lstStyle/>
                    <a:p>
                      <a:r>
                        <a:rPr sz="1650" b="0">
                          <a:solidFill>
                            <a:srgbClr val="172D35"/>
                          </a:solidFill>
                          <a:latin typeface="Arial"/>
                          <a:ea typeface="Arial"/>
                          <a:cs typeface="Arial"/>
                        </a:rPr>
                        <a:t>prior-only</a:t>
                      </a:r>
                    </a:p>
                  </a:txBody>
                  <a:tcPr marL="91440" marR="91440" marT="45720" marB="45720">
                    <a:solidFill>
                      <a:srgbClr val="FFFFFF"/>
                    </a:solidFill>
                  </a:tcPr>
                </a:tc>
                <a:tc>
                  <a:txBody>
                    <a:bodyPr/>
                    <a:lstStyle/>
                    <a:p>
                      <a:r>
                        <a:rPr sz="1650" b="0">
                          <a:solidFill>
                            <a:srgbClr val="172D35"/>
                          </a:solidFill>
                          <a:latin typeface="Arial"/>
                          <a:ea typeface="Arial"/>
                          <a:cs typeface="Arial"/>
                        </a:rPr>
                        <a:t>0.6032</a:t>
                      </a:r>
                    </a:p>
                  </a:txBody>
                  <a:tcPr marL="91440" marR="91440" marT="45720" marB="45720">
                    <a:solidFill>
                      <a:srgbClr val="FFFFFF"/>
                    </a:solidFill>
                  </a:tcPr>
                </a:tc>
                <a:tc>
                  <a:txBody>
                    <a:bodyPr/>
                    <a:lstStyle/>
                    <a:p>
                      <a:r>
                        <a:rPr sz="1650" b="0">
                          <a:solidFill>
                            <a:srgbClr val="172D35"/>
                          </a:solidFill>
                          <a:latin typeface="Arial"/>
                          <a:ea typeface="Arial"/>
                          <a:cs typeface="Arial"/>
                        </a:rPr>
                        <a:t>0.5103</a:t>
                      </a:r>
                    </a:p>
                  </a:txBody>
                  <a:tcPr marL="91440" marR="91440" marT="45720" marB="45720">
                    <a:solidFill>
                      <a:srgbClr val="FFFFFF"/>
                    </a:solidFill>
                  </a:tcPr>
                </a:tc>
              </a:tr>
              <a:tr h="563336">
                <a:tc>
                  <a:txBody>
                    <a:bodyPr/>
                    <a:lstStyle/>
                    <a:p>
                      <a:r>
                        <a:rPr sz="1650" b="0">
                          <a:solidFill>
                            <a:srgbClr val="172D35"/>
                          </a:solidFill>
                          <a:latin typeface="Arial"/>
                          <a:ea typeface="Arial"/>
                          <a:cs typeface="Arial"/>
                        </a:rPr>
                        <a:t>single-budget-bin</a:t>
                      </a:r>
                    </a:p>
                  </a:txBody>
                  <a:tcPr marL="91440" marR="91440" marT="45720" marB="45720">
                    <a:solidFill>
                      <a:srgbClr val="EEF3F0"/>
                    </a:solidFill>
                  </a:tcPr>
                </a:tc>
                <a:tc>
                  <a:txBody>
                    <a:bodyPr/>
                    <a:lstStyle/>
                    <a:p>
                      <a:r>
                        <a:rPr sz="1650" b="0">
                          <a:solidFill>
                            <a:srgbClr val="172D35"/>
                          </a:solidFill>
                          <a:latin typeface="Arial"/>
                          <a:ea typeface="Arial"/>
                          <a:cs typeface="Arial"/>
                        </a:rPr>
                        <a:t>0.6762</a:t>
                      </a:r>
                    </a:p>
                  </a:txBody>
                  <a:tcPr marL="91440" marR="91440" marT="45720" marB="45720">
                    <a:solidFill>
                      <a:srgbClr val="EEF3F0"/>
                    </a:solidFill>
                  </a:tcPr>
                </a:tc>
                <a:tc>
                  <a:txBody>
                    <a:bodyPr/>
                    <a:lstStyle/>
                    <a:p>
                      <a:r>
                        <a:rPr sz="1650" b="0">
                          <a:solidFill>
                            <a:srgbClr val="172D35"/>
                          </a:solidFill>
                          <a:latin typeface="Arial"/>
                          <a:ea typeface="Arial"/>
                          <a:cs typeface="Arial"/>
                        </a:rPr>
                        <a:t>0.6774</a:t>
                      </a:r>
                    </a:p>
                  </a:txBody>
                  <a:tcPr marL="91440" marR="91440" marT="45720" marB="45720">
                    <a:solidFill>
                      <a:srgbClr val="EEF3F0"/>
                    </a:solidFill>
                  </a:tcPr>
                </a:tc>
              </a:tr>
              <a:tr h="563336">
                <a:tc>
                  <a:txBody>
                    <a:bodyPr/>
                    <a:lstStyle/>
                    <a:p>
                      <a:r>
                        <a:rPr sz="1650" b="0">
                          <a:solidFill>
                            <a:srgbClr val="172D35"/>
                          </a:solidFill>
                          <a:latin typeface="Arial"/>
                          <a:ea typeface="Arial"/>
                          <a:cs typeface="Arial"/>
                        </a:rPr>
                        <a:t>projection-dimension-8</a:t>
                      </a:r>
                    </a:p>
                  </a:txBody>
                  <a:tcPr marL="91440" marR="91440" marT="45720" marB="45720">
                    <a:solidFill>
                      <a:srgbClr val="FFFFFF"/>
                    </a:solidFill>
                  </a:tcPr>
                </a:tc>
                <a:tc>
                  <a:txBody>
                    <a:bodyPr/>
                    <a:lstStyle/>
                    <a:p>
                      <a:r>
                        <a:rPr sz="1650" b="0">
                          <a:solidFill>
                            <a:srgbClr val="172D35"/>
                          </a:solidFill>
                          <a:latin typeface="Arial"/>
                          <a:ea typeface="Arial"/>
                          <a:cs typeface="Arial"/>
                        </a:rPr>
                        <a:t>0.6774</a:t>
                      </a:r>
                    </a:p>
                  </a:txBody>
                  <a:tcPr marL="91440" marR="91440" marT="45720" marB="45720">
                    <a:solidFill>
                      <a:srgbClr val="FFFFFF"/>
                    </a:solidFill>
                  </a:tcPr>
                </a:tc>
                <a:tc>
                  <a:txBody>
                    <a:bodyPr/>
                    <a:lstStyle/>
                    <a:p>
                      <a:r>
                        <a:rPr sz="1650" b="0">
                          <a:solidFill>
                            <a:srgbClr val="172D35"/>
                          </a:solidFill>
                          <a:latin typeface="Arial"/>
                          <a:ea typeface="Arial"/>
                          <a:cs typeface="Arial"/>
                        </a:rPr>
                        <a:t>0.6750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04406352"/>
      </p:ext>
    </p:extLst>
  </p:cSld>
</p:sld>
</file>

<file path=ppt/slides/slide2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SYNTHESIS">
            <a:extLst xmlns:a="http://schemas.openxmlformats.org/drawingml/2006/main">
              <a:ext uri="{FF2B5EF4-FFF2-40B4-BE49-F238E27FC236}">
                <a16:creationId xmlns:a16="http://schemas.microsoft.com/office/drawing/2014/main" id="{0A34367C-EEEE-49BF-8DA1-0E7B1423CDDF}"/>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SYNTHESIS</a:t>
            </a:r>
          </a:p>
        </p:txBody>
      </p:sp>
      <p:sp>
        <p:nvSpPr>
          <p:cNvPr id="2" name="Three strengths survive a critical reading">
            <a:extLst xmlns:a="http://schemas.openxmlformats.org/drawingml/2006/main">
              <a:ext uri="{FF2B5EF4-FFF2-40B4-BE49-F238E27FC236}">
                <a16:creationId xmlns:a16="http://schemas.microsoft.com/office/drawing/2014/main" id="{0718C6F4-F0B0-443A-B3FD-32CC17E1D1EA}"/>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Three strengths survive a critical reading</a:t>
            </a:r>
          </a:p>
        </p:txBody>
      </p:sp>
      <p:sp>
        <p:nvSpPr>
          <p:cNvPr id="3" name="">
            <a:extLst xmlns:a="http://schemas.openxmlformats.org/drawingml/2006/main">
              <a:ext uri="{FF2B5EF4-FFF2-40B4-BE49-F238E27FC236}">
                <a16:creationId xmlns:a16="http://schemas.microsoft.com/office/drawing/2014/main" id="{56AC3F80-E798-429E-A08E-41B4C56D3071}"/>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A037F03D-0335-4181-A53B-D09D26680584}"/>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[1] P. Panda et al., “Adaptive LLM Routing under Budget Constraints,” Findings of EMNLP, pp. 23934–23949, 2025.</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p:txBody>
      </p:sp>
      <p:sp>
        <p:nvSpPr>
          <p:cNvPr id="5" name="28">
            <a:extLst xmlns:a="http://schemas.openxmlformats.org/drawingml/2006/main">
              <a:ext uri="{FF2B5EF4-FFF2-40B4-BE49-F238E27FC236}">
                <a16:creationId xmlns:a16="http://schemas.microsoft.com/office/drawing/2014/main" id="{4C1CF1FB-4DA5-4807-88F3-94F0719D6D3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28</a:t>
            </a:r>
          </a:p>
        </p:txBody>
      </p:sp>
      <p:sp>
        <p:nvSpPr>
          <p:cNvPr id="6" name="01">
            <a:extLst xmlns:a="http://schemas.openxmlformats.org/drawingml/2006/main">
              <a:ext uri="{FF2B5EF4-FFF2-40B4-BE49-F238E27FC236}">
                <a16:creationId xmlns:a16="http://schemas.microsoft.com/office/drawing/2014/main" id="{D4245BB7-CD36-4B16-AC0D-58BDEEDDA369}"/>
              </a:ext>
            </a:extLst>
          </p:cNvPr>
          <p:cNvSpPr>
            <a:spLocks xmlns:a="http://schemas.openxmlformats.org/drawingml/2006/main" noGrp="1"/>
          </p:cNvSpPr>
          <p:nvPr/>
        </p:nvSpPr>
        <p:spPr>
          <a:xfrm xmlns:a="http://schemas.openxmlformats.org/drawingml/2006/main">
            <a:off x="590550" y="183832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Feedback efficiency: one selected reward per learning round.">
            <a:extLst xmlns:a="http://schemas.openxmlformats.org/drawingml/2006/main">
              <a:ext uri="{FF2B5EF4-FFF2-40B4-BE49-F238E27FC236}">
                <a16:creationId xmlns:a16="http://schemas.microsoft.com/office/drawing/2014/main" id="{D71293D6-477A-415D-BB3F-3F1286E0C2D1}"/>
              </a:ext>
            </a:extLst>
          </p:cNvPr>
          <p:cNvSpPr>
            <a:spLocks xmlns:a="http://schemas.openxmlformats.org/drawingml/2006/main" noGrp="1"/>
          </p:cNvSpPr>
          <p:nvPr/>
        </p:nvSpPr>
        <p:spPr>
          <a:xfrm xmlns:a="http://schemas.openxmlformats.org/drawingml/2006/main">
            <a:off x="1257300" y="1838325"/>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Feedback efficiency: one selected reward per learning round.</a:t>
            </a:r>
          </a:p>
        </p:txBody>
      </p:sp>
      <p:sp>
        <p:nvSpPr>
          <p:cNvPr id="8" name="02">
            <a:extLst xmlns:a="http://schemas.openxmlformats.org/drawingml/2006/main">
              <a:ext uri="{FF2B5EF4-FFF2-40B4-BE49-F238E27FC236}">
                <a16:creationId xmlns:a16="http://schemas.microsoft.com/office/drawing/2014/main" id="{EDD807DA-8AF5-4F8E-B9DF-7A32928E184D}"/>
              </a:ext>
            </a:extLst>
          </p:cNvPr>
          <p:cNvSpPr>
            <a:spLocks xmlns:a="http://schemas.openxmlformats.org/drawingml/2006/main" noGrp="1"/>
          </p:cNvSpPr>
          <p:nvPr/>
        </p:nvSpPr>
        <p:spPr>
          <a:xfrm xmlns:a="http://schemas.openxmlformats.org/drawingml/2006/main">
            <a:off x="590550" y="31051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Reusable initialization: measurable held-out preference sign">
            <a:extLst xmlns:a="http://schemas.openxmlformats.org/drawingml/2006/main">
              <a:ext uri="{FF2B5EF4-FFF2-40B4-BE49-F238E27FC236}">
                <a16:creationId xmlns:a16="http://schemas.microsoft.com/office/drawing/2014/main" id="{772DB5C0-C4F3-42DB-949B-D663F6F58F89}"/>
              </a:ext>
            </a:extLst>
          </p:cNvPr>
          <p:cNvSpPr>
            <a:spLocks xmlns:a="http://schemas.openxmlformats.org/drawingml/2006/main" noGrp="1"/>
          </p:cNvSpPr>
          <p:nvPr/>
        </p:nvSpPr>
        <p:spPr>
          <a:xfrm xmlns:a="http://schemas.openxmlformats.org/drawingml/2006/main">
            <a:off x="1257300" y="3105150"/>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Reusable initialization: measurable held-out preference signal.</a:t>
            </a:r>
          </a:p>
        </p:txBody>
      </p:sp>
      <p:sp>
        <p:nvSpPr>
          <p:cNvPr id="10" name="03">
            <a:extLst xmlns:a="http://schemas.openxmlformats.org/drawingml/2006/main">
              <a:ext uri="{FF2B5EF4-FFF2-40B4-BE49-F238E27FC236}">
                <a16:creationId xmlns:a16="http://schemas.microsoft.com/office/drawing/2014/main" id="{26A68AE8-7B1B-4234-BAFE-B86386F8DD0A}"/>
              </a:ext>
            </a:extLst>
          </p:cNvPr>
          <p:cNvSpPr>
            <a:spLocks xmlns:a="http://schemas.openxmlformats.org/drawingml/2006/main" noGrp="1"/>
          </p:cNvSpPr>
          <p:nvPr/>
        </p:nvSpPr>
        <p:spPr>
          <a:xfrm xmlns:a="http://schemas.openxmlformats.org/drawingml/2006/main">
            <a:off x="590550" y="43719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Auditable deployment: a frozen router and explicit budget ac">
            <a:extLst xmlns:a="http://schemas.openxmlformats.org/drawingml/2006/main">
              <a:ext uri="{FF2B5EF4-FFF2-40B4-BE49-F238E27FC236}">
                <a16:creationId xmlns:a16="http://schemas.microsoft.com/office/drawing/2014/main" id="{C548AF8C-4EF9-4162-90B8-9737D8E88C24}"/>
              </a:ext>
            </a:extLst>
          </p:cNvPr>
          <p:cNvSpPr>
            <a:spLocks xmlns:a="http://schemas.openxmlformats.org/drawingml/2006/main" noGrp="1"/>
          </p:cNvSpPr>
          <p:nvPr/>
        </p:nvSpPr>
        <p:spPr>
          <a:xfrm xmlns:a="http://schemas.openxmlformats.org/drawingml/2006/main">
            <a:off x="1257300" y="4371975"/>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Auditable deployment: a frozen router and explicit budget accounting.</a:t>
            </a:r>
          </a:p>
        </p:txBody>
      </p:sp>
    </p:spTree>
    <p:extLst>
      <p:ext uri="{BB962C8B-B14F-4D97-AF65-F5344CB8AC3E}">
        <p14:creationId xmlns:p14="http://schemas.microsoft.com/office/powerpoint/2010/main" val="419841298"/>
      </p:ext>
    </p:extLst>
  </p:cSld>
</p:sld>
</file>

<file path=ppt/slides/slide29.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9" name="CRITICAL ANALYSIS">
            <a:extLst xmlns:a="http://schemas.openxmlformats.org/drawingml/2006/main">
              <a:ext uri="{FF2B5EF4-FFF2-40B4-BE49-F238E27FC236}">
                <a16:creationId xmlns:a16="http://schemas.microsoft.com/office/drawing/2014/main" id="{376BD1CA-FE78-4DA4-BCC7-2CF2363A5482}"/>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CRITICAL ANALYSIS</a:t>
            </a:r>
          </a:p>
        </p:txBody>
      </p:sp>
      <p:sp>
        <p:nvSpPr>
          <p:cNvPr id="2" name="Limitation 1: cosine can discard useful magnitude">
            <a:extLst xmlns:a="http://schemas.openxmlformats.org/drawingml/2006/main">
              <a:ext uri="{FF2B5EF4-FFF2-40B4-BE49-F238E27FC236}">
                <a16:creationId xmlns:a16="http://schemas.microsoft.com/office/drawing/2014/main" id="{0EF07ADA-F277-46BC-8E88-72E5B270A93B}"/>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Limitation 1: cosine can discard useful magnitude</a:t>
            </a:r>
          </a:p>
        </p:txBody>
      </p:sp>
      <p:sp>
        <p:nvSpPr>
          <p:cNvPr id="3" name="">
            <a:extLst xmlns:a="http://schemas.openxmlformats.org/drawingml/2006/main">
              <a:ext uri="{FF2B5EF4-FFF2-40B4-BE49-F238E27FC236}">
                <a16:creationId xmlns:a16="http://schemas.microsoft.com/office/drawing/2014/main" id="{1D178D31-698F-4815-8883-9ACC401A4E66}"/>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5] Team 8, course supplement, analysis/analysis.json, 30 Oc">
            <a:extLst xmlns:a="http://schemas.openxmlformats.org/drawingml/2006/main">
              <a:ext uri="{FF2B5EF4-FFF2-40B4-BE49-F238E27FC236}">
                <a16:creationId xmlns:a16="http://schemas.microsoft.com/office/drawing/2014/main" id="{4DC49D84-B649-45F2-BC8E-2B950243A1A4}"/>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[5] Team 8, course supplement, analysis/analysis.json, 30 Oct. 2026. Protocol and source hashes retained; W&amp;B links pending.</a:t>
            </a:r>
          </a:p>
        </p:txBody>
      </p:sp>
      <p:sp>
        <p:nvSpPr>
          <p:cNvPr id="5" name="29">
            <a:extLst xmlns:a="http://schemas.openxmlformats.org/drawingml/2006/main">
              <a:ext uri="{FF2B5EF4-FFF2-40B4-BE49-F238E27FC236}">
                <a16:creationId xmlns:a16="http://schemas.microsoft.com/office/drawing/2014/main" id="{461945D1-B6E0-483C-8999-75692D8A4C25}"/>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29</a:t>
            </a:r>
          </a:p>
        </p:txBody>
      </p:sp>
      <p:graphicFrame>
        <p:nvGraphicFramePr>
          <p:cNvPr id="6" name="Chart">
            <a:extLst xmlns:a="http://schemas.openxmlformats.org/drawingml/2006/main">
              <a:ext uri="{FF2B5EF4-FFF2-40B4-BE49-F238E27FC236}">
                <a16:creationId xmlns:a16="http://schemas.microsoft.com/office/drawing/2014/main" id="{1B13F2EA-48C3-41E6-9768-47823287FCEB}"/>
              </a:ext>
            </a:extLst>
          </p:cNvPr>
          <p:cNvGraphicFramePr/>
          <p:nvPr/>
        </p:nvGraphicFramePr>
        <p:xfrm>
          <a:off xmlns:a="http://schemas.openxmlformats.org/drawingml/2006/main" x="552450" y="1905000"/>
          <a:ext xmlns:a="http://schemas.openxmlformats.org/drawingml/2006/main" cx="7486650" cy="3762375"/>
        </p:xfrm>
        <a:graphic xmlns:a="http://schemas.openxmlformats.org/drawingml/2006/main">
          <a:graphicData uri="http://schemas.openxmlformats.org/drawingml/2006/chart">
            <c:chart xmlns:r="http://schemas.openxmlformats.org/officeDocument/2006/relationships" xmlns:c="http://schemas.openxmlformats.org/drawingml/2006/chart" r:id="Rcd0b98f95f534a1e"/>
          </a:graphicData>
        </a:graphic>
      </p:graphicFrame>
      <p:sp>
        <p:nvSpPr>
          <p:cNvPr id="7" name="600 vs 1.2">
            <a:extLst xmlns:a="http://schemas.openxmlformats.org/drawingml/2006/main">
              <a:ext uri="{FF2B5EF4-FFF2-40B4-BE49-F238E27FC236}">
                <a16:creationId xmlns:a16="http://schemas.microsoft.com/office/drawing/2014/main" id="{D203A5B7-EEBF-4024-B91B-4888113A3EB1}"/>
              </a:ext>
            </a:extLst>
          </p:cNvPr>
          <p:cNvSpPr>
            <a:spLocks xmlns:a="http://schemas.openxmlformats.org/drawingml/2006/main" noGrp="1"/>
          </p:cNvSpPr>
          <p:nvPr/>
        </p:nvSpPr>
        <p:spPr>
          <a:xfrm xmlns:a="http://schemas.openxmlformats.org/drawingml/2006/main">
            <a:off x="8420100" y="2238375"/>
            <a:ext cx="3209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B94C35"/>
                </a:solidFill>
                <a:latin typeface="Arial"/>
                <a:ea typeface="Arial"/>
                <a:cs typeface="Arial"/>
              </a:defRPr>
            </a:defPPr>
            <a:lvl1pPr>
              <a:defRPr sz="3150" b="1">
                <a:solidFill>
                  <a:srgbClr val="B94C35"/>
                </a:solidFill>
                <a:latin typeface="Arial"/>
                <a:ea typeface="Arial"/>
                <a:cs typeface="Arial"/>
              </a:defRPr>
            </a:lvl1pPr>
            <a:lvl2pPr>
              <a:defRPr sz="3150" b="1">
                <a:solidFill>
                  <a:srgbClr val="B94C35"/>
                </a:solidFill>
                <a:latin typeface="Arial"/>
                <a:ea typeface="Arial"/>
                <a:cs typeface="Arial"/>
              </a:defRPr>
            </a:lvl2pPr>
            <a:lvl3pPr>
              <a:defRPr sz="3150" b="1">
                <a:solidFill>
                  <a:srgbClr val="B94C35"/>
                </a:solidFill>
                <a:latin typeface="Arial"/>
                <a:ea typeface="Arial"/>
                <a:cs typeface="Arial"/>
              </a:defRPr>
            </a:lvl3pPr>
            <a:lvl4pPr>
              <a:defRPr sz="3150" b="1">
                <a:solidFill>
                  <a:srgbClr val="B94C35"/>
                </a:solidFill>
                <a:latin typeface="Arial"/>
                <a:ea typeface="Arial"/>
                <a:cs typeface="Arial"/>
              </a:defRPr>
            </a:lvl4pPr>
            <a:lvl5pPr>
              <a:defRPr sz="3150" b="1">
                <a:solidFill>
                  <a:srgbClr val="B94C35"/>
                </a:solidFill>
                <a:latin typeface="Arial"/>
                <a:ea typeface="Arial"/>
                <a:cs typeface="Arial"/>
              </a:defRPr>
            </a:lvl5pPr>
            <a:lvl6pPr>
              <a:defRPr sz="3150" b="1">
                <a:solidFill>
                  <a:srgbClr val="B94C35"/>
                </a:solidFill>
                <a:latin typeface="Arial"/>
                <a:ea typeface="Arial"/>
                <a:cs typeface="Arial"/>
              </a:defRPr>
            </a:lvl6pPr>
            <a:lvl7pPr>
              <a:defRPr sz="3150" b="1">
                <a:solidFill>
                  <a:srgbClr val="B94C35"/>
                </a:solidFill>
                <a:latin typeface="Arial"/>
                <a:ea typeface="Arial"/>
                <a:cs typeface="Arial"/>
              </a:defRPr>
            </a:lvl7pPr>
            <a:lvl8pPr>
              <a:defRPr sz="3150" b="1">
                <a:solidFill>
                  <a:srgbClr val="B94C35"/>
                </a:solidFill>
                <a:latin typeface="Arial"/>
                <a:ea typeface="Arial"/>
                <a:cs typeface="Arial"/>
              </a:defRPr>
            </a:lvl8pPr>
            <a:lvl9pPr>
              <a:defRPr sz="3150" b="1">
                <a:solidFill>
                  <a:srgbClr val="B94C35"/>
                </a:solidFill>
                <a:latin typeface="Arial"/>
                <a:ea typeface="Arial"/>
                <a:cs typeface="Arial"/>
              </a:defRPr>
            </a:lvl9pPr>
          </a:lstStyle>
          <a:p xmlns:a="http://schemas.openxmlformats.org/drawingml/2006/main">
            <a:pPr>
              <a:defRPr sz="3150" b="1">
                <a:solidFill>
                  <a:srgbClr val="B94C35"/>
                </a:solidFill>
                <a:latin typeface="Arial"/>
                <a:ea typeface="Arial"/>
                <a:cs typeface="Arial"/>
              </a:defRPr>
            </a:pPr>
            <a:r>
              <a:rPr sz="3150" b="1">
                <a:solidFill>
                  <a:srgbClr val="B94C35"/>
                </a:solidFill>
                <a:latin typeface="Arial"/>
                <a:ea typeface="Arial"/>
                <a:cs typeface="Arial"/>
              </a:rPr>
              <a:t>600 vs 1.2</a:t>
            </a:r>
          </a:p>
        </p:txBody>
      </p:sp>
      <p:sp>
        <p:nvSpPr>
          <p:cNvPr id="8" name="Regret at 2,000 rounds&#10;&#10;Same prior and feedback.&#10;Synthetic; ">
            <a:extLst xmlns:a="http://schemas.openxmlformats.org/drawingml/2006/main">
              <a:ext uri="{FF2B5EF4-FFF2-40B4-BE49-F238E27FC236}">
                <a16:creationId xmlns:a16="http://schemas.microsoft.com/office/drawing/2014/main" id="{95A752C7-B317-4045-BB38-7FCC170438A5}"/>
              </a:ext>
            </a:extLst>
          </p:cNvPr>
          <p:cNvSpPr>
            <a:spLocks xmlns:a="http://schemas.openxmlformats.org/drawingml/2006/main" noGrp="1"/>
          </p:cNvSpPr>
          <p:nvPr/>
        </p:nvSpPr>
        <p:spPr>
          <a:xfrm xmlns:a="http://schemas.openxmlformats.org/drawingml/2006/main">
            <a:off x="8420100" y="3095625"/>
            <a:ext cx="31908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D35"/>
                </a:solidFill>
                <a:latin typeface="Arial"/>
                <a:ea typeface="Arial"/>
                <a:cs typeface="Arial"/>
              </a:defRPr>
            </a:defPPr>
            <a:lvl1pPr>
              <a:defRPr sz="1800" b="0">
                <a:solidFill>
                  <a:srgbClr val="172D35"/>
                </a:solidFill>
                <a:latin typeface="Arial"/>
                <a:ea typeface="Arial"/>
                <a:cs typeface="Arial"/>
              </a:defRPr>
            </a:lvl1pPr>
            <a:lvl2pPr>
              <a:defRPr sz="1800" b="0">
                <a:solidFill>
                  <a:srgbClr val="172D35"/>
                </a:solidFill>
                <a:latin typeface="Arial"/>
                <a:ea typeface="Arial"/>
                <a:cs typeface="Arial"/>
              </a:defRPr>
            </a:lvl2pPr>
            <a:lvl3pPr>
              <a:defRPr sz="1800" b="0">
                <a:solidFill>
                  <a:srgbClr val="172D35"/>
                </a:solidFill>
                <a:latin typeface="Arial"/>
                <a:ea typeface="Arial"/>
                <a:cs typeface="Arial"/>
              </a:defRPr>
            </a:lvl3pPr>
            <a:lvl4pPr>
              <a:defRPr sz="1800" b="0">
                <a:solidFill>
                  <a:srgbClr val="172D35"/>
                </a:solidFill>
                <a:latin typeface="Arial"/>
                <a:ea typeface="Arial"/>
                <a:cs typeface="Arial"/>
              </a:defRPr>
            </a:lvl4pPr>
            <a:lvl5pPr>
              <a:defRPr sz="1800" b="0">
                <a:solidFill>
                  <a:srgbClr val="172D35"/>
                </a:solidFill>
                <a:latin typeface="Arial"/>
                <a:ea typeface="Arial"/>
                <a:cs typeface="Arial"/>
              </a:defRPr>
            </a:lvl5pPr>
            <a:lvl6pPr>
              <a:defRPr sz="1800" b="0">
                <a:solidFill>
                  <a:srgbClr val="172D35"/>
                </a:solidFill>
                <a:latin typeface="Arial"/>
                <a:ea typeface="Arial"/>
                <a:cs typeface="Arial"/>
              </a:defRPr>
            </a:lvl6pPr>
            <a:lvl7pPr>
              <a:defRPr sz="1800" b="0">
                <a:solidFill>
                  <a:srgbClr val="172D35"/>
                </a:solidFill>
                <a:latin typeface="Arial"/>
                <a:ea typeface="Arial"/>
                <a:cs typeface="Arial"/>
              </a:defRPr>
            </a:lvl7pPr>
            <a:lvl8pPr>
              <a:defRPr sz="1800" b="0">
                <a:solidFill>
                  <a:srgbClr val="172D35"/>
                </a:solidFill>
                <a:latin typeface="Arial"/>
                <a:ea typeface="Arial"/>
                <a:cs typeface="Arial"/>
              </a:defRPr>
            </a:lvl8pPr>
            <a:lvl9pPr>
              <a:defRPr sz="1800" b="0">
                <a:solidFill>
                  <a:srgbClr val="172D35"/>
                </a:solidFill>
                <a:latin typeface="Arial"/>
                <a:ea typeface="Arial"/>
                <a:cs typeface="Arial"/>
              </a:defRPr>
            </a:lvl9pPr>
          </a:lstStyle>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Regret at 2,000 rounds</a:t>
            </a:r>
          </a:p>
          <a:p xmlns:a="http://schemas.openxmlformats.org/drawingml/2006/main">
            <a:r>
              <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Same prior and feedback.</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Synthetic; assumption-</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violating construction.</a:t>
            </a:r>
          </a:p>
        </p:txBody>
      </p:sp>
    </p:spTree>
    <p:extLst>
      <p:ext uri="{BB962C8B-B14F-4D97-AF65-F5344CB8AC3E}">
        <p14:creationId xmlns:p14="http://schemas.microsoft.com/office/powerpoint/2010/main" val="1086532567"/>
      </p:ext>
    </p:extLst>
  </p:cSld>
</p:sld>
</file>

<file path=ppt/slides/slide3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9" name="CRITICAL ANALYSIS">
            <a:extLst xmlns:a="http://schemas.openxmlformats.org/drawingml/2006/main">
              <a:ext uri="{FF2B5EF4-FFF2-40B4-BE49-F238E27FC236}">
                <a16:creationId xmlns:a16="http://schemas.microsoft.com/office/drawing/2014/main" id="{92F00720-1108-4DDF-A1A9-7F866C889ABA}"/>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CRITICAL ANALYSIS</a:t>
            </a:r>
          </a:p>
        </p:txBody>
      </p:sp>
      <p:sp>
        <p:nvSpPr>
          <p:cNvPr id="2" name="Limitation 2: estimated feasibility can be fragile">
            <a:extLst xmlns:a="http://schemas.openxmlformats.org/drawingml/2006/main">
              <a:ext uri="{FF2B5EF4-FFF2-40B4-BE49-F238E27FC236}">
                <a16:creationId xmlns:a16="http://schemas.microsoft.com/office/drawing/2014/main" id="{6B7B8895-47E6-45FF-93A6-308AD78C3888}"/>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Limitation 2: estimated feasibility can be fragile</a:t>
            </a:r>
          </a:p>
        </p:txBody>
      </p:sp>
      <p:sp>
        <p:nvSpPr>
          <p:cNvPr id="3" name="">
            <a:extLst xmlns:a="http://schemas.openxmlformats.org/drawingml/2006/main">
              <a:ext uri="{FF2B5EF4-FFF2-40B4-BE49-F238E27FC236}">
                <a16:creationId xmlns:a16="http://schemas.microsoft.com/office/drawing/2014/main" id="{62A040CC-437D-450C-986D-1966AE5F86CD}"/>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5] Team 8, course supplement, analysis/analysis.json, 30 Oc">
            <a:extLst xmlns:a="http://schemas.openxmlformats.org/drawingml/2006/main">
              <a:ext uri="{FF2B5EF4-FFF2-40B4-BE49-F238E27FC236}">
                <a16:creationId xmlns:a16="http://schemas.microsoft.com/office/drawing/2014/main" id="{5C510E1E-1AF0-45A2-BD33-D076141CCE1D}"/>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[5] Team 8, course supplement, analysis/analysis.json, 30 Oct. 2026. Protocol and source hashes retained; W&amp;B links pending.</a:t>
            </a:r>
          </a:p>
        </p:txBody>
      </p:sp>
      <p:sp>
        <p:nvSpPr>
          <p:cNvPr id="5" name="30">
            <a:extLst xmlns:a="http://schemas.openxmlformats.org/drawingml/2006/main">
              <a:ext uri="{FF2B5EF4-FFF2-40B4-BE49-F238E27FC236}">
                <a16:creationId xmlns:a16="http://schemas.microsoft.com/office/drawing/2014/main" id="{0F67E8AE-2A5C-4478-8C30-E5DAE318C61C}"/>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30</a:t>
            </a:r>
          </a:p>
        </p:txBody>
      </p:sp>
      <p:graphicFrame>
        <p:nvGraphicFramePr>
          <p:cNvPr id="6" name="Chart">
            <a:extLst xmlns:a="http://schemas.openxmlformats.org/drawingml/2006/main">
              <a:ext uri="{FF2B5EF4-FFF2-40B4-BE49-F238E27FC236}">
                <a16:creationId xmlns:a16="http://schemas.microsoft.com/office/drawing/2014/main" id="{09A2B2EE-916D-43F9-BC17-A42E6FC9573C}"/>
              </a:ext>
            </a:extLst>
          </p:cNvPr>
          <p:cNvGraphicFramePr/>
          <p:nvPr/>
        </p:nvGraphicFramePr>
        <p:xfrm>
          <a:off xmlns:a="http://schemas.openxmlformats.org/drawingml/2006/main" x="552450" y="1905000"/>
          <a:ext xmlns:a="http://schemas.openxmlformats.org/drawingml/2006/main" cx="7486650" cy="3762375"/>
        </p:xfrm>
        <a:graphic xmlns:a="http://schemas.openxmlformats.org/drawingml/2006/main">
          <a:graphicData uri="http://schemas.openxmlformats.org/drawingml/2006/chart">
            <c:chart xmlns:r="http://schemas.openxmlformats.org/officeDocument/2006/relationships" xmlns:c="http://schemas.openxmlformats.org/drawingml/2006/chart" r:id="R21049379bd6e458e"/>
          </a:graphicData>
        </a:graphic>
      </p:graphicFrame>
      <p:sp>
        <p:nvSpPr>
          <p:cNvPr id="7" name="0 → 25 / 48">
            <a:extLst xmlns:a="http://schemas.openxmlformats.org/drawingml/2006/main">
              <a:ext uri="{FF2B5EF4-FFF2-40B4-BE49-F238E27FC236}">
                <a16:creationId xmlns:a16="http://schemas.microsoft.com/office/drawing/2014/main" id="{6110A41D-00AF-4411-A647-666733DCCCBB}"/>
              </a:ext>
            </a:extLst>
          </p:cNvPr>
          <p:cNvSpPr>
            <a:spLocks xmlns:a="http://schemas.openxmlformats.org/drawingml/2006/main" noGrp="1"/>
          </p:cNvSpPr>
          <p:nvPr/>
        </p:nvSpPr>
        <p:spPr>
          <a:xfrm xmlns:a="http://schemas.openxmlformats.org/drawingml/2006/main">
            <a:off x="8362950" y="2238375"/>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B94C35"/>
                </a:solidFill>
                <a:latin typeface="Arial"/>
                <a:ea typeface="Arial"/>
                <a:cs typeface="Arial"/>
              </a:defRPr>
            </a:defPPr>
            <a:lvl1pPr>
              <a:defRPr sz="2850" b="1">
                <a:solidFill>
                  <a:srgbClr val="B94C35"/>
                </a:solidFill>
                <a:latin typeface="Arial"/>
                <a:ea typeface="Arial"/>
                <a:cs typeface="Arial"/>
              </a:defRPr>
            </a:lvl1pPr>
            <a:lvl2pPr>
              <a:defRPr sz="2850" b="1">
                <a:solidFill>
                  <a:srgbClr val="B94C35"/>
                </a:solidFill>
                <a:latin typeface="Arial"/>
                <a:ea typeface="Arial"/>
                <a:cs typeface="Arial"/>
              </a:defRPr>
            </a:lvl2pPr>
            <a:lvl3pPr>
              <a:defRPr sz="2850" b="1">
                <a:solidFill>
                  <a:srgbClr val="B94C35"/>
                </a:solidFill>
                <a:latin typeface="Arial"/>
                <a:ea typeface="Arial"/>
                <a:cs typeface="Arial"/>
              </a:defRPr>
            </a:lvl3pPr>
            <a:lvl4pPr>
              <a:defRPr sz="2850" b="1">
                <a:solidFill>
                  <a:srgbClr val="B94C35"/>
                </a:solidFill>
                <a:latin typeface="Arial"/>
                <a:ea typeface="Arial"/>
                <a:cs typeface="Arial"/>
              </a:defRPr>
            </a:lvl4pPr>
            <a:lvl5pPr>
              <a:defRPr sz="2850" b="1">
                <a:solidFill>
                  <a:srgbClr val="B94C35"/>
                </a:solidFill>
                <a:latin typeface="Arial"/>
                <a:ea typeface="Arial"/>
                <a:cs typeface="Arial"/>
              </a:defRPr>
            </a:lvl5pPr>
            <a:lvl6pPr>
              <a:defRPr sz="2850" b="1">
                <a:solidFill>
                  <a:srgbClr val="B94C35"/>
                </a:solidFill>
                <a:latin typeface="Arial"/>
                <a:ea typeface="Arial"/>
                <a:cs typeface="Arial"/>
              </a:defRPr>
            </a:lvl6pPr>
            <a:lvl7pPr>
              <a:defRPr sz="2850" b="1">
                <a:solidFill>
                  <a:srgbClr val="B94C35"/>
                </a:solidFill>
                <a:latin typeface="Arial"/>
                <a:ea typeface="Arial"/>
                <a:cs typeface="Arial"/>
              </a:defRPr>
            </a:lvl7pPr>
            <a:lvl8pPr>
              <a:defRPr sz="2850" b="1">
                <a:solidFill>
                  <a:srgbClr val="B94C35"/>
                </a:solidFill>
                <a:latin typeface="Arial"/>
                <a:ea typeface="Arial"/>
                <a:cs typeface="Arial"/>
              </a:defRPr>
            </a:lvl8pPr>
            <a:lvl9pPr>
              <a:defRPr sz="2850" b="1">
                <a:solidFill>
                  <a:srgbClr val="B94C35"/>
                </a:solidFill>
                <a:latin typeface="Arial"/>
                <a:ea typeface="Arial"/>
                <a:cs typeface="Arial"/>
              </a:defRPr>
            </a:lvl9pPr>
          </a:lstStyle>
          <a:p xmlns:a="http://schemas.openxmlformats.org/drawingml/2006/main">
            <a:pPr>
              <a:defRPr sz="2850" b="1">
                <a:solidFill>
                  <a:srgbClr val="B94C35"/>
                </a:solidFill>
                <a:latin typeface="Arial"/>
                <a:ea typeface="Arial"/>
                <a:cs typeface="Arial"/>
              </a:defRPr>
            </a:pPr>
            <a:r>
              <a:rPr sz="2850" b="1">
                <a:solidFill>
                  <a:srgbClr val="B94C35"/>
                </a:solidFill>
                <a:latin typeface="Arial"/>
                <a:ea typeface="Arial"/>
                <a:cs typeface="Arial"/>
              </a:rPr>
              <a:t>0 → 25 / 48</a:t>
            </a:r>
          </a:p>
        </p:txBody>
      </p:sp>
      <p:sp>
        <p:nvSpPr>
          <p:cNvPr id="8" name="At 1.00× → 1.10× cost&#10;&#10;Main PILOT, full learning.&#10;Choices he">
            <a:extLst xmlns:a="http://schemas.openxmlformats.org/drawingml/2006/main">
              <a:ext uri="{FF2B5EF4-FFF2-40B4-BE49-F238E27FC236}">
                <a16:creationId xmlns:a16="http://schemas.microsoft.com/office/drawing/2014/main" id="{837ED7E9-C0A0-450C-AA25-B882B409A077}"/>
              </a:ext>
            </a:extLst>
          </p:cNvPr>
          <p:cNvSpPr>
            <a:spLocks xmlns:a="http://schemas.openxmlformats.org/drawingml/2006/main" noGrp="1"/>
          </p:cNvSpPr>
          <p:nvPr/>
        </p:nvSpPr>
        <p:spPr>
          <a:xfrm xmlns:a="http://schemas.openxmlformats.org/drawingml/2006/main">
            <a:off x="8362950" y="3095625"/>
            <a:ext cx="31908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D35"/>
                </a:solidFill>
                <a:latin typeface="Arial"/>
                <a:ea typeface="Arial"/>
                <a:cs typeface="Arial"/>
              </a:defRPr>
            </a:defPPr>
            <a:lvl1pPr>
              <a:defRPr sz="1800" b="0">
                <a:solidFill>
                  <a:srgbClr val="172D35"/>
                </a:solidFill>
                <a:latin typeface="Arial"/>
                <a:ea typeface="Arial"/>
                <a:cs typeface="Arial"/>
              </a:defRPr>
            </a:lvl1pPr>
            <a:lvl2pPr>
              <a:defRPr sz="1800" b="0">
                <a:solidFill>
                  <a:srgbClr val="172D35"/>
                </a:solidFill>
                <a:latin typeface="Arial"/>
                <a:ea typeface="Arial"/>
                <a:cs typeface="Arial"/>
              </a:defRPr>
            </a:lvl2pPr>
            <a:lvl3pPr>
              <a:defRPr sz="1800" b="0">
                <a:solidFill>
                  <a:srgbClr val="172D35"/>
                </a:solidFill>
                <a:latin typeface="Arial"/>
                <a:ea typeface="Arial"/>
                <a:cs typeface="Arial"/>
              </a:defRPr>
            </a:lvl3pPr>
            <a:lvl4pPr>
              <a:defRPr sz="1800" b="0">
                <a:solidFill>
                  <a:srgbClr val="172D35"/>
                </a:solidFill>
                <a:latin typeface="Arial"/>
                <a:ea typeface="Arial"/>
                <a:cs typeface="Arial"/>
              </a:defRPr>
            </a:lvl4pPr>
            <a:lvl5pPr>
              <a:defRPr sz="1800" b="0">
                <a:solidFill>
                  <a:srgbClr val="172D35"/>
                </a:solidFill>
                <a:latin typeface="Arial"/>
                <a:ea typeface="Arial"/>
                <a:cs typeface="Arial"/>
              </a:defRPr>
            </a:lvl5pPr>
            <a:lvl6pPr>
              <a:defRPr sz="1800" b="0">
                <a:solidFill>
                  <a:srgbClr val="172D35"/>
                </a:solidFill>
                <a:latin typeface="Arial"/>
                <a:ea typeface="Arial"/>
                <a:cs typeface="Arial"/>
              </a:defRPr>
            </a:lvl6pPr>
            <a:lvl7pPr>
              <a:defRPr sz="1800" b="0">
                <a:solidFill>
                  <a:srgbClr val="172D35"/>
                </a:solidFill>
                <a:latin typeface="Arial"/>
                <a:ea typeface="Arial"/>
                <a:cs typeface="Arial"/>
              </a:defRPr>
            </a:lvl7pPr>
            <a:lvl8pPr>
              <a:defRPr sz="1800" b="0">
                <a:solidFill>
                  <a:srgbClr val="172D35"/>
                </a:solidFill>
                <a:latin typeface="Arial"/>
                <a:ea typeface="Arial"/>
                <a:cs typeface="Arial"/>
              </a:defRPr>
            </a:lvl8pPr>
            <a:lvl9pPr>
              <a:defRPr sz="1800" b="0">
                <a:solidFill>
                  <a:srgbClr val="172D35"/>
                </a:solidFill>
                <a:latin typeface="Arial"/>
                <a:ea typeface="Arial"/>
                <a:cs typeface="Arial"/>
              </a:defRPr>
            </a:lvl9pPr>
          </a:lstStyle>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At 1.00× → 1.10× cost</a:t>
            </a:r>
          </a:p>
          <a:p xmlns:a="http://schemas.openxmlformats.org/drawingml/2006/main">
            <a:r>
              <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Main PILOT, full learning.</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Choices held fixed.</a:t>
            </a:r>
          </a:p>
          <a:p xmlns:a="http://schemas.openxmlformats.org/drawingml/2006/main">
            <a:pPr>
              <a:defRPr sz="1800" b="0">
                <a:solidFill>
                  <a:srgbClr val="172D35"/>
                </a:solidFill>
                <a:latin typeface="Arial"/>
                <a:ea typeface="Arial"/>
                <a:cs typeface="Arial"/>
              </a:defRPr>
            </a:pPr>
            <a:r>
              <a:rPr sz="1800" b="0">
                <a:solidFill>
                  <a:srgbClr val="172D35"/>
                </a:solidFill>
                <a:latin typeface="Arial"/>
                <a:ea typeface="Arial"/>
                <a:cs typeface="Arial"/>
              </a:rPr>
              <a:t>No API charges.</a:t>
            </a:r>
          </a:p>
        </p:txBody>
      </p:sp>
    </p:spTree>
    <p:extLst>
      <p:ext uri="{BB962C8B-B14F-4D97-AF65-F5344CB8AC3E}">
        <p14:creationId xmlns:p14="http://schemas.microsoft.com/office/powerpoint/2010/main" val="934062300"/>
      </p:ext>
    </p:extLst>
  </p:cSld>
</p:sld>
</file>

<file path=ppt/slides/slide3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FUTURE DIRECTIONS">
            <a:extLst xmlns:a="http://schemas.openxmlformats.org/drawingml/2006/main">
              <a:ext uri="{FF2B5EF4-FFF2-40B4-BE49-F238E27FC236}">
                <a16:creationId xmlns:a16="http://schemas.microsoft.com/office/drawing/2014/main" id="{0C5C8020-C2B2-4C18-92D2-4C947F2D9649}"/>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FUTURE DIRECTIONS</a:t>
            </a:r>
          </a:p>
        </p:txBody>
      </p:sp>
      <p:sp>
        <p:nvSpPr>
          <p:cNvPr id="2" name="Each limitation suggests a falsifiable next test">
            <a:extLst xmlns:a="http://schemas.openxmlformats.org/drawingml/2006/main">
              <a:ext uri="{FF2B5EF4-FFF2-40B4-BE49-F238E27FC236}">
                <a16:creationId xmlns:a16="http://schemas.microsoft.com/office/drawing/2014/main" id="{7BA82CCE-8B2C-4347-A835-71AFDCCD56A4}"/>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Each limitation suggests a falsifiable next test</a:t>
            </a:r>
          </a:p>
        </p:txBody>
      </p:sp>
      <p:sp>
        <p:nvSpPr>
          <p:cNvPr id="3" name="">
            <a:extLst xmlns:a="http://schemas.openxmlformats.org/drawingml/2006/main">
              <a:ext uri="{FF2B5EF4-FFF2-40B4-BE49-F238E27FC236}">
                <a16:creationId xmlns:a16="http://schemas.microsoft.com/office/drawing/2014/main" id="{5A66A2F6-DF2E-4AD8-A0C4-D5797F1054D5}"/>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5] Team 8, course supplement, analysis/analysis.json, 30 Oc">
            <a:extLst xmlns:a="http://schemas.openxmlformats.org/drawingml/2006/main">
              <a:ext uri="{FF2B5EF4-FFF2-40B4-BE49-F238E27FC236}">
                <a16:creationId xmlns:a16="http://schemas.microsoft.com/office/drawing/2014/main" id="{88CEF532-820E-4B85-86AB-13FF543F51B8}"/>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[5] Team 8, course supplement, analysis/analysis.json, 30 Oct. 2026. Protocol and source hashes retained; W&amp;B links pending.</a:t>
            </a:r>
          </a:p>
        </p:txBody>
      </p:sp>
      <p:sp>
        <p:nvSpPr>
          <p:cNvPr id="5" name="31">
            <a:extLst xmlns:a="http://schemas.openxmlformats.org/drawingml/2006/main">
              <a:ext uri="{FF2B5EF4-FFF2-40B4-BE49-F238E27FC236}">
                <a16:creationId xmlns:a16="http://schemas.microsoft.com/office/drawing/2014/main" id="{FECE12AF-6B6B-4839-A6E8-0A346580789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31</a:t>
            </a:r>
          </a:p>
        </p:txBody>
      </p:sp>
      <p:sp>
        <p:nvSpPr>
          <p:cNvPr id="6" name="Preserve reward magnitude">
            <a:extLst xmlns:a="http://schemas.openxmlformats.org/drawingml/2006/main">
              <a:ext uri="{FF2B5EF4-FFF2-40B4-BE49-F238E27FC236}">
                <a16:creationId xmlns:a16="http://schemas.microsoft.com/office/drawing/2014/main" id="{7251721E-80EF-4A64-B61E-8416BEF4DCD7}"/>
              </a:ext>
            </a:extLst>
          </p:cNvPr>
          <p:cNvSpPr>
            <a:spLocks xmlns:a="http://schemas.openxmlformats.org/drawingml/2006/main" noGrp="1"/>
          </p:cNvSpPr>
          <p:nvPr/>
        </p:nvSpPr>
        <p:spPr>
          <a:xfrm xmlns:a="http://schemas.openxmlformats.org/drawingml/2006/main">
            <a:off x="571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Preserve reward magnitude</a:t>
            </a:r>
          </a:p>
        </p:txBody>
      </p:sp>
      <p:sp>
        <p:nvSpPr>
          <p:cNvPr id="7" name="Linear or scaled reward head&#10;&#10;Compare under identical priors">
            <a:extLst xmlns:a="http://schemas.openxmlformats.org/drawingml/2006/main">
              <a:ext uri="{FF2B5EF4-FFF2-40B4-BE49-F238E27FC236}">
                <a16:creationId xmlns:a16="http://schemas.microsoft.com/office/drawing/2014/main" id="{21BEC863-0711-4C2D-B7C6-621DB9EC4429}"/>
              </a:ext>
            </a:extLst>
          </p:cNvPr>
          <p:cNvSpPr>
            <a:spLocks xmlns:a="http://schemas.openxmlformats.org/drawingml/2006/main" noGrp="1"/>
          </p:cNvSpPr>
          <p:nvPr/>
        </p:nvSpPr>
        <p:spPr>
          <a:xfrm xmlns:a="http://schemas.openxmlformats.org/drawingml/2006/main">
            <a:off x="57150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Linear or scaled reward head</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Compare under identical priors</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Measure regret AND service utility</a:t>
            </a:r>
          </a:p>
        </p:txBody>
      </p:sp>
      <p:sp>
        <p:nvSpPr>
          <p:cNvPr id="8" name="Model cost uncertainty">
            <a:extLst xmlns:a="http://schemas.openxmlformats.org/drawingml/2006/main">
              <a:ext uri="{FF2B5EF4-FFF2-40B4-BE49-F238E27FC236}">
                <a16:creationId xmlns:a16="http://schemas.microsoft.com/office/drawing/2014/main" id="{CF10456F-69EA-43BC-8295-6652EF39EEFC}"/>
              </a:ext>
            </a:extLst>
          </p:cNvPr>
          <p:cNvSpPr>
            <a:spLocks xmlns:a="http://schemas.openxmlformats.org/drawingml/2006/main" noGrp="1"/>
          </p:cNvSpPr>
          <p:nvPr/>
        </p:nvSpPr>
        <p:spPr>
          <a:xfrm xmlns:a="http://schemas.openxmlformats.org/drawingml/2006/main">
            <a:off x="61912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96C72"/>
                </a:solidFill>
                <a:latin typeface="Arial"/>
                <a:ea typeface="Arial"/>
                <a:cs typeface="Arial"/>
              </a:defRPr>
            </a:defPPr>
            <a:lvl1pPr>
              <a:defRPr sz="2175" b="1">
                <a:solidFill>
                  <a:srgbClr val="096C72"/>
                </a:solidFill>
                <a:latin typeface="Arial"/>
                <a:ea typeface="Arial"/>
                <a:cs typeface="Arial"/>
              </a:defRPr>
            </a:lvl1pPr>
            <a:lvl2pPr>
              <a:defRPr sz="2175" b="1">
                <a:solidFill>
                  <a:srgbClr val="096C72"/>
                </a:solidFill>
                <a:latin typeface="Arial"/>
                <a:ea typeface="Arial"/>
                <a:cs typeface="Arial"/>
              </a:defRPr>
            </a:lvl2pPr>
            <a:lvl3pPr>
              <a:defRPr sz="2175" b="1">
                <a:solidFill>
                  <a:srgbClr val="096C72"/>
                </a:solidFill>
                <a:latin typeface="Arial"/>
                <a:ea typeface="Arial"/>
                <a:cs typeface="Arial"/>
              </a:defRPr>
            </a:lvl3pPr>
            <a:lvl4pPr>
              <a:defRPr sz="2175" b="1">
                <a:solidFill>
                  <a:srgbClr val="096C72"/>
                </a:solidFill>
                <a:latin typeface="Arial"/>
                <a:ea typeface="Arial"/>
                <a:cs typeface="Arial"/>
              </a:defRPr>
            </a:lvl4pPr>
            <a:lvl5pPr>
              <a:defRPr sz="2175" b="1">
                <a:solidFill>
                  <a:srgbClr val="096C72"/>
                </a:solidFill>
                <a:latin typeface="Arial"/>
                <a:ea typeface="Arial"/>
                <a:cs typeface="Arial"/>
              </a:defRPr>
            </a:lvl5pPr>
            <a:lvl6pPr>
              <a:defRPr sz="2175" b="1">
                <a:solidFill>
                  <a:srgbClr val="096C72"/>
                </a:solidFill>
                <a:latin typeface="Arial"/>
                <a:ea typeface="Arial"/>
                <a:cs typeface="Arial"/>
              </a:defRPr>
            </a:lvl6pPr>
            <a:lvl7pPr>
              <a:defRPr sz="2175" b="1">
                <a:solidFill>
                  <a:srgbClr val="096C72"/>
                </a:solidFill>
                <a:latin typeface="Arial"/>
                <a:ea typeface="Arial"/>
                <a:cs typeface="Arial"/>
              </a:defRPr>
            </a:lvl7pPr>
            <a:lvl8pPr>
              <a:defRPr sz="2175" b="1">
                <a:solidFill>
                  <a:srgbClr val="096C72"/>
                </a:solidFill>
                <a:latin typeface="Arial"/>
                <a:ea typeface="Arial"/>
                <a:cs typeface="Arial"/>
              </a:defRPr>
            </a:lvl8pPr>
            <a:lvl9pPr>
              <a:defRPr sz="2175" b="1">
                <a:solidFill>
                  <a:srgbClr val="096C72"/>
                </a:solidFill>
                <a:latin typeface="Arial"/>
                <a:ea typeface="Arial"/>
                <a:cs typeface="Arial"/>
              </a:defRPr>
            </a:lvl9pPr>
          </a:lstStyle>
          <a:p xmlns:a="http://schemas.openxmlformats.org/drawingml/2006/main">
            <a:pPr>
              <a:defRPr sz="2175" b="1">
                <a:solidFill>
                  <a:srgbClr val="096C72"/>
                </a:solidFill>
                <a:latin typeface="Arial"/>
                <a:ea typeface="Arial"/>
                <a:cs typeface="Arial"/>
              </a:defRPr>
            </a:pPr>
            <a:r>
              <a:rPr sz="2175" b="1">
                <a:solidFill>
                  <a:srgbClr val="096C72"/>
                </a:solidFill>
                <a:latin typeface="Arial"/>
                <a:ea typeface="Arial"/>
                <a:cs typeface="Arial"/>
              </a:rPr>
              <a:t>Model cost uncertainty</a:t>
            </a:r>
          </a:p>
        </p:txBody>
      </p:sp>
      <p:sp>
        <p:nvSpPr>
          <p:cNvPr id="9" name="Tuning-only quantiles + reserve&#10;&#10;Stress response-length shif">
            <a:extLst xmlns:a="http://schemas.openxmlformats.org/drawingml/2006/main">
              <a:ext uri="{FF2B5EF4-FFF2-40B4-BE49-F238E27FC236}">
                <a16:creationId xmlns:a16="http://schemas.microsoft.com/office/drawing/2014/main" id="{A8E75374-8766-4DB0-938E-B1C7F2CE1D0F}"/>
              </a:ext>
            </a:extLst>
          </p:cNvPr>
          <p:cNvSpPr>
            <a:spLocks xmlns:a="http://schemas.openxmlformats.org/drawingml/2006/main" noGrp="1"/>
          </p:cNvSpPr>
          <p:nvPr/>
        </p:nvSpPr>
        <p:spPr>
          <a:xfrm xmlns:a="http://schemas.openxmlformats.org/drawingml/2006/main">
            <a:off x="6191250" y="2590800"/>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Tuning-only quantiles + reserve</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Stress response-length shifts</a:t>
            </a:r>
          </a:p>
          <a:p xmlns:a="http://schemas.openxmlformats.org/drawingml/2006/main">
            <a:r>
              <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Measure overruns AND coverage</a:t>
            </a:r>
          </a:p>
        </p:txBody>
      </p:sp>
    </p:spTree>
    <p:extLst>
      <p:ext uri="{BB962C8B-B14F-4D97-AF65-F5344CB8AC3E}">
        <p14:creationId xmlns:p14="http://schemas.microsoft.com/office/powerpoint/2010/main" val="1963603203"/>
      </p:ext>
    </p:extLst>
  </p:cSld>
</p:sld>
</file>

<file path=ppt/slides/slide3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2" name="CONCLUSION AND REPRODUCIBILITY">
            <a:extLst xmlns:a="http://schemas.openxmlformats.org/drawingml/2006/main">
              <a:ext uri="{FF2B5EF4-FFF2-40B4-BE49-F238E27FC236}">
                <a16:creationId xmlns:a16="http://schemas.microsoft.com/office/drawing/2014/main" id="{3B18A638-FF85-4ECE-BB20-00CFB0DFB8A3}"/>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CONCLUSION AND REPRODUCIBILITY</a:t>
            </a:r>
          </a:p>
        </p:txBody>
      </p:sp>
      <p:sp>
        <p:nvSpPr>
          <p:cNvPr id="2" name="Evidence is complete locally; public tracking remains">
            <a:extLst xmlns:a="http://schemas.openxmlformats.org/drawingml/2006/main">
              <a:ext uri="{FF2B5EF4-FFF2-40B4-BE49-F238E27FC236}">
                <a16:creationId xmlns:a16="http://schemas.microsoft.com/office/drawing/2014/main" id="{61232F20-7718-49AA-B65C-DF9239A699FD}"/>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Evidence is complete locally; public tracking remains</a:t>
            </a:r>
          </a:p>
        </p:txBody>
      </p:sp>
      <p:sp>
        <p:nvSpPr>
          <p:cNvPr id="3" name="">
            <a:extLst xmlns:a="http://schemas.openxmlformats.org/drawingml/2006/main">
              <a:ext uri="{FF2B5EF4-FFF2-40B4-BE49-F238E27FC236}">
                <a16:creationId xmlns:a16="http://schemas.microsoft.com/office/drawing/2014/main" id="{F48269A2-DBA3-4BEF-8FA6-135C3CC7D0EE}"/>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4] Team 8, frozen local study, aggregate/per-seed.csv and v">
            <a:extLst xmlns:a="http://schemas.openxmlformats.org/drawingml/2006/main">
              <a:ext uri="{FF2B5EF4-FFF2-40B4-BE49-F238E27FC236}">
                <a16:creationId xmlns:a16="http://schemas.microsoft.com/office/drawing/2014/main" id="{9CD4ECF3-D6A7-402B-B08E-6BDEE437E9D9}"/>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3666D"/>
                </a:solidFill>
                <a:latin typeface="Arial"/>
                <a:ea typeface="Arial"/>
                <a:cs typeface="Arial"/>
              </a:defRPr>
            </a:defPPr>
            <a:lvl1pPr>
              <a:defRPr sz="975" b="0">
                <a:solidFill>
                  <a:srgbClr val="53666D"/>
                </a:solidFill>
                <a:latin typeface="Arial"/>
                <a:ea typeface="Arial"/>
                <a:cs typeface="Arial"/>
              </a:defRPr>
            </a:lvl1pPr>
            <a:lvl2pPr>
              <a:defRPr sz="975" b="0">
                <a:solidFill>
                  <a:srgbClr val="53666D"/>
                </a:solidFill>
                <a:latin typeface="Arial"/>
                <a:ea typeface="Arial"/>
                <a:cs typeface="Arial"/>
              </a:defRPr>
            </a:lvl2pPr>
            <a:lvl3pPr>
              <a:defRPr sz="975" b="0">
                <a:solidFill>
                  <a:srgbClr val="53666D"/>
                </a:solidFill>
                <a:latin typeface="Arial"/>
                <a:ea typeface="Arial"/>
                <a:cs typeface="Arial"/>
              </a:defRPr>
            </a:lvl3pPr>
            <a:lvl4pPr>
              <a:defRPr sz="975" b="0">
                <a:solidFill>
                  <a:srgbClr val="53666D"/>
                </a:solidFill>
                <a:latin typeface="Arial"/>
                <a:ea typeface="Arial"/>
                <a:cs typeface="Arial"/>
              </a:defRPr>
            </a:lvl4pPr>
            <a:lvl5pPr>
              <a:defRPr sz="975" b="0">
                <a:solidFill>
                  <a:srgbClr val="53666D"/>
                </a:solidFill>
                <a:latin typeface="Arial"/>
                <a:ea typeface="Arial"/>
                <a:cs typeface="Arial"/>
              </a:defRPr>
            </a:lvl5pPr>
            <a:lvl6pPr>
              <a:defRPr sz="975" b="0">
                <a:solidFill>
                  <a:srgbClr val="53666D"/>
                </a:solidFill>
                <a:latin typeface="Arial"/>
                <a:ea typeface="Arial"/>
                <a:cs typeface="Arial"/>
              </a:defRPr>
            </a:lvl6pPr>
            <a:lvl7pPr>
              <a:defRPr sz="975" b="0">
                <a:solidFill>
                  <a:srgbClr val="53666D"/>
                </a:solidFill>
                <a:latin typeface="Arial"/>
                <a:ea typeface="Arial"/>
                <a:cs typeface="Arial"/>
              </a:defRPr>
            </a:lvl7pPr>
            <a:lvl8pPr>
              <a:defRPr sz="975" b="0">
                <a:solidFill>
                  <a:srgbClr val="53666D"/>
                </a:solidFill>
                <a:latin typeface="Arial"/>
                <a:ea typeface="Arial"/>
                <a:cs typeface="Arial"/>
              </a:defRPr>
            </a:lvl8pPr>
            <a:lvl9pPr>
              <a:defRPr sz="975" b="0">
                <a:solidFill>
                  <a:srgbClr val="53666D"/>
                </a:solidFill>
                <a:latin typeface="Arial"/>
                <a:ea typeface="Arial"/>
                <a:cs typeface="Arial"/>
              </a:defRPr>
            </a:lvl9pPr>
          </a:lstStyle>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[4] Team 8, frozen local study, aggregate/per-seed.csv and verification/, 29 Oct. 2026. Three seeds; public W&amp;B links pending.</a:t>
            </a:r>
          </a:p>
          <a:p xmlns:a="http://schemas.openxmlformats.org/drawingml/2006/main">
            <a:pPr>
              <a:defRPr sz="975" b="0">
                <a:solidFill>
                  <a:srgbClr val="53666D"/>
                </a:solidFill>
                <a:latin typeface="Arial"/>
                <a:ea typeface="Arial"/>
                <a:cs typeface="Arial"/>
              </a:defRPr>
            </a:pPr>
            <a:r>
              <a:rPr sz="975" b="0">
                <a:solidFill>
                  <a:srgbClr val="53666D"/>
                </a:solidFill>
                <a:latin typeface="Arial"/>
                <a:ea typeface="Arial"/>
                <a:cs typeface="Arial"/>
              </a:rPr>
              <a:t>[5] Team 8, course supplement, analysis/analysis.json, 30 Oct. 2026. Protocol and source hashes retained; W&amp;B links pending.</a:t>
            </a:r>
          </a:p>
        </p:txBody>
      </p:sp>
      <p:sp>
        <p:nvSpPr>
          <p:cNvPr id="5" name="32">
            <a:extLst xmlns:a="http://schemas.openxmlformats.org/drawingml/2006/main">
              <a:ext uri="{FF2B5EF4-FFF2-40B4-BE49-F238E27FC236}">
                <a16:creationId xmlns:a16="http://schemas.microsoft.com/office/drawing/2014/main" id="{BCF49C1C-B144-4A97-84C6-8E993160B03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32</a:t>
            </a:r>
          </a:p>
        </p:txBody>
      </p:sp>
      <p:sp>
        <p:nvSpPr>
          <p:cNvPr id="6" name="01">
            <a:extLst xmlns:a="http://schemas.openxmlformats.org/drawingml/2006/main">
              <a:ext uri="{FF2B5EF4-FFF2-40B4-BE49-F238E27FC236}">
                <a16:creationId xmlns:a16="http://schemas.microsoft.com/office/drawing/2014/main" id="{934AF017-BEBC-4E34-AF15-DD3F55361313}"/>
              </a:ext>
            </a:extLst>
          </p:cNvPr>
          <p:cNvSpPr>
            <a:spLocks xmlns:a="http://schemas.openxmlformats.org/drawingml/2006/main" noGrp="1"/>
          </p:cNvSpPr>
          <p:nvPr/>
        </p:nvSpPr>
        <p:spPr>
          <a:xfrm xmlns:a="http://schemas.openxmlformats.org/drawingml/2006/main">
            <a:off x="590550" y="180975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01</a:t>
            </a:r>
          </a:p>
        </p:txBody>
      </p:sp>
      <p:sp>
        <p:nvSpPr>
          <p:cNvPr id="7" name="Keep: unfavorable results, all declared conditions and exact">
            <a:extLst xmlns:a="http://schemas.openxmlformats.org/drawingml/2006/main">
              <a:ext uri="{FF2B5EF4-FFF2-40B4-BE49-F238E27FC236}">
                <a16:creationId xmlns:a16="http://schemas.microsoft.com/office/drawing/2014/main" id="{5F151391-091B-42EC-9947-0CC1D5D91821}"/>
              </a:ext>
            </a:extLst>
          </p:cNvPr>
          <p:cNvSpPr>
            <a:spLocks xmlns:a="http://schemas.openxmlformats.org/drawingml/2006/main" noGrp="1"/>
          </p:cNvSpPr>
          <p:nvPr/>
        </p:nvSpPr>
        <p:spPr>
          <a:xfrm xmlns:a="http://schemas.openxmlformats.org/drawingml/2006/main">
            <a:off x="1257300" y="1809750"/>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Keep: unfavorable results, all declared conditions and exact provenance.</a:t>
            </a:r>
          </a:p>
        </p:txBody>
      </p:sp>
      <p:sp>
        <p:nvSpPr>
          <p:cNvPr id="8" name="02">
            <a:extLst xmlns:a="http://schemas.openxmlformats.org/drawingml/2006/main">
              <a:ext uri="{FF2B5EF4-FFF2-40B4-BE49-F238E27FC236}">
                <a16:creationId xmlns:a16="http://schemas.microsoft.com/office/drawing/2014/main" id="{3D0C9276-C660-4A26-BFC6-29115788E4B3}"/>
              </a:ext>
            </a:extLst>
          </p:cNvPr>
          <p:cNvSpPr>
            <a:spLocks xmlns:a="http://schemas.openxmlformats.org/drawingml/2006/main" noGrp="1"/>
          </p:cNvSpPr>
          <p:nvPr/>
        </p:nvSpPr>
        <p:spPr>
          <a:xfrm xmlns:a="http://schemas.openxmlformats.org/drawingml/2006/main">
            <a:off x="590550" y="3076575"/>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02</a:t>
            </a:r>
          </a:p>
        </p:txBody>
      </p:sp>
      <p:sp>
        <p:nvSpPr>
          <p:cNvPr id="9" name="Deliver: editable slides/poster, code, protocol, evidence an">
            <a:extLst xmlns:a="http://schemas.openxmlformats.org/drawingml/2006/main">
              <a:ext uri="{FF2B5EF4-FFF2-40B4-BE49-F238E27FC236}">
                <a16:creationId xmlns:a16="http://schemas.microsoft.com/office/drawing/2014/main" id="{B1A1A175-C502-4FB0-8E98-011BB335802F}"/>
              </a:ext>
            </a:extLst>
          </p:cNvPr>
          <p:cNvSpPr>
            <a:spLocks xmlns:a="http://schemas.openxmlformats.org/drawingml/2006/main" noGrp="1"/>
          </p:cNvSpPr>
          <p:nvPr/>
        </p:nvSpPr>
        <p:spPr>
          <a:xfrm xmlns:a="http://schemas.openxmlformats.org/drawingml/2006/main">
            <a:off x="1257300" y="3076575"/>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Deliver: editable slides/poster, code, protocol, evidence and defense guide.</a:t>
            </a:r>
          </a:p>
        </p:txBody>
      </p:sp>
      <p:sp>
        <p:nvSpPr>
          <p:cNvPr id="10" name="03">
            <a:extLst xmlns:a="http://schemas.openxmlformats.org/drawingml/2006/main">
              <a:ext uri="{FF2B5EF4-FFF2-40B4-BE49-F238E27FC236}">
                <a16:creationId xmlns:a16="http://schemas.microsoft.com/office/drawing/2014/main" id="{B24479A6-E10F-4F6F-AFC0-6EC1BDE304D6}"/>
              </a:ext>
            </a:extLst>
          </p:cNvPr>
          <p:cNvSpPr>
            <a:spLocks xmlns:a="http://schemas.openxmlformats.org/drawingml/2006/main" noGrp="1"/>
          </p:cNvSpPr>
          <p:nvPr/>
        </p:nvSpPr>
        <p:spPr>
          <a:xfrm xmlns:a="http://schemas.openxmlformats.org/drawingml/2006/main">
            <a:off x="590550" y="4343400"/>
            <a:ext cx="45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96C72"/>
                </a:solidFill>
                <a:latin typeface="Arial"/>
                <a:ea typeface="Arial"/>
                <a:cs typeface="Arial"/>
              </a:defRPr>
            </a:defPPr>
            <a:lvl1pPr>
              <a:defRPr sz="1500" b="1">
                <a:solidFill>
                  <a:srgbClr val="096C72"/>
                </a:solidFill>
                <a:latin typeface="Arial"/>
                <a:ea typeface="Arial"/>
                <a:cs typeface="Arial"/>
              </a:defRPr>
            </a:lvl1pPr>
            <a:lvl2pPr>
              <a:defRPr sz="1500" b="1">
                <a:solidFill>
                  <a:srgbClr val="096C72"/>
                </a:solidFill>
                <a:latin typeface="Arial"/>
                <a:ea typeface="Arial"/>
                <a:cs typeface="Arial"/>
              </a:defRPr>
            </a:lvl2pPr>
            <a:lvl3pPr>
              <a:defRPr sz="1500" b="1">
                <a:solidFill>
                  <a:srgbClr val="096C72"/>
                </a:solidFill>
                <a:latin typeface="Arial"/>
                <a:ea typeface="Arial"/>
                <a:cs typeface="Arial"/>
              </a:defRPr>
            </a:lvl3pPr>
            <a:lvl4pPr>
              <a:defRPr sz="1500" b="1">
                <a:solidFill>
                  <a:srgbClr val="096C72"/>
                </a:solidFill>
                <a:latin typeface="Arial"/>
                <a:ea typeface="Arial"/>
                <a:cs typeface="Arial"/>
              </a:defRPr>
            </a:lvl4pPr>
            <a:lvl5pPr>
              <a:defRPr sz="1500" b="1">
                <a:solidFill>
                  <a:srgbClr val="096C72"/>
                </a:solidFill>
                <a:latin typeface="Arial"/>
                <a:ea typeface="Arial"/>
                <a:cs typeface="Arial"/>
              </a:defRPr>
            </a:lvl5pPr>
            <a:lvl6pPr>
              <a:defRPr sz="1500" b="1">
                <a:solidFill>
                  <a:srgbClr val="096C72"/>
                </a:solidFill>
                <a:latin typeface="Arial"/>
                <a:ea typeface="Arial"/>
                <a:cs typeface="Arial"/>
              </a:defRPr>
            </a:lvl6pPr>
            <a:lvl7pPr>
              <a:defRPr sz="1500" b="1">
                <a:solidFill>
                  <a:srgbClr val="096C72"/>
                </a:solidFill>
                <a:latin typeface="Arial"/>
                <a:ea typeface="Arial"/>
                <a:cs typeface="Arial"/>
              </a:defRPr>
            </a:lvl7pPr>
            <a:lvl8pPr>
              <a:defRPr sz="1500" b="1">
                <a:solidFill>
                  <a:srgbClr val="096C72"/>
                </a:solidFill>
                <a:latin typeface="Arial"/>
                <a:ea typeface="Arial"/>
                <a:cs typeface="Arial"/>
              </a:defRPr>
            </a:lvl8pPr>
            <a:lvl9pPr>
              <a:defRPr sz="1500" b="1">
                <a:solidFill>
                  <a:srgbClr val="096C72"/>
                </a:solidFill>
                <a:latin typeface="Arial"/>
                <a:ea typeface="Arial"/>
                <a:cs typeface="Arial"/>
              </a:defRPr>
            </a:lvl9pPr>
          </a:lstStyle>
          <a:p xmlns:a="http://schemas.openxmlformats.org/drawingml/2006/main">
            <a:pPr>
              <a:defRPr sz="1500" b="1">
                <a:solidFill>
                  <a:srgbClr val="096C72"/>
                </a:solidFill>
                <a:latin typeface="Arial"/>
                <a:ea typeface="Arial"/>
                <a:cs typeface="Arial"/>
              </a:defRPr>
            </a:pPr>
            <a:r>
              <a:rPr sz="1500" b="1">
                <a:solidFill>
                  <a:srgbClr val="096C72"/>
                </a:solidFill>
                <a:latin typeface="Arial"/>
                <a:ea typeface="Arial"/>
                <a:cs typeface="Arial"/>
              </a:rPr>
              <a:t>03</a:t>
            </a:r>
          </a:p>
        </p:txBody>
      </p:sp>
      <p:sp>
        <p:nvSpPr>
          <p:cNvPr id="11" name="Remaining: public W&amp;B links, public repository and final sub">
            <a:extLst xmlns:a="http://schemas.openxmlformats.org/drawingml/2006/main">
              <a:ext uri="{FF2B5EF4-FFF2-40B4-BE49-F238E27FC236}">
                <a16:creationId xmlns:a16="http://schemas.microsoft.com/office/drawing/2014/main" id="{F592FE3A-F72C-4BE2-9FE8-3BAED911B0FD}"/>
              </a:ext>
            </a:extLst>
          </p:cNvPr>
          <p:cNvSpPr>
            <a:spLocks xmlns:a="http://schemas.openxmlformats.org/drawingml/2006/main" noGrp="1"/>
          </p:cNvSpPr>
          <p:nvPr/>
        </p:nvSpPr>
        <p:spPr>
          <a:xfrm xmlns:a="http://schemas.openxmlformats.org/drawingml/2006/main">
            <a:off x="1257300" y="4343400"/>
            <a:ext cx="10001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D35"/>
                </a:solidFill>
                <a:latin typeface="Arial"/>
                <a:ea typeface="Arial"/>
                <a:cs typeface="Arial"/>
              </a:defRPr>
            </a:defPPr>
            <a:lvl1pPr>
              <a:defRPr sz="2175" b="0">
                <a:solidFill>
                  <a:srgbClr val="172D35"/>
                </a:solidFill>
                <a:latin typeface="Arial"/>
                <a:ea typeface="Arial"/>
                <a:cs typeface="Arial"/>
              </a:defRPr>
            </a:lvl1pPr>
            <a:lvl2pPr>
              <a:defRPr sz="2175" b="0">
                <a:solidFill>
                  <a:srgbClr val="172D35"/>
                </a:solidFill>
                <a:latin typeface="Arial"/>
                <a:ea typeface="Arial"/>
                <a:cs typeface="Arial"/>
              </a:defRPr>
            </a:lvl2pPr>
            <a:lvl3pPr>
              <a:defRPr sz="2175" b="0">
                <a:solidFill>
                  <a:srgbClr val="172D35"/>
                </a:solidFill>
                <a:latin typeface="Arial"/>
                <a:ea typeface="Arial"/>
                <a:cs typeface="Arial"/>
              </a:defRPr>
            </a:lvl3pPr>
            <a:lvl4pPr>
              <a:defRPr sz="2175" b="0">
                <a:solidFill>
                  <a:srgbClr val="172D35"/>
                </a:solidFill>
                <a:latin typeface="Arial"/>
                <a:ea typeface="Arial"/>
                <a:cs typeface="Arial"/>
              </a:defRPr>
            </a:lvl4pPr>
            <a:lvl5pPr>
              <a:defRPr sz="2175" b="0">
                <a:solidFill>
                  <a:srgbClr val="172D35"/>
                </a:solidFill>
                <a:latin typeface="Arial"/>
                <a:ea typeface="Arial"/>
                <a:cs typeface="Arial"/>
              </a:defRPr>
            </a:lvl5pPr>
            <a:lvl6pPr>
              <a:defRPr sz="2175" b="0">
                <a:solidFill>
                  <a:srgbClr val="172D35"/>
                </a:solidFill>
                <a:latin typeface="Arial"/>
                <a:ea typeface="Arial"/>
                <a:cs typeface="Arial"/>
              </a:defRPr>
            </a:lvl6pPr>
            <a:lvl7pPr>
              <a:defRPr sz="2175" b="0">
                <a:solidFill>
                  <a:srgbClr val="172D35"/>
                </a:solidFill>
                <a:latin typeface="Arial"/>
                <a:ea typeface="Arial"/>
                <a:cs typeface="Arial"/>
              </a:defRPr>
            </a:lvl7pPr>
            <a:lvl8pPr>
              <a:defRPr sz="2175" b="0">
                <a:solidFill>
                  <a:srgbClr val="172D35"/>
                </a:solidFill>
                <a:latin typeface="Arial"/>
                <a:ea typeface="Arial"/>
                <a:cs typeface="Arial"/>
              </a:defRPr>
            </a:lvl8pPr>
            <a:lvl9pPr>
              <a:defRPr sz="2175" b="0">
                <a:solidFill>
                  <a:srgbClr val="172D35"/>
                </a:solidFill>
                <a:latin typeface="Arial"/>
                <a:ea typeface="Arial"/>
                <a:cs typeface="Arial"/>
              </a:defRPr>
            </a:lvl9pPr>
          </a:lstStyle>
          <a:p xmlns:a="http://schemas.openxmlformats.org/drawingml/2006/main">
            <a:pPr>
              <a:defRPr sz="2175" b="0">
                <a:solidFill>
                  <a:srgbClr val="172D35"/>
                </a:solidFill>
                <a:latin typeface="Arial"/>
                <a:ea typeface="Arial"/>
                <a:cs typeface="Arial"/>
              </a:defRPr>
            </a:pPr>
            <a:r>
              <a:rPr sz="2175" b="0">
                <a:solidFill>
                  <a:srgbClr val="172D35"/>
                </a:solidFill>
                <a:latin typeface="Arial"/>
                <a:ea typeface="Arial"/>
                <a:cs typeface="Arial"/>
              </a:rPr>
              <a:t>Remaining: public W&amp;B links, public repository and final submission checks.</a:t>
            </a:r>
          </a:p>
        </p:txBody>
      </p:sp>
    </p:spTree>
    <p:extLst>
      <p:ext uri="{BB962C8B-B14F-4D97-AF65-F5344CB8AC3E}">
        <p14:creationId xmlns:p14="http://schemas.microsoft.com/office/powerpoint/2010/main" val="907114729"/>
      </p:ext>
    </p:extLst>
  </p:cSld>
</p:sld>
</file>

<file path=ppt/slides/slide3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9" name="THEORY APPENDIX">
            <a:extLst xmlns:a="http://schemas.openxmlformats.org/drawingml/2006/main">
              <a:ext uri="{FF2B5EF4-FFF2-40B4-BE49-F238E27FC236}">
                <a16:creationId xmlns:a16="http://schemas.microsoft.com/office/drawing/2014/main" id="{C844FBD8-F105-4395-A4AA-134CE38D0344}"/>
              </a:ext>
            </a:extLst>
          </p:cNvPr>
          <p:cNvSpPr>
            <a:spLocks xmlns:a="http://schemas.openxmlformats.org/drawingml/2006/main" noGrp="1"/>
          </p:cNvSpPr>
          <p:nvPr/>
        </p:nvSpPr>
        <p:spPr>
          <a:xfrm xmlns:a="http://schemas.openxmlformats.org/drawingml/2006/main">
            <a:off x="5334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96C72"/>
                </a:solidFill>
                <a:latin typeface="Arial"/>
                <a:ea typeface="Arial"/>
                <a:cs typeface="Arial"/>
              </a:defRPr>
            </a:defPPr>
            <a:lvl1pPr>
              <a:defRPr sz="1125" b="1">
                <a:solidFill>
                  <a:srgbClr val="096C72"/>
                </a:solidFill>
                <a:latin typeface="Arial"/>
                <a:ea typeface="Arial"/>
                <a:cs typeface="Arial"/>
              </a:defRPr>
            </a:lvl1pPr>
            <a:lvl2pPr>
              <a:defRPr sz="1125" b="1">
                <a:solidFill>
                  <a:srgbClr val="096C72"/>
                </a:solidFill>
                <a:latin typeface="Arial"/>
                <a:ea typeface="Arial"/>
                <a:cs typeface="Arial"/>
              </a:defRPr>
            </a:lvl2pPr>
            <a:lvl3pPr>
              <a:defRPr sz="1125" b="1">
                <a:solidFill>
                  <a:srgbClr val="096C72"/>
                </a:solidFill>
                <a:latin typeface="Arial"/>
                <a:ea typeface="Arial"/>
                <a:cs typeface="Arial"/>
              </a:defRPr>
            </a:lvl3pPr>
            <a:lvl4pPr>
              <a:defRPr sz="1125" b="1">
                <a:solidFill>
                  <a:srgbClr val="096C72"/>
                </a:solidFill>
                <a:latin typeface="Arial"/>
                <a:ea typeface="Arial"/>
                <a:cs typeface="Arial"/>
              </a:defRPr>
            </a:lvl4pPr>
            <a:lvl5pPr>
              <a:defRPr sz="1125" b="1">
                <a:solidFill>
                  <a:srgbClr val="096C72"/>
                </a:solidFill>
                <a:latin typeface="Arial"/>
                <a:ea typeface="Arial"/>
                <a:cs typeface="Arial"/>
              </a:defRPr>
            </a:lvl5pPr>
            <a:lvl6pPr>
              <a:defRPr sz="1125" b="1">
                <a:solidFill>
                  <a:srgbClr val="096C72"/>
                </a:solidFill>
                <a:latin typeface="Arial"/>
                <a:ea typeface="Arial"/>
                <a:cs typeface="Arial"/>
              </a:defRPr>
            </a:lvl6pPr>
            <a:lvl7pPr>
              <a:defRPr sz="1125" b="1">
                <a:solidFill>
                  <a:srgbClr val="096C72"/>
                </a:solidFill>
                <a:latin typeface="Arial"/>
                <a:ea typeface="Arial"/>
                <a:cs typeface="Arial"/>
              </a:defRPr>
            </a:lvl7pPr>
            <a:lvl8pPr>
              <a:defRPr sz="1125" b="1">
                <a:solidFill>
                  <a:srgbClr val="096C72"/>
                </a:solidFill>
                <a:latin typeface="Arial"/>
                <a:ea typeface="Arial"/>
                <a:cs typeface="Arial"/>
              </a:defRPr>
            </a:lvl8pPr>
            <a:lvl9pPr>
              <a:defRPr sz="1125" b="1">
                <a:solidFill>
                  <a:srgbClr val="096C72"/>
                </a:solidFill>
                <a:latin typeface="Arial"/>
                <a:ea typeface="Arial"/>
                <a:cs typeface="Arial"/>
              </a:defRPr>
            </a:lvl9pPr>
          </a:lstStyle>
          <a:p xmlns:a="http://schemas.openxmlformats.org/drawingml/2006/main">
            <a:pPr>
              <a:defRPr sz="1125" b="1">
                <a:solidFill>
                  <a:srgbClr val="096C72"/>
                </a:solidFill>
                <a:latin typeface="Arial"/>
                <a:ea typeface="Arial"/>
                <a:cs typeface="Arial"/>
              </a:defRPr>
            </a:pPr>
            <a:r>
              <a:rPr sz="1125" b="1">
                <a:solidFill>
                  <a:srgbClr val="096C72"/>
                </a:solidFill>
                <a:latin typeface="Arial"/>
                <a:ea typeface="Arial"/>
                <a:cs typeface="Arial"/>
              </a:rPr>
              <a:t>THEORY APPENDIX</a:t>
            </a:r>
          </a:p>
        </p:txBody>
      </p:sp>
      <p:sp>
        <p:nvSpPr>
          <p:cNvPr id="2" name="Appendix: audit the ridge identity carefully">
            <a:extLst xmlns:a="http://schemas.openxmlformats.org/drawingml/2006/main">
              <a:ext uri="{FF2B5EF4-FFF2-40B4-BE49-F238E27FC236}">
                <a16:creationId xmlns:a16="http://schemas.microsoft.com/office/drawing/2014/main" id="{F7346630-09A2-42DF-9FEB-88ACA6AAAD11}"/>
              </a:ext>
            </a:extLst>
          </p:cNvPr>
          <p:cNvSpPr>
            <a:spLocks xmlns:a="http://schemas.openxmlformats.org/drawingml/2006/main" noGrp="1"/>
          </p:cNvSpPr>
          <p:nvPr/>
        </p:nvSpPr>
        <p:spPr>
          <a:xfrm xmlns:a="http://schemas.openxmlformats.org/drawingml/2006/main">
            <a:off x="533400" y="723900"/>
            <a:ext cx="1109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D35"/>
                </a:solidFill>
                <a:latin typeface="Arial"/>
                <a:ea typeface="Arial"/>
                <a:cs typeface="Arial"/>
              </a:defRPr>
            </a:defPPr>
            <a:lvl1pPr>
              <a:defRPr sz="3150" b="1">
                <a:solidFill>
                  <a:srgbClr val="172D35"/>
                </a:solidFill>
                <a:latin typeface="Arial"/>
                <a:ea typeface="Arial"/>
                <a:cs typeface="Arial"/>
              </a:defRPr>
            </a:lvl1pPr>
            <a:lvl2pPr>
              <a:defRPr sz="3150" b="1">
                <a:solidFill>
                  <a:srgbClr val="172D35"/>
                </a:solidFill>
                <a:latin typeface="Arial"/>
                <a:ea typeface="Arial"/>
                <a:cs typeface="Arial"/>
              </a:defRPr>
            </a:lvl2pPr>
            <a:lvl3pPr>
              <a:defRPr sz="3150" b="1">
                <a:solidFill>
                  <a:srgbClr val="172D35"/>
                </a:solidFill>
                <a:latin typeface="Arial"/>
                <a:ea typeface="Arial"/>
                <a:cs typeface="Arial"/>
              </a:defRPr>
            </a:lvl3pPr>
            <a:lvl4pPr>
              <a:defRPr sz="3150" b="1">
                <a:solidFill>
                  <a:srgbClr val="172D35"/>
                </a:solidFill>
                <a:latin typeface="Arial"/>
                <a:ea typeface="Arial"/>
                <a:cs typeface="Arial"/>
              </a:defRPr>
            </a:lvl4pPr>
            <a:lvl5pPr>
              <a:defRPr sz="3150" b="1">
                <a:solidFill>
                  <a:srgbClr val="172D35"/>
                </a:solidFill>
                <a:latin typeface="Arial"/>
                <a:ea typeface="Arial"/>
                <a:cs typeface="Arial"/>
              </a:defRPr>
            </a:lvl5pPr>
            <a:lvl6pPr>
              <a:defRPr sz="3150" b="1">
                <a:solidFill>
                  <a:srgbClr val="172D35"/>
                </a:solidFill>
                <a:latin typeface="Arial"/>
                <a:ea typeface="Arial"/>
                <a:cs typeface="Arial"/>
              </a:defRPr>
            </a:lvl6pPr>
            <a:lvl7pPr>
              <a:defRPr sz="3150" b="1">
                <a:solidFill>
                  <a:srgbClr val="172D35"/>
                </a:solidFill>
                <a:latin typeface="Arial"/>
                <a:ea typeface="Arial"/>
                <a:cs typeface="Arial"/>
              </a:defRPr>
            </a:lvl7pPr>
            <a:lvl8pPr>
              <a:defRPr sz="3150" b="1">
                <a:solidFill>
                  <a:srgbClr val="172D35"/>
                </a:solidFill>
                <a:latin typeface="Arial"/>
                <a:ea typeface="Arial"/>
                <a:cs typeface="Arial"/>
              </a:defRPr>
            </a:lvl8pPr>
            <a:lvl9pPr>
              <a:defRPr sz="3150" b="1">
                <a:solidFill>
                  <a:srgbClr val="172D35"/>
                </a:solidFill>
                <a:latin typeface="Arial"/>
                <a:ea typeface="Arial"/>
                <a:cs typeface="Arial"/>
              </a:defRPr>
            </a:lvl9pPr>
          </a:lstStyle>
          <a:p xmlns:a="http://schemas.openxmlformats.org/drawingml/2006/main">
            <a:pPr>
              <a:defRPr sz="3150" b="1">
                <a:solidFill>
                  <a:srgbClr val="172D35"/>
                </a:solidFill>
                <a:latin typeface="Arial"/>
                <a:ea typeface="Arial"/>
                <a:cs typeface="Arial"/>
              </a:defRPr>
            </a:pPr>
            <a:r>
              <a:rPr sz="3150" b="1">
                <a:solidFill>
                  <a:srgbClr val="172D35"/>
                </a:solidFill>
                <a:latin typeface="Arial"/>
                <a:ea typeface="Arial"/>
                <a:cs typeface="Arial"/>
              </a:rPr>
              <a:t>Appendix: audit the ridge identity carefully</a:t>
            </a:r>
          </a:p>
        </p:txBody>
      </p:sp>
      <p:sp>
        <p:nvSpPr>
          <p:cNvPr id="3" name="">
            <a:extLst xmlns:a="http://schemas.openxmlformats.org/drawingml/2006/main">
              <a:ext uri="{FF2B5EF4-FFF2-40B4-BE49-F238E27FC236}">
                <a16:creationId xmlns:a16="http://schemas.microsoft.com/office/drawing/2014/main" id="{A7556470-ED12-458B-AFA6-FDE5ECFE8BAB}"/>
              </a:ext>
            </a:extLst>
          </p:cNvPr>
          <p:cNvSpPr>
            <a:spLocks xmlns:a="http://schemas.openxmlformats.org/drawingml/2006/main" noGrp="1"/>
          </p:cNvSpPr>
          <p:nvPr/>
        </p:nvSpPr>
        <p:spPr>
          <a:xfrm xmlns:a="http://schemas.openxmlformats.org/drawingml/2006/main">
            <a:off x="533400" y="6181725"/>
            <a:ext cx="11125200" cy="9525"/>
          </a:xfrm>
          <a:prstGeom xmlns:a="http://schemas.openxmlformats.org/drawingml/2006/main" prst="rect">
            <a:avLst/>
          </a:prstGeom>
          <a:solidFill xmlns:a="http://schemas.openxmlformats.org/drawingml/2006/main">
            <a:srgbClr val="D8E1DE"/>
          </a:solidFill>
          <a:ln xmlns:a="http://schemas.openxmlformats.org/drawingml/2006/main" w="0">
            <a:noFill/>
          </a:ln>
        </p:spPr>
      </p:sp>
      <p:sp>
        <p:nvSpPr>
          <p:cNvPr id="4" name="[1] P. Panda et al., “Adaptive LLM Routing under Budget Cons">
            <a:extLst xmlns:a="http://schemas.openxmlformats.org/drawingml/2006/main">
              <a:ext uri="{FF2B5EF4-FFF2-40B4-BE49-F238E27FC236}">
                <a16:creationId xmlns:a16="http://schemas.microsoft.com/office/drawing/2014/main" id="{0795A05F-59B1-4547-8D66-10862FCF53F8}"/>
              </a:ext>
            </a:extLst>
          </p:cNvPr>
          <p:cNvSpPr>
            <a:spLocks xmlns:a="http://schemas.openxmlformats.org/drawingml/2006/main" noGrp="1"/>
          </p:cNvSpPr>
          <p:nvPr/>
        </p:nvSpPr>
        <p:spPr>
          <a:xfrm xmlns:a="http://schemas.openxmlformats.org/drawingml/2006/main">
            <a:off x="533400" y="62865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3666D"/>
                </a:solidFill>
                <a:latin typeface="Arial"/>
                <a:ea typeface="Arial"/>
                <a:cs typeface="Arial"/>
              </a:defRPr>
            </a:defPPr>
            <a:lvl1pPr>
              <a:defRPr sz="1050" b="0">
                <a:solidFill>
                  <a:srgbClr val="53666D"/>
                </a:solidFill>
                <a:latin typeface="Arial"/>
                <a:ea typeface="Arial"/>
                <a:cs typeface="Arial"/>
              </a:defRPr>
            </a:lvl1pPr>
            <a:lvl2pPr>
              <a:defRPr sz="1050" b="0">
                <a:solidFill>
                  <a:srgbClr val="53666D"/>
                </a:solidFill>
                <a:latin typeface="Arial"/>
                <a:ea typeface="Arial"/>
                <a:cs typeface="Arial"/>
              </a:defRPr>
            </a:lvl2pPr>
            <a:lvl3pPr>
              <a:defRPr sz="1050" b="0">
                <a:solidFill>
                  <a:srgbClr val="53666D"/>
                </a:solidFill>
                <a:latin typeface="Arial"/>
                <a:ea typeface="Arial"/>
                <a:cs typeface="Arial"/>
              </a:defRPr>
            </a:lvl3pPr>
            <a:lvl4pPr>
              <a:defRPr sz="1050" b="0">
                <a:solidFill>
                  <a:srgbClr val="53666D"/>
                </a:solidFill>
                <a:latin typeface="Arial"/>
                <a:ea typeface="Arial"/>
                <a:cs typeface="Arial"/>
              </a:defRPr>
            </a:lvl4pPr>
            <a:lvl5pPr>
              <a:defRPr sz="1050" b="0">
                <a:solidFill>
                  <a:srgbClr val="53666D"/>
                </a:solidFill>
                <a:latin typeface="Arial"/>
                <a:ea typeface="Arial"/>
                <a:cs typeface="Arial"/>
              </a:defRPr>
            </a:lvl5pPr>
            <a:lvl6pPr>
              <a:defRPr sz="1050" b="0">
                <a:solidFill>
                  <a:srgbClr val="53666D"/>
                </a:solidFill>
                <a:latin typeface="Arial"/>
                <a:ea typeface="Arial"/>
                <a:cs typeface="Arial"/>
              </a:defRPr>
            </a:lvl6pPr>
            <a:lvl7pPr>
              <a:defRPr sz="1050" b="0">
                <a:solidFill>
                  <a:srgbClr val="53666D"/>
                </a:solidFill>
                <a:latin typeface="Arial"/>
                <a:ea typeface="Arial"/>
                <a:cs typeface="Arial"/>
              </a:defRPr>
            </a:lvl7pPr>
            <a:lvl8pPr>
              <a:defRPr sz="1050" b="0">
                <a:solidFill>
                  <a:srgbClr val="53666D"/>
                </a:solidFill>
                <a:latin typeface="Arial"/>
                <a:ea typeface="Arial"/>
                <a:cs typeface="Arial"/>
              </a:defRPr>
            </a:lvl8pPr>
            <a:lvl9pPr>
              <a:defRPr sz="1050" b="0">
                <a:solidFill>
                  <a:srgbClr val="53666D"/>
                </a:solidFill>
                <a:latin typeface="Arial"/>
                <a:ea typeface="Arial"/>
                <a:cs typeface="Arial"/>
              </a:defRPr>
            </a:lvl9pPr>
          </a:lstStyle>
          <a:p xmlns:a="http://schemas.openxmlformats.org/drawingml/2006/main">
            <a:pPr>
              <a:defRPr sz="1050" b="0">
                <a:solidFill>
                  <a:srgbClr val="53666D"/>
                </a:solidFill>
                <a:latin typeface="Arial"/>
                <a:ea typeface="Arial"/>
                <a:cs typeface="Arial"/>
              </a:defRPr>
            </a:pPr>
            <a:r>
              <a:rPr sz="1050" b="0">
                <a:solidFill>
                  <a:srgbClr val="53666D"/>
                </a:solidFill>
                <a:latin typeface="Arial"/>
                <a:ea typeface="Arial"/>
                <a:cs typeface="Arial"/>
              </a:rPr>
              <a:t>[1] P. Panda et al., “Adaptive LLM Routing under Budget Constraints,” Findings of EMNLP, pp. 23934–23949, 2025.</a:t>
            </a:r>
          </a:p>
        </p:txBody>
      </p:sp>
      <p:sp>
        <p:nvSpPr>
          <p:cNvPr id="5" name="33">
            <a:extLst xmlns:a="http://schemas.openxmlformats.org/drawingml/2006/main">
              <a:ext uri="{FF2B5EF4-FFF2-40B4-BE49-F238E27FC236}">
                <a16:creationId xmlns:a16="http://schemas.microsoft.com/office/drawing/2014/main" id="{100D2763-26D4-4272-9081-DF210DD1C1D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96C72"/>
                </a:solidFill>
                <a:latin typeface="Arial"/>
                <a:ea typeface="Arial"/>
                <a:cs typeface="Arial"/>
              </a:defRPr>
            </a:defPPr>
            <a:lvl1pPr>
              <a:defRPr sz="1200" b="1">
                <a:solidFill>
                  <a:srgbClr val="096C72"/>
                </a:solidFill>
                <a:latin typeface="Arial"/>
                <a:ea typeface="Arial"/>
                <a:cs typeface="Arial"/>
              </a:defRPr>
            </a:lvl1pPr>
            <a:lvl2pPr>
              <a:defRPr sz="1200" b="1">
                <a:solidFill>
                  <a:srgbClr val="096C72"/>
                </a:solidFill>
                <a:latin typeface="Arial"/>
                <a:ea typeface="Arial"/>
                <a:cs typeface="Arial"/>
              </a:defRPr>
            </a:lvl2pPr>
            <a:lvl3pPr>
              <a:defRPr sz="1200" b="1">
                <a:solidFill>
                  <a:srgbClr val="096C72"/>
                </a:solidFill>
                <a:latin typeface="Arial"/>
                <a:ea typeface="Arial"/>
                <a:cs typeface="Arial"/>
              </a:defRPr>
            </a:lvl3pPr>
            <a:lvl4pPr>
              <a:defRPr sz="1200" b="1">
                <a:solidFill>
                  <a:srgbClr val="096C72"/>
                </a:solidFill>
                <a:latin typeface="Arial"/>
                <a:ea typeface="Arial"/>
                <a:cs typeface="Arial"/>
              </a:defRPr>
            </a:lvl4pPr>
            <a:lvl5pPr>
              <a:defRPr sz="1200" b="1">
                <a:solidFill>
                  <a:srgbClr val="096C72"/>
                </a:solidFill>
                <a:latin typeface="Arial"/>
                <a:ea typeface="Arial"/>
                <a:cs typeface="Arial"/>
              </a:defRPr>
            </a:lvl5pPr>
            <a:lvl6pPr>
              <a:defRPr sz="1200" b="1">
                <a:solidFill>
                  <a:srgbClr val="096C72"/>
                </a:solidFill>
                <a:latin typeface="Arial"/>
                <a:ea typeface="Arial"/>
                <a:cs typeface="Arial"/>
              </a:defRPr>
            </a:lvl6pPr>
            <a:lvl7pPr>
              <a:defRPr sz="1200" b="1">
                <a:solidFill>
                  <a:srgbClr val="096C72"/>
                </a:solidFill>
                <a:latin typeface="Arial"/>
                <a:ea typeface="Arial"/>
                <a:cs typeface="Arial"/>
              </a:defRPr>
            </a:lvl7pPr>
            <a:lvl8pPr>
              <a:defRPr sz="1200" b="1">
                <a:solidFill>
                  <a:srgbClr val="096C72"/>
                </a:solidFill>
                <a:latin typeface="Arial"/>
                <a:ea typeface="Arial"/>
                <a:cs typeface="Arial"/>
              </a:defRPr>
            </a:lvl8pPr>
            <a:lvl9pPr>
              <a:defRPr sz="1200" b="1">
                <a:solidFill>
                  <a:srgbClr val="096C72"/>
                </a:solidFill>
                <a:latin typeface="Arial"/>
                <a:ea typeface="Arial"/>
                <a:cs typeface="Arial"/>
              </a:defRPr>
            </a:lvl9pPr>
          </a:lstStyle>
          <a:p xmlns:a="http://schemas.openxmlformats.org/drawingml/2006/main">
            <a:pPr>
              <a:defRPr sz="1200" b="1">
                <a:solidFill>
                  <a:srgbClr val="096C72"/>
                </a:solidFill>
                <a:latin typeface="Arial"/>
                <a:ea typeface="Arial"/>
                <a:cs typeface="Arial"/>
              </a:defRPr>
            </a:pPr>
            <a:r>
              <a:rPr sz="1200" b="1">
                <a:solidFill>
                  <a:srgbClr val="096C72"/>
                </a:solidFill>
                <a:latin typeface="Arial"/>
                <a:ea typeface="Arial"/>
                <a:cs typeface="Arial"/>
              </a:rPr>
              <a:t>33</a:t>
            </a:r>
          </a:p>
        </p:txBody>
      </p:sp>
      <p:sp>
        <p:nvSpPr>
          <p:cNvPr id="6" name="A = XᵀX + λI       b = Xᵀy + λθpref">
            <a:extLst xmlns:a="http://schemas.openxmlformats.org/drawingml/2006/main">
              <a:ext uri="{FF2B5EF4-FFF2-40B4-BE49-F238E27FC236}">
                <a16:creationId xmlns:a16="http://schemas.microsoft.com/office/drawing/2014/main" id="{9379D490-8ADC-472B-B5A1-6B92A068CFFE}"/>
              </a:ext>
            </a:extLst>
          </p:cNvPr>
          <p:cNvSpPr>
            <a:spLocks xmlns:a="http://schemas.openxmlformats.org/drawingml/2006/main" noGrp="1"/>
          </p:cNvSpPr>
          <p:nvPr/>
        </p:nvSpPr>
        <p:spPr>
          <a:xfrm xmlns:a="http://schemas.openxmlformats.org/drawingml/2006/main">
            <a:off x="619125" y="1952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96C72"/>
                </a:solidFill>
                <a:latin typeface="Arial"/>
                <a:ea typeface="Arial"/>
                <a:cs typeface="Arial"/>
              </a:defRPr>
            </a:defPPr>
            <a:lvl1pPr>
              <a:defRPr sz="2625" b="1">
                <a:solidFill>
                  <a:srgbClr val="096C72"/>
                </a:solidFill>
                <a:latin typeface="Arial"/>
                <a:ea typeface="Arial"/>
                <a:cs typeface="Arial"/>
              </a:defRPr>
            </a:lvl1pPr>
            <a:lvl2pPr>
              <a:defRPr sz="2625" b="1">
                <a:solidFill>
                  <a:srgbClr val="096C72"/>
                </a:solidFill>
                <a:latin typeface="Arial"/>
                <a:ea typeface="Arial"/>
                <a:cs typeface="Arial"/>
              </a:defRPr>
            </a:lvl2pPr>
            <a:lvl3pPr>
              <a:defRPr sz="2625" b="1">
                <a:solidFill>
                  <a:srgbClr val="096C72"/>
                </a:solidFill>
                <a:latin typeface="Arial"/>
                <a:ea typeface="Arial"/>
                <a:cs typeface="Arial"/>
              </a:defRPr>
            </a:lvl3pPr>
            <a:lvl4pPr>
              <a:defRPr sz="2625" b="1">
                <a:solidFill>
                  <a:srgbClr val="096C72"/>
                </a:solidFill>
                <a:latin typeface="Arial"/>
                <a:ea typeface="Arial"/>
                <a:cs typeface="Arial"/>
              </a:defRPr>
            </a:lvl4pPr>
            <a:lvl5pPr>
              <a:defRPr sz="2625" b="1">
                <a:solidFill>
                  <a:srgbClr val="096C72"/>
                </a:solidFill>
                <a:latin typeface="Arial"/>
                <a:ea typeface="Arial"/>
                <a:cs typeface="Arial"/>
              </a:defRPr>
            </a:lvl5pPr>
            <a:lvl6pPr>
              <a:defRPr sz="2625" b="1">
                <a:solidFill>
                  <a:srgbClr val="096C72"/>
                </a:solidFill>
                <a:latin typeface="Arial"/>
                <a:ea typeface="Arial"/>
                <a:cs typeface="Arial"/>
              </a:defRPr>
            </a:lvl6pPr>
            <a:lvl7pPr>
              <a:defRPr sz="2625" b="1">
                <a:solidFill>
                  <a:srgbClr val="096C72"/>
                </a:solidFill>
                <a:latin typeface="Arial"/>
                <a:ea typeface="Arial"/>
                <a:cs typeface="Arial"/>
              </a:defRPr>
            </a:lvl7pPr>
            <a:lvl8pPr>
              <a:defRPr sz="2625" b="1">
                <a:solidFill>
                  <a:srgbClr val="096C72"/>
                </a:solidFill>
                <a:latin typeface="Arial"/>
                <a:ea typeface="Arial"/>
                <a:cs typeface="Arial"/>
              </a:defRPr>
            </a:lvl8pPr>
            <a:lvl9pPr>
              <a:defRPr sz="2625" b="1">
                <a:solidFill>
                  <a:srgbClr val="096C72"/>
                </a:solidFill>
                <a:latin typeface="Arial"/>
                <a:ea typeface="Arial"/>
                <a:cs typeface="Arial"/>
              </a:defRPr>
            </a:lvl9pPr>
          </a:lstStyle>
          <a:p xmlns:a="http://schemas.openxmlformats.org/drawingml/2006/main">
            <a:pPr>
              <a:defRPr sz="2625" b="1">
                <a:solidFill>
                  <a:srgbClr val="096C72"/>
                </a:solidFill>
                <a:latin typeface="Arial"/>
                <a:ea typeface="Arial"/>
                <a:cs typeface="Arial"/>
              </a:defRPr>
            </a:pPr>
            <a:r>
              <a:rPr sz="2625" b="1">
                <a:solidFill>
                  <a:srgbClr val="096C72"/>
                </a:solidFill>
                <a:latin typeface="Arial"/>
                <a:ea typeface="Arial"/>
                <a:cs typeface="Arial"/>
              </a:rPr>
              <a:t>A = XᵀX + λI       b = Xᵀy + λθpref</a:t>
            </a:r>
          </a:p>
        </p:txBody>
      </p:sp>
      <p:sp>
        <p:nvSpPr>
          <p:cNvPr id="7" name="θ̃ − θ* = A⁻¹Xᵀε − λA⁻¹(θ* − θpref)">
            <a:extLst xmlns:a="http://schemas.openxmlformats.org/drawingml/2006/main">
              <a:ext uri="{FF2B5EF4-FFF2-40B4-BE49-F238E27FC236}">
                <a16:creationId xmlns:a16="http://schemas.microsoft.com/office/drawing/2014/main" id="{1D4F5CE5-FE02-4C24-9E9B-AC0DD9825983}"/>
              </a:ext>
            </a:extLst>
          </p:cNvPr>
          <p:cNvSpPr>
            <a:spLocks xmlns:a="http://schemas.openxmlformats.org/drawingml/2006/main" noGrp="1"/>
          </p:cNvSpPr>
          <p:nvPr/>
        </p:nvSpPr>
        <p:spPr>
          <a:xfrm xmlns:a="http://schemas.openxmlformats.org/drawingml/2006/main">
            <a:off x="619125" y="31051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96C72"/>
                </a:solidFill>
                <a:latin typeface="Arial"/>
                <a:ea typeface="Arial"/>
                <a:cs typeface="Arial"/>
              </a:defRPr>
            </a:defPPr>
            <a:lvl1pPr>
              <a:defRPr sz="2625" b="1">
                <a:solidFill>
                  <a:srgbClr val="096C72"/>
                </a:solidFill>
                <a:latin typeface="Arial"/>
                <a:ea typeface="Arial"/>
                <a:cs typeface="Arial"/>
              </a:defRPr>
            </a:lvl1pPr>
            <a:lvl2pPr>
              <a:defRPr sz="2625" b="1">
                <a:solidFill>
                  <a:srgbClr val="096C72"/>
                </a:solidFill>
                <a:latin typeface="Arial"/>
                <a:ea typeface="Arial"/>
                <a:cs typeface="Arial"/>
              </a:defRPr>
            </a:lvl2pPr>
            <a:lvl3pPr>
              <a:defRPr sz="2625" b="1">
                <a:solidFill>
                  <a:srgbClr val="096C72"/>
                </a:solidFill>
                <a:latin typeface="Arial"/>
                <a:ea typeface="Arial"/>
                <a:cs typeface="Arial"/>
              </a:defRPr>
            </a:lvl3pPr>
            <a:lvl4pPr>
              <a:defRPr sz="2625" b="1">
                <a:solidFill>
                  <a:srgbClr val="096C72"/>
                </a:solidFill>
                <a:latin typeface="Arial"/>
                <a:ea typeface="Arial"/>
                <a:cs typeface="Arial"/>
              </a:defRPr>
            </a:lvl4pPr>
            <a:lvl5pPr>
              <a:defRPr sz="2625" b="1">
                <a:solidFill>
                  <a:srgbClr val="096C72"/>
                </a:solidFill>
                <a:latin typeface="Arial"/>
                <a:ea typeface="Arial"/>
                <a:cs typeface="Arial"/>
              </a:defRPr>
            </a:lvl5pPr>
            <a:lvl6pPr>
              <a:defRPr sz="2625" b="1">
                <a:solidFill>
                  <a:srgbClr val="096C72"/>
                </a:solidFill>
                <a:latin typeface="Arial"/>
                <a:ea typeface="Arial"/>
                <a:cs typeface="Arial"/>
              </a:defRPr>
            </a:lvl6pPr>
            <a:lvl7pPr>
              <a:defRPr sz="2625" b="1">
                <a:solidFill>
                  <a:srgbClr val="096C72"/>
                </a:solidFill>
                <a:latin typeface="Arial"/>
                <a:ea typeface="Arial"/>
                <a:cs typeface="Arial"/>
              </a:defRPr>
            </a:lvl7pPr>
            <a:lvl8pPr>
              <a:defRPr sz="2625" b="1">
                <a:solidFill>
                  <a:srgbClr val="096C72"/>
                </a:solidFill>
                <a:latin typeface="Arial"/>
                <a:ea typeface="Arial"/>
                <a:cs typeface="Arial"/>
              </a:defRPr>
            </a:lvl8pPr>
            <a:lvl9pPr>
              <a:defRPr sz="2625" b="1">
                <a:solidFill>
                  <a:srgbClr val="096C72"/>
                </a:solidFill>
                <a:latin typeface="Arial"/>
                <a:ea typeface="Arial"/>
                <a:cs typeface="Arial"/>
              </a:defRPr>
            </a:lvl9pPr>
          </a:lstStyle>
          <a:p xmlns:a="http://schemas.openxmlformats.org/drawingml/2006/main">
            <a:pPr>
              <a:defRPr sz="2625" b="1">
                <a:solidFill>
                  <a:srgbClr val="096C72"/>
                </a:solidFill>
                <a:latin typeface="Arial"/>
                <a:ea typeface="Arial"/>
                <a:cs typeface="Arial"/>
              </a:defRPr>
            </a:pPr>
            <a:r>
              <a:rPr sz="2625" b="1">
                <a:solidFill>
                  <a:srgbClr val="096C72"/>
                </a:solidFill>
                <a:latin typeface="Arial"/>
                <a:ea typeface="Arial"/>
                <a:cs typeface="Arial"/>
              </a:rPr>
              <a:t>θ̃ − θ* = A⁻¹Xᵀε − λA⁻¹(θ* − θpref)</a:t>
            </a:r>
          </a:p>
        </p:txBody>
      </p:sp>
      <p:sp>
        <p:nvSpPr>
          <p:cNvPr id="8" name="Final PDF pp. 12–13 has omitted terms in displayed algebra.&#10;">
            <a:extLst xmlns:a="http://schemas.openxmlformats.org/drawingml/2006/main">
              <a:ext uri="{FF2B5EF4-FFF2-40B4-BE49-F238E27FC236}">
                <a16:creationId xmlns:a16="http://schemas.microsoft.com/office/drawing/2014/main" id="{28205501-C78A-4366-A7B7-387FCC196061}"/>
              </a:ext>
            </a:extLst>
          </p:cNvPr>
          <p:cNvSpPr>
            <a:spLocks xmlns:a="http://schemas.openxmlformats.org/drawingml/2006/main" noGrp="1"/>
          </p:cNvSpPr>
          <p:nvPr/>
        </p:nvSpPr>
        <p:spPr>
          <a:xfrm xmlns:a="http://schemas.openxmlformats.org/drawingml/2006/main">
            <a:off x="638175" y="45243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D35"/>
                </a:solidFill>
                <a:latin typeface="Arial"/>
                <a:ea typeface="Arial"/>
                <a:cs typeface="Arial"/>
              </a:defRPr>
            </a:defPPr>
            <a:lvl1pPr>
              <a:defRPr sz="2100" b="0">
                <a:solidFill>
                  <a:srgbClr val="172D35"/>
                </a:solidFill>
                <a:latin typeface="Arial"/>
                <a:ea typeface="Arial"/>
                <a:cs typeface="Arial"/>
              </a:defRPr>
            </a:lvl1pPr>
            <a:lvl2pPr>
              <a:defRPr sz="2100" b="0">
                <a:solidFill>
                  <a:srgbClr val="172D35"/>
                </a:solidFill>
                <a:latin typeface="Arial"/>
                <a:ea typeface="Arial"/>
                <a:cs typeface="Arial"/>
              </a:defRPr>
            </a:lvl2pPr>
            <a:lvl3pPr>
              <a:defRPr sz="2100" b="0">
                <a:solidFill>
                  <a:srgbClr val="172D35"/>
                </a:solidFill>
                <a:latin typeface="Arial"/>
                <a:ea typeface="Arial"/>
                <a:cs typeface="Arial"/>
              </a:defRPr>
            </a:lvl3pPr>
            <a:lvl4pPr>
              <a:defRPr sz="2100" b="0">
                <a:solidFill>
                  <a:srgbClr val="172D35"/>
                </a:solidFill>
                <a:latin typeface="Arial"/>
                <a:ea typeface="Arial"/>
                <a:cs typeface="Arial"/>
              </a:defRPr>
            </a:lvl4pPr>
            <a:lvl5pPr>
              <a:defRPr sz="2100" b="0">
                <a:solidFill>
                  <a:srgbClr val="172D35"/>
                </a:solidFill>
                <a:latin typeface="Arial"/>
                <a:ea typeface="Arial"/>
                <a:cs typeface="Arial"/>
              </a:defRPr>
            </a:lvl5pPr>
            <a:lvl6pPr>
              <a:defRPr sz="2100" b="0">
                <a:solidFill>
                  <a:srgbClr val="172D35"/>
                </a:solidFill>
                <a:latin typeface="Arial"/>
                <a:ea typeface="Arial"/>
                <a:cs typeface="Arial"/>
              </a:defRPr>
            </a:lvl6pPr>
            <a:lvl7pPr>
              <a:defRPr sz="2100" b="0">
                <a:solidFill>
                  <a:srgbClr val="172D35"/>
                </a:solidFill>
                <a:latin typeface="Arial"/>
                <a:ea typeface="Arial"/>
                <a:cs typeface="Arial"/>
              </a:defRPr>
            </a:lvl7pPr>
            <a:lvl8pPr>
              <a:defRPr sz="2100" b="0">
                <a:solidFill>
                  <a:srgbClr val="172D35"/>
                </a:solidFill>
                <a:latin typeface="Arial"/>
                <a:ea typeface="Arial"/>
                <a:cs typeface="Arial"/>
              </a:defRPr>
            </a:lvl8pPr>
            <a:lvl9pPr>
              <a:defRPr sz="2100" b="0">
                <a:solidFill>
                  <a:srgbClr val="172D35"/>
                </a:solidFill>
                <a:latin typeface="Arial"/>
                <a:ea typeface="Arial"/>
                <a:cs typeface="Arial"/>
              </a:defRPr>
            </a:lvl9pPr>
          </a:lstStyle>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Final PDF pp. 12–13 has omitted terms in displayed algebra.</a:t>
            </a:r>
          </a:p>
          <a:p xmlns:a="http://schemas.openxmlformats.org/drawingml/2006/main">
            <a:pPr>
              <a:defRPr sz="2100" b="0">
                <a:solidFill>
                  <a:srgbClr val="172D35"/>
                </a:solidFill>
                <a:latin typeface="Arial"/>
                <a:ea typeface="Arial"/>
                <a:cs typeface="Arial"/>
              </a:defRPr>
            </a:pPr>
            <a:r>
              <a:rPr sz="2100" b="0">
                <a:solidFill>
                  <a:srgbClr val="172D35"/>
                </a:solidFill>
                <a:latin typeface="Arial"/>
                <a:ea typeface="Arial"/>
                <a:cs typeface="Arial"/>
              </a:rPr>
              <a:t>Correcting them does not disprove the conditional bound.</a:t>
            </a:r>
          </a:p>
        </p:txBody>
      </p:sp>
    </p:spTree>
    <p:extLst>
      <p:ext uri="{BB962C8B-B14F-4D97-AF65-F5344CB8AC3E}">
        <p14:creationId xmlns:p14="http://schemas.microsoft.com/office/powerpoint/2010/main" val="7229157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2026-10-30T10:53:26.7130000Z</dcterms:created>
  <dcterms:modified xsi:type="dcterms:W3CDTF">2026-10-30T10:53:26.7130000Z</dcterms:modified>
</coreProperties>
</file>